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0"/>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  <Relationship Id="rId30"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fi-FI"/>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fi-FI"/>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fi-FI"/>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fi-FI"/>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fi-FI"/>
          </a:p>
        </p:txBody>
      </p:sp>
    </p:spTree>
  </p:cSld>
  <p:clrMap bg1="lt1" tx1="dk1" bg2="lt2" tx2="dk2" accent1="accent1" accent2="accent2" accent3="accent3" accent4="accent4" accent5="accent5" accent6="accent6" hlink="hlink" folHlink="folHlink"/>
  <p:hf/>
  <p:notesStyle>
    <a:lvl1pPr marL="0" algn="l">
      <a:defRPr sz="1200" lang="fi-FI"/>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00:00–02:00 · Avaus. Kysy, mikä muuttuu omassa työssä, kun uskottavan ensimmäisen version tekeminen helpottuu. Esityksen kaksi kysymystä ovat: mitä ohjelmistokehityksessä on muuttunut, ja miten AI:n kanssa tehdään käytännössä työtä. Yleisössä saa olla erilaisia kokemuksia. Tarkoitus on antaa sekä tutkimukseen perustuvaa taustaa että yksi kokeiltava työtapa. Käytännön osoite- ja huoltoesimerkit ovat opetusta varten kirjoitettuja, eivät väitteitä puhujan asiakasprojekteista. Rytmi: 5 min johdanto, 10 min alkugallup, 20 min nykytilanne, 20 min käytännöt, 5 min loppugallup ja päätös. Siirry kahteen erilaiseen pyyntöön. Kuvitus: OpenAI imagegen, 5.9.2026; tätä esitystä varten luotu työpöytäkuvitus, ei todellinen työympäristö.</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02:00–05:00 · Keskustelusta tarkistettavaan tehtävään. Lue vasen pyyntö: siinä halutaan selitys. Oikeassa pyynnössä halutaan muutos ja näyttö siitä, että se toimii. Molemmat käyttötavat ovat hyödyllisiä. Ero on siinä, mitä odotamme vastaukseksi. Käytännön osassa käymme läpi osoitevirheen samalla periaatteella. Anna tehtävän rajat ja kerro, millainen lopputulos voidaan havaita. Älä vielä avaa jokaista työkalua. Kysy yleisöltä lyhyesti, kumman tyyppisiä pyyntöjä he tekevät useammin. 05:00 SIIRRY SELAIMEEN: https://gallup.koodattu.dev. Varaa alkugallupiin 10 minuuttia. Käsittele aidot vastaukset, älä ennakoi tulosta. PowerPointissa ei ole gallupkysymyksiä. Palaa diaan 3 ajassa 15:00. Lähteet: https://learn.chatgpt.com/docs/prompting ; https://code.claude.com/docs/en/best-practices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15:00–17:00 · Toteutus on yksi osa kehittämistä. Käy neljä aluetta läpi arkisesti: tarve, ymmärrys, toteutus ja ylläpito. Käyttäjän oikean ongelman löytäminen, järjestelmän käsitteiden ymmärtäminen ja muutoksen sovittaminen olemassa olevaan ympäristöön eivät katoa. AI voi auttaa kaikissa vaiheissa, mutta valmiin näköinen koodi ei yksin osoita, että ymmärrys tai hyöty on syntynyt. Brooksin ja Naurin klassiset tekstit antavat tälle taustan; niitä ei käytetä empiirisenä mittauksena vuoden 2026 työkaluista. Kysy: missä näistä teillä odotetaan eniten? Siirry seuraavaksi esimerkkiin siitä, kuinka pitkälle rajattu toteutustehtävä voi jo edetä. Lähteet: Fred Brooks, No Silver Bullet (1987); Peter Naur, Programming as Theory Building (1985). Tarkemmat bibliografiset lähteet projektin lähdeaineistossa.</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17:00–20:00 · MirrorCode. Selitä ketju: vertailtava ohjelma tai käyttäytyminen, agentin tekemä toteutus, ja erillinen vertailu tai testaus. Epochin alustavat tulokset havainnollistavat, kuinka laajoja mutta rajattuja toteutustehtäviä agentit voivat tehdä. Säilytä rajaus: kyse on valitusta toiminnallisuudesta ja tutkimuksen arviointiympäristöstä. Älä väitä, että kokonaisen tuotteen asiakastarve, julkaisu, tuki ja ylläpito hoituisivat samalla tavalla automaattisesti. Kuvion tasakokoiset vaiheet eivät esitä ajankäyttöä. Yleisölle tärkeä kysymys: mikä on se vertailukohde, jolla oma tehtävä voidaan arvioida? Näin kyvykkyys kytkeytyy käytännön työn rajaamiseen. Seuraavaksi erotetaan kyvykkyys ja mitattu tuottavuus. Lähde: https://epoch.ai/publications/mirrorcode-preliminary-results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20:00–23:00 · Eri tutkimukset mittaavat eri työtä. Microsoftin kolmen kenttäkokeen yhdistelmässä oli 4 867 kehittäjää; tekijät raportoivat noin 26 % enemmän valmistuneita tehtäviä AI-avun kanssa. METR:n alkuvuoden 2025 kokeessa 16 kokenutta avoimen lähdekoodin kehittäjää työskenteli tutuissa repositorioissaan ja käytti AI:n kanssa noin 19 % enemmän aikaa. Näitä lukuja ei pidä vähentää toisistaan tai esittää yhteisellä tuottavuusakselilla. Mittari, tehtävä, väline ja käyttäjäjoukko poikkeavat. METR:n helmikuun 2026 jatkotutkimus ei antanut luotettavaa uutta vaikutusarviota valikoitumisen ja mittausongelmien vuoksi. Sano tämä ääneen: vuoden 2025 tulos ei ole nykyisten työkalujen yleispätevä nopeuskerroin. Lähteet: https://www.microsoft.com/en-us/research/publication/the-effects-of-generative-ai-on-high-skilled-work-evidence-from-three-field-experiments-with-software-developers/ ; https://metr.org/blog/2025-07-10-early-2025-ai-experienced-os-dev-study/ ; https://metr.org/blog/2026-02-24-uplift-update/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23:00–25:00 · Tehtävästä toimitukseen. Käy ketju läpi: toteutus, katselmointi, integrointi ja käyttö. Jos toteutus nopeutuu mutta muutokset jonoutuvat katselmointiin tai yhteensovittamiseen, asiakkaan kokema toimitusaika ei välttämättä lyhene. DORA käsittelee AI:n hyötyjen ja toimitusjärjestelmän jännitteitä; kyseisiä yhteyksiä ei pidä esittää yksinkertaisena syy-seurauslakina. Kuvio on selittävä esimerkkiketju. Vaiheiden leveydet eivät kuvaa mitattua aikaa. Pyydä yleisöä nimeämään yksi kohta, jossa heidän työssään odotetaan. Käytännön osan rajaus ja näyttö auttavat juuri katselmoinnin ja integroinnin kohdalla. Lähde: https://dora.dev/insights/balancing-ai-tensions/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25:00–28:00 · Oppiminen on oma tuloksensa. Tutkimuksessa 52 osallistujaa opetteli itselleen vierasta Python-kirjastoa. Tekijöiden yhteenvedon pyöristetyt välittömän osaamiskokeen keskiarvot olivat 50 % AI-avusteisessa ryhmässä ja 67 % ilman AI:ta. Ero on noin 17 prosenttiyksikköä, ei väite siitä että kaikki kehittäjät menettäisivät saman osuuden taidoistaan. Koe mittasi välitöntä osaamista kyseisessä tehtävässä, ei pysyvää taitojen menetystä. Tapa käyttää AI:ta vaikutti siihen, miten osallistujat käsittelivät tehtävää. Kysy, miten valmis ratkaisu ja oman ymmärryksen tarkistaminen erotetaan työssä. Palkkien asteikko on nollasta sataan prosenttiin. Lähteet: https://www.anthropic.com/research/AI-assistance-coding-skills ; https://arxiv.org/abs/2601.20245</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28:00–30:00 · Uusi kokeilu voi olla pieni. Tämä on kuvitteellinen huoltotyön esimerkki: muistiinpanosta syntyy ehdotus rakenteiseksi havainnoksi. Laite, havainto ja seuraava toimi ovat ihmisen tarkistettavia. Emme väitä, että kuvituksessa näkyvä järjestelmä olisi rakennettu, että laakerissa olisi vika tai että aikaa olisi säästynyt tietty määrä. Kysy, mitä asentaja korjaisi ja missä luonnos olisi hyödyllinen. Tarkoitus on näyttää, että AI:n arvo voi syntyä uuden pienen työkalun kokeilemisesta, ei vain vanhan ohjelmointitehtävän nopeuttamisesta. Palaamme samaan esimerkkiin prototypoinnin kohdalla. Kuvitus: OpenAI imagegen, 5.9.2026, esitystä varten luotu kuvitteellinen huoltotyön kuvitus.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30:00–32:00 · Tilaa oppimiselle. Kierros on kokeile, selitä, saa palautetta ja muuta seuraavaa yritystä. Työpaikan on päätettävä, missä kokemusta syntyy ja kuka antaa palautetta. Tunnista urahuoli vähättelemättä sitä. Stanford Digital Economy Labin Yhdysvaltoja koskeva analyysi tarjoaa taustaa nuorten työntekijöiden työllisyyskehitykseen AI:lle altistuneissa ammateissa; se ei ole Suomen työmarkkinaennuste eikä yksin osoita syy-yhteyttä. Älä lisää otsikkoon yleistä väitettä junioreiden katoamisesta. Käytännön toiminta voi olla yhden suunnittelupäätöksen selittäminen katselmoinnissa ja epäonnistumistavan ennustaminen ennen testiä. Siirry paikalliseen näkökulmaan. Lähde: https://digitaleconomy.stanford.edu/news/canariesaug26/</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32:00–35:00 · Suomen toimiala ja paikallinen mahdollisuus. Teknologiateollisuuden toimialakuvauksen mukaan vuoden 2025 liikevaihto oli noin 19 miljardia euroa ja kasvua noin 5 %. Kesäkuun 2026 henkilöstöluku oli noin 80 200. Nämä ovat koko toimialan lukuja, eivät AI:n vaikutuksen mittaus tai alueellinen ennuste. Oikean puolen kolme asiaa ovat esityksen tulkinta: oikean työn tunteminen, yhteydet olemassa oleviin järjestelmiin sekä käyttöönoton ja ylläpidon tuki voivat olla paikallisen tekijän vahvuuksia. Konkretisoi huoltoesimerkillä: kuka tietää miten merkinnät tehdään ja minne ne päätyvät? Päätä nykytilanneosuus tähän ajassa 35:00 ja siirry käytännön ketjuun. Lähde: https://teknologiateollisuus.fi/en/economic-outlook-and-statistics/economic-outlook/information-technology-in-finland/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35:00–37:00 · Käytännön kokonaisuus. Rajaa, tutki, toteuta, tarkista ja seuraa. Tämä ei ole vain yksi pitkä kehote: agentti lukee projektia, käyttää työkaluja, saa palautetta ja tarkistaa tuloksia. Esimerkkimme on huoneiston numeron katoaminen osoitteen tallennuksessa. Sama työtapa soveltuu Codexiin ja Claude Codeen; työkalujen ominaisuudet ja projektin ohjeet vaikuttavat yksityiskohtiin. Ihminen arvioi tavoitteen, olennaiset päätökset ja näytön. Tässä esityksessä bugi havainnollistetaan muokattavalla dia-aineistolla. Se ei ole väite ajetusta asiakasprojektista tai tuotantoon julkaistusta korjauksesta. Selitä, että seuraavien diojen aikana käydään läpi yksi kokonainen tehtävän ajatteluketju. Lähteet: https://learn.chatgpt.com/docs/prompting ; https://code.claude.com/docs/en/common-workflows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37:00–39:00 · Kirjoita valmis näkyväksi. Tehtävän neljä osaa ovat ongelma, tavoite, raja ja näyttö. Ongelma on katoava huoneiston numero. Tavoite on sen säilyminen uudelleenlatauksessa. Raja on nykyisen rajapinnan säilyttäminen, ja näyttö sisältää toiston, testin ja toimivan tallennuksen. Voit pyytää agenttia tutkimaan syyn ennen toteuttamista, jos vaikutusalue on epäselvä. Säilytä rajapinta on tässä opetusesimerkin raja, ei yleinen sääntö kaikkiin korjauksiin. Määritä konkreettinen havainto: huoneiston numero näkyy vielä uudelleenlatauksen jälkeen. Pyydä toistoa, rajattua muutosta ja sopivaa tarkistusta. Anna yleisölle 20 sekuntia muotoilla mielessään oma tehtävä näihin neljään osaan. Lähteet: https://learn.chatgpt.com/docs/prompting ; https://code.claude.com/docs/en/best-practices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39:00–41:00 · Projektin konteksti. Vasemman puolen polut ovat opetusesimerkkejä, eivät väite tämän esitysrepositorion rakenteesta. Agentti tarvitsee toteutuksen, läheiset esimerkit, testit ja oikeat komennot. Codexin AGENTS.md ja Claude Coden CLAUDE.md ovat esimerkkejä pysyvien projektiohjeiden paikoista. Kirjoita niihin projektin tavat, testikomennot ja olennaiset rajat. Älä täytä ohjeita kaikella mahdollisella tai kopioi koko repoa jokaiseen pyyntöön. Viittaa löydettävään tietoon ja anna agentin tarkistaa nykyinen toteutus. Tuo ero esiin: tehtäväkohtainen tavoite kuuluu pyyntöön, toistuva projektitieto pysyviin ohjeisiin. Lähteet: https://learn.chatgpt.com/docs/agent-configuration/agents-md ; https://code.claude.com/docs/en/best-practices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41:00–43:00 · Työkalut konkreettisesti. Shellillä agentti voi ajaa projektin testikomennon. Selaimella se voi tarkistaa käyttäjälle näkyvän toiminnan. MCP-yhteys voi tuoda saataville liitetyn palvelun, kuten tehtäväjärjestelmän, jos sellainen on asennettu ja sallittu. Skill kuvaa uudelleenkäytettävän työtavan ja voi sisältää tukiresursseja. Nämä eivät ole keskenään sama asia, eikä jokainen tehtävä tarvitse kaikkia. Anna tehtävän vaatimat käyttöoikeudet ja varmista, että agentti tietää missä se työskentelee. Agentin onnistumista arvioidaan tuloksesta, ei käytettyjen työkalujen määrästä. Siirry konkreettiseen virheen toistoon. Lähteet: https://learn.chatgpt.com/docs/build-skills ; https://modelcontextprotocol.io/docs/develop/clients/client-best-practices ; https://code.claude.com/docs/en/common-workflows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43:00–45:00 · Toista ensin. Havainnollistuksessa käyttäjä kirjoittaa huoneistoksi B 7. Tallennus näyttää onnistuneen, mutta uudelleenlatauksen jälkeen kenttä on tyhjä. Tämä on kirjoitettu opetusesimerkki, ei todellinen ruutukaappaus. Agentin pitäisi todellisessa tehtävässä havaita vastaava virhe ja seurata arvoa lomakkeesta lähetettävään tietoon, palvelimen tallennukseen ja takaisin näkymään. Älä oleta syytä pelkän oireen perusteella. Tässä seuraava dia näyttää yhden mahdollisen syyn: kenttä puuttuu muodostettavasta payloadista. Kysy, missä muissa kohdissa arvo voisi kadota. Hyvä toisto auttaa rajaamaan korjauksen ja luomaan regressiotarkistuksen. Lähde työskentelyperiaatteelle: https://code.claude.com/docs/en/best-practices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45:00–47:00 · Muutos ja näyttö. Koodikatkelma on korjausidean yksinkertaistettu ydin: apartment lisätään lähetettävään tietoon. Se ei esitä koko sovelluksen toteutusta. Oikealla ovat tarkistuskohteet: annettu huoneisto säilyy, tyhjä arvo toimii ja sivun uudelleenlataus säilyttää arvon. Tässä esityksessä ei väitetä näiden testien olevan ajettuja. Todellisessa työssä regressiotestin pitäisi epäonnistua ennen korjausta ja onnistua sen jälkeen, ja näkyvä tallennus pitäisi tarkistaa tarkoituksenmukaisessa ympäristössä. Yksikkötesti ei yksin takaa palvelimen tai käyttöliittymän toimintaa. Pyydä agenttia raportoimaan mitä ajettiin, tulos sekä mitä jäi tarkistamatta. Lähteet: https://learn.chatgpt.com/docs/prompting ; https://code.claude.com/docs/en/best-practices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47:00–49:00 · Luovuta arvioitava muutos. Vasemmalla ovat kuvitteellisen korjauksen syy, muutos sekä kehotus liittää oikeasti ajettu testi ja selaintarkistus. Oikealla on avoin kysymys vanhan datan korjaamisesta. Tämä ei ole oikea julkaistu pull request eikä suoritettujen tarkistusten raportti. Hyvä agentin luovutus tekee katselmoinnista helpompaa: lukija löytää syyn, muutoksen, näytön ja keskeneräiset päätökset. Vanhojen puuttuvien huoneistotietojen palautus voi vaatia erillisen päätöksen; uuden kentän tallennuksen korjaaminen ei itsessään palauta niitä. Pidä selitys lyhyenä mutta täsmällisenä. Lähteet: https://product.hubspot.com/blog/cloud-coding-agents-at-hubspot ; https://code.claude.com/docs/en/best-practices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49:00–51:00 · Prototyypin käyttäjäpalaute. Palaa kuvitteelliseen huoltoesimerkkiin. Muistiinpano tuottaa luonnoksen, jonka asentaja korjaa. Agentti voi auttaa tekemään pienen käyttöliittymän, tarkistamaan selaimessa että muokkaus toimii ja korjaamaan löydetyn virheen. Käyttäjäkokeilu vastaa eri kysymykseen: onko luonnoksesta hyötyä ja vastaavatko kentät oikeaa työtä? Esimerkiksi epätavallinen ääni ei vielä ole diagnoosi. Pyydä käyttäjää näyttämään, mitä hän muuttaisi. Seuraava pieni muutos perustuu tähän havaintoon. Emme väitä, että kuvitteellinen palvelu olisi julkaistu tai säästäisi tietyn ajan. Näin sama rajaus–näyttö–palaute-työtapa palvelee myös uuden työkalun kokeilemista.</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51:00–52:30 · Rinnakkainen työ. Erilliset työpuut voivat auttaa, kun tehtävät ovat aidosti erilliset. Kuvion esimerkissä yksi muutos lisää osoitteen regressiotestin ja toinen päivittää käyttöohjeen. Molemmat katselmoidaan ja yhdistetään, minkä jälkeen ajetaan yhteiset tarkistukset. Jos kaksi agenttia muuttaa samaa tiedostoa tai samaa käyttäytymistä, tarvitaan työnjako ja yhteensovitus. Erillinen worktree eristää työkopion, mutta ei poista ristiriitaisten ratkaisujen ongelmaa. Älä väitä lineaarista nopeushyötyä agenttien määrästä. Aloita yhdestä tehtävästä ja lisää rinnakkaisuutta vasta, kun riippuvuudet ovat selvät. Lähde: https://code.claude.com/docs/en/common-workflows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52:30–54:00 · Julkaisun jälkeinen kierros. Havainto voi olla virheilmoitus tai käyttäjän toistuva korjaus huoltoluonnokseen. Agentti voi auttaa tutkimaan havaintoa ja valmistelemaan rajatun korjauksen. Sovi mitä seurataan, kuka saa ilmoituksen ja kuka tekee julkaisupäätöksen. Pelkkä automaattinen tarkistus ilman omistajaa ei takaa, että ongelma tulee käsitellyksi. Käytä samaa ketjua: havainto, tutkiminen, pieni muutos ja tarkistus. Julkaisu ja käyttö ovat osa elinkaarta; tämä dia ei tarkoita, että agentti saisi automaattisesti julkaista kaikki muutokset. Esimerkki on työskentelymalli, ei tässä tehtävässä käynnistetty seuranta. Siirry lopuksi siihen, miten oma ymmärrys säilyy mukana.</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54:00–55:00 · Yksi opittava päätös. Kysy: mitä rikkoutuisi, jos huoneisto olisi tyhjä? Anna hetki ennustamiseen. Selitä omin sanoin, mitä tietoa järjestelmä lähettää ja miten se näkyy takaisin. Tarkista ennuste testillä tai yhdessä toisen kehittäjän kanssa. Näin AI:n käyttö ja oppiminen voidaan yhdistää konkreettiseen tilanteeseen. Kaikkea ei tarvitse kirjoittaa itse, mutta jokaisesta tehtävästä voi valita yhden päätöksen, jonka ymmärtää. Tämä on käytännön ehdotus, ei tutkimuksessa todistettu yleinen oppimismenetelmä. Käytännön osuus päättyy ajassa 55:00. Lähde oppimisen taustalle: https://www.anthropic.com/research/AI-assistance-coding-skills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55:00–56:00 · Seuraava hyödyllinen tehtävä. Rajaa tehtävä, määritä näyttö ja arvioi muutos. Palaa osoite-esimerkkiin: yksi toistettava virhe, selkeä säilymisen ehto, pieni korjaus ja tarkistus. Pyydä yleisöä valitsemaan mielessään yksi oma tehtävä, jossa tätä voisi kokeilla. 56:00 SIIRRY SELAIMEEN: https://gallup.koodattu.dev. Käytä loppugallupiin 3 minuuttia ja reagoi todelliseen tulokseen. Gallupin kysymykset ovat verkkosovelluksessa, eivät tässä PowerPointissa. Palaa päätösdiaan ajassa 59:00. Jos aikataulu venyy, pidä päätös silti lyhyenä ja selkeänä.</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59:00–60:00 · Päätös. Anna lauseelle tilaa: koodi halpeni, vastuu ei. Se on esityksen tiivistävä tulkinta, ei universaali kustannusmittaus. Käytännön kutsu on valita hyödyllinen tehtävä ja tehdä lopputulos tarkistettavaksi. Kiitä yleisöä ja jatka keskustelua. Varsinainen tunnin kokonaisuus päättyy tähän. Mahdollinen lisäpalaute pysyy gallup.koodattu.dev-palvelussa. Älä lisää PowerPointiin uusia gallupkysymyksiä.</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lakeus-ppt-master-experiment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lakeus-ppt-master-experiment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6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1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9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6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5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3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2400" kern="1200">
          <a:solidFill>
            <a:schemeClr val="tx1"/>
          </a:solidFill>
          <a:latin typeface="+mn-lt"/>
          <a:ea typeface="+mn-ea"/>
          <a:cs typeface="+mn-cs"/>
        </a:defRPr>
      </a:lvl1pPr>
      <a:lvl2pPr marL="457200" algn="l" defTabSz="457200" rtl="0" eaLnBrk="1" latinLnBrk="0" hangingPunct="1">
        <a:defRPr sz="2250" kern="1200">
          <a:solidFill>
            <a:schemeClr val="tx1"/>
          </a:solidFill>
          <a:latin typeface="+mn-lt"/>
          <a:ea typeface="+mn-ea"/>
          <a:cs typeface="+mn-cs"/>
        </a:defRPr>
      </a:lvl2pPr>
      <a:lvl3pPr marL="914400" algn="l" defTabSz="457200" rtl="0" eaLnBrk="1" latinLnBrk="0" hangingPunct="1">
        <a:defRPr sz="2100" kern="1200">
          <a:solidFill>
            <a:schemeClr val="tx1"/>
          </a:solidFill>
          <a:latin typeface="+mn-lt"/>
          <a:ea typeface="+mn-ea"/>
          <a:cs typeface="+mn-cs"/>
        </a:defRPr>
      </a:lvl3pPr>
      <a:lvl4pPr marL="1371600" algn="l" defTabSz="457200" rtl="0" eaLnBrk="1" latinLnBrk="0" hangingPunct="1">
        <a:defRPr sz="195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650" kern="1200">
          <a:solidFill>
            <a:schemeClr val="tx1"/>
          </a:solidFill>
          <a:latin typeface="+mn-lt"/>
          <a:ea typeface="+mn-ea"/>
          <a:cs typeface="+mn-cs"/>
        </a:defRPr>
      </a:lvl6pPr>
      <a:lvl7pPr marL="2743200" algn="l" defTabSz="457200" rtl="0" eaLnBrk="1" latinLnBrk="0" hangingPunct="1">
        <a:defRPr sz="1500" kern="1200">
          <a:solidFill>
            <a:schemeClr val="tx1"/>
          </a:solidFill>
          <a:latin typeface="+mn-lt"/>
          <a:ea typeface="+mn-ea"/>
          <a:cs typeface="+mn-cs"/>
        </a:defRPr>
      </a:lvl7pPr>
      <a:lvl8pPr marL="3200400" algn="l" defTabSz="457200" rtl="0" eaLnBrk="1" latinLnBrk="0" hangingPunct="1">
        <a:defRPr sz="135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dcf443ce972b9fd.pn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61d03a7379bbbb6.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rcRect l="0" t="26" r="0" b="27"/>
          <a:stretch>
            <a:fillRect/>
          </a:stretch>
        </p:blipFill>
        <p:spPr>
          <a:xfrm>
            <a:off x="0" y="0"/>
            <a:ext cx="12192000" cy="6858000"/>
          </a:xfrm>
          <a:prstGeom prst="rect">
            <a:avLst/>
          </a:prstGeom>
        </p:spPr>
      </p:pic>
      <p:grpSp>
        <p:nvGrpSpPr>
          <p:cNvPr id="9" name="Group 9"/>
          <p:cNvGrpSpPr/>
          <p:nvPr/>
        </p:nvGrpSpPr>
        <p:grpSpPr>
          <a:xfrm>
            <a:off x="457200" y="381000"/>
            <a:ext cx="6419850" cy="5953125"/>
            <a:chOff x="457200" y="381000"/>
            <a:chExt cx="6419850" cy="5953125"/>
          </a:xfrm>
        </p:grpSpPr>
        <p:sp>
          <p:nvSpPr>
            <p:cNvPr id="3" name="Rectangle 3"/>
            <p:cNvSpPr/>
            <p:nvPr/>
          </p:nvSpPr>
          <p:spPr>
            <a:xfrm>
              <a:off x="457200" y="381000"/>
              <a:ext cx="6419850" cy="5953125"/>
            </a:xfrm>
            <a:prstGeom prst="rect">
              <a:avLst/>
            </a:prstGeom>
            <a:solidFill>
              <a:schemeClr val="lt1">
                <a:alpha val="94000"/>
              </a:schemeClr>
            </a:solidFill>
            <a:ln>
              <a:noFill/>
            </a:ln>
          </p:spPr>
        </p:sp>
        <p:sp>
          <p:nvSpPr>
            <p:cNvPr id="4" name="TextBox 4"/>
            <p:cNvSpPr txBox="1"/>
            <p:nvPr/>
          </p:nvSpPr>
          <p:spPr>
            <a:xfrm>
              <a:off x="752856" y="767715"/>
              <a:ext cx="2863981" cy="352044"/>
            </a:xfrm>
            <a:prstGeom prst="rect">
              <a:avLst/>
            </a:prstGeom>
            <a:noFill/>
            <a:ln>
              <a:noFill/>
            </a:ln>
          </p:spPr>
          <p:txBody>
            <a:bodyPr wrap="none" lIns="0" tIns="0" rIns="0" bIns="0" anchor="t" anchorCtr="0">
              <a:spAutoFit/>
            </a:bodyPr>
            <a:lstStyle/>
            <a:p>
              <a:pPr algn="l"/>
              <a:r>
                <a:rPr lang="fi-FI" sz="1800" b="1" dirty="0">
                  <a:solidFill>
                    <a:schemeClr val="accent2"/>
                  </a:solidFill>
                  <a:latin typeface="+mn-lt"/>
                  <a:ea typeface="+mn-ea"/>
                  <a:cs typeface="+mn-cs"/>
                </a:rPr>
                <a:t>LAKEUS-DEVAUS 2026</a:t>
              </a:r>
            </a:p>
          </p:txBody>
        </p:sp>
        <p:sp>
          <p:nvSpPr>
            <p:cNvPr id="5" name="TextBox 5"/>
            <p:cNvSpPr txBox="1"/>
            <p:nvPr/>
          </p:nvSpPr>
          <p:spPr>
            <a:xfrm>
              <a:off x="742950" y="1529715"/>
              <a:ext cx="4407347" cy="2381250"/>
            </a:xfrm>
            <a:prstGeom prst="rect">
              <a:avLst/>
            </a:prstGeom>
            <a:noFill/>
            <a:ln>
              <a:noFill/>
            </a:ln>
          </p:spPr>
          <p:txBody>
            <a:bodyPr wrap="none" lIns="0" tIns="0" rIns="0" bIns="0" anchor="t" anchorCtr="0">
              <a:spAutoFit/>
            </a:bodyPr>
            <a:lstStyle/>
            <a:p>
              <a:pPr algn="l">
                <a:lnSpc>
                  <a:spcPts val="5700"/>
                </a:lnSpc>
              </a:pPr>
              <a:r>
                <a:rPr lang="fi-FI" sz="4800" b="1" dirty="0">
                  <a:solidFill>
                    <a:schemeClr val="accent1"/>
                  </a:solidFill>
                  <a:latin typeface="+mn-lt"/>
                  <a:ea typeface="+mn-ea"/>
                  <a:cs typeface="+mn-cs"/>
                </a:rPr>
                <a:t>Hei ohjelmisto-</a:t>
              </a:r>
              <a:br/>
              <a:r>
                <a:rPr lang="fi-FI" sz="4800" b="1" dirty="0">
                  <a:solidFill>
                    <a:schemeClr val="accent1"/>
                  </a:solidFill>
                  <a:latin typeface="+mn-lt"/>
                  <a:ea typeface="+mn-ea"/>
                  <a:cs typeface="+mn-cs"/>
                </a:rPr>
                <a:t>kehitys,</a:t>
              </a:r>
              <a:br/>
              <a:r>
                <a:rPr lang="fi-FI" sz="4800" b="1" dirty="0">
                  <a:solidFill>
                    <a:schemeClr val="accent1"/>
                  </a:solidFill>
                  <a:latin typeface="+mn-lt"/>
                  <a:ea typeface="+mn-ea"/>
                  <a:cs typeface="+mn-cs"/>
                </a:rPr>
                <a:t>mitä kuuluu?</a:t>
              </a:r>
            </a:p>
          </p:txBody>
        </p:sp>
        <p:sp>
          <p:nvSpPr>
            <p:cNvPr id="6" name="Line 6"/>
            <p:cNvSpPr/>
            <p:nvPr/>
          </p:nvSpPr>
          <p:spPr>
            <a:xfrm>
              <a:off x="762000" y="4095750"/>
              <a:ext cx="857250" cy="9525"/>
            </a:xfrm>
            <a:custGeom>
              <a:avLst/>
              <a:gdLst/>
              <a:ahLst/>
              <a:cxnLst/>
              <a:rect l="l" t="t" r="r" b="b"/>
              <a:pathLst>
                <a:path w="857250" h="9525">
                  <a:moveTo>
                    <a:pt x="0" y="0"/>
                  </a:moveTo>
                  <a:lnTo>
                    <a:pt x="857250" y="0"/>
                  </a:lnTo>
                </a:path>
              </a:pathLst>
            </a:custGeom>
            <a:noFill/>
            <a:ln w="76200">
              <a:solidFill>
                <a:schemeClr val="accent2"/>
              </a:solidFill>
            </a:ln>
          </p:spPr>
        </p:sp>
        <p:sp>
          <p:nvSpPr>
            <p:cNvPr id="7" name="TextBox 7"/>
            <p:cNvSpPr txBox="1"/>
            <p:nvPr/>
          </p:nvSpPr>
          <p:spPr>
            <a:xfrm>
              <a:off x="749808" y="4512945"/>
              <a:ext cx="4548591" cy="926592"/>
            </a:xfrm>
            <a:prstGeom prst="rect">
              <a:avLst/>
            </a:prstGeom>
            <a:noFill/>
            <a:ln>
              <a:noFill/>
            </a:ln>
          </p:spPr>
          <p:txBody>
            <a:bodyPr wrap="none" lIns="0" tIns="0" rIns="0" bIns="0" anchor="t" anchorCtr="0">
              <a:spAutoFit/>
            </a:bodyPr>
            <a:lstStyle/>
            <a:p>
              <a:pPr algn="l">
                <a:lnSpc>
                  <a:spcPts val="3600"/>
                </a:lnSpc>
              </a:pPr>
              <a:r>
                <a:rPr lang="fi-FI" sz="2400" dirty="0">
                  <a:solidFill>
                    <a:schemeClr val="dk1"/>
                  </a:solidFill>
                  <a:latin typeface="+mn-lt"/>
                  <a:ea typeface="+mn-ea"/>
                  <a:cs typeface="+mn-cs"/>
                </a:rPr>
                <a:t>Mikä muuttui?</a:t>
              </a:r>
              <a:br/>
              <a:r>
                <a:rPr lang="fi-FI" sz="2400" dirty="0">
                  <a:solidFill>
                    <a:schemeClr val="dk1"/>
                  </a:solidFill>
                  <a:latin typeface="+mn-lt"/>
                  <a:ea typeface="+mn-ea"/>
                  <a:cs typeface="+mn-cs"/>
                </a:rPr>
                <a:t>Miten AI:n kanssa tehdään työtä?</a:t>
              </a:r>
            </a:p>
          </p:txBody>
        </p:sp>
        <p:sp>
          <p:nvSpPr>
            <p:cNvPr id="8" name="TextBox 8"/>
            <p:cNvSpPr txBox="1"/>
            <p:nvPr/>
          </p:nvSpPr>
          <p:spPr>
            <a:xfrm>
              <a:off x="754380" y="5743575"/>
              <a:ext cx="4000248" cy="293370"/>
            </a:xfrm>
            <a:prstGeom prst="rect">
              <a:avLst/>
            </a:prstGeom>
            <a:noFill/>
            <a:ln>
              <a:noFill/>
            </a:ln>
          </p:spPr>
          <p:txBody>
            <a:bodyPr wrap="none" lIns="0" tIns="0" rIns="0" bIns="0" anchor="t" anchorCtr="0">
              <a:spAutoFit/>
            </a:bodyPr>
            <a:lstStyle/>
            <a:p>
              <a:pPr algn="l"/>
              <a:r>
                <a:rPr lang="fi-FI" sz="1500" dirty="0">
                  <a:solidFill>
                    <a:schemeClr val="accent6"/>
                  </a:solidFill>
                  <a:latin typeface="+mn-lt"/>
                  <a:ea typeface="+mn-ea"/>
                  <a:cs typeface="+mn-cs"/>
                </a:rPr>
                <a:t>60 minuuttia · havainnot, kokeilut ja käytäntö</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91312" y="621030"/>
            <a:ext cx="4178442" cy="1275588"/>
          </a:xfrm>
          <a:prstGeom prst="rect">
            <a:avLst/>
          </a:prstGeom>
          <a:noFill/>
          <a:ln>
            <a:noFill/>
          </a:ln>
        </p:spPr>
        <p:txBody>
          <a:bodyPr wrap="none" lIns="0" tIns="0" rIns="0" bIns="0" anchor="t" anchorCtr="0">
            <a:spAutoFit/>
          </a:bodyPr>
          <a:lstStyle/>
          <a:p>
            <a:pPr algn="l">
              <a:lnSpc>
                <a:spcPts val="4500"/>
              </a:lnSpc>
            </a:pPr>
            <a:r>
              <a:rPr lang="fi-FI" sz="3600" b="1" dirty="0">
                <a:solidFill>
                  <a:schemeClr val="accent1"/>
                </a:solidFill>
                <a:latin typeface="+mn-lt"/>
                <a:ea typeface="+mn-ea"/>
                <a:cs typeface="+mn-cs"/>
              </a:rPr>
              <a:t>Pyydä tulosta,</a:t>
            </a:r>
            <a:br/>
            <a:r>
              <a:rPr lang="fi-FI" sz="3600" b="1" dirty="0">
                <a:solidFill>
                  <a:schemeClr val="accent1"/>
                </a:solidFill>
                <a:latin typeface="+mn-lt"/>
                <a:ea typeface="+mn-ea"/>
                <a:cs typeface="+mn-cs"/>
              </a:rPr>
              <a:t>jonka voit tarkistaa</a:t>
            </a:r>
          </a:p>
        </p:txBody>
      </p:sp>
      <p:grpSp>
        <p:nvGrpSpPr>
          <p:cNvPr id="5" name="Group 5"/>
          <p:cNvGrpSpPr/>
          <p:nvPr/>
        </p:nvGrpSpPr>
        <p:grpSpPr>
          <a:xfrm>
            <a:off x="597408" y="2501265"/>
            <a:ext cx="2210166" cy="1480947"/>
            <a:chOff x="597408" y="2501265"/>
            <a:chExt cx="2210166" cy="1480947"/>
          </a:xfrm>
        </p:grpSpPr>
        <p:sp>
          <p:nvSpPr>
            <p:cNvPr id="3" name="TextBox 3"/>
            <p:cNvSpPr txBox="1"/>
            <p:nvPr/>
          </p:nvSpPr>
          <p:spPr>
            <a:xfrm>
              <a:off x="600456" y="2501265"/>
              <a:ext cx="1071296" cy="352044"/>
            </a:xfrm>
            <a:prstGeom prst="rect">
              <a:avLst/>
            </a:prstGeom>
            <a:noFill/>
            <a:ln>
              <a:noFill/>
            </a:ln>
          </p:spPr>
          <p:txBody>
            <a:bodyPr wrap="none" lIns="0" tIns="0" rIns="0" bIns="0" anchor="t" anchorCtr="0">
              <a:spAutoFit/>
            </a:bodyPr>
            <a:lstStyle/>
            <a:p>
              <a:pPr algn="l"/>
              <a:r>
                <a:rPr lang="fi-FI" sz="1800" dirty="0">
                  <a:solidFill>
                    <a:schemeClr val="accent6"/>
                  </a:solidFill>
                  <a:latin typeface="+mn-lt"/>
                  <a:ea typeface="+mn-ea"/>
                  <a:cs typeface="+mn-cs"/>
                </a:rPr>
                <a:t>SELITYS</a:t>
              </a:r>
            </a:p>
          </p:txBody>
        </p:sp>
        <p:sp>
          <p:nvSpPr>
            <p:cNvPr id="4" name="TextBox 4"/>
            <p:cNvSpPr txBox="1"/>
            <p:nvPr/>
          </p:nvSpPr>
          <p:spPr>
            <a:xfrm>
              <a:off x="597408" y="3055620"/>
              <a:ext cx="2210166" cy="926592"/>
            </a:xfrm>
            <a:prstGeom prst="rect">
              <a:avLst/>
            </a:prstGeom>
            <a:noFill/>
            <a:ln>
              <a:noFill/>
            </a:ln>
          </p:spPr>
          <p:txBody>
            <a:bodyPr wrap="none" lIns="0" tIns="0" rIns="0" bIns="0" anchor="t" anchorCtr="0">
              <a:spAutoFit/>
            </a:bodyPr>
            <a:lstStyle/>
            <a:p>
              <a:pPr algn="l">
                <a:lnSpc>
                  <a:spcPts val="3600"/>
                </a:lnSpc>
              </a:pPr>
              <a:r>
                <a:rPr lang="fi-FI" sz="2400" dirty="0">
                  <a:solidFill>
                    <a:schemeClr val="dk1"/>
                  </a:solidFill>
                  <a:latin typeface="+mn-lt"/>
                  <a:ea typeface="+mn-ea"/>
                  <a:cs typeface="+mn-cs"/>
                </a:rPr>
                <a:t>“Selitä osoitteen</a:t>
              </a:r>
              <a:br/>
              <a:r>
                <a:rPr lang="fi-FI" sz="2400" dirty="0">
                  <a:solidFill>
                    <a:schemeClr val="dk1"/>
                  </a:solidFill>
                  <a:latin typeface="+mn-lt"/>
                  <a:ea typeface="+mn-ea"/>
                  <a:cs typeface="+mn-cs"/>
                </a:rPr>
                <a:t>tallennus.”</a:t>
              </a:r>
            </a:p>
          </p:txBody>
        </p:sp>
      </p:grpSp>
      <p:grpSp>
        <p:nvGrpSpPr>
          <p:cNvPr id="9" name="Group 9"/>
          <p:cNvGrpSpPr/>
          <p:nvPr/>
        </p:nvGrpSpPr>
        <p:grpSpPr>
          <a:xfrm>
            <a:off x="4572000" y="2238375"/>
            <a:ext cx="7010400" cy="3095625"/>
            <a:chOff x="4572000" y="2238375"/>
            <a:chExt cx="7010400" cy="3095625"/>
          </a:xfrm>
        </p:grpSpPr>
        <p:sp>
          <p:nvSpPr>
            <p:cNvPr id="6" name="Rectangle 6"/>
            <p:cNvSpPr/>
            <p:nvPr/>
          </p:nvSpPr>
          <p:spPr>
            <a:xfrm>
              <a:off x="4572000" y="2238375"/>
              <a:ext cx="7010400" cy="3095625"/>
            </a:xfrm>
            <a:prstGeom prst="rect">
              <a:avLst/>
            </a:prstGeom>
            <a:solidFill>
              <a:schemeClr val="accent1"/>
            </a:solidFill>
            <a:ln>
              <a:noFill/>
            </a:ln>
          </p:spPr>
        </p:sp>
        <p:sp>
          <p:nvSpPr>
            <p:cNvPr id="7" name="TextBox 7"/>
            <p:cNvSpPr txBox="1"/>
            <p:nvPr/>
          </p:nvSpPr>
          <p:spPr>
            <a:xfrm>
              <a:off x="4905756" y="2501265"/>
              <a:ext cx="2749740"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DELEGOITU TEHTÄVÄ</a:t>
              </a:r>
            </a:p>
          </p:txBody>
        </p:sp>
        <p:sp>
          <p:nvSpPr>
            <p:cNvPr id="8" name="TextBox 8"/>
            <p:cNvSpPr txBox="1"/>
            <p:nvPr/>
          </p:nvSpPr>
          <p:spPr>
            <a:xfrm>
              <a:off x="4899660" y="3009900"/>
              <a:ext cx="4582592" cy="1653540"/>
            </a:xfrm>
            <a:prstGeom prst="rect">
              <a:avLst/>
            </a:prstGeom>
            <a:noFill/>
            <a:ln>
              <a:noFill/>
            </a:ln>
          </p:spPr>
          <p:txBody>
            <a:bodyPr wrap="none" lIns="0" tIns="0" rIns="0" bIns="0" anchor="t" anchorCtr="0">
              <a:spAutoFit/>
            </a:bodyPr>
            <a:lstStyle/>
            <a:p>
              <a:pPr algn="l">
                <a:lnSpc>
                  <a:spcPts val="4200"/>
                </a:lnSpc>
              </a:pPr>
              <a:r>
                <a:rPr lang="fi-FI" sz="3000" b="1" dirty="0">
                  <a:solidFill>
                    <a:srgbClr val="F8FAFC"/>
                  </a:solidFill>
                  <a:latin typeface="+mn-lt"/>
                  <a:ea typeface="+mn-ea"/>
                  <a:cs typeface="+mn-cs"/>
                </a:rPr>
                <a:t>“Toista virhe.</a:t>
              </a:r>
              <a:br/>
              <a:r>
                <a:rPr lang="fi-FI" sz="3000" b="1" dirty="0">
                  <a:solidFill>
                    <a:srgbClr val="F8FAFC"/>
                  </a:solidFill>
                  <a:latin typeface="+mn-lt"/>
                  <a:ea typeface="+mn-ea"/>
                  <a:cs typeface="+mn-cs"/>
                </a:rPr>
                <a:t>Korjaa rajattu syy.</a:t>
              </a:r>
              <a:br/>
              <a:r>
                <a:rPr lang="fi-FI" sz="3000" b="1" dirty="0">
                  <a:solidFill>
                    <a:srgbClr val="F8FAFC"/>
                  </a:solidFill>
                  <a:latin typeface="+mn-lt"/>
                  <a:ea typeface="+mn-ea"/>
                  <a:cs typeface="+mn-cs"/>
                </a:rPr>
                <a:t>Näytä toimiva tallennus.”</a:t>
              </a:r>
            </a:p>
          </p:txBody>
        </p:sp>
      </p:grpSp>
      <p:grpSp>
        <p:nvGrpSpPr>
          <p:cNvPr id="11" name="Group 11"/>
          <p:cNvGrpSpPr/>
          <p:nvPr/>
        </p:nvGrpSpPr>
        <p:grpSpPr>
          <a:xfrm>
            <a:off x="600456" y="5949315"/>
            <a:ext cx="5629970" cy="352044"/>
            <a:chOff x="600456" y="5949315"/>
            <a:chExt cx="5629970" cy="352044"/>
          </a:xfrm>
        </p:grpSpPr>
        <p:sp>
          <p:nvSpPr>
            <p:cNvPr id="10" name="TextBox 10"/>
            <p:cNvSpPr txBox="1"/>
            <p:nvPr/>
          </p:nvSpPr>
          <p:spPr>
            <a:xfrm>
              <a:off x="600456" y="5949315"/>
              <a:ext cx="5629970"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Seuraavaksi 10 min alkugallup · gallup.koodattu.dev</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91312" y="621030"/>
            <a:ext cx="5908578" cy="1275588"/>
          </a:xfrm>
          <a:prstGeom prst="rect">
            <a:avLst/>
          </a:prstGeom>
          <a:noFill/>
          <a:ln>
            <a:noFill/>
          </a:ln>
        </p:spPr>
        <p:txBody>
          <a:bodyPr wrap="none" lIns="0" tIns="0" rIns="0" bIns="0" anchor="t" anchorCtr="0">
            <a:spAutoFit/>
          </a:bodyPr>
          <a:lstStyle/>
          <a:p>
            <a:pPr algn="l">
              <a:lnSpc>
                <a:spcPts val="4500"/>
              </a:lnSpc>
            </a:pPr>
            <a:r>
              <a:rPr lang="fi-FI" sz="3600" b="1" dirty="0">
                <a:solidFill>
                  <a:schemeClr val="accent1"/>
                </a:solidFill>
                <a:latin typeface="+mn-lt"/>
                <a:ea typeface="+mn-ea"/>
                <a:cs typeface="+mn-cs"/>
              </a:rPr>
              <a:t>Toteutus helpottuu.</a:t>
            </a:r>
            <a:br/>
            <a:r>
              <a:rPr lang="fi-FI" sz="3600" b="1" dirty="0">
                <a:solidFill>
                  <a:schemeClr val="accent1"/>
                </a:solidFill>
                <a:latin typeface="+mn-lt"/>
                <a:ea typeface="+mn-ea"/>
                <a:cs typeface="+mn-cs"/>
              </a:rPr>
              <a:t>Vaikeat kysymykset jäävät.</a:t>
            </a:r>
          </a:p>
        </p:txBody>
      </p:sp>
      <p:grpSp>
        <p:nvGrpSpPr>
          <p:cNvPr id="11" name="Group 11"/>
          <p:cNvGrpSpPr/>
          <p:nvPr/>
        </p:nvGrpSpPr>
        <p:grpSpPr>
          <a:xfrm>
            <a:off x="609600" y="2381250"/>
            <a:ext cx="10972800" cy="3143250"/>
            <a:chOff x="609600" y="2381250"/>
            <a:chExt cx="10972800" cy="3143250"/>
          </a:xfrm>
        </p:grpSpPr>
        <p:sp>
          <p:nvSpPr>
            <p:cNvPr id="3" name="Rectangle 3"/>
            <p:cNvSpPr/>
            <p:nvPr/>
          </p:nvSpPr>
          <p:spPr>
            <a:xfrm>
              <a:off x="609600" y="2381250"/>
              <a:ext cx="10972800" cy="3143250"/>
            </a:xfrm>
            <a:prstGeom prst="rect">
              <a:avLst/>
            </a:prstGeom>
            <a:solidFill>
              <a:schemeClr val="accent1"/>
            </a:solidFill>
            <a:ln>
              <a:noFill/>
            </a:ln>
          </p:spPr>
        </p:sp>
        <p:sp>
          <p:nvSpPr>
            <p:cNvPr id="4" name="TextBox 4"/>
            <p:cNvSpPr txBox="1"/>
            <p:nvPr/>
          </p:nvSpPr>
          <p:spPr>
            <a:xfrm>
              <a:off x="905256" y="2663190"/>
              <a:ext cx="2180529"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OHJELMISTOTYÖ</a:t>
              </a:r>
            </a:p>
          </p:txBody>
        </p:sp>
        <p:sp>
          <p:nvSpPr>
            <p:cNvPr id="5" name="TextBox 5"/>
            <p:cNvSpPr txBox="1"/>
            <p:nvPr/>
          </p:nvSpPr>
          <p:spPr>
            <a:xfrm>
              <a:off x="899160" y="3724275"/>
              <a:ext cx="1074514" cy="586740"/>
            </a:xfrm>
            <a:prstGeom prst="rect">
              <a:avLst/>
            </a:prstGeom>
            <a:noFill/>
            <a:ln>
              <a:noFill/>
            </a:ln>
          </p:spPr>
          <p:txBody>
            <a:bodyPr wrap="none" lIns="0" tIns="0" rIns="0" bIns="0" anchor="t" anchorCtr="0">
              <a:spAutoFit/>
            </a:bodyPr>
            <a:lstStyle/>
            <a:p>
              <a:pPr algn="l"/>
              <a:r>
                <a:rPr lang="fi-FI" sz="3000" dirty="0">
                  <a:solidFill>
                    <a:srgbClr val="F8FAFC"/>
                  </a:solidFill>
                  <a:latin typeface="+mn-lt"/>
                  <a:ea typeface="+mn-ea"/>
                  <a:cs typeface="+mn-cs"/>
                </a:rPr>
                <a:t>Tarve</a:t>
              </a:r>
            </a:p>
          </p:txBody>
        </p:sp>
        <p:sp>
          <p:nvSpPr>
            <p:cNvPr id="6" name="TextBox 6"/>
            <p:cNvSpPr txBox="1"/>
            <p:nvPr/>
          </p:nvSpPr>
          <p:spPr>
            <a:xfrm>
              <a:off x="3156585" y="3724275"/>
              <a:ext cx="1883160" cy="586740"/>
            </a:xfrm>
            <a:prstGeom prst="rect">
              <a:avLst/>
            </a:prstGeom>
            <a:noFill/>
            <a:ln>
              <a:noFill/>
            </a:ln>
          </p:spPr>
          <p:txBody>
            <a:bodyPr wrap="none" lIns="0" tIns="0" rIns="0" bIns="0" anchor="t" anchorCtr="0">
              <a:spAutoFit/>
            </a:bodyPr>
            <a:lstStyle/>
            <a:p>
              <a:pPr algn="l"/>
              <a:r>
                <a:rPr lang="fi-FI" sz="3000" dirty="0">
                  <a:solidFill>
                    <a:srgbClr val="F8FAFC"/>
                  </a:solidFill>
                  <a:latin typeface="+mn-lt"/>
                  <a:ea typeface="+mn-ea"/>
                  <a:cs typeface="+mn-cs"/>
                </a:rPr>
                <a:t>Ymmärrys</a:t>
              </a:r>
            </a:p>
          </p:txBody>
        </p:sp>
        <p:sp>
          <p:nvSpPr>
            <p:cNvPr id="7" name="Rectangle 7"/>
            <p:cNvSpPr/>
            <p:nvPr/>
          </p:nvSpPr>
          <p:spPr>
            <a:xfrm>
              <a:off x="5962650" y="3219450"/>
              <a:ext cx="2714625" cy="1943100"/>
            </a:xfrm>
            <a:prstGeom prst="rect">
              <a:avLst/>
            </a:prstGeom>
            <a:solidFill>
              <a:schemeClr val="accent2"/>
            </a:solidFill>
            <a:ln>
              <a:noFill/>
            </a:ln>
          </p:spPr>
        </p:sp>
        <p:sp>
          <p:nvSpPr>
            <p:cNvPr id="8" name="TextBox 8"/>
            <p:cNvSpPr txBox="1"/>
            <p:nvPr/>
          </p:nvSpPr>
          <p:spPr>
            <a:xfrm>
              <a:off x="6261735" y="3724275"/>
              <a:ext cx="1747479" cy="586740"/>
            </a:xfrm>
            <a:prstGeom prst="rect">
              <a:avLst/>
            </a:prstGeom>
            <a:noFill/>
            <a:ln>
              <a:noFill/>
            </a:ln>
          </p:spPr>
          <p:txBody>
            <a:bodyPr wrap="none" lIns="0" tIns="0" rIns="0" bIns="0" anchor="t" anchorCtr="0">
              <a:spAutoFit/>
            </a:bodyPr>
            <a:lstStyle/>
            <a:p>
              <a:pPr algn="l"/>
              <a:r>
                <a:rPr lang="fi-FI" sz="3000" b="1" dirty="0">
                  <a:solidFill>
                    <a:srgbClr val="F8FAFC"/>
                  </a:solidFill>
                  <a:latin typeface="+mn-lt"/>
                  <a:ea typeface="+mn-ea"/>
                  <a:cs typeface="+mn-cs"/>
                </a:rPr>
                <a:t>Toteutus</a:t>
              </a:r>
            </a:p>
          </p:txBody>
        </p:sp>
        <p:sp>
          <p:nvSpPr>
            <p:cNvPr id="9" name="TextBox 9"/>
            <p:cNvSpPr txBox="1"/>
            <p:nvPr/>
          </p:nvSpPr>
          <p:spPr>
            <a:xfrm>
              <a:off x="9157335" y="3724275"/>
              <a:ext cx="1364513" cy="586740"/>
            </a:xfrm>
            <a:prstGeom prst="rect">
              <a:avLst/>
            </a:prstGeom>
            <a:noFill/>
            <a:ln>
              <a:noFill/>
            </a:ln>
          </p:spPr>
          <p:txBody>
            <a:bodyPr wrap="none" lIns="0" tIns="0" rIns="0" bIns="0" anchor="t" anchorCtr="0">
              <a:spAutoFit/>
            </a:bodyPr>
            <a:lstStyle/>
            <a:p>
              <a:pPr algn="l"/>
              <a:r>
                <a:rPr lang="fi-FI" sz="3000" dirty="0">
                  <a:solidFill>
                    <a:srgbClr val="F8FAFC"/>
                  </a:solidFill>
                  <a:latin typeface="+mn-lt"/>
                  <a:ea typeface="+mn-ea"/>
                  <a:cs typeface="+mn-cs"/>
                </a:rPr>
                <a:t>Ylläpito</a:t>
              </a:r>
            </a:p>
          </p:txBody>
        </p:sp>
        <p:sp>
          <p:nvSpPr>
            <p:cNvPr id="10" name="TextBox 10"/>
            <p:cNvSpPr txBox="1"/>
            <p:nvPr/>
          </p:nvSpPr>
          <p:spPr>
            <a:xfrm>
              <a:off x="6267831" y="4463415"/>
              <a:ext cx="1675937" cy="352044"/>
            </a:xfrm>
            <a:prstGeom prst="rect">
              <a:avLst/>
            </a:prstGeom>
            <a:noFill/>
            <a:ln>
              <a:noFill/>
            </a:ln>
          </p:spPr>
          <p:txBody>
            <a:bodyPr wrap="none" lIns="0" tIns="0" rIns="0" bIns="0" anchor="t" anchorCtr="0">
              <a:spAutoFit/>
            </a:bodyPr>
            <a:lstStyle/>
            <a:p>
              <a:pPr algn="l"/>
              <a:r>
                <a:rPr lang="fi-FI" sz="1800" dirty="0">
                  <a:solidFill>
                    <a:srgbClr val="F8FAFC"/>
                  </a:solidFill>
                  <a:latin typeface="+mn-lt"/>
                  <a:ea typeface="+mn-ea"/>
                  <a:cs typeface="+mn-cs"/>
                </a:rPr>
                <a:t>AI muuttaa tätä</a:t>
              </a:r>
            </a:p>
          </p:txBody>
        </p:sp>
      </p:grpSp>
      <p:grpSp>
        <p:nvGrpSpPr>
          <p:cNvPr id="13" name="Group 13"/>
          <p:cNvGrpSpPr/>
          <p:nvPr/>
        </p:nvGrpSpPr>
        <p:grpSpPr>
          <a:xfrm>
            <a:off x="600456" y="5930265"/>
            <a:ext cx="7895363" cy="352044"/>
            <a:chOff x="600456" y="5930265"/>
            <a:chExt cx="7895363" cy="352044"/>
          </a:xfrm>
        </p:grpSpPr>
        <p:sp>
          <p:nvSpPr>
            <p:cNvPr id="12" name="TextBox 12"/>
            <p:cNvSpPr txBox="1"/>
            <p:nvPr/>
          </p:nvSpPr>
          <p:spPr>
            <a:xfrm>
              <a:off x="600456" y="5930265"/>
              <a:ext cx="7895363" cy="352044"/>
            </a:xfrm>
            <a:prstGeom prst="rect">
              <a:avLst/>
            </a:prstGeom>
            <a:noFill/>
            <a:ln>
              <a:noFill/>
            </a:ln>
          </p:spPr>
          <p:txBody>
            <a:bodyPr wrap="none" lIns="0" tIns="0" rIns="0" bIns="0" anchor="t" anchorCtr="0">
              <a:spAutoFit/>
            </a:bodyPr>
            <a:lstStyle/>
            <a:p>
              <a:pPr algn="l"/>
              <a:r>
                <a:rPr lang="fi-FI" sz="1800" dirty="0">
                  <a:solidFill>
                    <a:schemeClr val="accent6"/>
                  </a:solidFill>
                  <a:latin typeface="+mn-lt"/>
                  <a:ea typeface="+mn-ea"/>
                  <a:cs typeface="+mn-cs"/>
                </a:rPr>
                <a:t>Toteutus on osa kokonaisuutta. · Taustalla Brooks (1987) ja Naur (1985).</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91312" y="621030"/>
            <a:ext cx="5423032" cy="1275588"/>
          </a:xfrm>
          <a:prstGeom prst="rect">
            <a:avLst/>
          </a:prstGeom>
          <a:noFill/>
          <a:ln>
            <a:noFill/>
          </a:ln>
        </p:spPr>
        <p:txBody>
          <a:bodyPr wrap="none" lIns="0" tIns="0" rIns="0" bIns="0" anchor="t" anchorCtr="0">
            <a:spAutoFit/>
          </a:bodyPr>
          <a:lstStyle/>
          <a:p>
            <a:pPr algn="l">
              <a:lnSpc>
                <a:spcPts val="4500"/>
              </a:lnSpc>
            </a:pPr>
            <a:r>
              <a:rPr lang="fi-FI" sz="3600" b="1" dirty="0">
                <a:solidFill>
                  <a:schemeClr val="accent1"/>
                </a:solidFill>
                <a:latin typeface="+mn-lt"/>
                <a:ea typeface="+mn-ea"/>
                <a:cs typeface="+mn-cs"/>
              </a:rPr>
              <a:t>Rajattu tehtävä voi edetä</a:t>
            </a:r>
            <a:br/>
            <a:r>
              <a:rPr lang="fi-FI" sz="3600" b="1" dirty="0">
                <a:solidFill>
                  <a:schemeClr val="accent1"/>
                </a:solidFill>
                <a:latin typeface="+mn-lt"/>
                <a:ea typeface="+mn-ea"/>
                <a:cs typeface="+mn-cs"/>
              </a:rPr>
              <a:t>pitkälle itsenäisesti</a:t>
            </a:r>
          </a:p>
        </p:txBody>
      </p:sp>
      <p:grpSp>
        <p:nvGrpSpPr>
          <p:cNvPr id="14" name="Group 14"/>
          <p:cNvGrpSpPr/>
          <p:nvPr/>
        </p:nvGrpSpPr>
        <p:grpSpPr>
          <a:xfrm>
            <a:off x="597408" y="2434590"/>
            <a:ext cx="8933840" cy="2404872"/>
            <a:chOff x="597408" y="2434590"/>
            <a:chExt cx="8933840" cy="2404872"/>
          </a:xfrm>
        </p:grpSpPr>
        <p:sp>
          <p:nvSpPr>
            <p:cNvPr id="3" name="TextBox 3"/>
            <p:cNvSpPr txBox="1"/>
            <p:nvPr/>
          </p:nvSpPr>
          <p:spPr>
            <a:xfrm>
              <a:off x="600456" y="2434590"/>
              <a:ext cx="4698246"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MIRRORCODE · TUTKIMUSASETELMA</a:t>
              </a:r>
            </a:p>
          </p:txBody>
        </p:sp>
        <p:sp>
          <p:nvSpPr>
            <p:cNvPr id="4" name="Line 4"/>
            <p:cNvSpPr/>
            <p:nvPr/>
          </p:nvSpPr>
          <p:spPr>
            <a:xfrm>
              <a:off x="942975" y="3352800"/>
              <a:ext cx="8582025" cy="9525"/>
            </a:xfrm>
            <a:custGeom>
              <a:avLst/>
              <a:gdLst/>
              <a:ahLst/>
              <a:cxnLst/>
              <a:rect l="l" t="t" r="r" b="b"/>
              <a:pathLst>
                <a:path w="8582025" h="9525">
                  <a:moveTo>
                    <a:pt x="0" y="0"/>
                  </a:moveTo>
                  <a:lnTo>
                    <a:pt x="8582025" y="0"/>
                  </a:lnTo>
                </a:path>
              </a:pathLst>
            </a:custGeom>
            <a:noFill/>
            <a:ln w="38100">
              <a:solidFill>
                <a:srgbClr val="CBD3D8"/>
              </a:solidFill>
            </a:ln>
          </p:spPr>
        </p:sp>
        <p:sp>
          <p:nvSpPr>
            <p:cNvPr id="5" name="Ellipse 5"/>
            <p:cNvSpPr/>
            <p:nvPr/>
          </p:nvSpPr>
          <p:spPr>
            <a:xfrm>
              <a:off x="723900" y="3124200"/>
              <a:ext cx="457200" cy="457200"/>
            </a:xfrm>
            <a:prstGeom prst="ellipse">
              <a:avLst/>
            </a:prstGeom>
            <a:solidFill>
              <a:schemeClr val="accent1"/>
            </a:solidFill>
            <a:ln>
              <a:noFill/>
            </a:ln>
          </p:spPr>
        </p:sp>
        <p:sp>
          <p:nvSpPr>
            <p:cNvPr id="6" name="Ellipse 6"/>
            <p:cNvSpPr/>
            <p:nvPr/>
          </p:nvSpPr>
          <p:spPr>
            <a:xfrm>
              <a:off x="4533900" y="3124200"/>
              <a:ext cx="457200" cy="457200"/>
            </a:xfrm>
            <a:prstGeom prst="ellipse">
              <a:avLst/>
            </a:prstGeom>
            <a:solidFill>
              <a:schemeClr val="accent2"/>
            </a:solidFill>
            <a:ln>
              <a:noFill/>
            </a:ln>
          </p:spPr>
        </p:sp>
        <p:sp>
          <p:nvSpPr>
            <p:cNvPr id="7" name="Ellipse 7"/>
            <p:cNvSpPr/>
            <p:nvPr/>
          </p:nvSpPr>
          <p:spPr>
            <a:xfrm>
              <a:off x="8629650" y="3124200"/>
              <a:ext cx="457200" cy="457200"/>
            </a:xfrm>
            <a:prstGeom prst="ellipse">
              <a:avLst/>
            </a:prstGeom>
            <a:solidFill>
              <a:schemeClr val="accent1"/>
            </a:solidFill>
            <a:ln>
              <a:noFill/>
            </a:ln>
          </p:spPr>
        </p:sp>
        <p:sp>
          <p:nvSpPr>
            <p:cNvPr id="8" name="TextBox 8"/>
            <p:cNvSpPr txBox="1"/>
            <p:nvPr/>
          </p:nvSpPr>
          <p:spPr>
            <a:xfrm>
              <a:off x="857631" y="3234690"/>
              <a:ext cx="153064" cy="352044"/>
            </a:xfrm>
            <a:prstGeom prst="rect">
              <a:avLst/>
            </a:prstGeom>
            <a:noFill/>
            <a:ln>
              <a:noFill/>
            </a:ln>
          </p:spPr>
          <p:txBody>
            <a:bodyPr wrap="none" lIns="0" tIns="0" rIns="0" bIns="0" anchor="t" anchorCtr="0">
              <a:spAutoFit/>
            </a:bodyPr>
            <a:lstStyle/>
            <a:p>
              <a:pPr algn="l"/>
              <a:r>
                <a:rPr lang="fi-FI" sz="1800" dirty="0">
                  <a:solidFill>
                    <a:srgbClr val="F8FAFC"/>
                  </a:solidFill>
                  <a:latin typeface="+mn-lt"/>
                  <a:ea typeface="+mn-ea"/>
                  <a:cs typeface="+mn-cs"/>
                </a:rPr>
                <a:t>1</a:t>
              </a:r>
            </a:p>
          </p:txBody>
        </p:sp>
        <p:sp>
          <p:nvSpPr>
            <p:cNvPr id="9" name="TextBox 9"/>
            <p:cNvSpPr txBox="1"/>
            <p:nvPr/>
          </p:nvSpPr>
          <p:spPr>
            <a:xfrm>
              <a:off x="4667631" y="3234690"/>
              <a:ext cx="153064" cy="352044"/>
            </a:xfrm>
            <a:prstGeom prst="rect">
              <a:avLst/>
            </a:prstGeom>
            <a:noFill/>
            <a:ln>
              <a:noFill/>
            </a:ln>
          </p:spPr>
          <p:txBody>
            <a:bodyPr wrap="none" lIns="0" tIns="0" rIns="0" bIns="0" anchor="t" anchorCtr="0">
              <a:spAutoFit/>
            </a:bodyPr>
            <a:lstStyle/>
            <a:p>
              <a:pPr algn="l"/>
              <a:r>
                <a:rPr lang="fi-FI" sz="1800" dirty="0">
                  <a:solidFill>
                    <a:srgbClr val="F8FAFC"/>
                  </a:solidFill>
                  <a:latin typeface="+mn-lt"/>
                  <a:ea typeface="+mn-ea"/>
                  <a:cs typeface="+mn-cs"/>
                </a:rPr>
                <a:t>2</a:t>
              </a:r>
            </a:p>
          </p:txBody>
        </p:sp>
        <p:sp>
          <p:nvSpPr>
            <p:cNvPr id="10" name="TextBox 10"/>
            <p:cNvSpPr txBox="1"/>
            <p:nvPr/>
          </p:nvSpPr>
          <p:spPr>
            <a:xfrm>
              <a:off x="8763381" y="3234690"/>
              <a:ext cx="153064" cy="352044"/>
            </a:xfrm>
            <a:prstGeom prst="rect">
              <a:avLst/>
            </a:prstGeom>
            <a:noFill/>
            <a:ln>
              <a:noFill/>
            </a:ln>
          </p:spPr>
          <p:txBody>
            <a:bodyPr wrap="none" lIns="0" tIns="0" rIns="0" bIns="0" anchor="t" anchorCtr="0">
              <a:spAutoFit/>
            </a:bodyPr>
            <a:lstStyle/>
            <a:p>
              <a:pPr algn="l"/>
              <a:r>
                <a:rPr lang="fi-FI" sz="1800" dirty="0">
                  <a:solidFill>
                    <a:srgbClr val="F8FAFC"/>
                  </a:solidFill>
                  <a:latin typeface="+mn-lt"/>
                  <a:ea typeface="+mn-ea"/>
                  <a:cs typeface="+mn-cs"/>
                </a:rPr>
                <a:t>3</a:t>
              </a:r>
            </a:p>
          </p:txBody>
        </p:sp>
        <p:sp>
          <p:nvSpPr>
            <p:cNvPr id="11" name="TextBox 11"/>
            <p:cNvSpPr txBox="1"/>
            <p:nvPr/>
          </p:nvSpPr>
          <p:spPr>
            <a:xfrm>
              <a:off x="597408" y="3912870"/>
              <a:ext cx="2243633" cy="926592"/>
            </a:xfrm>
            <a:prstGeom prst="rect">
              <a:avLst/>
            </a:prstGeom>
            <a:noFill/>
            <a:ln>
              <a:noFill/>
            </a:ln>
          </p:spPr>
          <p:txBody>
            <a:bodyPr wrap="none" lIns="0" tIns="0" rIns="0" bIns="0" anchor="t" anchorCtr="0">
              <a:spAutoFit/>
            </a:bodyPr>
            <a:lstStyle/>
            <a:p>
              <a:pPr algn="l">
                <a:lnSpc>
                  <a:spcPts val="3600"/>
                </a:lnSpc>
              </a:pPr>
              <a:r>
                <a:rPr lang="fi-FI" sz="2400" b="1" dirty="0">
                  <a:solidFill>
                    <a:schemeClr val="accent1"/>
                  </a:solidFill>
                  <a:latin typeface="+mn-lt"/>
                  <a:ea typeface="+mn-ea"/>
                  <a:cs typeface="+mn-cs"/>
                </a:rPr>
                <a:t>Referenssin</a:t>
              </a:r>
              <a:br/>
              <a:r>
                <a:rPr lang="fi-FI" sz="2400" b="1" dirty="0">
                  <a:solidFill>
                    <a:schemeClr val="accent1"/>
                  </a:solidFill>
                  <a:latin typeface="+mn-lt"/>
                  <a:ea typeface="+mn-ea"/>
                  <a:cs typeface="+mn-cs"/>
                </a:rPr>
                <a:t>käyttäytyminen</a:t>
              </a:r>
            </a:p>
          </p:txBody>
        </p:sp>
        <p:sp>
          <p:nvSpPr>
            <p:cNvPr id="12" name="TextBox 12"/>
            <p:cNvSpPr txBox="1"/>
            <p:nvPr/>
          </p:nvSpPr>
          <p:spPr>
            <a:xfrm>
              <a:off x="4388358" y="3912870"/>
              <a:ext cx="1397983" cy="469392"/>
            </a:xfrm>
            <a:prstGeom prst="rect">
              <a:avLst/>
            </a:prstGeom>
            <a:noFill/>
            <a:ln>
              <a:noFill/>
            </a:ln>
          </p:spPr>
          <p:txBody>
            <a:bodyPr wrap="none" lIns="0" tIns="0" rIns="0" bIns="0" anchor="t" anchorCtr="0">
              <a:spAutoFit/>
            </a:bodyPr>
            <a:lstStyle/>
            <a:p>
              <a:pPr algn="l"/>
              <a:r>
                <a:rPr lang="fi-FI" sz="2400" b="1" dirty="0">
                  <a:solidFill>
                    <a:schemeClr val="accent2"/>
                  </a:solidFill>
                  <a:latin typeface="+mn-lt"/>
                  <a:ea typeface="+mn-ea"/>
                  <a:cs typeface="+mn-cs"/>
                </a:rPr>
                <a:t>Toteutus</a:t>
              </a:r>
            </a:p>
          </p:txBody>
        </p:sp>
        <p:sp>
          <p:nvSpPr>
            <p:cNvPr id="13" name="TextBox 13"/>
            <p:cNvSpPr txBox="1"/>
            <p:nvPr/>
          </p:nvSpPr>
          <p:spPr>
            <a:xfrm>
              <a:off x="8388858" y="3912870"/>
              <a:ext cx="1142390" cy="926592"/>
            </a:xfrm>
            <a:prstGeom prst="rect">
              <a:avLst/>
            </a:prstGeom>
            <a:noFill/>
            <a:ln>
              <a:noFill/>
            </a:ln>
          </p:spPr>
          <p:txBody>
            <a:bodyPr wrap="none" lIns="0" tIns="0" rIns="0" bIns="0" anchor="t" anchorCtr="0">
              <a:spAutoFit/>
            </a:bodyPr>
            <a:lstStyle/>
            <a:p>
              <a:pPr algn="l">
                <a:lnSpc>
                  <a:spcPts val="3600"/>
                </a:lnSpc>
              </a:pPr>
              <a:r>
                <a:rPr lang="fi-FI" sz="2400" b="1" dirty="0">
                  <a:solidFill>
                    <a:schemeClr val="accent1"/>
                  </a:solidFill>
                  <a:latin typeface="+mn-lt"/>
                  <a:ea typeface="+mn-ea"/>
                  <a:cs typeface="+mn-cs"/>
                </a:rPr>
                <a:t>Vertailu</a:t>
              </a:r>
              <a:br/>
              <a:r>
                <a:rPr lang="fi-FI" sz="2400" b="1" dirty="0">
                  <a:solidFill>
                    <a:schemeClr val="accent1"/>
                  </a:solidFill>
                  <a:latin typeface="+mn-lt"/>
                  <a:ea typeface="+mn-ea"/>
                  <a:cs typeface="+mn-cs"/>
                </a:rPr>
                <a:t>ja testit</a:t>
              </a:r>
            </a:p>
          </p:txBody>
        </p:sp>
      </p:grpSp>
      <p:grpSp>
        <p:nvGrpSpPr>
          <p:cNvPr id="17" name="Group 17"/>
          <p:cNvGrpSpPr/>
          <p:nvPr/>
        </p:nvGrpSpPr>
        <p:grpSpPr>
          <a:xfrm>
            <a:off x="600456" y="5730240"/>
            <a:ext cx="5950212" cy="659130"/>
            <a:chOff x="600456" y="5730240"/>
            <a:chExt cx="5950212" cy="659130"/>
          </a:xfrm>
        </p:grpSpPr>
        <p:sp>
          <p:nvSpPr>
            <p:cNvPr id="15" name="TextBox 15"/>
            <p:cNvSpPr txBox="1"/>
            <p:nvPr/>
          </p:nvSpPr>
          <p:spPr>
            <a:xfrm>
              <a:off x="600456" y="5730240"/>
              <a:ext cx="5950212" cy="352044"/>
            </a:xfrm>
            <a:prstGeom prst="rect">
              <a:avLst/>
            </a:prstGeom>
            <a:noFill/>
            <a:ln>
              <a:noFill/>
            </a:ln>
          </p:spPr>
          <p:txBody>
            <a:bodyPr wrap="none" lIns="0" tIns="0" rIns="0" bIns="0" anchor="t" anchorCtr="0">
              <a:spAutoFit/>
            </a:bodyPr>
            <a:lstStyle/>
            <a:p>
              <a:pPr algn="l"/>
              <a:r>
                <a:rPr lang="fi-FI" sz="1800" dirty="0">
                  <a:solidFill>
                    <a:schemeClr val="accent6"/>
                  </a:solidFill>
                  <a:latin typeface="+mn-lt"/>
                  <a:ea typeface="+mn-ea"/>
                  <a:cs typeface="+mn-cs"/>
                </a:rPr>
                <a:t>Valittu toiminnallisuus erillisessä tutkimusympäristössä.</a:t>
              </a:r>
            </a:p>
          </p:txBody>
        </p:sp>
        <p:sp>
          <p:nvSpPr>
            <p:cNvPr id="16" name="TextBox 16"/>
            <p:cNvSpPr txBox="1"/>
            <p:nvPr/>
          </p:nvSpPr>
          <p:spPr>
            <a:xfrm>
              <a:off x="601980" y="6096000"/>
              <a:ext cx="4486011" cy="293370"/>
            </a:xfrm>
            <a:prstGeom prst="rect">
              <a:avLst/>
            </a:prstGeom>
            <a:noFill/>
            <a:ln>
              <a:noFill/>
            </a:ln>
          </p:spPr>
          <p:txBody>
            <a:bodyPr wrap="none" lIns="0" tIns="0" rIns="0" bIns="0" anchor="t" anchorCtr="0">
              <a:spAutoFit/>
            </a:bodyPr>
            <a:lstStyle/>
            <a:p>
              <a:pPr algn="l"/>
              <a:r>
                <a:rPr lang="fi-FI" sz="1500" dirty="0">
                  <a:solidFill>
                    <a:schemeClr val="accent6"/>
                  </a:solidFill>
                  <a:latin typeface="+mn-lt"/>
                  <a:ea typeface="+mn-ea"/>
                  <a:cs typeface="+mn-cs"/>
                </a:rPr>
                <a:t>Lähde: Epoch AI · MirrorCode, preliminary results</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extBox 2"/>
          <p:cNvSpPr txBox="1"/>
          <p:nvPr/>
        </p:nvSpPr>
        <p:spPr>
          <a:xfrm>
            <a:off x="591312" y="621030"/>
            <a:ext cx="6971241" cy="704088"/>
          </a:xfrm>
          <a:prstGeom prst="rect">
            <a:avLst/>
          </a:prstGeom>
          <a:noFill/>
          <a:ln>
            <a:noFill/>
          </a:ln>
        </p:spPr>
        <p:txBody>
          <a:bodyPr wrap="none" lIns="0" tIns="0" rIns="0" bIns="0" anchor="t" anchorCtr="0">
            <a:spAutoFit/>
          </a:bodyPr>
          <a:lstStyle/>
          <a:p>
            <a:pPr algn="l"/>
            <a:r>
              <a:rPr lang="fi-FI" sz="3600" b="1" dirty="0">
                <a:solidFill>
                  <a:srgbClr val="F8FAFC"/>
                </a:solidFill>
                <a:latin typeface="+mn-lt"/>
                <a:ea typeface="+mn-ea"/>
                <a:cs typeface="+mn-cs"/>
              </a:rPr>
              <a:t>Tuottavuus riippuu tehtävästä</a:t>
            </a:r>
          </a:p>
        </p:txBody>
      </p:sp>
      <p:grpSp>
        <p:nvGrpSpPr>
          <p:cNvPr id="7" name="Group 7"/>
          <p:cNvGrpSpPr/>
          <p:nvPr/>
        </p:nvGrpSpPr>
        <p:grpSpPr>
          <a:xfrm>
            <a:off x="590550" y="2091690"/>
            <a:ext cx="4793462" cy="3123819"/>
            <a:chOff x="590550" y="2091690"/>
            <a:chExt cx="4793462" cy="3123819"/>
          </a:xfrm>
        </p:grpSpPr>
        <p:sp>
          <p:nvSpPr>
            <p:cNvPr id="3" name="TextBox 3"/>
            <p:cNvSpPr txBox="1"/>
            <p:nvPr/>
          </p:nvSpPr>
          <p:spPr>
            <a:xfrm>
              <a:off x="600456" y="2091690"/>
              <a:ext cx="4783556"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MICROSOFT · KOLME KENTTÄKOETTA</a:t>
              </a:r>
            </a:p>
          </p:txBody>
        </p:sp>
        <p:sp>
          <p:nvSpPr>
            <p:cNvPr id="4" name="TextBox 4"/>
            <p:cNvSpPr txBox="1"/>
            <p:nvPr/>
          </p:nvSpPr>
          <p:spPr>
            <a:xfrm>
              <a:off x="590550" y="2670810"/>
              <a:ext cx="2813491" cy="1390650"/>
            </a:xfrm>
            <a:prstGeom prst="rect">
              <a:avLst/>
            </a:prstGeom>
            <a:noFill/>
            <a:ln>
              <a:noFill/>
            </a:ln>
          </p:spPr>
          <p:txBody>
            <a:bodyPr wrap="none" lIns="0" tIns="0" rIns="0" bIns="0" anchor="t" anchorCtr="0">
              <a:spAutoFit/>
            </a:bodyPr>
            <a:lstStyle/>
            <a:p>
              <a:pPr algn="l"/>
              <a:r>
                <a:rPr lang="fi-FI" sz="7200" b="1" dirty="0">
                  <a:solidFill>
                    <a:schemeClr val="accent3"/>
                  </a:solidFill>
                  <a:latin typeface="+mn-lt"/>
                  <a:ea typeface="+mn-ea"/>
                  <a:cs typeface="+mn-cs"/>
                </a:rPr>
                <a:t>+26 %</a:t>
              </a:r>
            </a:p>
          </p:txBody>
        </p:sp>
        <p:sp>
          <p:nvSpPr>
            <p:cNvPr id="5" name="TextBox 5"/>
            <p:cNvSpPr txBox="1"/>
            <p:nvPr/>
          </p:nvSpPr>
          <p:spPr>
            <a:xfrm>
              <a:off x="597408" y="3884295"/>
              <a:ext cx="3243377" cy="926592"/>
            </a:xfrm>
            <a:prstGeom prst="rect">
              <a:avLst/>
            </a:prstGeom>
            <a:noFill/>
            <a:ln>
              <a:noFill/>
            </a:ln>
          </p:spPr>
          <p:txBody>
            <a:bodyPr wrap="none" lIns="0" tIns="0" rIns="0" bIns="0" anchor="t" anchorCtr="0">
              <a:spAutoFit/>
            </a:bodyPr>
            <a:lstStyle/>
            <a:p>
              <a:pPr algn="l">
                <a:lnSpc>
                  <a:spcPts val="3600"/>
                </a:lnSpc>
              </a:pPr>
              <a:r>
                <a:rPr lang="fi-FI" sz="2400" dirty="0">
                  <a:solidFill>
                    <a:srgbClr val="F8FAFC"/>
                  </a:solidFill>
                  <a:latin typeface="+mn-lt"/>
                  <a:ea typeface="+mn-ea"/>
                  <a:cs typeface="+mn-cs"/>
                </a:rPr>
                <a:t>enemmän valmistuneita</a:t>
              </a:r>
              <a:br/>
              <a:r>
                <a:rPr lang="fi-FI" sz="2400" dirty="0">
                  <a:solidFill>
                    <a:srgbClr val="F8FAFC"/>
                  </a:solidFill>
                  <a:latin typeface="+mn-lt"/>
                  <a:ea typeface="+mn-ea"/>
                  <a:cs typeface="+mn-cs"/>
                </a:rPr>
                <a:t>tehtäviä</a:t>
              </a:r>
            </a:p>
          </p:txBody>
        </p:sp>
        <p:sp>
          <p:nvSpPr>
            <p:cNvPr id="6" name="TextBox 6"/>
            <p:cNvSpPr txBox="1"/>
            <p:nvPr/>
          </p:nvSpPr>
          <p:spPr>
            <a:xfrm>
              <a:off x="600456" y="4863465"/>
              <a:ext cx="1729378" cy="352044"/>
            </a:xfrm>
            <a:prstGeom prst="rect">
              <a:avLst/>
            </a:prstGeom>
            <a:noFill/>
            <a:ln>
              <a:noFill/>
            </a:ln>
          </p:spPr>
          <p:txBody>
            <a:bodyPr wrap="none" lIns="0" tIns="0" rIns="0" bIns="0" anchor="t" anchorCtr="0">
              <a:spAutoFit/>
            </a:bodyPr>
            <a:lstStyle/>
            <a:p>
              <a:pPr algn="l"/>
              <a:r>
                <a:rPr lang="fi-FI" sz="1800" dirty="0">
                  <a:solidFill>
                    <a:srgbClr val="F8FAFC"/>
                  </a:solidFill>
                  <a:latin typeface="+mn-lt"/>
                  <a:ea typeface="+mn-ea"/>
                  <a:cs typeface="+mn-cs"/>
                </a:rPr>
                <a:t>4 867 kehittäjää</a:t>
              </a:r>
            </a:p>
          </p:txBody>
        </p:sp>
      </p:grpSp>
      <p:grpSp>
        <p:nvGrpSpPr>
          <p:cNvPr id="12" name="Group 12"/>
          <p:cNvGrpSpPr/>
          <p:nvPr/>
        </p:nvGrpSpPr>
        <p:grpSpPr>
          <a:xfrm>
            <a:off x="6457950" y="2091690"/>
            <a:ext cx="3746339" cy="3123819"/>
            <a:chOff x="6457950" y="2091690"/>
            <a:chExt cx="3746339" cy="3123819"/>
          </a:xfrm>
        </p:grpSpPr>
        <p:sp>
          <p:nvSpPr>
            <p:cNvPr id="8" name="TextBox 8"/>
            <p:cNvSpPr txBox="1"/>
            <p:nvPr/>
          </p:nvSpPr>
          <p:spPr>
            <a:xfrm>
              <a:off x="6467856" y="2091690"/>
              <a:ext cx="3077461" cy="352044"/>
            </a:xfrm>
            <a:prstGeom prst="rect">
              <a:avLst/>
            </a:prstGeom>
            <a:noFill/>
            <a:ln>
              <a:noFill/>
            </a:ln>
          </p:spPr>
          <p:txBody>
            <a:bodyPr wrap="none" lIns="0" tIns="0" rIns="0" bIns="0" anchor="t" anchorCtr="0">
              <a:spAutoFit/>
            </a:bodyPr>
            <a:lstStyle/>
            <a:p>
              <a:pPr algn="l"/>
              <a:r>
                <a:rPr lang="fi-FI" sz="1800" dirty="0">
                  <a:solidFill>
                    <a:srgbClr val="F8FAFC"/>
                  </a:solidFill>
                  <a:latin typeface="+mn-lt"/>
                  <a:ea typeface="+mn-ea"/>
                  <a:cs typeface="+mn-cs"/>
                </a:rPr>
                <a:t>METR · ALKUVUOSI 2025</a:t>
              </a:r>
            </a:p>
          </p:txBody>
        </p:sp>
        <p:sp>
          <p:nvSpPr>
            <p:cNvPr id="9" name="TextBox 9"/>
            <p:cNvSpPr txBox="1"/>
            <p:nvPr/>
          </p:nvSpPr>
          <p:spPr>
            <a:xfrm>
              <a:off x="6457950" y="2670810"/>
              <a:ext cx="2813491" cy="1390650"/>
            </a:xfrm>
            <a:prstGeom prst="rect">
              <a:avLst/>
            </a:prstGeom>
            <a:noFill/>
            <a:ln>
              <a:noFill/>
            </a:ln>
          </p:spPr>
          <p:txBody>
            <a:bodyPr wrap="none" lIns="0" tIns="0" rIns="0" bIns="0" anchor="t" anchorCtr="0">
              <a:spAutoFit/>
            </a:bodyPr>
            <a:lstStyle/>
            <a:p>
              <a:pPr algn="l"/>
              <a:r>
                <a:rPr lang="fi-FI" sz="7200" b="1" dirty="0">
                  <a:solidFill>
                    <a:srgbClr val="F8FAFC"/>
                  </a:solidFill>
                  <a:latin typeface="+mn-lt"/>
                  <a:ea typeface="+mn-ea"/>
                  <a:cs typeface="+mn-cs"/>
                </a:rPr>
                <a:t>+19 %</a:t>
              </a:r>
            </a:p>
          </p:txBody>
        </p:sp>
        <p:sp>
          <p:nvSpPr>
            <p:cNvPr id="10" name="TextBox 10"/>
            <p:cNvSpPr txBox="1"/>
            <p:nvPr/>
          </p:nvSpPr>
          <p:spPr>
            <a:xfrm>
              <a:off x="6464808" y="3884295"/>
              <a:ext cx="2193219" cy="926592"/>
            </a:xfrm>
            <a:prstGeom prst="rect">
              <a:avLst/>
            </a:prstGeom>
            <a:noFill/>
            <a:ln>
              <a:noFill/>
            </a:ln>
          </p:spPr>
          <p:txBody>
            <a:bodyPr wrap="none" lIns="0" tIns="0" rIns="0" bIns="0" anchor="t" anchorCtr="0">
              <a:spAutoFit/>
            </a:bodyPr>
            <a:lstStyle/>
            <a:p>
              <a:pPr algn="l">
                <a:lnSpc>
                  <a:spcPts val="3600"/>
                </a:lnSpc>
              </a:pPr>
              <a:r>
                <a:rPr lang="fi-FI" sz="2400" dirty="0">
                  <a:solidFill>
                    <a:srgbClr val="F8FAFC"/>
                  </a:solidFill>
                  <a:latin typeface="+mn-lt"/>
                  <a:ea typeface="+mn-ea"/>
                  <a:cs typeface="+mn-cs"/>
                </a:rPr>
                <a:t>enemmän aikaa</a:t>
              </a:r>
              <a:br/>
              <a:r>
                <a:rPr lang="fi-FI" sz="2400" dirty="0">
                  <a:solidFill>
                    <a:srgbClr val="F8FAFC"/>
                  </a:solidFill>
                  <a:latin typeface="+mn-lt"/>
                  <a:ea typeface="+mn-ea"/>
                  <a:cs typeface="+mn-cs"/>
                </a:rPr>
                <a:t>tehtävään</a:t>
              </a:r>
            </a:p>
          </p:txBody>
        </p:sp>
        <p:sp>
          <p:nvSpPr>
            <p:cNvPr id="11" name="TextBox 11"/>
            <p:cNvSpPr txBox="1"/>
            <p:nvPr/>
          </p:nvSpPr>
          <p:spPr>
            <a:xfrm>
              <a:off x="6467856" y="4863465"/>
              <a:ext cx="3736433" cy="352044"/>
            </a:xfrm>
            <a:prstGeom prst="rect">
              <a:avLst/>
            </a:prstGeom>
            <a:noFill/>
            <a:ln>
              <a:noFill/>
            </a:ln>
          </p:spPr>
          <p:txBody>
            <a:bodyPr wrap="none" lIns="0" tIns="0" rIns="0" bIns="0" anchor="t" anchorCtr="0">
              <a:spAutoFit/>
            </a:bodyPr>
            <a:lstStyle/>
            <a:p>
              <a:pPr algn="l"/>
              <a:r>
                <a:rPr lang="fi-FI" sz="1800" dirty="0">
                  <a:solidFill>
                    <a:srgbClr val="F8FAFC"/>
                  </a:solidFill>
                  <a:latin typeface="+mn-lt"/>
                  <a:ea typeface="+mn-ea"/>
                  <a:cs typeface="+mn-cs"/>
                </a:rPr>
                <a:t>16 kokenutta kehittäjää, tutut repot</a:t>
              </a:r>
            </a:p>
          </p:txBody>
        </p:sp>
      </p:grpSp>
      <p:grpSp>
        <p:nvGrpSpPr>
          <p:cNvPr id="16" name="Group 16"/>
          <p:cNvGrpSpPr/>
          <p:nvPr/>
        </p:nvGrpSpPr>
        <p:grpSpPr>
          <a:xfrm>
            <a:off x="600456" y="5619750"/>
            <a:ext cx="10981944" cy="807720"/>
            <a:chOff x="600456" y="5619750"/>
            <a:chExt cx="10981944" cy="807720"/>
          </a:xfrm>
        </p:grpSpPr>
        <p:sp>
          <p:nvSpPr>
            <p:cNvPr id="13" name="Line 13"/>
            <p:cNvSpPr/>
            <p:nvPr/>
          </p:nvSpPr>
          <p:spPr>
            <a:xfrm>
              <a:off x="609600" y="5619750"/>
              <a:ext cx="10972800" cy="9525"/>
            </a:xfrm>
            <a:custGeom>
              <a:avLst/>
              <a:gdLst/>
              <a:ahLst/>
              <a:cxnLst/>
              <a:rect l="l" t="t" r="r" b="b"/>
              <a:pathLst>
                <a:path w="10972800" h="9525">
                  <a:moveTo>
                    <a:pt x="0" y="0"/>
                  </a:moveTo>
                  <a:lnTo>
                    <a:pt x="10972800" y="0"/>
                  </a:lnTo>
                </a:path>
              </a:pathLst>
            </a:custGeom>
            <a:noFill/>
            <a:ln w="19050">
              <a:solidFill>
                <a:srgbClr val="52616B"/>
              </a:solidFill>
            </a:ln>
          </p:spPr>
        </p:sp>
        <p:sp>
          <p:nvSpPr>
            <p:cNvPr id="14" name="TextBox 14"/>
            <p:cNvSpPr txBox="1"/>
            <p:nvPr/>
          </p:nvSpPr>
          <p:spPr>
            <a:xfrm>
              <a:off x="600456" y="5777865"/>
              <a:ext cx="6563900"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Eri mittarit ja ympäristöt. Luvut eivät ole yksi nopeusasteikko.</a:t>
              </a:r>
            </a:p>
          </p:txBody>
        </p:sp>
        <p:sp>
          <p:nvSpPr>
            <p:cNvPr id="15" name="TextBox 15"/>
            <p:cNvSpPr txBox="1"/>
            <p:nvPr/>
          </p:nvSpPr>
          <p:spPr>
            <a:xfrm>
              <a:off x="601980" y="6134100"/>
              <a:ext cx="7224678" cy="293370"/>
            </a:xfrm>
            <a:prstGeom prst="rect">
              <a:avLst/>
            </a:prstGeom>
            <a:noFill/>
            <a:ln>
              <a:noFill/>
            </a:ln>
          </p:spPr>
          <p:txBody>
            <a:bodyPr wrap="none" lIns="0" tIns="0" rIns="0" bIns="0" anchor="t" anchorCtr="0">
              <a:spAutoFit/>
            </a:bodyPr>
            <a:lstStyle/>
            <a:p>
              <a:pPr algn="l"/>
              <a:r>
                <a:rPr lang="fi-FI" sz="1500" dirty="0">
                  <a:solidFill>
                    <a:srgbClr val="F8FAFC"/>
                  </a:solidFill>
                  <a:latin typeface="+mn-lt"/>
                  <a:ea typeface="+mn-ea"/>
                  <a:cs typeface="+mn-cs"/>
                </a:rPr>
                <a:t>METR:n jatkotutkimus ei antanut luotettavaa arviota vuoden 2026 vaikutuksesta.</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91312" y="621030"/>
            <a:ext cx="5779099" cy="1275588"/>
          </a:xfrm>
          <a:prstGeom prst="rect">
            <a:avLst/>
          </a:prstGeom>
          <a:noFill/>
          <a:ln>
            <a:noFill/>
          </a:ln>
        </p:spPr>
        <p:txBody>
          <a:bodyPr wrap="none" lIns="0" tIns="0" rIns="0" bIns="0" anchor="t" anchorCtr="0">
            <a:spAutoFit/>
          </a:bodyPr>
          <a:lstStyle/>
          <a:p>
            <a:pPr algn="l">
              <a:lnSpc>
                <a:spcPts val="4500"/>
              </a:lnSpc>
            </a:pPr>
            <a:r>
              <a:rPr lang="fi-FI" sz="3600" b="1" dirty="0">
                <a:solidFill>
                  <a:schemeClr val="accent1"/>
                </a:solidFill>
                <a:latin typeface="+mn-lt"/>
                <a:ea typeface="+mn-ea"/>
                <a:cs typeface="+mn-cs"/>
              </a:rPr>
              <a:t>Nopeampi tehtävä ei yksin</a:t>
            </a:r>
            <a:br/>
            <a:r>
              <a:rPr lang="fi-FI" sz="3600" b="1" dirty="0">
                <a:solidFill>
                  <a:schemeClr val="accent1"/>
                </a:solidFill>
                <a:latin typeface="+mn-lt"/>
                <a:ea typeface="+mn-ea"/>
                <a:cs typeface="+mn-cs"/>
              </a:rPr>
              <a:t>nopeuta toimitusta</a:t>
            </a:r>
          </a:p>
        </p:txBody>
      </p:sp>
      <p:grpSp>
        <p:nvGrpSpPr>
          <p:cNvPr id="14" name="Group 14"/>
          <p:cNvGrpSpPr/>
          <p:nvPr/>
        </p:nvGrpSpPr>
        <p:grpSpPr>
          <a:xfrm>
            <a:off x="609600" y="2952750"/>
            <a:ext cx="10528463" cy="2177034"/>
            <a:chOff x="609600" y="2952750"/>
            <a:chExt cx="10528463" cy="2177034"/>
          </a:xfrm>
        </p:grpSpPr>
        <p:sp>
          <p:nvSpPr>
            <p:cNvPr id="3" name="Line 3"/>
            <p:cNvSpPr/>
            <p:nvPr/>
          </p:nvSpPr>
          <p:spPr>
            <a:xfrm>
              <a:off x="2800350" y="3590925"/>
              <a:ext cx="628650" cy="9525"/>
            </a:xfrm>
            <a:custGeom>
              <a:avLst/>
              <a:gdLst/>
              <a:ahLst/>
              <a:cxnLst/>
              <a:rect l="l" t="t" r="r" b="b"/>
              <a:pathLst>
                <a:path w="628650" h="9525">
                  <a:moveTo>
                    <a:pt x="0" y="0"/>
                  </a:moveTo>
                  <a:lnTo>
                    <a:pt x="628650" y="0"/>
                  </a:lnTo>
                </a:path>
              </a:pathLst>
            </a:custGeom>
            <a:noFill/>
            <a:ln w="38100">
              <a:solidFill>
                <a:srgbClr val="CBD3D8"/>
              </a:solidFill>
            </a:ln>
          </p:spPr>
        </p:sp>
        <p:sp>
          <p:nvSpPr>
            <p:cNvPr id="4" name="Line 4"/>
            <p:cNvSpPr/>
            <p:nvPr/>
          </p:nvSpPr>
          <p:spPr>
            <a:xfrm>
              <a:off x="6248400" y="3590925"/>
              <a:ext cx="419100" cy="9525"/>
            </a:xfrm>
            <a:custGeom>
              <a:avLst/>
              <a:gdLst/>
              <a:ahLst/>
              <a:cxnLst/>
              <a:rect l="l" t="t" r="r" b="b"/>
              <a:pathLst>
                <a:path w="419100" h="9525">
                  <a:moveTo>
                    <a:pt x="0" y="0"/>
                  </a:moveTo>
                  <a:lnTo>
                    <a:pt x="419100" y="0"/>
                  </a:lnTo>
                </a:path>
              </a:pathLst>
            </a:custGeom>
            <a:noFill/>
            <a:ln w="38100">
              <a:solidFill>
                <a:srgbClr val="CBD3D8"/>
              </a:solidFill>
            </a:ln>
          </p:spPr>
        </p:sp>
        <p:sp>
          <p:nvSpPr>
            <p:cNvPr id="5" name="Line 5"/>
            <p:cNvSpPr/>
            <p:nvPr/>
          </p:nvSpPr>
          <p:spPr>
            <a:xfrm>
              <a:off x="8953500" y="3590925"/>
              <a:ext cx="952500" cy="9525"/>
            </a:xfrm>
            <a:custGeom>
              <a:avLst/>
              <a:gdLst/>
              <a:ahLst/>
              <a:cxnLst/>
              <a:rect l="l" t="t" r="r" b="b"/>
              <a:pathLst>
                <a:path w="952500" h="9525">
                  <a:moveTo>
                    <a:pt x="0" y="0"/>
                  </a:moveTo>
                  <a:lnTo>
                    <a:pt x="952500" y="0"/>
                  </a:lnTo>
                </a:path>
              </a:pathLst>
            </a:custGeom>
            <a:noFill/>
            <a:ln w="38100">
              <a:solidFill>
                <a:srgbClr val="CBD3D8"/>
              </a:solidFill>
            </a:ln>
          </p:spPr>
        </p:sp>
        <p:sp>
          <p:nvSpPr>
            <p:cNvPr id="6" name="Rectangle 6"/>
            <p:cNvSpPr/>
            <p:nvPr/>
          </p:nvSpPr>
          <p:spPr>
            <a:xfrm>
              <a:off x="609600" y="2952750"/>
              <a:ext cx="2190750" cy="1238250"/>
            </a:xfrm>
            <a:prstGeom prst="rect">
              <a:avLst/>
            </a:prstGeom>
            <a:solidFill>
              <a:schemeClr val="accent2"/>
            </a:solidFill>
            <a:ln>
              <a:noFill/>
            </a:ln>
          </p:spPr>
        </p:sp>
        <p:sp>
          <p:nvSpPr>
            <p:cNvPr id="7" name="TextBox 7"/>
            <p:cNvSpPr txBox="1"/>
            <p:nvPr/>
          </p:nvSpPr>
          <p:spPr>
            <a:xfrm>
              <a:off x="845058" y="3446145"/>
              <a:ext cx="1290479" cy="469392"/>
            </a:xfrm>
            <a:prstGeom prst="rect">
              <a:avLst/>
            </a:prstGeom>
            <a:noFill/>
            <a:ln>
              <a:noFill/>
            </a:ln>
          </p:spPr>
          <p:txBody>
            <a:bodyPr wrap="none" lIns="0" tIns="0" rIns="0" bIns="0" anchor="t" anchorCtr="0">
              <a:spAutoFit/>
            </a:bodyPr>
            <a:lstStyle/>
            <a:p>
              <a:pPr algn="l"/>
              <a:r>
                <a:rPr lang="fi-FI" sz="2400" dirty="0">
                  <a:solidFill>
                    <a:srgbClr val="F8FAFC"/>
                  </a:solidFill>
                  <a:latin typeface="+mn-lt"/>
                  <a:ea typeface="+mn-ea"/>
                  <a:cs typeface="+mn-cs"/>
                </a:rPr>
                <a:t>Toteutus</a:t>
              </a:r>
            </a:p>
          </p:txBody>
        </p:sp>
        <p:sp>
          <p:nvSpPr>
            <p:cNvPr id="8" name="Rectangle 8"/>
            <p:cNvSpPr/>
            <p:nvPr/>
          </p:nvSpPr>
          <p:spPr>
            <a:xfrm>
              <a:off x="3429000" y="2952750"/>
              <a:ext cx="2819400" cy="1238250"/>
            </a:xfrm>
            <a:prstGeom prst="rect">
              <a:avLst/>
            </a:prstGeom>
            <a:solidFill>
              <a:schemeClr val="accent1"/>
            </a:solidFill>
            <a:ln>
              <a:noFill/>
            </a:ln>
          </p:spPr>
        </p:sp>
        <p:sp>
          <p:nvSpPr>
            <p:cNvPr id="9" name="TextBox 9"/>
            <p:cNvSpPr txBox="1"/>
            <p:nvPr/>
          </p:nvSpPr>
          <p:spPr>
            <a:xfrm>
              <a:off x="3645408" y="3446145"/>
              <a:ext cx="1792546" cy="469392"/>
            </a:xfrm>
            <a:prstGeom prst="rect">
              <a:avLst/>
            </a:prstGeom>
            <a:noFill/>
            <a:ln>
              <a:noFill/>
            </a:ln>
          </p:spPr>
          <p:txBody>
            <a:bodyPr wrap="none" lIns="0" tIns="0" rIns="0" bIns="0" anchor="t" anchorCtr="0">
              <a:spAutoFit/>
            </a:bodyPr>
            <a:lstStyle/>
            <a:p>
              <a:pPr algn="l"/>
              <a:r>
                <a:rPr lang="fi-FI" sz="2400" dirty="0">
                  <a:solidFill>
                    <a:srgbClr val="F8FAFC"/>
                  </a:solidFill>
                  <a:latin typeface="+mn-lt"/>
                  <a:ea typeface="+mn-ea"/>
                  <a:cs typeface="+mn-cs"/>
                </a:rPr>
                <a:t>Katselmointi</a:t>
              </a:r>
            </a:p>
          </p:txBody>
        </p:sp>
        <p:sp>
          <p:nvSpPr>
            <p:cNvPr id="10" name="TextBox 10"/>
            <p:cNvSpPr txBox="1"/>
            <p:nvPr/>
          </p:nvSpPr>
          <p:spPr>
            <a:xfrm>
              <a:off x="6883908" y="3446145"/>
              <a:ext cx="1450623" cy="469392"/>
            </a:xfrm>
            <a:prstGeom prst="rect">
              <a:avLst/>
            </a:prstGeom>
            <a:noFill/>
            <a:ln>
              <a:noFill/>
            </a:ln>
          </p:spPr>
          <p:txBody>
            <a:bodyPr wrap="none" lIns="0" tIns="0" rIns="0" bIns="0" anchor="t" anchorCtr="0">
              <a:spAutoFit/>
            </a:bodyPr>
            <a:lstStyle/>
            <a:p>
              <a:pPr algn="l"/>
              <a:r>
                <a:rPr lang="fi-FI" sz="2400" dirty="0">
                  <a:solidFill>
                    <a:schemeClr val="accent1"/>
                  </a:solidFill>
                  <a:latin typeface="+mn-lt"/>
                  <a:ea typeface="+mn-ea"/>
                  <a:cs typeface="+mn-cs"/>
                </a:rPr>
                <a:t>Integrointi</a:t>
              </a:r>
            </a:p>
          </p:txBody>
        </p:sp>
        <p:sp>
          <p:nvSpPr>
            <p:cNvPr id="11" name="TextBox 11"/>
            <p:cNvSpPr txBox="1"/>
            <p:nvPr/>
          </p:nvSpPr>
          <p:spPr>
            <a:xfrm>
              <a:off x="10189083" y="3446145"/>
              <a:ext cx="948980" cy="469392"/>
            </a:xfrm>
            <a:prstGeom prst="rect">
              <a:avLst/>
            </a:prstGeom>
            <a:noFill/>
            <a:ln>
              <a:noFill/>
            </a:ln>
          </p:spPr>
          <p:txBody>
            <a:bodyPr wrap="none" lIns="0" tIns="0" rIns="0" bIns="0" anchor="t" anchorCtr="0">
              <a:spAutoFit/>
            </a:bodyPr>
            <a:lstStyle/>
            <a:p>
              <a:pPr algn="l"/>
              <a:r>
                <a:rPr lang="fi-FI" sz="2400" dirty="0">
                  <a:solidFill>
                    <a:schemeClr val="accent1"/>
                  </a:solidFill>
                  <a:latin typeface="+mn-lt"/>
                  <a:ea typeface="+mn-ea"/>
                  <a:cs typeface="+mn-cs"/>
                </a:rPr>
                <a:t>Käyttö</a:t>
              </a:r>
            </a:p>
          </p:txBody>
        </p:sp>
        <p:sp>
          <p:nvSpPr>
            <p:cNvPr id="12" name="Line 12"/>
            <p:cNvSpPr/>
            <p:nvPr/>
          </p:nvSpPr>
          <p:spPr>
            <a:xfrm>
              <a:off x="4838700" y="4191000"/>
              <a:ext cx="9525" cy="428625"/>
            </a:xfrm>
            <a:custGeom>
              <a:avLst/>
              <a:gdLst/>
              <a:ahLst/>
              <a:cxnLst/>
              <a:rect l="l" t="t" r="r" b="b"/>
              <a:pathLst>
                <a:path w="9525" h="428625">
                  <a:moveTo>
                    <a:pt x="0" y="0"/>
                  </a:moveTo>
                  <a:lnTo>
                    <a:pt x="0" y="428625"/>
                  </a:lnTo>
                </a:path>
              </a:pathLst>
            </a:custGeom>
            <a:noFill/>
            <a:ln w="28575">
              <a:solidFill>
                <a:srgbClr val="C45635"/>
              </a:solidFill>
            </a:ln>
          </p:spPr>
        </p:sp>
        <p:sp>
          <p:nvSpPr>
            <p:cNvPr id="13" name="TextBox 13"/>
            <p:cNvSpPr txBox="1"/>
            <p:nvPr/>
          </p:nvSpPr>
          <p:spPr>
            <a:xfrm>
              <a:off x="3419856" y="4777740"/>
              <a:ext cx="2059915" cy="352044"/>
            </a:xfrm>
            <a:prstGeom prst="rect">
              <a:avLst/>
            </a:prstGeom>
            <a:noFill/>
            <a:ln>
              <a:noFill/>
            </a:ln>
          </p:spPr>
          <p:txBody>
            <a:bodyPr wrap="none" lIns="0" tIns="0" rIns="0" bIns="0" anchor="t" anchorCtr="0">
              <a:spAutoFit/>
            </a:bodyPr>
            <a:lstStyle/>
            <a:p>
              <a:pPr algn="l"/>
              <a:r>
                <a:rPr lang="fi-FI" sz="1800" dirty="0">
                  <a:solidFill>
                    <a:srgbClr val="C45635"/>
                  </a:solidFill>
                  <a:latin typeface="+mn-lt"/>
                  <a:ea typeface="+mn-ea"/>
                  <a:cs typeface="+mn-cs"/>
                </a:rPr>
                <a:t>Missä työ odottaa?</a:t>
              </a:r>
            </a:p>
          </p:txBody>
        </p:sp>
      </p:grpSp>
      <p:grpSp>
        <p:nvGrpSpPr>
          <p:cNvPr id="16" name="Group 16"/>
          <p:cNvGrpSpPr/>
          <p:nvPr/>
        </p:nvGrpSpPr>
        <p:grpSpPr>
          <a:xfrm>
            <a:off x="600456" y="5901690"/>
            <a:ext cx="7961907" cy="352044"/>
            <a:chOff x="600456" y="5901690"/>
            <a:chExt cx="7961907" cy="352044"/>
          </a:xfrm>
        </p:grpSpPr>
        <p:sp>
          <p:nvSpPr>
            <p:cNvPr id="15" name="TextBox 15"/>
            <p:cNvSpPr txBox="1"/>
            <p:nvPr/>
          </p:nvSpPr>
          <p:spPr>
            <a:xfrm>
              <a:off x="600456" y="5901690"/>
              <a:ext cx="7961907" cy="352044"/>
            </a:xfrm>
            <a:prstGeom prst="rect">
              <a:avLst/>
            </a:prstGeom>
            <a:noFill/>
            <a:ln>
              <a:noFill/>
            </a:ln>
          </p:spPr>
          <p:txBody>
            <a:bodyPr wrap="none" lIns="0" tIns="0" rIns="0" bIns="0" anchor="t" anchorCtr="0">
              <a:spAutoFit/>
            </a:bodyPr>
            <a:lstStyle/>
            <a:p>
              <a:pPr algn="l"/>
              <a:r>
                <a:rPr lang="fi-FI" sz="1800" dirty="0">
                  <a:solidFill>
                    <a:schemeClr val="accent6"/>
                  </a:solidFill>
                  <a:latin typeface="+mn-lt"/>
                  <a:ea typeface="+mn-ea"/>
                  <a:cs typeface="+mn-cs"/>
                </a:rPr>
                <a:t>Esimerkkiketju, ei mitattu ajankäytön jakauma. · DORA: AI ja toimituskyky</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91312" y="563880"/>
            <a:ext cx="6235294" cy="1275588"/>
          </a:xfrm>
          <a:prstGeom prst="rect">
            <a:avLst/>
          </a:prstGeom>
          <a:noFill/>
          <a:ln>
            <a:noFill/>
          </a:ln>
        </p:spPr>
        <p:txBody>
          <a:bodyPr wrap="none" lIns="0" tIns="0" rIns="0" bIns="0" anchor="t" anchorCtr="0">
            <a:spAutoFit/>
          </a:bodyPr>
          <a:lstStyle/>
          <a:p>
            <a:pPr algn="l">
              <a:lnSpc>
                <a:spcPts val="4500"/>
              </a:lnSpc>
            </a:pPr>
            <a:r>
              <a:rPr lang="fi-FI" sz="3600" b="1" dirty="0">
                <a:solidFill>
                  <a:schemeClr val="accent1"/>
                </a:solidFill>
                <a:latin typeface="+mn-lt"/>
                <a:ea typeface="+mn-ea"/>
                <a:cs typeface="+mn-cs"/>
              </a:rPr>
              <a:t>Valmis tehtävä ja opittu taito</a:t>
            </a:r>
            <a:br/>
            <a:r>
              <a:rPr lang="fi-FI" sz="3600" b="1" dirty="0">
                <a:solidFill>
                  <a:schemeClr val="accent1"/>
                </a:solidFill>
                <a:latin typeface="+mn-lt"/>
                <a:ea typeface="+mn-ea"/>
                <a:cs typeface="+mn-cs"/>
              </a:rPr>
              <a:t>ovat eri tuloksia</a:t>
            </a:r>
          </a:p>
        </p:txBody>
      </p:sp>
      <p:grpSp>
        <p:nvGrpSpPr>
          <p:cNvPr id="4" name="Group 4"/>
          <p:cNvGrpSpPr/>
          <p:nvPr/>
        </p:nvGrpSpPr>
        <p:grpSpPr>
          <a:xfrm>
            <a:off x="600456" y="2139315"/>
            <a:ext cx="6808061" cy="352044"/>
            <a:chOff x="600456" y="2139315"/>
            <a:chExt cx="6808061" cy="352044"/>
          </a:xfrm>
        </p:grpSpPr>
        <p:sp>
          <p:nvSpPr>
            <p:cNvPr id="3" name="TextBox 3"/>
            <p:cNvSpPr txBox="1"/>
            <p:nvPr/>
          </p:nvSpPr>
          <p:spPr>
            <a:xfrm>
              <a:off x="600456" y="2139315"/>
              <a:ext cx="6808061" cy="352044"/>
            </a:xfrm>
            <a:prstGeom prst="rect">
              <a:avLst/>
            </a:prstGeom>
            <a:noFill/>
            <a:ln>
              <a:noFill/>
            </a:ln>
          </p:spPr>
          <p:txBody>
            <a:bodyPr wrap="none" lIns="0" tIns="0" rIns="0" bIns="0" anchor="t" anchorCtr="0">
              <a:spAutoFit/>
            </a:bodyPr>
            <a:lstStyle/>
            <a:p>
              <a:pPr algn="l"/>
              <a:r>
                <a:rPr lang="fi-FI" sz="1800" dirty="0">
                  <a:solidFill>
                    <a:schemeClr val="accent6"/>
                  </a:solidFill>
                  <a:latin typeface="+mn-lt"/>
                  <a:ea typeface="+mn-ea"/>
                  <a:cs typeface="+mn-cs"/>
                </a:rPr>
                <a:t>Välitön osaamiskoe uudesta Python-kirjastosta · 52 osallistujaa</a:t>
              </a:r>
            </a:p>
          </p:txBody>
        </p:sp>
      </p:grpSp>
      <p:grpSp>
        <p:nvGrpSpPr>
          <p:cNvPr id="18" name="Group 18"/>
          <p:cNvGrpSpPr/>
          <p:nvPr/>
        </p:nvGrpSpPr>
        <p:grpSpPr>
          <a:xfrm>
            <a:off x="597408" y="2905125"/>
            <a:ext cx="10722932" cy="2426970"/>
            <a:chOff x="597408" y="2905125"/>
            <a:chExt cx="10722932" cy="2426970"/>
          </a:xfrm>
        </p:grpSpPr>
        <p:grpSp>
          <p:nvGrpSpPr>
            <p:cNvPr id="17" name="Group 17"/>
            <p:cNvGrpSpPr/>
            <p:nvPr/>
          </p:nvGrpSpPr>
          <p:grpSpPr>
            <a:xfrm>
              <a:off x="597408" y="2905125"/>
              <a:ext cx="10722932" cy="2426970"/>
              <a:chOff x="597408" y="2905125"/>
              <a:chExt cx="10722932" cy="2426970"/>
            </a:xfrm>
          </p:grpSpPr>
          <p:sp>
            <p:nvSpPr>
              <p:cNvPr id="5" name="Line 5"/>
              <p:cNvSpPr/>
              <p:nvPr/>
            </p:nvSpPr>
            <p:spPr>
              <a:xfrm>
                <a:off x="3524250" y="2905125"/>
                <a:ext cx="9525" cy="2000250"/>
              </a:xfrm>
              <a:custGeom>
                <a:avLst/>
                <a:gdLst/>
                <a:ahLst/>
                <a:cxnLst/>
                <a:rect l="l" t="t" r="r" b="b"/>
                <a:pathLst>
                  <a:path w="9525" h="2000250">
                    <a:moveTo>
                      <a:pt x="0" y="0"/>
                    </a:moveTo>
                    <a:lnTo>
                      <a:pt x="0" y="2000250"/>
                    </a:lnTo>
                  </a:path>
                </a:pathLst>
              </a:custGeom>
              <a:noFill/>
              <a:ln w="19050">
                <a:solidFill>
                  <a:srgbClr val="CBD3D8"/>
                </a:solidFill>
              </a:ln>
            </p:spPr>
          </p:sp>
          <p:sp>
            <p:nvSpPr>
              <p:cNvPr id="6" name="Line 6"/>
              <p:cNvSpPr/>
              <p:nvPr/>
            </p:nvSpPr>
            <p:spPr>
              <a:xfrm>
                <a:off x="7334250" y="2905125"/>
                <a:ext cx="9525" cy="2000250"/>
              </a:xfrm>
              <a:custGeom>
                <a:avLst/>
                <a:gdLst/>
                <a:ahLst/>
                <a:cxnLst/>
                <a:rect l="l" t="t" r="r" b="b"/>
                <a:pathLst>
                  <a:path w="9525" h="2000250">
                    <a:moveTo>
                      <a:pt x="0" y="0"/>
                    </a:moveTo>
                    <a:lnTo>
                      <a:pt x="0" y="2000250"/>
                    </a:lnTo>
                  </a:path>
                </a:pathLst>
              </a:custGeom>
              <a:noFill/>
              <a:ln w="9525">
                <a:solidFill>
                  <a:srgbClr val="CBD3D8"/>
                </a:solidFill>
              </a:ln>
            </p:spPr>
          </p:sp>
          <p:sp>
            <p:nvSpPr>
              <p:cNvPr id="7" name="Line 7"/>
              <p:cNvSpPr/>
              <p:nvPr/>
            </p:nvSpPr>
            <p:spPr>
              <a:xfrm>
                <a:off x="11144250" y="2905125"/>
                <a:ext cx="9525" cy="2000250"/>
              </a:xfrm>
              <a:custGeom>
                <a:avLst/>
                <a:gdLst/>
                <a:ahLst/>
                <a:cxnLst/>
                <a:rect l="l" t="t" r="r" b="b"/>
                <a:pathLst>
                  <a:path w="9525" h="2000250">
                    <a:moveTo>
                      <a:pt x="0" y="0"/>
                    </a:moveTo>
                    <a:lnTo>
                      <a:pt x="0" y="2000250"/>
                    </a:lnTo>
                  </a:path>
                </a:pathLst>
              </a:custGeom>
              <a:noFill/>
              <a:ln w="9525">
                <a:solidFill>
                  <a:srgbClr val="CBD3D8"/>
                </a:solidFill>
              </a:ln>
            </p:spPr>
          </p:sp>
          <p:sp>
            <p:nvSpPr>
              <p:cNvPr id="8" name="TextBox 8"/>
              <p:cNvSpPr txBox="1"/>
              <p:nvPr/>
            </p:nvSpPr>
            <p:spPr>
              <a:xfrm>
                <a:off x="597408" y="3198495"/>
                <a:ext cx="2018706" cy="469392"/>
              </a:xfrm>
              <a:prstGeom prst="rect">
                <a:avLst/>
              </a:prstGeom>
              <a:noFill/>
              <a:ln>
                <a:noFill/>
              </a:ln>
            </p:spPr>
            <p:txBody>
              <a:bodyPr wrap="none" lIns="0" tIns="0" rIns="0" bIns="0" anchor="t" anchorCtr="0">
                <a:spAutoFit/>
              </a:bodyPr>
              <a:lstStyle/>
              <a:p>
                <a:pPr algn="l"/>
                <a:r>
                  <a:rPr lang="fi-FI" sz="2400" dirty="0">
                    <a:solidFill>
                      <a:schemeClr val="dk1"/>
                    </a:solidFill>
                    <a:latin typeface="+mn-lt"/>
                    <a:ea typeface="+mn-ea"/>
                    <a:cs typeface="+mn-cs"/>
                  </a:rPr>
                  <a:t>AI-avusteinen</a:t>
                </a:r>
              </a:p>
            </p:txBody>
          </p:sp>
          <p:sp>
            <p:nvSpPr>
              <p:cNvPr id="9" name="Rectangle 9"/>
              <p:cNvSpPr/>
              <p:nvPr/>
            </p:nvSpPr>
            <p:spPr>
              <a:xfrm>
                <a:off x="3524250" y="3067050"/>
                <a:ext cx="3810000" cy="571500"/>
              </a:xfrm>
              <a:prstGeom prst="rect">
                <a:avLst/>
              </a:prstGeom>
              <a:solidFill>
                <a:schemeClr val="accent2"/>
              </a:solidFill>
              <a:ln>
                <a:noFill/>
              </a:ln>
            </p:spPr>
          </p:sp>
          <p:sp>
            <p:nvSpPr>
              <p:cNvPr id="10" name="TextBox 10"/>
              <p:cNvSpPr txBox="1"/>
              <p:nvPr/>
            </p:nvSpPr>
            <p:spPr>
              <a:xfrm>
                <a:off x="7512558" y="3198495"/>
                <a:ext cx="760831" cy="469392"/>
              </a:xfrm>
              <a:prstGeom prst="rect">
                <a:avLst/>
              </a:prstGeom>
              <a:noFill/>
              <a:ln>
                <a:noFill/>
              </a:ln>
            </p:spPr>
            <p:txBody>
              <a:bodyPr wrap="none" lIns="0" tIns="0" rIns="0" bIns="0" anchor="t" anchorCtr="0">
                <a:spAutoFit/>
              </a:bodyPr>
              <a:lstStyle/>
              <a:p>
                <a:pPr algn="l"/>
                <a:r>
                  <a:rPr lang="fi-FI" sz="2400" b="1" dirty="0">
                    <a:solidFill>
                      <a:schemeClr val="dk1"/>
                    </a:solidFill>
                    <a:latin typeface="+mn-lt"/>
                    <a:ea typeface="+mn-ea"/>
                    <a:cs typeface="+mn-cs"/>
                  </a:rPr>
                  <a:t>50 %</a:t>
                </a:r>
              </a:p>
            </p:txBody>
          </p:sp>
          <p:sp>
            <p:nvSpPr>
              <p:cNvPr id="11" name="TextBox 11"/>
              <p:cNvSpPr txBox="1"/>
              <p:nvPr/>
            </p:nvSpPr>
            <p:spPr>
              <a:xfrm>
                <a:off x="597408" y="4293870"/>
                <a:ext cx="1597818" cy="469392"/>
              </a:xfrm>
              <a:prstGeom prst="rect">
                <a:avLst/>
              </a:prstGeom>
              <a:noFill/>
              <a:ln>
                <a:noFill/>
              </a:ln>
            </p:spPr>
            <p:txBody>
              <a:bodyPr wrap="none" lIns="0" tIns="0" rIns="0" bIns="0" anchor="t" anchorCtr="0">
                <a:spAutoFit/>
              </a:bodyPr>
              <a:lstStyle/>
              <a:p>
                <a:pPr algn="l"/>
                <a:r>
                  <a:rPr lang="fi-FI" sz="2400" dirty="0">
                    <a:solidFill>
                      <a:schemeClr val="dk1"/>
                    </a:solidFill>
                    <a:latin typeface="+mn-lt"/>
                    <a:ea typeface="+mn-ea"/>
                    <a:cs typeface="+mn-cs"/>
                  </a:rPr>
                  <a:t>Ilman AI:ta</a:t>
                </a:r>
              </a:p>
            </p:txBody>
          </p:sp>
          <p:sp>
            <p:nvSpPr>
              <p:cNvPr id="12" name="Rectangle 12"/>
              <p:cNvSpPr/>
              <p:nvPr/>
            </p:nvSpPr>
            <p:spPr>
              <a:xfrm>
                <a:off x="3524250" y="4162425"/>
                <a:ext cx="5105400" cy="571500"/>
              </a:xfrm>
              <a:prstGeom prst="rect">
                <a:avLst/>
              </a:prstGeom>
              <a:solidFill>
                <a:schemeClr val="accent1"/>
              </a:solidFill>
              <a:ln>
                <a:noFill/>
              </a:ln>
            </p:spPr>
          </p:sp>
          <p:sp>
            <p:nvSpPr>
              <p:cNvPr id="13" name="TextBox 13"/>
              <p:cNvSpPr txBox="1"/>
              <p:nvPr/>
            </p:nvSpPr>
            <p:spPr>
              <a:xfrm>
                <a:off x="8807958" y="4293870"/>
                <a:ext cx="760831" cy="469392"/>
              </a:xfrm>
              <a:prstGeom prst="rect">
                <a:avLst/>
              </a:prstGeom>
              <a:noFill/>
              <a:ln>
                <a:noFill/>
              </a:ln>
            </p:spPr>
            <p:txBody>
              <a:bodyPr wrap="none" lIns="0" tIns="0" rIns="0" bIns="0" anchor="t" anchorCtr="0">
                <a:spAutoFit/>
              </a:bodyPr>
              <a:lstStyle/>
              <a:p>
                <a:pPr algn="l"/>
                <a:r>
                  <a:rPr lang="fi-FI" sz="2400" b="1" dirty="0">
                    <a:solidFill>
                      <a:schemeClr val="dk1"/>
                    </a:solidFill>
                    <a:latin typeface="+mn-lt"/>
                    <a:ea typeface="+mn-ea"/>
                    <a:cs typeface="+mn-cs"/>
                  </a:rPr>
                  <a:t>67 %</a:t>
                </a:r>
              </a:p>
            </p:txBody>
          </p:sp>
          <p:sp>
            <p:nvSpPr>
              <p:cNvPr id="14" name="TextBox 14"/>
              <p:cNvSpPr txBox="1"/>
              <p:nvPr/>
            </p:nvSpPr>
            <p:spPr>
              <a:xfrm>
                <a:off x="3460473" y="5038725"/>
                <a:ext cx="127553" cy="293370"/>
              </a:xfrm>
              <a:prstGeom prst="rect">
                <a:avLst/>
              </a:prstGeom>
              <a:noFill/>
              <a:ln>
                <a:noFill/>
              </a:ln>
            </p:spPr>
            <p:txBody>
              <a:bodyPr wrap="none" lIns="0" tIns="0" rIns="0" bIns="0" anchor="t" anchorCtr="0">
                <a:spAutoFit/>
              </a:bodyPr>
              <a:lstStyle/>
              <a:p>
                <a:pPr algn="ctr"/>
                <a:r>
                  <a:rPr lang="fi-FI" sz="1500" dirty="0">
                    <a:solidFill>
                      <a:schemeClr val="accent6"/>
                    </a:solidFill>
                    <a:latin typeface="+mn-lt"/>
                    <a:ea typeface="+mn-ea"/>
                    <a:cs typeface="+mn-cs"/>
                  </a:rPr>
                  <a:t>0</a:t>
                </a:r>
              </a:p>
            </p:txBody>
          </p:sp>
          <p:sp>
            <p:nvSpPr>
              <p:cNvPr id="15" name="TextBox 15"/>
              <p:cNvSpPr txBox="1"/>
              <p:nvPr/>
            </p:nvSpPr>
            <p:spPr>
              <a:xfrm>
                <a:off x="7214317" y="5038725"/>
                <a:ext cx="239867" cy="293370"/>
              </a:xfrm>
              <a:prstGeom prst="rect">
                <a:avLst/>
              </a:prstGeom>
              <a:noFill/>
              <a:ln>
                <a:noFill/>
              </a:ln>
            </p:spPr>
            <p:txBody>
              <a:bodyPr wrap="none" lIns="0" tIns="0" rIns="0" bIns="0" anchor="t" anchorCtr="0">
                <a:spAutoFit/>
              </a:bodyPr>
              <a:lstStyle/>
              <a:p>
                <a:pPr algn="ctr"/>
                <a:r>
                  <a:rPr lang="fi-FI" sz="1500" dirty="0">
                    <a:solidFill>
                      <a:schemeClr val="accent6"/>
                    </a:solidFill>
                    <a:latin typeface="+mn-lt"/>
                    <a:ea typeface="+mn-ea"/>
                    <a:cs typeface="+mn-cs"/>
                  </a:rPr>
                  <a:t>50</a:t>
                </a:r>
              </a:p>
            </p:txBody>
          </p:sp>
          <p:sp>
            <p:nvSpPr>
              <p:cNvPr id="16" name="TextBox 16"/>
              <p:cNvSpPr txBox="1"/>
              <p:nvPr/>
            </p:nvSpPr>
            <p:spPr>
              <a:xfrm>
                <a:off x="10968160" y="5038725"/>
                <a:ext cx="352180" cy="293370"/>
              </a:xfrm>
              <a:prstGeom prst="rect">
                <a:avLst/>
              </a:prstGeom>
              <a:noFill/>
              <a:ln>
                <a:noFill/>
              </a:ln>
            </p:spPr>
            <p:txBody>
              <a:bodyPr wrap="none" lIns="0" tIns="0" rIns="0" bIns="0" anchor="t" anchorCtr="0">
                <a:spAutoFit/>
              </a:bodyPr>
              <a:lstStyle/>
              <a:p>
                <a:pPr algn="ctr"/>
                <a:r>
                  <a:rPr lang="fi-FI" sz="1500" dirty="0">
                    <a:solidFill>
                      <a:schemeClr val="accent6"/>
                    </a:solidFill>
                    <a:latin typeface="+mn-lt"/>
                    <a:ea typeface="+mn-ea"/>
                    <a:cs typeface="+mn-cs"/>
                  </a:rPr>
                  <a:t>100</a:t>
                </a:r>
              </a:p>
            </p:txBody>
          </p:sp>
        </p:grpSp>
      </p:grpSp>
      <p:grpSp>
        <p:nvGrpSpPr>
          <p:cNvPr id="21" name="Group 21"/>
          <p:cNvGrpSpPr/>
          <p:nvPr/>
        </p:nvGrpSpPr>
        <p:grpSpPr>
          <a:xfrm>
            <a:off x="600456" y="5787390"/>
            <a:ext cx="4563895" cy="659130"/>
            <a:chOff x="600456" y="5787390"/>
            <a:chExt cx="4563895" cy="659130"/>
          </a:xfrm>
        </p:grpSpPr>
        <p:sp>
          <p:nvSpPr>
            <p:cNvPr id="19" name="TextBox 19"/>
            <p:cNvSpPr txBox="1"/>
            <p:nvPr/>
          </p:nvSpPr>
          <p:spPr>
            <a:xfrm>
              <a:off x="600456" y="5787390"/>
              <a:ext cx="4025565" cy="352044"/>
            </a:xfrm>
            <a:prstGeom prst="rect">
              <a:avLst/>
            </a:prstGeom>
            <a:noFill/>
            <a:ln>
              <a:noFill/>
            </a:ln>
          </p:spPr>
          <p:txBody>
            <a:bodyPr wrap="none" lIns="0" tIns="0" rIns="0" bIns="0" anchor="t" anchorCtr="0">
              <a:spAutoFit/>
            </a:bodyPr>
            <a:lstStyle/>
            <a:p>
              <a:pPr algn="l"/>
              <a:r>
                <a:rPr lang="fi-FI" sz="1800" dirty="0">
                  <a:solidFill>
                    <a:schemeClr val="accent1"/>
                  </a:solidFill>
                  <a:latin typeface="+mn-lt"/>
                  <a:ea typeface="+mn-ea"/>
                  <a:cs typeface="+mn-cs"/>
                </a:rPr>
                <a:t>Ei mittaa pysyvää taitojen menetystä.</a:t>
              </a:r>
            </a:p>
          </p:txBody>
        </p:sp>
        <p:sp>
          <p:nvSpPr>
            <p:cNvPr id="20" name="TextBox 20"/>
            <p:cNvSpPr txBox="1"/>
            <p:nvPr/>
          </p:nvSpPr>
          <p:spPr>
            <a:xfrm>
              <a:off x="601980" y="6153150"/>
              <a:ext cx="4562371" cy="293370"/>
            </a:xfrm>
            <a:prstGeom prst="rect">
              <a:avLst/>
            </a:prstGeom>
            <a:noFill/>
            <a:ln>
              <a:noFill/>
            </a:ln>
          </p:spPr>
          <p:txBody>
            <a:bodyPr wrap="none" lIns="0" tIns="0" rIns="0" bIns="0" anchor="t" anchorCtr="0">
              <a:spAutoFit/>
            </a:bodyPr>
            <a:lstStyle/>
            <a:p>
              <a:pPr algn="l"/>
              <a:r>
                <a:rPr lang="fi-FI" sz="1500" dirty="0">
                  <a:solidFill>
                    <a:schemeClr val="accent6"/>
                  </a:solidFill>
                  <a:latin typeface="+mn-lt"/>
                  <a:ea typeface="+mn-ea"/>
                  <a:cs typeface="+mn-cs"/>
                </a:rPr>
                <a:t>Anthropic (2026) · Tekijöiden pyöristetyt keskiarvot</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91312" y="621030"/>
            <a:ext cx="9195950" cy="704088"/>
          </a:xfrm>
          <a:prstGeom prst="rect">
            <a:avLst/>
          </a:prstGeom>
          <a:noFill/>
          <a:ln>
            <a:noFill/>
          </a:ln>
        </p:spPr>
        <p:txBody>
          <a:bodyPr wrap="none" lIns="0" tIns="0" rIns="0" bIns="0" anchor="t" anchorCtr="0">
            <a:spAutoFit/>
          </a:bodyPr>
          <a:lstStyle/>
          <a:p>
            <a:pPr algn="l"/>
            <a:r>
              <a:rPr lang="fi-FI" sz="3600" b="1" dirty="0">
                <a:solidFill>
                  <a:schemeClr val="accent1"/>
                </a:solidFill>
                <a:latin typeface="+mn-lt"/>
                <a:ea typeface="+mn-ea"/>
                <a:cs typeface="+mn-cs"/>
              </a:rPr>
              <a:t>AI tekee uusista kokeiluista mahdollisia</a:t>
            </a:r>
          </a:p>
        </p:txBody>
      </p:sp>
      <p:grpSp>
        <p:nvGrpSpPr>
          <p:cNvPr id="4" name="Group 4"/>
          <p:cNvGrpSpPr/>
          <p:nvPr/>
        </p:nvGrpSpPr>
        <p:grpSpPr>
          <a:xfrm>
            <a:off x="609600" y="1657350"/>
            <a:ext cx="4686300" cy="4686300"/>
            <a:chOff x="609600" y="1657350"/>
            <a:chExt cx="4686300" cy="4686300"/>
          </a:xfrm>
        </p:grpSpPr>
        <p:pic>
          <p:nvPicPr>
            <p:cNvPr id="3" name="Image 3"/>
            <p:cNvPicPr>
              <a:picLocks noChangeAspect="1"/>
            </p:cNvPicPr>
            <p:nvPr/>
          </p:nvPicPr>
          <p:blipFill>
            <a:blip r:embed="rId2"/>
            <a:stretch>
              <a:fillRect/>
            </a:stretch>
          </p:blipFill>
          <p:spPr>
            <a:xfrm>
              <a:off x="609600" y="1657350"/>
              <a:ext cx="4686300" cy="4686300"/>
            </a:xfrm>
            <a:prstGeom prst="rect">
              <a:avLst/>
            </a:prstGeom>
          </p:spPr>
        </p:pic>
      </p:grpSp>
      <p:grpSp>
        <p:nvGrpSpPr>
          <p:cNvPr id="11" name="Group 11"/>
          <p:cNvGrpSpPr/>
          <p:nvPr/>
        </p:nvGrpSpPr>
        <p:grpSpPr>
          <a:xfrm>
            <a:off x="5887212" y="1948815"/>
            <a:ext cx="5695188" cy="4224147"/>
            <a:chOff x="5887212" y="1948815"/>
            <a:chExt cx="5695188" cy="4224147"/>
          </a:xfrm>
        </p:grpSpPr>
        <p:sp>
          <p:nvSpPr>
            <p:cNvPr id="5" name="TextBox 5"/>
            <p:cNvSpPr txBox="1"/>
            <p:nvPr/>
          </p:nvSpPr>
          <p:spPr>
            <a:xfrm>
              <a:off x="5896356" y="1948815"/>
              <a:ext cx="4385989"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KUVITTEELLINEN HUOLTOKIRJAUS</a:t>
              </a:r>
            </a:p>
          </p:txBody>
        </p:sp>
        <p:sp>
          <p:nvSpPr>
            <p:cNvPr id="6" name="TextBox 6"/>
            <p:cNvSpPr txBox="1"/>
            <p:nvPr/>
          </p:nvSpPr>
          <p:spPr>
            <a:xfrm>
              <a:off x="5887212" y="2583180"/>
              <a:ext cx="2498629" cy="704088"/>
            </a:xfrm>
            <a:prstGeom prst="rect">
              <a:avLst/>
            </a:prstGeom>
            <a:noFill/>
            <a:ln>
              <a:noFill/>
            </a:ln>
          </p:spPr>
          <p:txBody>
            <a:bodyPr wrap="none" lIns="0" tIns="0" rIns="0" bIns="0" anchor="t" anchorCtr="0">
              <a:spAutoFit/>
            </a:bodyPr>
            <a:lstStyle/>
            <a:p>
              <a:pPr algn="l"/>
              <a:r>
                <a:rPr lang="fi-FI" sz="3600" b="1" dirty="0">
                  <a:solidFill>
                    <a:schemeClr val="accent1"/>
                  </a:solidFill>
                  <a:latin typeface="+mn-lt"/>
                  <a:ea typeface="+mn-ea"/>
                  <a:cs typeface="+mn-cs"/>
                </a:rPr>
                <a:t>Pumppu A</a:t>
              </a:r>
            </a:p>
          </p:txBody>
        </p:sp>
        <p:sp>
          <p:nvSpPr>
            <p:cNvPr id="7" name="Line 7"/>
            <p:cNvSpPr/>
            <p:nvPr/>
          </p:nvSpPr>
          <p:spPr>
            <a:xfrm>
              <a:off x="5905500" y="3324225"/>
              <a:ext cx="5676900" cy="9525"/>
            </a:xfrm>
            <a:custGeom>
              <a:avLst/>
              <a:gdLst/>
              <a:ahLst/>
              <a:cxnLst/>
              <a:rect l="l" t="t" r="r" b="b"/>
              <a:pathLst>
                <a:path w="5676900" h="9525">
                  <a:moveTo>
                    <a:pt x="0" y="0"/>
                  </a:moveTo>
                  <a:lnTo>
                    <a:pt x="5676900" y="0"/>
                  </a:lnTo>
                </a:path>
              </a:pathLst>
            </a:custGeom>
            <a:noFill/>
            <a:ln w="19050">
              <a:solidFill>
                <a:srgbClr val="CBD3D8"/>
              </a:solidFill>
            </a:ln>
          </p:spPr>
        </p:sp>
        <p:sp>
          <p:nvSpPr>
            <p:cNvPr id="8" name="TextBox 8"/>
            <p:cNvSpPr txBox="1"/>
            <p:nvPr/>
          </p:nvSpPr>
          <p:spPr>
            <a:xfrm>
              <a:off x="5893308" y="3636645"/>
              <a:ext cx="3938930" cy="926592"/>
            </a:xfrm>
            <a:prstGeom prst="rect">
              <a:avLst/>
            </a:prstGeom>
            <a:noFill/>
            <a:ln>
              <a:noFill/>
            </a:ln>
          </p:spPr>
          <p:txBody>
            <a:bodyPr wrap="none" lIns="0" tIns="0" rIns="0" bIns="0" anchor="t" anchorCtr="0">
              <a:spAutoFit/>
            </a:bodyPr>
            <a:lstStyle/>
            <a:p>
              <a:pPr algn="l">
                <a:lnSpc>
                  <a:spcPts val="3600"/>
                </a:lnSpc>
              </a:pPr>
              <a:r>
                <a:rPr lang="fi-FI" sz="2400" dirty="0">
                  <a:solidFill>
                    <a:schemeClr val="dk1"/>
                  </a:solidFill>
                  <a:latin typeface="+mn-lt"/>
                  <a:ea typeface="+mn-ea"/>
                  <a:cs typeface="+mn-cs"/>
                </a:rPr>
                <a:t>Havainto: epätavallinen ääni.</a:t>
              </a:r>
              <a:br/>
              <a:r>
                <a:rPr lang="fi-FI" sz="2400" dirty="0">
                  <a:solidFill>
                    <a:schemeClr val="dk1"/>
                  </a:solidFill>
                  <a:latin typeface="+mn-lt"/>
                  <a:ea typeface="+mn-ea"/>
                  <a:cs typeface="+mn-cs"/>
                </a:rPr>
                <a:t>Ehdotus: tarkista laakeri.</a:t>
              </a:r>
            </a:p>
          </p:txBody>
        </p:sp>
        <p:sp>
          <p:nvSpPr>
            <p:cNvPr id="9" name="Rectangle 9"/>
            <p:cNvSpPr/>
            <p:nvPr/>
          </p:nvSpPr>
          <p:spPr>
            <a:xfrm>
              <a:off x="5905500" y="5067300"/>
              <a:ext cx="5676900" cy="1104900"/>
            </a:xfrm>
            <a:prstGeom prst="rect">
              <a:avLst/>
            </a:prstGeom>
            <a:solidFill>
              <a:schemeClr val="accent1"/>
            </a:solidFill>
            <a:ln>
              <a:noFill/>
            </a:ln>
          </p:spPr>
        </p:sp>
        <p:sp>
          <p:nvSpPr>
            <p:cNvPr id="10" name="TextBox 10"/>
            <p:cNvSpPr txBox="1"/>
            <p:nvPr/>
          </p:nvSpPr>
          <p:spPr>
            <a:xfrm>
              <a:off x="6160008" y="5265420"/>
              <a:ext cx="3142000" cy="907542"/>
            </a:xfrm>
            <a:prstGeom prst="rect">
              <a:avLst/>
            </a:prstGeom>
            <a:noFill/>
            <a:ln>
              <a:noFill/>
            </a:ln>
          </p:spPr>
          <p:txBody>
            <a:bodyPr wrap="none" lIns="0" tIns="0" rIns="0" bIns="0" anchor="t" anchorCtr="0">
              <a:spAutoFit/>
            </a:bodyPr>
            <a:lstStyle/>
            <a:p>
              <a:pPr algn="l">
                <a:lnSpc>
                  <a:spcPts val="3450"/>
                </a:lnSpc>
              </a:pPr>
              <a:r>
                <a:rPr lang="fi-FI" sz="2400" dirty="0">
                  <a:solidFill>
                    <a:srgbClr val="F8FAFC"/>
                  </a:solidFill>
                  <a:latin typeface="+mn-lt"/>
                  <a:ea typeface="+mn-ea"/>
                  <a:cs typeface="+mn-cs"/>
                </a:rPr>
                <a:t>Luonnos tarvitsee</a:t>
              </a:r>
              <a:br/>
              <a:r>
                <a:rPr lang="fi-FI" sz="2400" dirty="0">
                  <a:solidFill>
                    <a:srgbClr val="F8FAFC"/>
                  </a:solidFill>
                  <a:latin typeface="+mn-lt"/>
                  <a:ea typeface="+mn-ea"/>
                  <a:cs typeface="+mn-cs"/>
                </a:rPr>
                <a:t>asentajan tarkistuksen.</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91312" y="621030"/>
            <a:ext cx="7808736" cy="704088"/>
          </a:xfrm>
          <a:prstGeom prst="rect">
            <a:avLst/>
          </a:prstGeom>
          <a:noFill/>
          <a:ln>
            <a:noFill/>
          </a:ln>
        </p:spPr>
        <p:txBody>
          <a:bodyPr wrap="none" lIns="0" tIns="0" rIns="0" bIns="0" anchor="t" anchorCtr="0">
            <a:spAutoFit/>
          </a:bodyPr>
          <a:lstStyle/>
          <a:p>
            <a:pPr algn="l"/>
            <a:r>
              <a:rPr lang="fi-FI" sz="3600" b="1" dirty="0">
                <a:solidFill>
                  <a:schemeClr val="accent1"/>
                </a:solidFill>
                <a:latin typeface="+mn-lt"/>
                <a:ea typeface="+mn-ea"/>
                <a:cs typeface="+mn-cs"/>
              </a:rPr>
              <a:t>Työssä tarvitaan myös tilaa oppia</a:t>
            </a:r>
          </a:p>
        </p:txBody>
      </p:sp>
      <p:grpSp>
        <p:nvGrpSpPr>
          <p:cNvPr id="11" name="Group 11"/>
          <p:cNvGrpSpPr/>
          <p:nvPr/>
        </p:nvGrpSpPr>
        <p:grpSpPr>
          <a:xfrm>
            <a:off x="591312" y="2720340"/>
            <a:ext cx="9918537" cy="2519553"/>
            <a:chOff x="591312" y="2720340"/>
            <a:chExt cx="9918537" cy="2519553"/>
          </a:xfrm>
        </p:grpSpPr>
        <p:sp>
          <p:nvSpPr>
            <p:cNvPr id="3" name="TextBox 3"/>
            <p:cNvSpPr txBox="1"/>
            <p:nvPr/>
          </p:nvSpPr>
          <p:spPr>
            <a:xfrm>
              <a:off x="600456" y="2720340"/>
              <a:ext cx="287840"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01</a:t>
              </a:r>
            </a:p>
          </p:txBody>
        </p:sp>
        <p:sp>
          <p:nvSpPr>
            <p:cNvPr id="4" name="TextBox 4"/>
            <p:cNvSpPr txBox="1"/>
            <p:nvPr/>
          </p:nvSpPr>
          <p:spPr>
            <a:xfrm>
              <a:off x="591312" y="3164205"/>
              <a:ext cx="1774449" cy="704088"/>
            </a:xfrm>
            <a:prstGeom prst="rect">
              <a:avLst/>
            </a:prstGeom>
            <a:noFill/>
            <a:ln>
              <a:noFill/>
            </a:ln>
          </p:spPr>
          <p:txBody>
            <a:bodyPr wrap="none" lIns="0" tIns="0" rIns="0" bIns="0" anchor="t" anchorCtr="0">
              <a:spAutoFit/>
            </a:bodyPr>
            <a:lstStyle/>
            <a:p>
              <a:pPr algn="l"/>
              <a:r>
                <a:rPr lang="fi-FI" sz="3600" b="1" dirty="0">
                  <a:solidFill>
                    <a:schemeClr val="accent1"/>
                  </a:solidFill>
                  <a:latin typeface="+mn-lt"/>
                  <a:ea typeface="+mn-ea"/>
                  <a:cs typeface="+mn-cs"/>
                </a:rPr>
                <a:t>Kokeile</a:t>
              </a:r>
            </a:p>
          </p:txBody>
        </p:sp>
        <p:sp>
          <p:nvSpPr>
            <p:cNvPr id="5" name="TextBox 5"/>
            <p:cNvSpPr txBox="1"/>
            <p:nvPr/>
          </p:nvSpPr>
          <p:spPr>
            <a:xfrm>
              <a:off x="3486531" y="3177540"/>
              <a:ext cx="287840"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02</a:t>
              </a:r>
            </a:p>
          </p:txBody>
        </p:sp>
        <p:sp>
          <p:nvSpPr>
            <p:cNvPr id="6" name="TextBox 6"/>
            <p:cNvSpPr txBox="1"/>
            <p:nvPr/>
          </p:nvSpPr>
          <p:spPr>
            <a:xfrm>
              <a:off x="3477387" y="3621405"/>
              <a:ext cx="1341772" cy="704088"/>
            </a:xfrm>
            <a:prstGeom prst="rect">
              <a:avLst/>
            </a:prstGeom>
            <a:noFill/>
            <a:ln>
              <a:noFill/>
            </a:ln>
          </p:spPr>
          <p:txBody>
            <a:bodyPr wrap="none" lIns="0" tIns="0" rIns="0" bIns="0" anchor="t" anchorCtr="0">
              <a:spAutoFit/>
            </a:bodyPr>
            <a:lstStyle/>
            <a:p>
              <a:pPr algn="l"/>
              <a:r>
                <a:rPr lang="fi-FI" sz="3600" b="1" dirty="0">
                  <a:solidFill>
                    <a:schemeClr val="accent1"/>
                  </a:solidFill>
                  <a:latin typeface="+mn-lt"/>
                  <a:ea typeface="+mn-ea"/>
                  <a:cs typeface="+mn-cs"/>
                </a:rPr>
                <a:t>Selitä</a:t>
              </a:r>
            </a:p>
          </p:txBody>
        </p:sp>
        <p:sp>
          <p:nvSpPr>
            <p:cNvPr id="7" name="TextBox 7"/>
            <p:cNvSpPr txBox="1"/>
            <p:nvPr/>
          </p:nvSpPr>
          <p:spPr>
            <a:xfrm>
              <a:off x="6153531" y="3634740"/>
              <a:ext cx="287840"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03</a:t>
              </a:r>
            </a:p>
          </p:txBody>
        </p:sp>
        <p:sp>
          <p:nvSpPr>
            <p:cNvPr id="8" name="TextBox 8"/>
            <p:cNvSpPr txBox="1"/>
            <p:nvPr/>
          </p:nvSpPr>
          <p:spPr>
            <a:xfrm>
              <a:off x="6144387" y="4078605"/>
              <a:ext cx="1774449" cy="704088"/>
            </a:xfrm>
            <a:prstGeom prst="rect">
              <a:avLst/>
            </a:prstGeom>
            <a:noFill/>
            <a:ln>
              <a:noFill/>
            </a:ln>
          </p:spPr>
          <p:txBody>
            <a:bodyPr wrap="none" lIns="0" tIns="0" rIns="0" bIns="0" anchor="t" anchorCtr="0">
              <a:spAutoFit/>
            </a:bodyPr>
            <a:lstStyle/>
            <a:p>
              <a:pPr algn="l"/>
              <a:r>
                <a:rPr lang="fi-FI" sz="3600" b="1" dirty="0">
                  <a:solidFill>
                    <a:schemeClr val="accent1"/>
                  </a:solidFill>
                  <a:latin typeface="+mn-lt"/>
                  <a:ea typeface="+mn-ea"/>
                  <a:cs typeface="+mn-cs"/>
                </a:rPr>
                <a:t>Palaute</a:t>
              </a:r>
            </a:p>
          </p:txBody>
        </p:sp>
        <p:sp>
          <p:nvSpPr>
            <p:cNvPr id="9" name="TextBox 9"/>
            <p:cNvSpPr txBox="1"/>
            <p:nvPr/>
          </p:nvSpPr>
          <p:spPr>
            <a:xfrm>
              <a:off x="9039606" y="4091940"/>
              <a:ext cx="287840"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04</a:t>
              </a:r>
            </a:p>
          </p:txBody>
        </p:sp>
        <p:sp>
          <p:nvSpPr>
            <p:cNvPr id="10" name="TextBox 10"/>
            <p:cNvSpPr txBox="1"/>
            <p:nvPr/>
          </p:nvSpPr>
          <p:spPr>
            <a:xfrm>
              <a:off x="9030462" y="4535805"/>
              <a:ext cx="1479387" cy="704088"/>
            </a:xfrm>
            <a:prstGeom prst="rect">
              <a:avLst/>
            </a:prstGeom>
            <a:noFill/>
            <a:ln>
              <a:noFill/>
            </a:ln>
          </p:spPr>
          <p:txBody>
            <a:bodyPr wrap="none" lIns="0" tIns="0" rIns="0" bIns="0" anchor="t" anchorCtr="0">
              <a:spAutoFit/>
            </a:bodyPr>
            <a:lstStyle/>
            <a:p>
              <a:pPr algn="l"/>
              <a:r>
                <a:rPr lang="fi-FI" sz="3600" b="1" dirty="0">
                  <a:solidFill>
                    <a:schemeClr val="accent1"/>
                  </a:solidFill>
                  <a:latin typeface="+mn-lt"/>
                  <a:ea typeface="+mn-ea"/>
                  <a:cs typeface="+mn-cs"/>
                </a:rPr>
                <a:t>Muuta</a:t>
              </a:r>
            </a:p>
          </p:txBody>
        </p:sp>
      </p:grpSp>
      <p:grpSp>
        <p:nvGrpSpPr>
          <p:cNvPr id="13" name="Group 13"/>
          <p:cNvGrpSpPr/>
          <p:nvPr/>
        </p:nvGrpSpPr>
        <p:grpSpPr>
          <a:xfrm>
            <a:off x="597408" y="5855970"/>
            <a:ext cx="6445138" cy="469392"/>
            <a:chOff x="597408" y="5855970"/>
            <a:chExt cx="6445138" cy="469392"/>
          </a:xfrm>
        </p:grpSpPr>
        <p:sp>
          <p:nvSpPr>
            <p:cNvPr id="12" name="TextBox 12"/>
            <p:cNvSpPr txBox="1"/>
            <p:nvPr/>
          </p:nvSpPr>
          <p:spPr>
            <a:xfrm>
              <a:off x="597408" y="5855970"/>
              <a:ext cx="6445138" cy="469392"/>
            </a:xfrm>
            <a:prstGeom prst="rect">
              <a:avLst/>
            </a:prstGeom>
            <a:noFill/>
            <a:ln>
              <a:noFill/>
            </a:ln>
          </p:spPr>
          <p:txBody>
            <a:bodyPr wrap="none" lIns="0" tIns="0" rIns="0" bIns="0" anchor="t" anchorCtr="0">
              <a:spAutoFit/>
            </a:bodyPr>
            <a:lstStyle/>
            <a:p>
              <a:pPr algn="l"/>
              <a:r>
                <a:rPr lang="fi-FI" sz="2400" dirty="0">
                  <a:solidFill>
                    <a:schemeClr val="accent6"/>
                  </a:solidFill>
                  <a:latin typeface="+mn-lt"/>
                  <a:ea typeface="+mn-ea"/>
                  <a:cs typeface="+mn-cs"/>
                </a:rPr>
                <a:t>Oppiminen tarvitsee aikaa ja oikeita tehtäviä.</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91312" y="621030"/>
            <a:ext cx="9396817" cy="704088"/>
          </a:xfrm>
          <a:prstGeom prst="rect">
            <a:avLst/>
          </a:prstGeom>
          <a:noFill/>
          <a:ln>
            <a:noFill/>
          </a:ln>
        </p:spPr>
        <p:txBody>
          <a:bodyPr wrap="none" lIns="0" tIns="0" rIns="0" bIns="0" anchor="t" anchorCtr="0">
            <a:spAutoFit/>
          </a:bodyPr>
          <a:lstStyle/>
          <a:p>
            <a:pPr algn="l"/>
            <a:r>
              <a:rPr lang="fi-FI" sz="3600" b="1" dirty="0">
                <a:solidFill>
                  <a:schemeClr val="accent1"/>
                </a:solidFill>
                <a:latin typeface="+mn-lt"/>
                <a:ea typeface="+mn-ea"/>
                <a:cs typeface="+mn-cs"/>
              </a:rPr>
              <a:t>Paikallinen etu syntyy työn tuntemisesta</a:t>
            </a:r>
          </a:p>
        </p:txBody>
      </p:sp>
      <p:grpSp>
        <p:nvGrpSpPr>
          <p:cNvPr id="7" name="Group 7"/>
          <p:cNvGrpSpPr/>
          <p:nvPr/>
        </p:nvGrpSpPr>
        <p:grpSpPr>
          <a:xfrm>
            <a:off x="590550" y="2244090"/>
            <a:ext cx="4025071" cy="3357372"/>
            <a:chOff x="590550" y="2244090"/>
            <a:chExt cx="4025071" cy="3357372"/>
          </a:xfrm>
        </p:grpSpPr>
        <p:sp>
          <p:nvSpPr>
            <p:cNvPr id="3" name="TextBox 3"/>
            <p:cNvSpPr txBox="1"/>
            <p:nvPr/>
          </p:nvSpPr>
          <p:spPr>
            <a:xfrm>
              <a:off x="600456" y="2244090"/>
              <a:ext cx="2009910"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SUOMEN IT-ALA</a:t>
              </a:r>
            </a:p>
          </p:txBody>
        </p:sp>
        <p:sp>
          <p:nvSpPr>
            <p:cNvPr id="4" name="TextBox 4"/>
            <p:cNvSpPr txBox="1"/>
            <p:nvPr/>
          </p:nvSpPr>
          <p:spPr>
            <a:xfrm>
              <a:off x="590550" y="2813685"/>
              <a:ext cx="4025071" cy="1390650"/>
            </a:xfrm>
            <a:prstGeom prst="rect">
              <a:avLst/>
            </a:prstGeom>
            <a:noFill/>
            <a:ln>
              <a:noFill/>
            </a:ln>
          </p:spPr>
          <p:txBody>
            <a:bodyPr wrap="none" lIns="0" tIns="0" rIns="0" bIns="0" anchor="t" anchorCtr="0">
              <a:spAutoFit/>
            </a:bodyPr>
            <a:lstStyle/>
            <a:p>
              <a:pPr algn="l"/>
              <a:r>
                <a:rPr lang="fi-FI" sz="7200" b="1" dirty="0">
                  <a:solidFill>
                    <a:schemeClr val="accent1"/>
                  </a:solidFill>
                  <a:latin typeface="+mn-lt"/>
                  <a:ea typeface="+mn-ea"/>
                  <a:cs typeface="+mn-cs"/>
                </a:rPr>
                <a:t>19 mrd €</a:t>
              </a:r>
            </a:p>
          </p:txBody>
        </p:sp>
        <p:sp>
          <p:nvSpPr>
            <p:cNvPr id="5" name="TextBox 5"/>
            <p:cNvSpPr txBox="1"/>
            <p:nvPr/>
          </p:nvSpPr>
          <p:spPr>
            <a:xfrm>
              <a:off x="597408" y="3941445"/>
              <a:ext cx="3409519" cy="469392"/>
            </a:xfrm>
            <a:prstGeom prst="rect">
              <a:avLst/>
            </a:prstGeom>
            <a:noFill/>
            <a:ln>
              <a:noFill/>
            </a:ln>
          </p:spPr>
          <p:txBody>
            <a:bodyPr wrap="none" lIns="0" tIns="0" rIns="0" bIns="0" anchor="t" anchorCtr="0">
              <a:spAutoFit/>
            </a:bodyPr>
            <a:lstStyle/>
            <a:p>
              <a:pPr algn="l"/>
              <a:r>
                <a:rPr lang="fi-FI" sz="2400" dirty="0">
                  <a:solidFill>
                    <a:schemeClr val="dk1"/>
                  </a:solidFill>
                  <a:latin typeface="+mn-lt"/>
                  <a:ea typeface="+mn-ea"/>
                  <a:cs typeface="+mn-cs"/>
                </a:rPr>
                <a:t>Liikevaihto 2025 · +5 %</a:t>
              </a:r>
            </a:p>
          </p:txBody>
        </p:sp>
        <p:sp>
          <p:nvSpPr>
            <p:cNvPr id="6" name="TextBox 6"/>
            <p:cNvSpPr txBox="1"/>
            <p:nvPr/>
          </p:nvSpPr>
          <p:spPr>
            <a:xfrm>
              <a:off x="597408" y="4770120"/>
              <a:ext cx="2498628" cy="831342"/>
            </a:xfrm>
            <a:prstGeom prst="rect">
              <a:avLst/>
            </a:prstGeom>
            <a:noFill/>
            <a:ln>
              <a:noFill/>
            </a:ln>
          </p:spPr>
          <p:txBody>
            <a:bodyPr wrap="none" lIns="0" tIns="0" rIns="0" bIns="0" anchor="t" anchorCtr="0">
              <a:spAutoFit/>
            </a:bodyPr>
            <a:lstStyle/>
            <a:p>
              <a:pPr algn="l">
                <a:lnSpc>
                  <a:spcPts val="2850"/>
                </a:lnSpc>
              </a:pPr>
              <a:r>
                <a:rPr lang="fi-FI" sz="2400" dirty="0">
                  <a:solidFill>
                    <a:schemeClr val="dk1"/>
                  </a:solidFill>
                  <a:latin typeface="+mn-lt"/>
                  <a:ea typeface="+mn-ea"/>
                  <a:cs typeface="+mn-cs"/>
                </a:rPr>
                <a:t>80 200 työntekijää</a:t>
              </a:r>
            </a:p>
            <a:p>
              <a:pPr algn="l">
                <a:lnSpc>
                  <a:spcPts val="2850"/>
                </a:lnSpc>
              </a:pPr>
              <a:r>
                <a:rPr lang="fi-FI" sz="1800" dirty="0">
                  <a:solidFill>
                    <a:schemeClr val="accent6"/>
                  </a:solidFill>
                  <a:latin typeface="+mn-lt"/>
                  <a:ea typeface="+mn-ea"/>
                  <a:cs typeface="+mn-cs"/>
                </a:rPr>
                <a:t>kesäkuussa 2026</a:t>
              </a:r>
            </a:p>
          </p:txBody>
        </p:sp>
      </p:grpSp>
      <p:grpSp>
        <p:nvGrpSpPr>
          <p:cNvPr id="11" name="Group 11"/>
          <p:cNvGrpSpPr/>
          <p:nvPr/>
        </p:nvGrpSpPr>
        <p:grpSpPr>
          <a:xfrm>
            <a:off x="7391400" y="2009775"/>
            <a:ext cx="4191000" cy="3381375"/>
            <a:chOff x="7391400" y="2009775"/>
            <a:chExt cx="4191000" cy="3381375"/>
          </a:xfrm>
        </p:grpSpPr>
        <p:sp>
          <p:nvSpPr>
            <p:cNvPr id="8" name="Rectangle 8"/>
            <p:cNvSpPr/>
            <p:nvPr/>
          </p:nvSpPr>
          <p:spPr>
            <a:xfrm>
              <a:off x="7391400" y="2009775"/>
              <a:ext cx="4191000" cy="3381375"/>
            </a:xfrm>
            <a:prstGeom prst="rect">
              <a:avLst/>
            </a:prstGeom>
            <a:solidFill>
              <a:schemeClr val="accent1"/>
            </a:solidFill>
            <a:ln>
              <a:noFill/>
            </a:ln>
          </p:spPr>
        </p:sp>
        <p:sp>
          <p:nvSpPr>
            <p:cNvPr id="9" name="TextBox 9"/>
            <p:cNvSpPr txBox="1"/>
            <p:nvPr/>
          </p:nvSpPr>
          <p:spPr>
            <a:xfrm>
              <a:off x="7706106" y="2272665"/>
              <a:ext cx="3717387"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PAIKALLINEN ETU · TULKINTA</a:t>
              </a:r>
            </a:p>
          </p:txBody>
        </p:sp>
        <p:sp>
          <p:nvSpPr>
            <p:cNvPr id="10" name="TextBox 10"/>
            <p:cNvSpPr txBox="1"/>
            <p:nvPr/>
          </p:nvSpPr>
          <p:spPr>
            <a:xfrm>
              <a:off x="7703058" y="2979420"/>
              <a:ext cx="2294839" cy="1993392"/>
            </a:xfrm>
            <a:prstGeom prst="rect">
              <a:avLst/>
            </a:prstGeom>
            <a:noFill/>
            <a:ln>
              <a:noFill/>
            </a:ln>
          </p:spPr>
          <p:txBody>
            <a:bodyPr wrap="none" lIns="0" tIns="0" rIns="0" bIns="0" anchor="t" anchorCtr="0">
              <a:spAutoFit/>
            </a:bodyPr>
            <a:lstStyle/>
            <a:p>
              <a:pPr algn="l">
                <a:lnSpc>
                  <a:spcPts val="6000"/>
                </a:lnSpc>
              </a:pPr>
              <a:r>
                <a:rPr lang="fi-FI" sz="2400" dirty="0">
                  <a:solidFill>
                    <a:srgbClr val="F8FAFC"/>
                  </a:solidFill>
                  <a:latin typeface="+mn-lt"/>
                  <a:ea typeface="+mn-ea"/>
                  <a:cs typeface="+mn-cs"/>
                </a:rPr>
                <a:t>Työn tunteminen</a:t>
              </a:r>
              <a:br/>
              <a:r>
                <a:rPr lang="fi-FI" sz="2400" dirty="0">
                  <a:solidFill>
                    <a:srgbClr val="F8FAFC"/>
                  </a:solidFill>
                  <a:latin typeface="+mn-lt"/>
                  <a:ea typeface="+mn-ea"/>
                  <a:cs typeface="+mn-cs"/>
                </a:rPr>
                <a:t>Integraatiot</a:t>
              </a:r>
              <a:br/>
              <a:r>
                <a:rPr lang="fi-FI" sz="2400" dirty="0">
                  <a:solidFill>
                    <a:srgbClr val="F8FAFC"/>
                  </a:solidFill>
                  <a:latin typeface="+mn-lt"/>
                  <a:ea typeface="+mn-ea"/>
                  <a:cs typeface="+mn-cs"/>
                </a:rPr>
                <a:t>Tuki</a:t>
              </a:r>
            </a:p>
          </p:txBody>
        </p:sp>
      </p:grpSp>
      <p:grpSp>
        <p:nvGrpSpPr>
          <p:cNvPr id="13" name="Group 13"/>
          <p:cNvGrpSpPr/>
          <p:nvPr/>
        </p:nvGrpSpPr>
        <p:grpSpPr>
          <a:xfrm>
            <a:off x="601980" y="6010275"/>
            <a:ext cx="5696286" cy="293370"/>
            <a:chOff x="601980" y="6010275"/>
            <a:chExt cx="5696286" cy="293370"/>
          </a:xfrm>
        </p:grpSpPr>
        <p:sp>
          <p:nvSpPr>
            <p:cNvPr id="12" name="TextBox 12"/>
            <p:cNvSpPr txBox="1"/>
            <p:nvPr/>
          </p:nvSpPr>
          <p:spPr>
            <a:xfrm>
              <a:off x="601980" y="6010275"/>
              <a:ext cx="5696286" cy="293370"/>
            </a:xfrm>
            <a:prstGeom prst="rect">
              <a:avLst/>
            </a:prstGeom>
            <a:noFill/>
            <a:ln>
              <a:noFill/>
            </a:ln>
          </p:spPr>
          <p:txBody>
            <a:bodyPr wrap="none" lIns="0" tIns="0" rIns="0" bIns="0" anchor="t" anchorCtr="0">
              <a:spAutoFit/>
            </a:bodyPr>
            <a:lstStyle/>
            <a:p>
              <a:pPr algn="l"/>
              <a:r>
                <a:rPr lang="fi-FI" sz="1500" dirty="0">
                  <a:solidFill>
                    <a:schemeClr val="accent6"/>
                  </a:solidFill>
                  <a:latin typeface="+mn-lt"/>
                  <a:ea typeface="+mn-ea"/>
                  <a:cs typeface="+mn-cs"/>
                </a:rPr>
                <a:t>Lähde: Teknologiateollisuus · Information technology in Finland</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5" name="Group 5"/>
          <p:cNvGrpSpPr/>
          <p:nvPr/>
        </p:nvGrpSpPr>
        <p:grpSpPr>
          <a:xfrm>
            <a:off x="590550" y="710565"/>
            <a:ext cx="7763664" cy="3033522"/>
            <a:chOff x="590550" y="710565"/>
            <a:chExt cx="7763664" cy="3033522"/>
          </a:xfrm>
        </p:grpSpPr>
        <p:sp>
          <p:nvSpPr>
            <p:cNvPr id="2" name="TextBox 2"/>
            <p:cNvSpPr txBox="1"/>
            <p:nvPr/>
          </p:nvSpPr>
          <p:spPr>
            <a:xfrm>
              <a:off x="600456" y="710565"/>
              <a:ext cx="4826774"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KÄYTÄNTÖ · CODEX JA CLAUDE CODE</a:t>
              </a:r>
            </a:p>
          </p:txBody>
        </p:sp>
        <p:sp>
          <p:nvSpPr>
            <p:cNvPr id="3" name="TextBox 3"/>
            <p:cNvSpPr txBox="1"/>
            <p:nvPr/>
          </p:nvSpPr>
          <p:spPr>
            <a:xfrm>
              <a:off x="590550" y="1396365"/>
              <a:ext cx="5763951" cy="1666875"/>
            </a:xfrm>
            <a:prstGeom prst="rect">
              <a:avLst/>
            </a:prstGeom>
            <a:noFill/>
            <a:ln>
              <a:noFill/>
            </a:ln>
          </p:spPr>
          <p:txBody>
            <a:bodyPr wrap="none" lIns="0" tIns="0" rIns="0" bIns="0" anchor="t" anchorCtr="0">
              <a:spAutoFit/>
            </a:bodyPr>
            <a:lstStyle/>
            <a:p>
              <a:pPr algn="l">
                <a:lnSpc>
                  <a:spcPts val="5775"/>
                </a:lnSpc>
              </a:pPr>
              <a:r>
                <a:rPr lang="fi-FI" sz="4800" b="1" dirty="0">
                  <a:solidFill>
                    <a:srgbClr val="F8FAFC"/>
                  </a:solidFill>
                  <a:latin typeface="+mn-lt"/>
                  <a:ea typeface="+mn-ea"/>
                  <a:cs typeface="+mn-cs"/>
                </a:rPr>
                <a:t>Näin tehtävä etenee</a:t>
              </a:r>
              <a:br/>
              <a:r>
                <a:rPr lang="fi-FI" sz="4800" b="1" dirty="0">
                  <a:solidFill>
                    <a:srgbClr val="F8FAFC"/>
                  </a:solidFill>
                  <a:latin typeface="+mn-lt"/>
                  <a:ea typeface="+mn-ea"/>
                  <a:cs typeface="+mn-cs"/>
                </a:rPr>
                <a:t>AI:n kanssa</a:t>
              </a:r>
            </a:p>
          </p:txBody>
        </p:sp>
        <p:sp>
          <p:nvSpPr>
            <p:cNvPr id="4" name="TextBox 4"/>
            <p:cNvSpPr txBox="1"/>
            <p:nvPr/>
          </p:nvSpPr>
          <p:spPr>
            <a:xfrm>
              <a:off x="597408" y="3274695"/>
              <a:ext cx="7756806" cy="469392"/>
            </a:xfrm>
            <a:prstGeom prst="rect">
              <a:avLst/>
            </a:prstGeom>
            <a:noFill/>
            <a:ln>
              <a:noFill/>
            </a:ln>
          </p:spPr>
          <p:txBody>
            <a:bodyPr wrap="none" lIns="0" tIns="0" rIns="0" bIns="0" anchor="t" anchorCtr="0">
              <a:spAutoFit/>
            </a:bodyPr>
            <a:lstStyle/>
            <a:p>
              <a:pPr algn="l"/>
              <a:r>
                <a:rPr lang="fi-FI" sz="2400" dirty="0">
                  <a:solidFill>
                    <a:srgbClr val="F8FAFC"/>
                  </a:solidFill>
                  <a:latin typeface="+mn-lt"/>
                  <a:ea typeface="+mn-ea"/>
                  <a:cs typeface="+mn-cs"/>
                </a:rPr>
                <a:t>Esimerkki: huoneiston numero katoaa tallennuksessa.</a:t>
              </a:r>
            </a:p>
          </p:txBody>
        </p:sp>
      </p:grpSp>
      <p:grpSp>
        <p:nvGrpSpPr>
          <p:cNvPr id="17" name="Group 17"/>
          <p:cNvGrpSpPr/>
          <p:nvPr/>
        </p:nvGrpSpPr>
        <p:grpSpPr>
          <a:xfrm>
            <a:off x="597408" y="4581525"/>
            <a:ext cx="10984992" cy="1448562"/>
            <a:chOff x="597408" y="4581525"/>
            <a:chExt cx="10984992" cy="1448562"/>
          </a:xfrm>
        </p:grpSpPr>
        <p:sp>
          <p:nvSpPr>
            <p:cNvPr id="6" name="Line 6"/>
            <p:cNvSpPr/>
            <p:nvPr/>
          </p:nvSpPr>
          <p:spPr>
            <a:xfrm>
              <a:off x="609600" y="4581525"/>
              <a:ext cx="10972800" cy="9525"/>
            </a:xfrm>
            <a:custGeom>
              <a:avLst/>
              <a:gdLst/>
              <a:ahLst/>
              <a:cxnLst/>
              <a:rect l="l" t="t" r="r" b="b"/>
              <a:pathLst>
                <a:path w="10972800" h="9525">
                  <a:moveTo>
                    <a:pt x="0" y="0"/>
                  </a:moveTo>
                  <a:lnTo>
                    <a:pt x="10972800" y="0"/>
                  </a:lnTo>
                </a:path>
              </a:pathLst>
            </a:custGeom>
            <a:noFill/>
            <a:ln w="19050">
              <a:solidFill>
                <a:srgbClr val="52616B"/>
              </a:solidFill>
            </a:ln>
          </p:spPr>
        </p:sp>
        <p:sp>
          <p:nvSpPr>
            <p:cNvPr id="7" name="TextBox 7"/>
            <p:cNvSpPr txBox="1"/>
            <p:nvPr/>
          </p:nvSpPr>
          <p:spPr>
            <a:xfrm>
              <a:off x="600456" y="4968240"/>
              <a:ext cx="287840"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01</a:t>
              </a:r>
            </a:p>
          </p:txBody>
        </p:sp>
        <p:sp>
          <p:nvSpPr>
            <p:cNvPr id="8" name="TextBox 8"/>
            <p:cNvSpPr txBox="1"/>
            <p:nvPr/>
          </p:nvSpPr>
          <p:spPr>
            <a:xfrm>
              <a:off x="597408" y="5560695"/>
              <a:ext cx="878170" cy="469392"/>
            </a:xfrm>
            <a:prstGeom prst="rect">
              <a:avLst/>
            </a:prstGeom>
            <a:noFill/>
            <a:ln>
              <a:noFill/>
            </a:ln>
          </p:spPr>
          <p:txBody>
            <a:bodyPr wrap="none" lIns="0" tIns="0" rIns="0" bIns="0" anchor="t" anchorCtr="0">
              <a:spAutoFit/>
            </a:bodyPr>
            <a:lstStyle/>
            <a:p>
              <a:pPr algn="l"/>
              <a:r>
                <a:rPr lang="fi-FI" sz="2400" dirty="0">
                  <a:solidFill>
                    <a:srgbClr val="F8FAFC"/>
                  </a:solidFill>
                  <a:latin typeface="+mn-lt"/>
                  <a:ea typeface="+mn-ea"/>
                  <a:cs typeface="+mn-cs"/>
                </a:rPr>
                <a:t>Rajaa</a:t>
              </a:r>
            </a:p>
          </p:txBody>
        </p:sp>
        <p:sp>
          <p:nvSpPr>
            <p:cNvPr id="9" name="TextBox 9"/>
            <p:cNvSpPr txBox="1"/>
            <p:nvPr/>
          </p:nvSpPr>
          <p:spPr>
            <a:xfrm>
              <a:off x="2791206" y="4968240"/>
              <a:ext cx="287840"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02</a:t>
              </a:r>
            </a:p>
          </p:txBody>
        </p:sp>
        <p:sp>
          <p:nvSpPr>
            <p:cNvPr id="10" name="TextBox 10"/>
            <p:cNvSpPr txBox="1"/>
            <p:nvPr/>
          </p:nvSpPr>
          <p:spPr>
            <a:xfrm>
              <a:off x="2788158" y="5560695"/>
              <a:ext cx="732442" cy="469392"/>
            </a:xfrm>
            <a:prstGeom prst="rect">
              <a:avLst/>
            </a:prstGeom>
            <a:noFill/>
            <a:ln>
              <a:noFill/>
            </a:ln>
          </p:spPr>
          <p:txBody>
            <a:bodyPr wrap="none" lIns="0" tIns="0" rIns="0" bIns="0" anchor="t" anchorCtr="0">
              <a:spAutoFit/>
            </a:bodyPr>
            <a:lstStyle/>
            <a:p>
              <a:pPr algn="l"/>
              <a:r>
                <a:rPr lang="fi-FI" sz="2400" dirty="0">
                  <a:solidFill>
                    <a:srgbClr val="F8FAFC"/>
                  </a:solidFill>
                  <a:latin typeface="+mn-lt"/>
                  <a:ea typeface="+mn-ea"/>
                  <a:cs typeface="+mn-cs"/>
                </a:rPr>
                <a:t>Tutki</a:t>
              </a:r>
            </a:p>
          </p:txBody>
        </p:sp>
        <p:sp>
          <p:nvSpPr>
            <p:cNvPr id="11" name="TextBox 11"/>
            <p:cNvSpPr txBox="1"/>
            <p:nvPr/>
          </p:nvSpPr>
          <p:spPr>
            <a:xfrm>
              <a:off x="4981956" y="4968240"/>
              <a:ext cx="287840"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03</a:t>
              </a:r>
            </a:p>
          </p:txBody>
        </p:sp>
        <p:sp>
          <p:nvSpPr>
            <p:cNvPr id="12" name="TextBox 12"/>
            <p:cNvSpPr txBox="1"/>
            <p:nvPr/>
          </p:nvSpPr>
          <p:spPr>
            <a:xfrm>
              <a:off x="4978908" y="5560695"/>
              <a:ext cx="1128900" cy="469392"/>
            </a:xfrm>
            <a:prstGeom prst="rect">
              <a:avLst/>
            </a:prstGeom>
            <a:noFill/>
            <a:ln>
              <a:noFill/>
            </a:ln>
          </p:spPr>
          <p:txBody>
            <a:bodyPr wrap="none" lIns="0" tIns="0" rIns="0" bIns="0" anchor="t" anchorCtr="0">
              <a:spAutoFit/>
            </a:bodyPr>
            <a:lstStyle/>
            <a:p>
              <a:pPr algn="l"/>
              <a:r>
                <a:rPr lang="fi-FI" sz="2400" dirty="0">
                  <a:solidFill>
                    <a:srgbClr val="F8FAFC"/>
                  </a:solidFill>
                  <a:latin typeface="+mn-lt"/>
                  <a:ea typeface="+mn-ea"/>
                  <a:cs typeface="+mn-cs"/>
                </a:rPr>
                <a:t>Toteuta</a:t>
              </a:r>
            </a:p>
          </p:txBody>
        </p:sp>
        <p:sp>
          <p:nvSpPr>
            <p:cNvPr id="13" name="TextBox 13"/>
            <p:cNvSpPr txBox="1"/>
            <p:nvPr/>
          </p:nvSpPr>
          <p:spPr>
            <a:xfrm>
              <a:off x="7172706" y="4968240"/>
              <a:ext cx="287840"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04</a:t>
              </a:r>
            </a:p>
          </p:txBody>
        </p:sp>
        <p:sp>
          <p:nvSpPr>
            <p:cNvPr id="14" name="TextBox 14"/>
            <p:cNvSpPr txBox="1"/>
            <p:nvPr/>
          </p:nvSpPr>
          <p:spPr>
            <a:xfrm>
              <a:off x="7169658" y="5560695"/>
              <a:ext cx="1181479" cy="469392"/>
            </a:xfrm>
            <a:prstGeom prst="rect">
              <a:avLst/>
            </a:prstGeom>
            <a:noFill/>
            <a:ln>
              <a:noFill/>
            </a:ln>
          </p:spPr>
          <p:txBody>
            <a:bodyPr wrap="none" lIns="0" tIns="0" rIns="0" bIns="0" anchor="t" anchorCtr="0">
              <a:spAutoFit/>
            </a:bodyPr>
            <a:lstStyle/>
            <a:p>
              <a:pPr algn="l"/>
              <a:r>
                <a:rPr lang="fi-FI" sz="2400" dirty="0">
                  <a:solidFill>
                    <a:srgbClr val="F8FAFC"/>
                  </a:solidFill>
                  <a:latin typeface="+mn-lt"/>
                  <a:ea typeface="+mn-ea"/>
                  <a:cs typeface="+mn-cs"/>
                </a:rPr>
                <a:t>Tarkista</a:t>
              </a:r>
            </a:p>
          </p:txBody>
        </p:sp>
        <p:sp>
          <p:nvSpPr>
            <p:cNvPr id="15" name="TextBox 15"/>
            <p:cNvSpPr txBox="1"/>
            <p:nvPr/>
          </p:nvSpPr>
          <p:spPr>
            <a:xfrm>
              <a:off x="9515856" y="4968240"/>
              <a:ext cx="287840"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05</a:t>
              </a:r>
            </a:p>
          </p:txBody>
        </p:sp>
        <p:sp>
          <p:nvSpPr>
            <p:cNvPr id="16" name="TextBox 16"/>
            <p:cNvSpPr txBox="1"/>
            <p:nvPr/>
          </p:nvSpPr>
          <p:spPr>
            <a:xfrm>
              <a:off x="9512808" y="5560695"/>
              <a:ext cx="1076107" cy="469392"/>
            </a:xfrm>
            <a:prstGeom prst="rect">
              <a:avLst/>
            </a:prstGeom>
            <a:noFill/>
            <a:ln>
              <a:noFill/>
            </a:ln>
          </p:spPr>
          <p:txBody>
            <a:bodyPr wrap="none" lIns="0" tIns="0" rIns="0" bIns="0" anchor="t" anchorCtr="0">
              <a:spAutoFit/>
            </a:bodyPr>
            <a:lstStyle/>
            <a:p>
              <a:pPr algn="l"/>
              <a:r>
                <a:rPr lang="fi-FI" sz="2400" dirty="0">
                  <a:solidFill>
                    <a:srgbClr val="F8FAFC"/>
                  </a:solidFill>
                  <a:latin typeface="+mn-lt"/>
                  <a:ea typeface="+mn-ea"/>
                  <a:cs typeface="+mn-cs"/>
                </a:rPr>
                <a:t>Seuraa</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91312" y="621030"/>
            <a:ext cx="4508906" cy="1275588"/>
          </a:xfrm>
          <a:prstGeom prst="rect">
            <a:avLst/>
          </a:prstGeom>
          <a:noFill/>
          <a:ln>
            <a:noFill/>
          </a:ln>
        </p:spPr>
        <p:txBody>
          <a:bodyPr wrap="none" lIns="0" tIns="0" rIns="0" bIns="0" anchor="t" anchorCtr="0">
            <a:spAutoFit/>
          </a:bodyPr>
          <a:lstStyle/>
          <a:p>
            <a:pPr algn="l">
              <a:lnSpc>
                <a:spcPts val="4500"/>
              </a:lnSpc>
            </a:pPr>
            <a:r>
              <a:rPr lang="fi-FI" sz="3600" b="1" dirty="0">
                <a:solidFill>
                  <a:schemeClr val="accent1"/>
                </a:solidFill>
                <a:latin typeface="+mn-lt"/>
                <a:ea typeface="+mn-ea"/>
                <a:cs typeface="+mn-cs"/>
              </a:rPr>
              <a:t>Hyvä tehtävä kertoo,</a:t>
            </a:r>
            <a:br/>
            <a:r>
              <a:rPr lang="fi-FI" sz="3600" b="1" dirty="0">
                <a:solidFill>
                  <a:schemeClr val="accent1"/>
                </a:solidFill>
                <a:latin typeface="+mn-lt"/>
                <a:ea typeface="+mn-ea"/>
                <a:cs typeface="+mn-cs"/>
              </a:rPr>
              <a:t>miltä valmis näyttää</a:t>
            </a:r>
          </a:p>
        </p:txBody>
      </p:sp>
      <p:grpSp>
        <p:nvGrpSpPr>
          <p:cNvPr id="15" name="Group 15"/>
          <p:cNvGrpSpPr/>
          <p:nvPr/>
        </p:nvGrpSpPr>
        <p:grpSpPr>
          <a:xfrm>
            <a:off x="600456" y="2276475"/>
            <a:ext cx="10981944" cy="3210687"/>
            <a:chOff x="600456" y="2276475"/>
            <a:chExt cx="10981944" cy="3210687"/>
          </a:xfrm>
        </p:grpSpPr>
        <p:sp>
          <p:nvSpPr>
            <p:cNvPr id="3" name="Line 3"/>
            <p:cNvSpPr/>
            <p:nvPr/>
          </p:nvSpPr>
          <p:spPr>
            <a:xfrm>
              <a:off x="609600" y="2276475"/>
              <a:ext cx="10972800" cy="9525"/>
            </a:xfrm>
            <a:custGeom>
              <a:avLst/>
              <a:gdLst/>
              <a:ahLst/>
              <a:cxnLst/>
              <a:rect l="l" t="t" r="r" b="b"/>
              <a:pathLst>
                <a:path w="10972800" h="9525">
                  <a:moveTo>
                    <a:pt x="0" y="0"/>
                  </a:moveTo>
                  <a:lnTo>
                    <a:pt x="10972800" y="0"/>
                  </a:lnTo>
                </a:path>
              </a:pathLst>
            </a:custGeom>
            <a:noFill/>
            <a:ln w="19050">
              <a:solidFill>
                <a:srgbClr val="CBD3D8"/>
              </a:solidFill>
            </a:ln>
          </p:spPr>
        </p:sp>
        <p:sp>
          <p:nvSpPr>
            <p:cNvPr id="4" name="TextBox 4"/>
            <p:cNvSpPr txBox="1"/>
            <p:nvPr/>
          </p:nvSpPr>
          <p:spPr>
            <a:xfrm>
              <a:off x="600456" y="2567940"/>
              <a:ext cx="1298704" cy="352044"/>
            </a:xfrm>
            <a:prstGeom prst="rect">
              <a:avLst/>
            </a:prstGeom>
            <a:noFill/>
            <a:ln>
              <a:noFill/>
            </a:ln>
          </p:spPr>
          <p:txBody>
            <a:bodyPr wrap="none" lIns="0" tIns="0" rIns="0" bIns="0" anchor="t" anchorCtr="0">
              <a:spAutoFit/>
            </a:bodyPr>
            <a:lstStyle/>
            <a:p>
              <a:pPr algn="l"/>
              <a:r>
                <a:rPr lang="fi-FI" sz="1800" dirty="0">
                  <a:solidFill>
                    <a:schemeClr val="accent6"/>
                  </a:solidFill>
                  <a:latin typeface="+mn-lt"/>
                  <a:ea typeface="+mn-ea"/>
                  <a:cs typeface="+mn-cs"/>
                </a:rPr>
                <a:t>ONGELMA</a:t>
              </a:r>
            </a:p>
          </p:txBody>
        </p:sp>
        <p:sp>
          <p:nvSpPr>
            <p:cNvPr id="5" name="TextBox 5"/>
            <p:cNvSpPr txBox="1"/>
            <p:nvPr/>
          </p:nvSpPr>
          <p:spPr>
            <a:xfrm>
              <a:off x="3054858" y="2531745"/>
              <a:ext cx="4004121" cy="469392"/>
            </a:xfrm>
            <a:prstGeom prst="rect">
              <a:avLst/>
            </a:prstGeom>
            <a:noFill/>
            <a:ln>
              <a:noFill/>
            </a:ln>
          </p:spPr>
          <p:txBody>
            <a:bodyPr wrap="none" lIns="0" tIns="0" rIns="0" bIns="0" anchor="t" anchorCtr="0">
              <a:spAutoFit/>
            </a:bodyPr>
            <a:lstStyle/>
            <a:p>
              <a:pPr algn="l"/>
              <a:r>
                <a:rPr lang="fi-FI" sz="2400" dirty="0">
                  <a:solidFill>
                    <a:schemeClr val="dk1"/>
                  </a:solidFill>
                  <a:latin typeface="+mn-lt"/>
                  <a:ea typeface="+mn-ea"/>
                  <a:cs typeface="+mn-cs"/>
                </a:rPr>
                <a:t>Huoneiston numero katoaa.</a:t>
              </a:r>
            </a:p>
          </p:txBody>
        </p:sp>
        <p:sp>
          <p:nvSpPr>
            <p:cNvPr id="6" name="Line 6"/>
            <p:cNvSpPr/>
            <p:nvPr/>
          </p:nvSpPr>
          <p:spPr>
            <a:xfrm>
              <a:off x="609600" y="3086100"/>
              <a:ext cx="10972800" cy="9525"/>
            </a:xfrm>
            <a:custGeom>
              <a:avLst/>
              <a:gdLst/>
              <a:ahLst/>
              <a:cxnLst/>
              <a:rect l="l" t="t" r="r" b="b"/>
              <a:pathLst>
                <a:path w="10972800" h="9525">
                  <a:moveTo>
                    <a:pt x="0" y="0"/>
                  </a:moveTo>
                  <a:lnTo>
                    <a:pt x="10972800" y="0"/>
                  </a:lnTo>
                </a:path>
              </a:pathLst>
            </a:custGeom>
            <a:noFill/>
            <a:ln w="19050">
              <a:solidFill>
                <a:srgbClr val="CBD3D8"/>
              </a:solidFill>
            </a:ln>
          </p:spPr>
        </p:sp>
        <p:sp>
          <p:nvSpPr>
            <p:cNvPr id="7" name="TextBox 7"/>
            <p:cNvSpPr txBox="1"/>
            <p:nvPr/>
          </p:nvSpPr>
          <p:spPr>
            <a:xfrm>
              <a:off x="600456" y="3377565"/>
              <a:ext cx="1113644" cy="352044"/>
            </a:xfrm>
            <a:prstGeom prst="rect">
              <a:avLst/>
            </a:prstGeom>
            <a:noFill/>
            <a:ln>
              <a:noFill/>
            </a:ln>
          </p:spPr>
          <p:txBody>
            <a:bodyPr wrap="none" lIns="0" tIns="0" rIns="0" bIns="0" anchor="t" anchorCtr="0">
              <a:spAutoFit/>
            </a:bodyPr>
            <a:lstStyle/>
            <a:p>
              <a:pPr algn="l"/>
              <a:r>
                <a:rPr lang="fi-FI" sz="1800" dirty="0">
                  <a:solidFill>
                    <a:schemeClr val="accent6"/>
                  </a:solidFill>
                  <a:latin typeface="+mn-lt"/>
                  <a:ea typeface="+mn-ea"/>
                  <a:cs typeface="+mn-cs"/>
                </a:rPr>
                <a:t>TAVOITE</a:t>
              </a:r>
            </a:p>
          </p:txBody>
        </p:sp>
        <p:sp>
          <p:nvSpPr>
            <p:cNvPr id="8" name="TextBox 8"/>
            <p:cNvSpPr txBox="1"/>
            <p:nvPr/>
          </p:nvSpPr>
          <p:spPr>
            <a:xfrm>
              <a:off x="3054858" y="3341370"/>
              <a:ext cx="4882761" cy="469392"/>
            </a:xfrm>
            <a:prstGeom prst="rect">
              <a:avLst/>
            </a:prstGeom>
            <a:noFill/>
            <a:ln>
              <a:noFill/>
            </a:ln>
          </p:spPr>
          <p:txBody>
            <a:bodyPr wrap="none" lIns="0" tIns="0" rIns="0" bIns="0" anchor="t" anchorCtr="0">
              <a:spAutoFit/>
            </a:bodyPr>
            <a:lstStyle/>
            <a:p>
              <a:pPr algn="l"/>
              <a:r>
                <a:rPr lang="fi-FI" sz="2400" dirty="0">
                  <a:solidFill>
                    <a:schemeClr val="dk1"/>
                  </a:solidFill>
                  <a:latin typeface="+mn-lt"/>
                  <a:ea typeface="+mn-ea"/>
                  <a:cs typeface="+mn-cs"/>
                </a:rPr>
                <a:t>Arvo säilyy uudelleenlatauksessa.</a:t>
              </a:r>
            </a:p>
          </p:txBody>
        </p:sp>
        <p:sp>
          <p:nvSpPr>
            <p:cNvPr id="9" name="Line 9"/>
            <p:cNvSpPr/>
            <p:nvPr/>
          </p:nvSpPr>
          <p:spPr>
            <a:xfrm>
              <a:off x="609600" y="3895725"/>
              <a:ext cx="10972800" cy="9525"/>
            </a:xfrm>
            <a:custGeom>
              <a:avLst/>
              <a:gdLst/>
              <a:ahLst/>
              <a:cxnLst/>
              <a:rect l="l" t="t" r="r" b="b"/>
              <a:pathLst>
                <a:path w="10972800" h="9525">
                  <a:moveTo>
                    <a:pt x="0" y="0"/>
                  </a:moveTo>
                  <a:lnTo>
                    <a:pt x="10972800" y="0"/>
                  </a:lnTo>
                </a:path>
              </a:pathLst>
            </a:custGeom>
            <a:noFill/>
            <a:ln w="19050">
              <a:solidFill>
                <a:srgbClr val="CBD3D8"/>
              </a:solidFill>
            </a:ln>
          </p:spPr>
        </p:sp>
        <p:sp>
          <p:nvSpPr>
            <p:cNvPr id="10" name="TextBox 10"/>
            <p:cNvSpPr txBox="1"/>
            <p:nvPr/>
          </p:nvSpPr>
          <p:spPr>
            <a:xfrm>
              <a:off x="600456" y="4187190"/>
              <a:ext cx="672757" cy="352044"/>
            </a:xfrm>
            <a:prstGeom prst="rect">
              <a:avLst/>
            </a:prstGeom>
            <a:noFill/>
            <a:ln>
              <a:noFill/>
            </a:ln>
          </p:spPr>
          <p:txBody>
            <a:bodyPr wrap="none" lIns="0" tIns="0" rIns="0" bIns="0" anchor="t" anchorCtr="0">
              <a:spAutoFit/>
            </a:bodyPr>
            <a:lstStyle/>
            <a:p>
              <a:pPr algn="l"/>
              <a:r>
                <a:rPr lang="fi-FI" sz="1800" dirty="0">
                  <a:solidFill>
                    <a:schemeClr val="accent6"/>
                  </a:solidFill>
                  <a:latin typeface="+mn-lt"/>
                  <a:ea typeface="+mn-ea"/>
                  <a:cs typeface="+mn-cs"/>
                </a:rPr>
                <a:t>RAJA</a:t>
              </a:r>
            </a:p>
          </p:txBody>
        </p:sp>
        <p:sp>
          <p:nvSpPr>
            <p:cNvPr id="11" name="TextBox 11"/>
            <p:cNvSpPr txBox="1"/>
            <p:nvPr/>
          </p:nvSpPr>
          <p:spPr>
            <a:xfrm>
              <a:off x="3054858" y="4150995"/>
              <a:ext cx="3786938" cy="469392"/>
            </a:xfrm>
            <a:prstGeom prst="rect">
              <a:avLst/>
            </a:prstGeom>
            <a:noFill/>
            <a:ln>
              <a:noFill/>
            </a:ln>
          </p:spPr>
          <p:txBody>
            <a:bodyPr wrap="none" lIns="0" tIns="0" rIns="0" bIns="0" anchor="t" anchorCtr="0">
              <a:spAutoFit/>
            </a:bodyPr>
            <a:lstStyle/>
            <a:p>
              <a:pPr algn="l"/>
              <a:r>
                <a:rPr lang="fi-FI" sz="2400" dirty="0">
                  <a:solidFill>
                    <a:schemeClr val="dk1"/>
                  </a:solidFill>
                  <a:latin typeface="+mn-lt"/>
                  <a:ea typeface="+mn-ea"/>
                  <a:cs typeface="+mn-cs"/>
                </a:rPr>
                <a:t>Säilytä nykyinen rajapinta.</a:t>
              </a:r>
            </a:p>
          </p:txBody>
        </p:sp>
        <p:sp>
          <p:nvSpPr>
            <p:cNvPr id="12" name="Line 12"/>
            <p:cNvSpPr/>
            <p:nvPr/>
          </p:nvSpPr>
          <p:spPr>
            <a:xfrm>
              <a:off x="609600" y="4705350"/>
              <a:ext cx="10972800" cy="9525"/>
            </a:xfrm>
            <a:custGeom>
              <a:avLst/>
              <a:gdLst/>
              <a:ahLst/>
              <a:cxnLst/>
              <a:rect l="l" t="t" r="r" b="b"/>
              <a:pathLst>
                <a:path w="10972800" h="9525">
                  <a:moveTo>
                    <a:pt x="0" y="0"/>
                  </a:moveTo>
                  <a:lnTo>
                    <a:pt x="10972800" y="0"/>
                  </a:lnTo>
                </a:path>
              </a:pathLst>
            </a:custGeom>
            <a:noFill/>
            <a:ln w="19050">
              <a:solidFill>
                <a:srgbClr val="CBD3D8"/>
              </a:solidFill>
            </a:ln>
          </p:spPr>
        </p:sp>
        <p:sp>
          <p:nvSpPr>
            <p:cNvPr id="13" name="TextBox 13"/>
            <p:cNvSpPr txBox="1"/>
            <p:nvPr/>
          </p:nvSpPr>
          <p:spPr>
            <a:xfrm>
              <a:off x="600456" y="5053965"/>
              <a:ext cx="1070784" cy="352044"/>
            </a:xfrm>
            <a:prstGeom prst="rect">
              <a:avLst/>
            </a:prstGeom>
            <a:noFill/>
            <a:ln>
              <a:noFill/>
            </a:ln>
          </p:spPr>
          <p:txBody>
            <a:bodyPr wrap="none" lIns="0" tIns="0" rIns="0" bIns="0" anchor="t" anchorCtr="0">
              <a:spAutoFit/>
            </a:bodyPr>
            <a:lstStyle/>
            <a:p>
              <a:pPr algn="l"/>
              <a:r>
                <a:rPr lang="fi-FI" sz="1800" b="1" dirty="0">
                  <a:solidFill>
                    <a:schemeClr val="accent2"/>
                  </a:solidFill>
                  <a:latin typeface="+mn-lt"/>
                  <a:ea typeface="+mn-ea"/>
                  <a:cs typeface="+mn-cs"/>
                </a:rPr>
                <a:t>NÄYTTÖ</a:t>
              </a:r>
            </a:p>
          </p:txBody>
        </p:sp>
        <p:sp>
          <p:nvSpPr>
            <p:cNvPr id="14" name="TextBox 14"/>
            <p:cNvSpPr txBox="1"/>
            <p:nvPr/>
          </p:nvSpPr>
          <p:spPr>
            <a:xfrm>
              <a:off x="3054858" y="5017770"/>
              <a:ext cx="5024866" cy="469392"/>
            </a:xfrm>
            <a:prstGeom prst="rect">
              <a:avLst/>
            </a:prstGeom>
            <a:noFill/>
            <a:ln>
              <a:noFill/>
            </a:ln>
          </p:spPr>
          <p:txBody>
            <a:bodyPr wrap="none" lIns="0" tIns="0" rIns="0" bIns="0" anchor="t" anchorCtr="0">
              <a:spAutoFit/>
            </a:bodyPr>
            <a:lstStyle/>
            <a:p>
              <a:pPr algn="l"/>
              <a:r>
                <a:rPr lang="fi-FI" sz="2400" b="1" dirty="0">
                  <a:solidFill>
                    <a:schemeClr val="accent2"/>
                  </a:solidFill>
                  <a:latin typeface="+mn-lt"/>
                  <a:ea typeface="+mn-ea"/>
                  <a:cs typeface="+mn-cs"/>
                </a:rPr>
                <a:t>Toisto, testi ja toimiva tallennus.</a:t>
              </a:r>
            </a:p>
          </p:txBody>
        </p:sp>
      </p:grpSp>
      <p:grpSp>
        <p:nvGrpSpPr>
          <p:cNvPr id="17" name="Group 17"/>
          <p:cNvGrpSpPr/>
          <p:nvPr/>
        </p:nvGrpSpPr>
        <p:grpSpPr>
          <a:xfrm>
            <a:off x="600456" y="6035040"/>
            <a:ext cx="6511379" cy="352044"/>
            <a:chOff x="600456" y="6035040"/>
            <a:chExt cx="6511379" cy="352044"/>
          </a:xfrm>
        </p:grpSpPr>
        <p:sp>
          <p:nvSpPr>
            <p:cNvPr id="16" name="TextBox 16"/>
            <p:cNvSpPr txBox="1"/>
            <p:nvPr/>
          </p:nvSpPr>
          <p:spPr>
            <a:xfrm>
              <a:off x="600456" y="6035040"/>
              <a:ext cx="6511379" cy="352044"/>
            </a:xfrm>
            <a:prstGeom prst="rect">
              <a:avLst/>
            </a:prstGeom>
            <a:noFill/>
            <a:ln>
              <a:noFill/>
            </a:ln>
          </p:spPr>
          <p:txBody>
            <a:bodyPr wrap="none" lIns="0" tIns="0" rIns="0" bIns="0" anchor="t" anchorCtr="0">
              <a:spAutoFit/>
            </a:bodyPr>
            <a:lstStyle/>
            <a:p>
              <a:pPr algn="l"/>
              <a:r>
                <a:rPr lang="fi-FI" sz="1800" dirty="0">
                  <a:solidFill>
                    <a:schemeClr val="accent6"/>
                  </a:solidFill>
                  <a:latin typeface="+mn-lt"/>
                  <a:ea typeface="+mn-ea"/>
                  <a:cs typeface="+mn-cs"/>
                </a:rPr>
                <a:t>“Tutki ensin syy ja ehdota pienin korjaus.” · Opetusesimerkki</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91312" y="621030"/>
            <a:ext cx="8290946" cy="704088"/>
          </a:xfrm>
          <a:prstGeom prst="rect">
            <a:avLst/>
          </a:prstGeom>
          <a:noFill/>
          <a:ln>
            <a:noFill/>
          </a:ln>
        </p:spPr>
        <p:txBody>
          <a:bodyPr wrap="none" lIns="0" tIns="0" rIns="0" bIns="0" anchor="t" anchorCtr="0">
            <a:spAutoFit/>
          </a:bodyPr>
          <a:lstStyle/>
          <a:p>
            <a:pPr algn="l"/>
            <a:r>
              <a:rPr lang="fi-FI" sz="3600" b="1" dirty="0">
                <a:solidFill>
                  <a:schemeClr val="accent1"/>
                </a:solidFill>
                <a:latin typeface="+mn-lt"/>
                <a:ea typeface="+mn-ea"/>
                <a:cs typeface="+mn-cs"/>
              </a:rPr>
              <a:t>Anna agentille projektin oma totuus</a:t>
            </a:r>
          </a:p>
        </p:txBody>
      </p:sp>
      <p:grpSp>
        <p:nvGrpSpPr>
          <p:cNvPr id="6" name="Group 6"/>
          <p:cNvGrpSpPr/>
          <p:nvPr/>
        </p:nvGrpSpPr>
        <p:grpSpPr>
          <a:xfrm>
            <a:off x="609600" y="1990725"/>
            <a:ext cx="5524500" cy="3467100"/>
            <a:chOff x="609600" y="1990725"/>
            <a:chExt cx="5524500" cy="3467100"/>
          </a:xfrm>
        </p:grpSpPr>
        <p:sp>
          <p:nvSpPr>
            <p:cNvPr id="3" name="Rectangle 3"/>
            <p:cNvSpPr/>
            <p:nvPr/>
          </p:nvSpPr>
          <p:spPr>
            <a:xfrm>
              <a:off x="609600" y="1990725"/>
              <a:ext cx="5524500" cy="3467100"/>
            </a:xfrm>
            <a:prstGeom prst="rect">
              <a:avLst/>
            </a:prstGeom>
            <a:solidFill>
              <a:schemeClr val="accent1"/>
            </a:solidFill>
            <a:ln>
              <a:noFill/>
            </a:ln>
          </p:spPr>
        </p:sp>
        <p:sp>
          <p:nvSpPr>
            <p:cNvPr id="4" name="TextBox 4"/>
            <p:cNvSpPr txBox="1"/>
            <p:nvPr/>
          </p:nvSpPr>
          <p:spPr>
            <a:xfrm>
              <a:off x="905256" y="2310765"/>
              <a:ext cx="3276193"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OPETUSESIMERKIN REPO</a:t>
              </a:r>
            </a:p>
          </p:txBody>
        </p:sp>
        <p:sp>
          <p:nvSpPr>
            <p:cNvPr id="5" name="TextBox 5"/>
            <p:cNvSpPr txBox="1"/>
            <p:nvPr/>
          </p:nvSpPr>
          <p:spPr>
            <a:xfrm>
              <a:off x="903732" y="2935605"/>
              <a:ext cx="3381756" cy="2087118"/>
            </a:xfrm>
            <a:prstGeom prst="rect">
              <a:avLst/>
            </a:prstGeom>
            <a:noFill/>
            <a:ln>
              <a:noFill/>
            </a:ln>
          </p:spPr>
          <p:txBody>
            <a:bodyPr wrap="none" lIns="0" tIns="0" rIns="0" bIns="0" anchor="t" anchorCtr="0">
              <a:spAutoFit/>
            </a:bodyPr>
            <a:lstStyle/>
            <a:p>
              <a:pPr algn="l">
                <a:lnSpc>
                  <a:spcPts val="3300"/>
                </a:lnSpc>
              </a:pPr>
              <a:r>
                <a:rPr lang="fi-FI" sz="2100" dirty="0">
                  <a:solidFill>
                    <a:srgbClr val="F8FAFC"/>
                  </a:solidFill>
                  <a:latin typeface="Courier New"/>
                  <a:ea typeface="Courier New"/>
                  <a:cs typeface="Courier New"/>
                </a:rPr>
                <a:t>src/</a:t>
              </a:r>
              <a:br/>
              <a:r>
                <a:rPr lang="fi-FI" sz="2100" dirty="0">
                  <a:solidFill>
                    <a:srgbClr val="F8FAFC"/>
                  </a:solidFill>
                  <a:latin typeface="Courier New"/>
                  <a:ea typeface="Courier New"/>
                  <a:cs typeface="Courier New"/>
                </a:rPr>
                <a:t>address.ts</a:t>
              </a:r>
              <a:br/>
              <a:r>
                <a:rPr lang="fi-FI" sz="2100" dirty="0">
                  <a:solidFill>
                    <a:srgbClr val="F8FAFC"/>
                  </a:solidFill>
                  <a:latin typeface="Courier New"/>
                  <a:ea typeface="Courier New"/>
                  <a:cs typeface="Courier New"/>
                </a:rPr>
                <a:t>tests/address.test.ts</a:t>
              </a:r>
              <a:br/>
              <a:r>
                <a:rPr lang="fi-FI" sz="2100" dirty="0">
                  <a:solidFill>
                    <a:srgbClr val="F8FAFC"/>
                  </a:solidFill>
                  <a:latin typeface="Courier New"/>
                  <a:ea typeface="Courier New"/>
                  <a:cs typeface="Courier New"/>
                </a:rPr>
                <a:t>package.json</a:t>
              </a:r>
              <a:br/>
              <a:r>
                <a:rPr lang="fi-FI" sz="2100" dirty="0">
                  <a:solidFill>
                    <a:srgbClr val="F8FAFC"/>
                  </a:solidFill>
                  <a:latin typeface="Courier New"/>
                  <a:ea typeface="Courier New"/>
                  <a:cs typeface="Courier New"/>
                </a:rPr>
                <a:t>README.md</a:t>
              </a:r>
            </a:p>
          </p:txBody>
        </p:sp>
      </p:grpSp>
      <p:grpSp>
        <p:nvGrpSpPr>
          <p:cNvPr id="10" name="Group 10"/>
          <p:cNvGrpSpPr/>
          <p:nvPr/>
        </p:nvGrpSpPr>
        <p:grpSpPr>
          <a:xfrm>
            <a:off x="6826758" y="2263140"/>
            <a:ext cx="3885286" cy="2795397"/>
            <a:chOff x="6826758" y="2263140"/>
            <a:chExt cx="3885286" cy="2795397"/>
          </a:xfrm>
        </p:grpSpPr>
        <p:sp>
          <p:nvSpPr>
            <p:cNvPr id="7" name="TextBox 7"/>
            <p:cNvSpPr txBox="1"/>
            <p:nvPr/>
          </p:nvSpPr>
          <p:spPr>
            <a:xfrm>
              <a:off x="6829806" y="2263140"/>
              <a:ext cx="2280433"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PYSYVÄT OHJEET</a:t>
              </a:r>
            </a:p>
          </p:txBody>
        </p:sp>
        <p:sp>
          <p:nvSpPr>
            <p:cNvPr id="8" name="TextBox 8"/>
            <p:cNvSpPr txBox="1"/>
            <p:nvPr/>
          </p:nvSpPr>
          <p:spPr>
            <a:xfrm>
              <a:off x="6826758" y="2855595"/>
              <a:ext cx="3885286" cy="926592"/>
            </a:xfrm>
            <a:prstGeom prst="rect">
              <a:avLst/>
            </a:prstGeom>
            <a:noFill/>
            <a:ln>
              <a:noFill/>
            </a:ln>
          </p:spPr>
          <p:txBody>
            <a:bodyPr wrap="none" lIns="0" tIns="0" rIns="0" bIns="0" anchor="t" anchorCtr="0">
              <a:spAutoFit/>
            </a:bodyPr>
            <a:lstStyle/>
            <a:p>
              <a:pPr algn="l">
                <a:lnSpc>
                  <a:spcPts val="3600"/>
                </a:lnSpc>
              </a:pPr>
              <a:r>
                <a:rPr lang="fi-FI" sz="2400" b="1" dirty="0">
                  <a:solidFill>
                    <a:schemeClr val="accent1"/>
                  </a:solidFill>
                  <a:latin typeface="+mn-lt"/>
                  <a:ea typeface="+mn-ea"/>
                  <a:cs typeface="+mn-cs"/>
                </a:rPr>
                <a:t>Codex: AGENTS.md</a:t>
              </a:r>
              <a:br/>
              <a:r>
                <a:rPr lang="fi-FI" sz="2400" b="1" dirty="0">
                  <a:solidFill>
                    <a:schemeClr val="accent1"/>
                  </a:solidFill>
                  <a:latin typeface="+mn-lt"/>
                  <a:ea typeface="+mn-ea"/>
                  <a:cs typeface="+mn-cs"/>
                </a:rPr>
                <a:t>Claude Code: CLAUDE.md</a:t>
              </a:r>
            </a:p>
          </p:txBody>
        </p:sp>
        <p:sp>
          <p:nvSpPr>
            <p:cNvPr id="9" name="TextBox 9"/>
            <p:cNvSpPr txBox="1"/>
            <p:nvPr/>
          </p:nvSpPr>
          <p:spPr>
            <a:xfrm>
              <a:off x="6826758" y="4131945"/>
              <a:ext cx="1786250" cy="926592"/>
            </a:xfrm>
            <a:prstGeom prst="rect">
              <a:avLst/>
            </a:prstGeom>
            <a:noFill/>
            <a:ln>
              <a:noFill/>
            </a:ln>
          </p:spPr>
          <p:txBody>
            <a:bodyPr wrap="none" lIns="0" tIns="0" rIns="0" bIns="0" anchor="t" anchorCtr="0">
              <a:spAutoFit/>
            </a:bodyPr>
            <a:lstStyle/>
            <a:p>
              <a:pPr algn="l">
                <a:lnSpc>
                  <a:spcPts val="3600"/>
                </a:lnSpc>
              </a:pPr>
              <a:r>
                <a:rPr lang="fi-FI" sz="2400" dirty="0">
                  <a:solidFill>
                    <a:schemeClr val="dk1"/>
                  </a:solidFill>
                  <a:latin typeface="+mn-lt"/>
                  <a:ea typeface="+mn-ea"/>
                  <a:cs typeface="+mn-cs"/>
                </a:rPr>
                <a:t>Komennot</a:t>
              </a:r>
              <a:br/>
              <a:r>
                <a:rPr lang="fi-FI" sz="2400" dirty="0">
                  <a:solidFill>
                    <a:schemeClr val="dk1"/>
                  </a:solidFill>
                  <a:latin typeface="+mn-lt"/>
                  <a:ea typeface="+mn-ea"/>
                  <a:cs typeface="+mn-cs"/>
                </a:rPr>
                <a:t>Tavat ja rajat</a:t>
              </a:r>
            </a:p>
          </p:txBody>
        </p:sp>
      </p:grpSp>
      <p:grpSp>
        <p:nvGrpSpPr>
          <p:cNvPr id="12" name="Group 12"/>
          <p:cNvGrpSpPr/>
          <p:nvPr/>
        </p:nvGrpSpPr>
        <p:grpSpPr>
          <a:xfrm>
            <a:off x="600456" y="5996940"/>
            <a:ext cx="8403819" cy="352044"/>
            <a:chOff x="600456" y="5996940"/>
            <a:chExt cx="8403819" cy="352044"/>
          </a:xfrm>
        </p:grpSpPr>
        <p:sp>
          <p:nvSpPr>
            <p:cNvPr id="11" name="TextBox 11"/>
            <p:cNvSpPr txBox="1"/>
            <p:nvPr/>
          </p:nvSpPr>
          <p:spPr>
            <a:xfrm>
              <a:off x="600456" y="5996940"/>
              <a:ext cx="8403819" cy="352044"/>
            </a:xfrm>
            <a:prstGeom prst="rect">
              <a:avLst/>
            </a:prstGeom>
            <a:noFill/>
            <a:ln>
              <a:noFill/>
            </a:ln>
          </p:spPr>
          <p:txBody>
            <a:bodyPr wrap="none" lIns="0" tIns="0" rIns="0" bIns="0" anchor="t" anchorCtr="0">
              <a:spAutoFit/>
            </a:bodyPr>
            <a:lstStyle/>
            <a:p>
              <a:pPr algn="l"/>
              <a:r>
                <a:rPr lang="fi-FI" sz="1800" dirty="0">
                  <a:solidFill>
                    <a:schemeClr val="accent6"/>
                  </a:solidFill>
                  <a:latin typeface="+mn-lt"/>
                  <a:ea typeface="+mn-ea"/>
                  <a:cs typeface="+mn-cs"/>
                </a:rPr>
                <a:t>Tehtävän konteksti tulee koodista, dokumentaatiosta ja projektin käytännöistä.</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91312" y="621030"/>
            <a:ext cx="7430568" cy="704088"/>
          </a:xfrm>
          <a:prstGeom prst="rect">
            <a:avLst/>
          </a:prstGeom>
          <a:noFill/>
          <a:ln>
            <a:noFill/>
          </a:ln>
        </p:spPr>
        <p:txBody>
          <a:bodyPr wrap="none" lIns="0" tIns="0" rIns="0" bIns="0" anchor="t" anchorCtr="0">
            <a:spAutoFit/>
          </a:bodyPr>
          <a:lstStyle/>
          <a:p>
            <a:pPr algn="l"/>
            <a:r>
              <a:rPr lang="fi-FI" sz="3600" b="1" dirty="0">
                <a:solidFill>
                  <a:schemeClr val="accent1"/>
                </a:solidFill>
                <a:latin typeface="+mn-lt"/>
                <a:ea typeface="+mn-ea"/>
                <a:cs typeface="+mn-cs"/>
              </a:rPr>
              <a:t>Työkalut tuovat tehtävän äärelle</a:t>
            </a:r>
          </a:p>
        </p:txBody>
      </p:sp>
      <p:grpSp>
        <p:nvGrpSpPr>
          <p:cNvPr id="19" name="Group 19"/>
          <p:cNvGrpSpPr/>
          <p:nvPr/>
        </p:nvGrpSpPr>
        <p:grpSpPr>
          <a:xfrm>
            <a:off x="609600" y="2084070"/>
            <a:ext cx="9866261" cy="3384042"/>
            <a:chOff x="609600" y="2084070"/>
            <a:chExt cx="9866261" cy="3384042"/>
          </a:xfrm>
        </p:grpSpPr>
        <p:sp>
          <p:nvSpPr>
            <p:cNvPr id="3" name="Rectangle 3"/>
            <p:cNvSpPr/>
            <p:nvPr/>
          </p:nvSpPr>
          <p:spPr>
            <a:xfrm>
              <a:off x="609600" y="2924175"/>
              <a:ext cx="2762250" cy="1466850"/>
            </a:xfrm>
            <a:prstGeom prst="rect">
              <a:avLst/>
            </a:prstGeom>
            <a:solidFill>
              <a:schemeClr val="accent1"/>
            </a:solidFill>
            <a:ln>
              <a:noFill/>
            </a:ln>
          </p:spPr>
        </p:sp>
        <p:sp>
          <p:nvSpPr>
            <p:cNvPr id="4" name="TextBox 4"/>
            <p:cNvSpPr txBox="1"/>
            <p:nvPr/>
          </p:nvSpPr>
          <p:spPr>
            <a:xfrm>
              <a:off x="1070610" y="3467100"/>
              <a:ext cx="1432540" cy="586740"/>
            </a:xfrm>
            <a:prstGeom prst="rect">
              <a:avLst/>
            </a:prstGeom>
            <a:noFill/>
            <a:ln>
              <a:noFill/>
            </a:ln>
          </p:spPr>
          <p:txBody>
            <a:bodyPr wrap="none" lIns="0" tIns="0" rIns="0" bIns="0" anchor="t" anchorCtr="0">
              <a:spAutoFit/>
            </a:bodyPr>
            <a:lstStyle/>
            <a:p>
              <a:pPr algn="l"/>
              <a:r>
                <a:rPr lang="fi-FI" sz="3000" b="1" dirty="0">
                  <a:solidFill>
                    <a:srgbClr val="F8FAFC"/>
                  </a:solidFill>
                  <a:latin typeface="+mn-lt"/>
                  <a:ea typeface="+mn-ea"/>
                  <a:cs typeface="+mn-cs"/>
                </a:rPr>
                <a:t>Agentti</a:t>
              </a:r>
            </a:p>
          </p:txBody>
        </p:sp>
        <p:sp>
          <p:nvSpPr>
            <p:cNvPr id="5" name="Line 5"/>
            <p:cNvSpPr/>
            <p:nvPr/>
          </p:nvSpPr>
          <p:spPr>
            <a:xfrm>
              <a:off x="3371850" y="3657600"/>
              <a:ext cx="1152525" cy="9525"/>
            </a:xfrm>
            <a:custGeom>
              <a:avLst/>
              <a:gdLst/>
              <a:ahLst/>
              <a:cxnLst/>
              <a:rect l="l" t="t" r="r" b="b"/>
              <a:pathLst>
                <a:path w="1152525" h="9525">
                  <a:moveTo>
                    <a:pt x="0" y="0"/>
                  </a:moveTo>
                  <a:lnTo>
                    <a:pt x="1152525" y="0"/>
                  </a:lnTo>
                </a:path>
              </a:pathLst>
            </a:custGeom>
            <a:noFill/>
            <a:ln w="28575">
              <a:solidFill>
                <a:schemeClr val="accent2"/>
              </a:solidFill>
            </a:ln>
          </p:spPr>
        </p:sp>
        <p:sp>
          <p:nvSpPr>
            <p:cNvPr id="6" name="Line 6"/>
            <p:cNvSpPr/>
            <p:nvPr/>
          </p:nvSpPr>
          <p:spPr>
            <a:xfrm>
              <a:off x="4524375" y="2238375"/>
              <a:ext cx="9525" cy="2914650"/>
            </a:xfrm>
            <a:custGeom>
              <a:avLst/>
              <a:gdLst/>
              <a:ahLst/>
              <a:cxnLst/>
              <a:rect l="l" t="t" r="r" b="b"/>
              <a:pathLst>
                <a:path w="9525" h="2914650">
                  <a:moveTo>
                    <a:pt x="0" y="0"/>
                  </a:moveTo>
                  <a:lnTo>
                    <a:pt x="0" y="2914650"/>
                  </a:lnTo>
                </a:path>
              </a:pathLst>
            </a:custGeom>
            <a:noFill/>
            <a:ln w="28575">
              <a:solidFill>
                <a:schemeClr val="accent2"/>
              </a:solidFill>
            </a:ln>
          </p:spPr>
        </p:sp>
        <p:sp>
          <p:nvSpPr>
            <p:cNvPr id="7" name="Line 7"/>
            <p:cNvSpPr/>
            <p:nvPr/>
          </p:nvSpPr>
          <p:spPr>
            <a:xfrm>
              <a:off x="4524375" y="2238375"/>
              <a:ext cx="619125" cy="9525"/>
            </a:xfrm>
            <a:custGeom>
              <a:avLst/>
              <a:gdLst/>
              <a:ahLst/>
              <a:cxnLst/>
              <a:rect l="l" t="t" r="r" b="b"/>
              <a:pathLst>
                <a:path w="619125" h="9525">
                  <a:moveTo>
                    <a:pt x="0" y="0"/>
                  </a:moveTo>
                  <a:lnTo>
                    <a:pt x="619125" y="0"/>
                  </a:lnTo>
                </a:path>
              </a:pathLst>
            </a:custGeom>
            <a:noFill/>
            <a:ln w="28575">
              <a:solidFill>
                <a:schemeClr val="accent2"/>
              </a:solidFill>
            </a:ln>
          </p:spPr>
        </p:sp>
        <p:sp>
          <p:nvSpPr>
            <p:cNvPr id="8" name="Line 8"/>
            <p:cNvSpPr/>
            <p:nvPr/>
          </p:nvSpPr>
          <p:spPr>
            <a:xfrm>
              <a:off x="4524375" y="3209925"/>
              <a:ext cx="619125" cy="9525"/>
            </a:xfrm>
            <a:custGeom>
              <a:avLst/>
              <a:gdLst/>
              <a:ahLst/>
              <a:cxnLst/>
              <a:rect l="l" t="t" r="r" b="b"/>
              <a:pathLst>
                <a:path w="619125" h="9525">
                  <a:moveTo>
                    <a:pt x="0" y="0"/>
                  </a:moveTo>
                  <a:lnTo>
                    <a:pt x="619125" y="0"/>
                  </a:lnTo>
                </a:path>
              </a:pathLst>
            </a:custGeom>
            <a:noFill/>
            <a:ln w="28575">
              <a:solidFill>
                <a:schemeClr val="accent2"/>
              </a:solidFill>
            </a:ln>
          </p:spPr>
        </p:sp>
        <p:sp>
          <p:nvSpPr>
            <p:cNvPr id="9" name="Line 9"/>
            <p:cNvSpPr/>
            <p:nvPr/>
          </p:nvSpPr>
          <p:spPr>
            <a:xfrm>
              <a:off x="4524375" y="4181475"/>
              <a:ext cx="619125" cy="9525"/>
            </a:xfrm>
            <a:custGeom>
              <a:avLst/>
              <a:gdLst/>
              <a:ahLst/>
              <a:cxnLst/>
              <a:rect l="l" t="t" r="r" b="b"/>
              <a:pathLst>
                <a:path w="619125" h="9525">
                  <a:moveTo>
                    <a:pt x="0" y="0"/>
                  </a:moveTo>
                  <a:lnTo>
                    <a:pt x="619125" y="0"/>
                  </a:lnTo>
                </a:path>
              </a:pathLst>
            </a:custGeom>
            <a:noFill/>
            <a:ln w="28575">
              <a:solidFill>
                <a:schemeClr val="accent2"/>
              </a:solidFill>
            </a:ln>
          </p:spPr>
        </p:sp>
        <p:sp>
          <p:nvSpPr>
            <p:cNvPr id="10" name="Line 10"/>
            <p:cNvSpPr/>
            <p:nvPr/>
          </p:nvSpPr>
          <p:spPr>
            <a:xfrm>
              <a:off x="4524375" y="5153025"/>
              <a:ext cx="619125" cy="9525"/>
            </a:xfrm>
            <a:custGeom>
              <a:avLst/>
              <a:gdLst/>
              <a:ahLst/>
              <a:cxnLst/>
              <a:rect l="l" t="t" r="r" b="b"/>
              <a:pathLst>
                <a:path w="619125" h="9525">
                  <a:moveTo>
                    <a:pt x="0" y="0"/>
                  </a:moveTo>
                  <a:lnTo>
                    <a:pt x="619125" y="0"/>
                  </a:lnTo>
                </a:path>
              </a:pathLst>
            </a:custGeom>
            <a:noFill/>
            <a:ln w="28575">
              <a:solidFill>
                <a:schemeClr val="accent2"/>
              </a:solidFill>
            </a:ln>
          </p:spPr>
        </p:sp>
        <p:sp>
          <p:nvSpPr>
            <p:cNvPr id="11" name="TextBox 11"/>
            <p:cNvSpPr txBox="1"/>
            <p:nvPr/>
          </p:nvSpPr>
          <p:spPr>
            <a:xfrm>
              <a:off x="5417058" y="2084070"/>
              <a:ext cx="805175" cy="469392"/>
            </a:xfrm>
            <a:prstGeom prst="rect">
              <a:avLst/>
            </a:prstGeom>
            <a:noFill/>
            <a:ln>
              <a:noFill/>
            </a:ln>
          </p:spPr>
          <p:txBody>
            <a:bodyPr wrap="none" lIns="0" tIns="0" rIns="0" bIns="0" anchor="t" anchorCtr="0">
              <a:spAutoFit/>
            </a:bodyPr>
            <a:lstStyle/>
            <a:p>
              <a:pPr algn="l"/>
              <a:r>
                <a:rPr lang="fi-FI" sz="2400" b="1" dirty="0">
                  <a:solidFill>
                    <a:schemeClr val="accent1"/>
                  </a:solidFill>
                  <a:latin typeface="+mn-lt"/>
                  <a:ea typeface="+mn-ea"/>
                  <a:cs typeface="+mn-cs"/>
                </a:rPr>
                <a:t>Shell</a:t>
              </a:r>
            </a:p>
          </p:txBody>
        </p:sp>
        <p:sp>
          <p:nvSpPr>
            <p:cNvPr id="12" name="TextBox 12"/>
            <p:cNvSpPr txBox="1"/>
            <p:nvPr/>
          </p:nvSpPr>
          <p:spPr>
            <a:xfrm>
              <a:off x="7420356" y="2148840"/>
              <a:ext cx="2099517" cy="352044"/>
            </a:xfrm>
            <a:prstGeom prst="rect">
              <a:avLst/>
            </a:prstGeom>
            <a:noFill/>
            <a:ln>
              <a:noFill/>
            </a:ln>
          </p:spPr>
          <p:txBody>
            <a:bodyPr wrap="none" lIns="0" tIns="0" rIns="0" bIns="0" anchor="t" anchorCtr="0">
              <a:spAutoFit/>
            </a:bodyPr>
            <a:lstStyle/>
            <a:p>
              <a:pPr algn="l"/>
              <a:r>
                <a:rPr lang="fi-FI" sz="1800" dirty="0">
                  <a:solidFill>
                    <a:schemeClr val="accent6"/>
                  </a:solidFill>
                  <a:latin typeface="+mn-lt"/>
                  <a:ea typeface="+mn-ea"/>
                  <a:cs typeface="+mn-cs"/>
                </a:rPr>
                <a:t>Projektin komennot</a:t>
              </a:r>
            </a:p>
          </p:txBody>
        </p:sp>
        <p:sp>
          <p:nvSpPr>
            <p:cNvPr id="13" name="TextBox 13"/>
            <p:cNvSpPr txBox="1"/>
            <p:nvPr/>
          </p:nvSpPr>
          <p:spPr>
            <a:xfrm>
              <a:off x="5417058" y="3055620"/>
              <a:ext cx="985115" cy="469392"/>
            </a:xfrm>
            <a:prstGeom prst="rect">
              <a:avLst/>
            </a:prstGeom>
            <a:noFill/>
            <a:ln>
              <a:noFill/>
            </a:ln>
          </p:spPr>
          <p:txBody>
            <a:bodyPr wrap="none" lIns="0" tIns="0" rIns="0" bIns="0" anchor="t" anchorCtr="0">
              <a:spAutoFit/>
            </a:bodyPr>
            <a:lstStyle/>
            <a:p>
              <a:pPr algn="l"/>
              <a:r>
                <a:rPr lang="fi-FI" sz="2400" b="1" dirty="0">
                  <a:solidFill>
                    <a:schemeClr val="accent1"/>
                  </a:solidFill>
                  <a:latin typeface="+mn-lt"/>
                  <a:ea typeface="+mn-ea"/>
                  <a:cs typeface="+mn-cs"/>
                </a:rPr>
                <a:t>Selain</a:t>
              </a:r>
            </a:p>
          </p:txBody>
        </p:sp>
        <p:sp>
          <p:nvSpPr>
            <p:cNvPr id="14" name="TextBox 14"/>
            <p:cNvSpPr txBox="1"/>
            <p:nvPr/>
          </p:nvSpPr>
          <p:spPr>
            <a:xfrm>
              <a:off x="7420356" y="3120390"/>
              <a:ext cx="3055505" cy="352044"/>
            </a:xfrm>
            <a:prstGeom prst="rect">
              <a:avLst/>
            </a:prstGeom>
            <a:noFill/>
            <a:ln>
              <a:noFill/>
            </a:ln>
          </p:spPr>
          <p:txBody>
            <a:bodyPr wrap="none" lIns="0" tIns="0" rIns="0" bIns="0" anchor="t" anchorCtr="0">
              <a:spAutoFit/>
            </a:bodyPr>
            <a:lstStyle/>
            <a:p>
              <a:pPr algn="l"/>
              <a:r>
                <a:rPr lang="fi-FI" sz="1800" dirty="0">
                  <a:solidFill>
                    <a:schemeClr val="accent6"/>
                  </a:solidFill>
                  <a:latin typeface="+mn-lt"/>
                  <a:ea typeface="+mn-ea"/>
                  <a:cs typeface="+mn-cs"/>
                </a:rPr>
                <a:t>Näkyvän toiminnan tarkistus</a:t>
              </a:r>
            </a:p>
          </p:txBody>
        </p:sp>
        <p:sp>
          <p:nvSpPr>
            <p:cNvPr id="15" name="TextBox 15"/>
            <p:cNvSpPr txBox="1"/>
            <p:nvPr/>
          </p:nvSpPr>
          <p:spPr>
            <a:xfrm>
              <a:off x="5417058" y="4027170"/>
              <a:ext cx="782990" cy="469392"/>
            </a:xfrm>
            <a:prstGeom prst="rect">
              <a:avLst/>
            </a:prstGeom>
            <a:noFill/>
            <a:ln>
              <a:noFill/>
            </a:ln>
          </p:spPr>
          <p:txBody>
            <a:bodyPr wrap="none" lIns="0" tIns="0" rIns="0" bIns="0" anchor="t" anchorCtr="0">
              <a:spAutoFit/>
            </a:bodyPr>
            <a:lstStyle/>
            <a:p>
              <a:pPr algn="l"/>
              <a:r>
                <a:rPr lang="fi-FI" sz="2400" b="1" dirty="0">
                  <a:solidFill>
                    <a:schemeClr val="accent1"/>
                  </a:solidFill>
                  <a:latin typeface="+mn-lt"/>
                  <a:ea typeface="+mn-ea"/>
                  <a:cs typeface="+mn-cs"/>
                </a:rPr>
                <a:t>MCP</a:t>
              </a:r>
            </a:p>
          </p:txBody>
        </p:sp>
        <p:sp>
          <p:nvSpPr>
            <p:cNvPr id="16" name="TextBox 16"/>
            <p:cNvSpPr txBox="1"/>
            <p:nvPr/>
          </p:nvSpPr>
          <p:spPr>
            <a:xfrm>
              <a:off x="7420356" y="4091940"/>
              <a:ext cx="1559688" cy="352044"/>
            </a:xfrm>
            <a:prstGeom prst="rect">
              <a:avLst/>
            </a:prstGeom>
            <a:noFill/>
            <a:ln>
              <a:noFill/>
            </a:ln>
          </p:spPr>
          <p:txBody>
            <a:bodyPr wrap="none" lIns="0" tIns="0" rIns="0" bIns="0" anchor="t" anchorCtr="0">
              <a:spAutoFit/>
            </a:bodyPr>
            <a:lstStyle/>
            <a:p>
              <a:pPr algn="l"/>
              <a:r>
                <a:rPr lang="fi-FI" sz="1800" dirty="0">
                  <a:solidFill>
                    <a:schemeClr val="accent6"/>
                  </a:solidFill>
                  <a:latin typeface="+mn-lt"/>
                  <a:ea typeface="+mn-ea"/>
                  <a:cs typeface="+mn-cs"/>
                </a:rPr>
                <a:t>Liitetty palvelu</a:t>
              </a:r>
            </a:p>
          </p:txBody>
        </p:sp>
        <p:sp>
          <p:nvSpPr>
            <p:cNvPr id="17" name="TextBox 17"/>
            <p:cNvSpPr txBox="1"/>
            <p:nvPr/>
          </p:nvSpPr>
          <p:spPr>
            <a:xfrm>
              <a:off x="5417058" y="4998720"/>
              <a:ext cx="696369" cy="469392"/>
            </a:xfrm>
            <a:prstGeom prst="rect">
              <a:avLst/>
            </a:prstGeom>
            <a:noFill/>
            <a:ln>
              <a:noFill/>
            </a:ln>
          </p:spPr>
          <p:txBody>
            <a:bodyPr wrap="none" lIns="0" tIns="0" rIns="0" bIns="0" anchor="t" anchorCtr="0">
              <a:spAutoFit/>
            </a:bodyPr>
            <a:lstStyle/>
            <a:p>
              <a:pPr algn="l"/>
              <a:r>
                <a:rPr lang="fi-FI" sz="2400" b="1" dirty="0">
                  <a:solidFill>
                    <a:schemeClr val="accent1"/>
                  </a:solidFill>
                  <a:latin typeface="+mn-lt"/>
                  <a:ea typeface="+mn-ea"/>
                  <a:cs typeface="+mn-cs"/>
                </a:rPr>
                <a:t>Skill</a:t>
              </a:r>
            </a:p>
          </p:txBody>
        </p:sp>
        <p:sp>
          <p:nvSpPr>
            <p:cNvPr id="18" name="TextBox 18"/>
            <p:cNvSpPr txBox="1"/>
            <p:nvPr/>
          </p:nvSpPr>
          <p:spPr>
            <a:xfrm>
              <a:off x="7420356" y="5063490"/>
              <a:ext cx="2072151" cy="352044"/>
            </a:xfrm>
            <a:prstGeom prst="rect">
              <a:avLst/>
            </a:prstGeom>
            <a:noFill/>
            <a:ln>
              <a:noFill/>
            </a:ln>
          </p:spPr>
          <p:txBody>
            <a:bodyPr wrap="none" lIns="0" tIns="0" rIns="0" bIns="0" anchor="t" anchorCtr="0">
              <a:spAutoFit/>
            </a:bodyPr>
            <a:lstStyle/>
            <a:p>
              <a:pPr algn="l"/>
              <a:r>
                <a:rPr lang="fi-FI" sz="1800" dirty="0">
                  <a:solidFill>
                    <a:schemeClr val="accent6"/>
                  </a:solidFill>
                  <a:latin typeface="+mn-lt"/>
                  <a:ea typeface="+mn-ea"/>
                  <a:cs typeface="+mn-cs"/>
                </a:rPr>
                <a:t>Toistettava työtapa</a:t>
              </a:r>
            </a:p>
          </p:txBody>
        </p:sp>
      </p:grpSp>
      <p:grpSp>
        <p:nvGrpSpPr>
          <p:cNvPr id="21" name="Group 21"/>
          <p:cNvGrpSpPr/>
          <p:nvPr/>
        </p:nvGrpSpPr>
        <p:grpSpPr>
          <a:xfrm>
            <a:off x="600456" y="5996940"/>
            <a:ext cx="5616411" cy="352044"/>
            <a:chOff x="600456" y="5996940"/>
            <a:chExt cx="5616411" cy="352044"/>
          </a:xfrm>
        </p:grpSpPr>
        <p:sp>
          <p:nvSpPr>
            <p:cNvPr id="20" name="TextBox 20"/>
            <p:cNvSpPr txBox="1"/>
            <p:nvPr/>
          </p:nvSpPr>
          <p:spPr>
            <a:xfrm>
              <a:off x="600456" y="5996940"/>
              <a:ext cx="5616411"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Anna työkalut ja oikeudet tehtävän tarpeen mukaan.</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91312" y="621030"/>
            <a:ext cx="6622871" cy="704088"/>
          </a:xfrm>
          <a:prstGeom prst="rect">
            <a:avLst/>
          </a:prstGeom>
          <a:noFill/>
          <a:ln>
            <a:noFill/>
          </a:ln>
        </p:spPr>
        <p:txBody>
          <a:bodyPr wrap="none" lIns="0" tIns="0" rIns="0" bIns="0" anchor="t" anchorCtr="0">
            <a:spAutoFit/>
          </a:bodyPr>
          <a:lstStyle/>
          <a:p>
            <a:pPr algn="l"/>
            <a:r>
              <a:rPr lang="fi-FI" sz="3600" b="1" dirty="0">
                <a:solidFill>
                  <a:schemeClr val="accent1"/>
                </a:solidFill>
                <a:latin typeface="+mn-lt"/>
                <a:ea typeface="+mn-ea"/>
                <a:cs typeface="+mn-cs"/>
              </a:rPr>
              <a:t>Toista virhe ennen korjausta</a:t>
            </a:r>
          </a:p>
        </p:txBody>
      </p:sp>
      <p:grpSp>
        <p:nvGrpSpPr>
          <p:cNvPr id="9" name="Group 9"/>
          <p:cNvGrpSpPr/>
          <p:nvPr/>
        </p:nvGrpSpPr>
        <p:grpSpPr>
          <a:xfrm>
            <a:off x="600456" y="2129790"/>
            <a:ext cx="5095494" cy="3070860"/>
            <a:chOff x="600456" y="2129790"/>
            <a:chExt cx="5095494" cy="3070860"/>
          </a:xfrm>
        </p:grpSpPr>
        <p:sp>
          <p:nvSpPr>
            <p:cNvPr id="3" name="TextBox 3"/>
            <p:cNvSpPr txBox="1"/>
            <p:nvPr/>
          </p:nvSpPr>
          <p:spPr>
            <a:xfrm>
              <a:off x="600456" y="2129790"/>
              <a:ext cx="3190985"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1 · ENNEN TALLENNUSTA</a:t>
              </a:r>
            </a:p>
          </p:txBody>
        </p:sp>
        <p:sp>
          <p:nvSpPr>
            <p:cNvPr id="4" name="Rectangle 4"/>
            <p:cNvSpPr/>
            <p:nvPr/>
          </p:nvSpPr>
          <p:spPr>
            <a:xfrm>
              <a:off x="609600" y="2647950"/>
              <a:ext cx="5086350" cy="2552700"/>
            </a:xfrm>
            <a:prstGeom prst="rect">
              <a:avLst/>
            </a:prstGeom>
            <a:solidFill>
              <a:srgbClr val="F8FAFC"/>
            </a:solidFill>
            <a:ln w="19050">
              <a:solidFill>
                <a:srgbClr val="CBD3D8"/>
              </a:solidFill>
            </a:ln>
          </p:spPr>
        </p:sp>
        <p:sp>
          <p:nvSpPr>
            <p:cNvPr id="5" name="TextBox 5"/>
            <p:cNvSpPr txBox="1"/>
            <p:nvPr/>
          </p:nvSpPr>
          <p:spPr>
            <a:xfrm>
              <a:off x="868680" y="2895600"/>
              <a:ext cx="1390388" cy="293370"/>
            </a:xfrm>
            <a:prstGeom prst="rect">
              <a:avLst/>
            </a:prstGeom>
            <a:noFill/>
            <a:ln>
              <a:noFill/>
            </a:ln>
          </p:spPr>
          <p:txBody>
            <a:bodyPr wrap="none" lIns="0" tIns="0" rIns="0" bIns="0" anchor="t" anchorCtr="0">
              <a:spAutoFit/>
            </a:bodyPr>
            <a:lstStyle/>
            <a:p>
              <a:pPr algn="l"/>
              <a:r>
                <a:rPr lang="fi-FI" sz="1500" dirty="0">
                  <a:solidFill>
                    <a:schemeClr val="accent6"/>
                  </a:solidFill>
                  <a:latin typeface="+mn-lt"/>
                  <a:ea typeface="+mn-ea"/>
                  <a:cs typeface="+mn-cs"/>
                </a:rPr>
                <a:t>KATUOSOITE</a:t>
              </a:r>
            </a:p>
          </p:txBody>
        </p:sp>
        <p:sp>
          <p:nvSpPr>
            <p:cNvPr id="6" name="TextBox 6"/>
            <p:cNvSpPr txBox="1"/>
            <p:nvPr/>
          </p:nvSpPr>
          <p:spPr>
            <a:xfrm>
              <a:off x="864108" y="3236595"/>
              <a:ext cx="2495087" cy="469392"/>
            </a:xfrm>
            <a:prstGeom prst="rect">
              <a:avLst/>
            </a:prstGeom>
            <a:noFill/>
            <a:ln>
              <a:noFill/>
            </a:ln>
          </p:spPr>
          <p:txBody>
            <a:bodyPr wrap="none" lIns="0" tIns="0" rIns="0" bIns="0" anchor="t" anchorCtr="0">
              <a:spAutoFit/>
            </a:bodyPr>
            <a:lstStyle/>
            <a:p>
              <a:pPr algn="l"/>
              <a:r>
                <a:rPr lang="fi-FI" sz="2400" dirty="0">
                  <a:solidFill>
                    <a:schemeClr val="dk1"/>
                  </a:solidFill>
                  <a:latin typeface="+mn-lt"/>
                  <a:ea typeface="+mn-ea"/>
                  <a:cs typeface="+mn-cs"/>
                </a:rPr>
                <a:t>Esimerkkikatu 12</a:t>
              </a:r>
            </a:p>
          </p:txBody>
        </p:sp>
        <p:sp>
          <p:nvSpPr>
            <p:cNvPr id="7" name="TextBox 7"/>
            <p:cNvSpPr txBox="1"/>
            <p:nvPr/>
          </p:nvSpPr>
          <p:spPr>
            <a:xfrm>
              <a:off x="868680" y="3924300"/>
              <a:ext cx="1283623" cy="293370"/>
            </a:xfrm>
            <a:prstGeom prst="rect">
              <a:avLst/>
            </a:prstGeom>
            <a:noFill/>
            <a:ln>
              <a:noFill/>
            </a:ln>
          </p:spPr>
          <p:txBody>
            <a:bodyPr wrap="none" lIns="0" tIns="0" rIns="0" bIns="0" anchor="t" anchorCtr="0">
              <a:spAutoFit/>
            </a:bodyPr>
            <a:lstStyle/>
            <a:p>
              <a:pPr algn="l"/>
              <a:r>
                <a:rPr lang="fi-FI" sz="1500" dirty="0">
                  <a:solidFill>
                    <a:schemeClr val="accent6"/>
                  </a:solidFill>
                  <a:latin typeface="+mn-lt"/>
                  <a:ea typeface="+mn-ea"/>
                  <a:cs typeface="+mn-cs"/>
                </a:rPr>
                <a:t>HUONEISTO</a:t>
              </a:r>
            </a:p>
          </p:txBody>
        </p:sp>
        <p:sp>
          <p:nvSpPr>
            <p:cNvPr id="8" name="TextBox 8"/>
            <p:cNvSpPr txBox="1"/>
            <p:nvPr/>
          </p:nvSpPr>
          <p:spPr>
            <a:xfrm>
              <a:off x="861060" y="4305300"/>
              <a:ext cx="694542" cy="586740"/>
            </a:xfrm>
            <a:prstGeom prst="rect">
              <a:avLst/>
            </a:prstGeom>
            <a:noFill/>
            <a:ln>
              <a:noFill/>
            </a:ln>
          </p:spPr>
          <p:txBody>
            <a:bodyPr wrap="none" lIns="0" tIns="0" rIns="0" bIns="0" anchor="t" anchorCtr="0">
              <a:spAutoFit/>
            </a:bodyPr>
            <a:lstStyle/>
            <a:p>
              <a:pPr algn="l"/>
              <a:r>
                <a:rPr lang="fi-FI" sz="3000" b="1" dirty="0">
                  <a:solidFill>
                    <a:schemeClr val="accent2"/>
                  </a:solidFill>
                  <a:latin typeface="+mn-lt"/>
                  <a:ea typeface="+mn-ea"/>
                  <a:cs typeface="+mn-cs"/>
                </a:rPr>
                <a:t>B 7</a:t>
              </a:r>
            </a:p>
          </p:txBody>
        </p:sp>
      </p:grpSp>
      <p:grpSp>
        <p:nvGrpSpPr>
          <p:cNvPr id="16" name="Group 16"/>
          <p:cNvGrpSpPr/>
          <p:nvPr/>
        </p:nvGrpSpPr>
        <p:grpSpPr>
          <a:xfrm>
            <a:off x="6486906" y="2129790"/>
            <a:ext cx="5095494" cy="3070860"/>
            <a:chOff x="6486906" y="2129790"/>
            <a:chExt cx="5095494" cy="3070860"/>
          </a:xfrm>
        </p:grpSpPr>
        <p:sp>
          <p:nvSpPr>
            <p:cNvPr id="10" name="TextBox 10"/>
            <p:cNvSpPr txBox="1"/>
            <p:nvPr/>
          </p:nvSpPr>
          <p:spPr>
            <a:xfrm>
              <a:off x="6486906" y="2129790"/>
              <a:ext cx="3774841" cy="352044"/>
            </a:xfrm>
            <a:prstGeom prst="rect">
              <a:avLst/>
            </a:prstGeom>
            <a:noFill/>
            <a:ln>
              <a:noFill/>
            </a:ln>
          </p:spPr>
          <p:txBody>
            <a:bodyPr wrap="none" lIns="0" tIns="0" rIns="0" bIns="0" anchor="t" anchorCtr="0">
              <a:spAutoFit/>
            </a:bodyPr>
            <a:lstStyle/>
            <a:p>
              <a:pPr algn="l"/>
              <a:r>
                <a:rPr lang="fi-FI" sz="1800" dirty="0">
                  <a:solidFill>
                    <a:srgbClr val="C45635"/>
                  </a:solidFill>
                  <a:latin typeface="+mn-lt"/>
                  <a:ea typeface="+mn-ea"/>
                  <a:cs typeface="+mn-cs"/>
                </a:rPr>
                <a:t>2 · UUDELLEENLATAUKSESSA</a:t>
              </a:r>
            </a:p>
          </p:txBody>
        </p:sp>
        <p:sp>
          <p:nvSpPr>
            <p:cNvPr id="11" name="Rectangle 11"/>
            <p:cNvSpPr/>
            <p:nvPr/>
          </p:nvSpPr>
          <p:spPr>
            <a:xfrm>
              <a:off x="6496050" y="2647950"/>
              <a:ext cx="5086350" cy="2552700"/>
            </a:xfrm>
            <a:prstGeom prst="rect">
              <a:avLst/>
            </a:prstGeom>
            <a:solidFill>
              <a:srgbClr val="F8FAFC"/>
            </a:solidFill>
            <a:ln w="19050">
              <a:solidFill>
                <a:srgbClr val="CBD3D8"/>
              </a:solidFill>
            </a:ln>
          </p:spPr>
        </p:sp>
        <p:sp>
          <p:nvSpPr>
            <p:cNvPr id="12" name="TextBox 12"/>
            <p:cNvSpPr txBox="1"/>
            <p:nvPr/>
          </p:nvSpPr>
          <p:spPr>
            <a:xfrm>
              <a:off x="6755130" y="2895600"/>
              <a:ext cx="1390388" cy="293370"/>
            </a:xfrm>
            <a:prstGeom prst="rect">
              <a:avLst/>
            </a:prstGeom>
            <a:noFill/>
            <a:ln>
              <a:noFill/>
            </a:ln>
          </p:spPr>
          <p:txBody>
            <a:bodyPr wrap="none" lIns="0" tIns="0" rIns="0" bIns="0" anchor="t" anchorCtr="0">
              <a:spAutoFit/>
            </a:bodyPr>
            <a:lstStyle/>
            <a:p>
              <a:pPr algn="l"/>
              <a:r>
                <a:rPr lang="fi-FI" sz="1500" dirty="0">
                  <a:solidFill>
                    <a:schemeClr val="accent6"/>
                  </a:solidFill>
                  <a:latin typeface="+mn-lt"/>
                  <a:ea typeface="+mn-ea"/>
                  <a:cs typeface="+mn-cs"/>
                </a:rPr>
                <a:t>KATUOSOITE</a:t>
              </a:r>
            </a:p>
          </p:txBody>
        </p:sp>
        <p:sp>
          <p:nvSpPr>
            <p:cNvPr id="13" name="TextBox 13"/>
            <p:cNvSpPr txBox="1"/>
            <p:nvPr/>
          </p:nvSpPr>
          <p:spPr>
            <a:xfrm>
              <a:off x="6750558" y="3236595"/>
              <a:ext cx="2495087" cy="469392"/>
            </a:xfrm>
            <a:prstGeom prst="rect">
              <a:avLst/>
            </a:prstGeom>
            <a:noFill/>
            <a:ln>
              <a:noFill/>
            </a:ln>
          </p:spPr>
          <p:txBody>
            <a:bodyPr wrap="none" lIns="0" tIns="0" rIns="0" bIns="0" anchor="t" anchorCtr="0">
              <a:spAutoFit/>
            </a:bodyPr>
            <a:lstStyle/>
            <a:p>
              <a:pPr algn="l"/>
              <a:r>
                <a:rPr lang="fi-FI" sz="2400" dirty="0">
                  <a:solidFill>
                    <a:schemeClr val="dk1"/>
                  </a:solidFill>
                  <a:latin typeface="+mn-lt"/>
                  <a:ea typeface="+mn-ea"/>
                  <a:cs typeface="+mn-cs"/>
                </a:rPr>
                <a:t>Esimerkkikatu 12</a:t>
              </a:r>
            </a:p>
          </p:txBody>
        </p:sp>
        <p:sp>
          <p:nvSpPr>
            <p:cNvPr id="14" name="TextBox 14"/>
            <p:cNvSpPr txBox="1"/>
            <p:nvPr/>
          </p:nvSpPr>
          <p:spPr>
            <a:xfrm>
              <a:off x="6755130" y="3924300"/>
              <a:ext cx="1283623" cy="293370"/>
            </a:xfrm>
            <a:prstGeom prst="rect">
              <a:avLst/>
            </a:prstGeom>
            <a:noFill/>
            <a:ln>
              <a:noFill/>
            </a:ln>
          </p:spPr>
          <p:txBody>
            <a:bodyPr wrap="none" lIns="0" tIns="0" rIns="0" bIns="0" anchor="t" anchorCtr="0">
              <a:spAutoFit/>
            </a:bodyPr>
            <a:lstStyle/>
            <a:p>
              <a:pPr algn="l"/>
              <a:r>
                <a:rPr lang="fi-FI" sz="1500" dirty="0">
                  <a:solidFill>
                    <a:schemeClr val="accent6"/>
                  </a:solidFill>
                  <a:latin typeface="+mn-lt"/>
                  <a:ea typeface="+mn-ea"/>
                  <a:cs typeface="+mn-cs"/>
                </a:rPr>
                <a:t>HUONEISTO</a:t>
              </a:r>
            </a:p>
          </p:txBody>
        </p:sp>
        <p:sp>
          <p:nvSpPr>
            <p:cNvPr id="15" name="TextBox 15"/>
            <p:cNvSpPr txBox="1"/>
            <p:nvPr/>
          </p:nvSpPr>
          <p:spPr>
            <a:xfrm>
              <a:off x="6747510" y="4305300"/>
              <a:ext cx="1567868" cy="586740"/>
            </a:xfrm>
            <a:prstGeom prst="rect">
              <a:avLst/>
            </a:prstGeom>
            <a:noFill/>
            <a:ln>
              <a:noFill/>
            </a:ln>
          </p:spPr>
          <p:txBody>
            <a:bodyPr wrap="none" lIns="0" tIns="0" rIns="0" bIns="0" anchor="t" anchorCtr="0">
              <a:spAutoFit/>
            </a:bodyPr>
            <a:lstStyle/>
            <a:p>
              <a:pPr algn="l"/>
              <a:r>
                <a:rPr lang="fi-FI" sz="3000" b="1" dirty="0">
                  <a:solidFill>
                    <a:srgbClr val="C45635"/>
                  </a:solidFill>
                  <a:latin typeface="+mn-lt"/>
                  <a:ea typeface="+mn-ea"/>
                  <a:cs typeface="+mn-cs"/>
                </a:rPr>
                <a:t>Puuttuu</a:t>
              </a:r>
            </a:p>
          </p:txBody>
        </p:sp>
      </p:grpSp>
      <p:grpSp>
        <p:nvGrpSpPr>
          <p:cNvPr id="19" name="Group 19"/>
          <p:cNvGrpSpPr/>
          <p:nvPr/>
        </p:nvGrpSpPr>
        <p:grpSpPr>
          <a:xfrm>
            <a:off x="600456" y="5749290"/>
            <a:ext cx="6633912" cy="687705"/>
            <a:chOff x="600456" y="5749290"/>
            <a:chExt cx="6633912" cy="687705"/>
          </a:xfrm>
        </p:grpSpPr>
        <p:sp>
          <p:nvSpPr>
            <p:cNvPr id="17" name="TextBox 17"/>
            <p:cNvSpPr txBox="1"/>
            <p:nvPr/>
          </p:nvSpPr>
          <p:spPr>
            <a:xfrm>
              <a:off x="600456" y="5749290"/>
              <a:ext cx="6236305" cy="352044"/>
            </a:xfrm>
            <a:prstGeom prst="rect">
              <a:avLst/>
            </a:prstGeom>
            <a:noFill/>
            <a:ln>
              <a:noFill/>
            </a:ln>
          </p:spPr>
          <p:txBody>
            <a:bodyPr wrap="none" lIns="0" tIns="0" rIns="0" bIns="0" anchor="t" anchorCtr="0">
              <a:spAutoFit/>
            </a:bodyPr>
            <a:lstStyle/>
            <a:p>
              <a:pPr algn="l"/>
              <a:r>
                <a:rPr lang="fi-FI" sz="1800" dirty="0">
                  <a:solidFill>
                    <a:schemeClr val="accent1"/>
                  </a:solidFill>
                  <a:latin typeface="+mn-lt"/>
                  <a:ea typeface="+mn-ea"/>
                  <a:cs typeface="+mn-cs"/>
                </a:rPr>
                <a:t>Seuraa arvoa: lomake → payload → tallennus → takaisin.</a:t>
              </a:r>
            </a:p>
          </p:txBody>
        </p:sp>
        <p:sp>
          <p:nvSpPr>
            <p:cNvPr id="18" name="TextBox 18"/>
            <p:cNvSpPr txBox="1"/>
            <p:nvPr/>
          </p:nvSpPr>
          <p:spPr>
            <a:xfrm>
              <a:off x="601980" y="6143625"/>
              <a:ext cx="6632388" cy="293370"/>
            </a:xfrm>
            <a:prstGeom prst="rect">
              <a:avLst/>
            </a:prstGeom>
            <a:noFill/>
            <a:ln>
              <a:noFill/>
            </a:ln>
          </p:spPr>
          <p:txBody>
            <a:bodyPr wrap="none" lIns="0" tIns="0" rIns="0" bIns="0" anchor="t" anchorCtr="0">
              <a:spAutoFit/>
            </a:bodyPr>
            <a:lstStyle/>
            <a:p>
              <a:pPr algn="l"/>
              <a:r>
                <a:rPr lang="fi-FI" sz="1500" dirty="0">
                  <a:solidFill>
                    <a:schemeClr val="accent6"/>
                  </a:solidFill>
                  <a:latin typeface="+mn-lt"/>
                  <a:ea typeface="+mn-ea"/>
                  <a:cs typeface="+mn-cs"/>
                </a:rPr>
                <a:t>Havainnollistettu opetusesimerkki, ei kuvakaappaus suoritetusta demosta.</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91312" y="621030"/>
            <a:ext cx="4914900" cy="1275588"/>
          </a:xfrm>
          <a:prstGeom prst="rect">
            <a:avLst/>
          </a:prstGeom>
          <a:noFill/>
          <a:ln>
            <a:noFill/>
          </a:ln>
        </p:spPr>
        <p:txBody>
          <a:bodyPr wrap="none" lIns="0" tIns="0" rIns="0" bIns="0" anchor="t" anchorCtr="0">
            <a:spAutoFit/>
          </a:bodyPr>
          <a:lstStyle/>
          <a:p>
            <a:pPr algn="l">
              <a:lnSpc>
                <a:spcPts val="4500"/>
              </a:lnSpc>
            </a:pPr>
            <a:r>
              <a:rPr lang="fi-FI" sz="3600" b="1" dirty="0">
                <a:solidFill>
                  <a:schemeClr val="accent1"/>
                </a:solidFill>
                <a:latin typeface="+mn-lt"/>
                <a:ea typeface="+mn-ea"/>
                <a:cs typeface="+mn-cs"/>
              </a:rPr>
              <a:t>Pieni muutos tarvitsee</a:t>
            </a:r>
            <a:br/>
            <a:r>
              <a:rPr lang="fi-FI" sz="3600" b="1" dirty="0">
                <a:solidFill>
                  <a:schemeClr val="accent1"/>
                </a:solidFill>
                <a:latin typeface="+mn-lt"/>
                <a:ea typeface="+mn-ea"/>
                <a:cs typeface="+mn-cs"/>
              </a:rPr>
              <a:t>toimivan tarkistuksen</a:t>
            </a:r>
          </a:p>
        </p:txBody>
      </p:sp>
      <p:grpSp>
        <p:nvGrpSpPr>
          <p:cNvPr id="6" name="Group 6"/>
          <p:cNvGrpSpPr/>
          <p:nvPr/>
        </p:nvGrpSpPr>
        <p:grpSpPr>
          <a:xfrm>
            <a:off x="609600" y="2314575"/>
            <a:ext cx="6134100" cy="3095625"/>
            <a:chOff x="609600" y="2314575"/>
            <a:chExt cx="6134100" cy="3095625"/>
          </a:xfrm>
        </p:grpSpPr>
        <p:sp>
          <p:nvSpPr>
            <p:cNvPr id="3" name="Rectangle 3"/>
            <p:cNvSpPr/>
            <p:nvPr/>
          </p:nvSpPr>
          <p:spPr>
            <a:xfrm>
              <a:off x="609600" y="2314575"/>
              <a:ext cx="6134100" cy="3095625"/>
            </a:xfrm>
            <a:prstGeom prst="rect">
              <a:avLst/>
            </a:prstGeom>
            <a:solidFill>
              <a:schemeClr val="accent1"/>
            </a:solidFill>
            <a:ln>
              <a:noFill/>
            </a:ln>
          </p:spPr>
        </p:sp>
        <p:sp>
          <p:nvSpPr>
            <p:cNvPr id="4" name="TextBox 4"/>
            <p:cNvSpPr txBox="1"/>
            <p:nvPr/>
          </p:nvSpPr>
          <p:spPr>
            <a:xfrm>
              <a:off x="905256" y="2596515"/>
              <a:ext cx="3262213"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KORJAUSIDEA · PAYLOAD</a:t>
              </a:r>
            </a:p>
          </p:txBody>
        </p:sp>
        <p:sp>
          <p:nvSpPr>
            <p:cNvPr id="5" name="TextBox 5"/>
            <p:cNvSpPr txBox="1"/>
            <p:nvPr/>
          </p:nvSpPr>
          <p:spPr>
            <a:xfrm>
              <a:off x="903732" y="3230880"/>
              <a:ext cx="4021836" cy="1782318"/>
            </a:xfrm>
            <a:prstGeom prst="rect">
              <a:avLst/>
            </a:prstGeom>
            <a:noFill/>
            <a:ln>
              <a:noFill/>
            </a:ln>
          </p:spPr>
          <p:txBody>
            <a:bodyPr wrap="none" lIns="0" tIns="0" rIns="0" bIns="0" anchor="t" anchorCtr="0">
              <a:spAutoFit/>
            </a:bodyPr>
            <a:lstStyle/>
            <a:p>
              <a:pPr algn="l">
                <a:lnSpc>
                  <a:spcPts val="3600"/>
                </a:lnSpc>
              </a:pPr>
              <a:r>
                <a:rPr lang="fi-FI" sz="2100" dirty="0">
                  <a:solidFill>
                    <a:srgbClr val="F8FAFC"/>
                  </a:solidFill>
                  <a:latin typeface="Courier New"/>
                  <a:ea typeface="Courier New"/>
                  <a:cs typeface="Courier New"/>
                </a:rPr>
                <a:t>const payload = {</a:t>
              </a:r>
              <a:br/>
              <a:r>
                <a:rPr lang="fi-FI" sz="2100" dirty="0">
                  <a:solidFill>
                    <a:srgbClr val="F8FAFC"/>
                  </a:solidFill>
                  <a:latin typeface="Courier New"/>
                  <a:ea typeface="Courier New"/>
                  <a:cs typeface="Courier New"/>
                </a:rPr>
                <a:t>street: form.street,</a:t>
              </a:r>
              <a:br/>
              <a:r>
                <a:rPr lang="fi-FI" sz="2100" b="1" dirty="0">
                  <a:solidFill>
                    <a:schemeClr val="accent3"/>
                  </a:solidFill>
                  <a:latin typeface="Courier New"/>
                  <a:ea typeface="Courier New"/>
                  <a:cs typeface="Courier New"/>
                </a:rPr>
                <a:t>apartment: form.apartment</a:t>
              </a:r>
              <a:br/>
              <a:r>
                <a:rPr lang="fi-FI" sz="2100" dirty="0">
                  <a:solidFill>
                    <a:srgbClr val="F8FAFC"/>
                  </a:solidFill>
                  <a:latin typeface="Courier New"/>
                  <a:ea typeface="Courier New"/>
                  <a:cs typeface="Courier New"/>
                </a:rPr>
                <a:t>};</a:t>
              </a:r>
            </a:p>
          </p:txBody>
        </p:sp>
      </p:grpSp>
      <p:grpSp>
        <p:nvGrpSpPr>
          <p:cNvPr id="9" name="Group 9"/>
          <p:cNvGrpSpPr/>
          <p:nvPr/>
        </p:nvGrpSpPr>
        <p:grpSpPr>
          <a:xfrm>
            <a:off x="7341108" y="2596515"/>
            <a:ext cx="2210532" cy="2623947"/>
            <a:chOff x="7341108" y="2596515"/>
            <a:chExt cx="2210532" cy="2623947"/>
          </a:xfrm>
        </p:grpSpPr>
        <p:sp>
          <p:nvSpPr>
            <p:cNvPr id="7" name="TextBox 7"/>
            <p:cNvSpPr txBox="1"/>
            <p:nvPr/>
          </p:nvSpPr>
          <p:spPr>
            <a:xfrm>
              <a:off x="7344156" y="2596515"/>
              <a:ext cx="1270182"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TARKISTA</a:t>
              </a:r>
            </a:p>
          </p:txBody>
        </p:sp>
        <p:sp>
          <p:nvSpPr>
            <p:cNvPr id="8" name="TextBox 8"/>
            <p:cNvSpPr txBox="1"/>
            <p:nvPr/>
          </p:nvSpPr>
          <p:spPr>
            <a:xfrm>
              <a:off x="7341108" y="3227070"/>
              <a:ext cx="2210532" cy="1993392"/>
            </a:xfrm>
            <a:prstGeom prst="rect">
              <a:avLst/>
            </a:prstGeom>
            <a:noFill/>
            <a:ln>
              <a:noFill/>
            </a:ln>
          </p:spPr>
          <p:txBody>
            <a:bodyPr wrap="none" lIns="0" tIns="0" rIns="0" bIns="0" anchor="t" anchorCtr="0">
              <a:spAutoFit/>
            </a:bodyPr>
            <a:lstStyle/>
            <a:p>
              <a:pPr algn="l">
                <a:lnSpc>
                  <a:spcPts val="6000"/>
                </a:lnSpc>
              </a:pPr>
              <a:r>
                <a:rPr lang="fi-FI" sz="2400" dirty="0">
                  <a:solidFill>
                    <a:schemeClr val="dk1"/>
                  </a:solidFill>
                  <a:latin typeface="+mn-lt"/>
                  <a:ea typeface="+mn-ea"/>
                  <a:cs typeface="+mn-cs"/>
                </a:rPr>
                <a:t>Huoneisto “B 7”</a:t>
              </a:r>
              <a:br/>
              <a:r>
                <a:rPr lang="fi-FI" sz="2400" dirty="0">
                  <a:solidFill>
                    <a:schemeClr val="dk1"/>
                  </a:solidFill>
                  <a:latin typeface="+mn-lt"/>
                  <a:ea typeface="+mn-ea"/>
                  <a:cs typeface="+mn-cs"/>
                </a:rPr>
                <a:t>Tyhjä huoneisto</a:t>
              </a:r>
              <a:br/>
              <a:r>
                <a:rPr lang="fi-FI" sz="2400" dirty="0">
                  <a:solidFill>
                    <a:schemeClr val="dk1"/>
                  </a:solidFill>
                  <a:latin typeface="+mn-lt"/>
                  <a:ea typeface="+mn-ea"/>
                  <a:cs typeface="+mn-cs"/>
                </a:rPr>
                <a:t>Uudelleenlataus</a:t>
              </a:r>
            </a:p>
          </p:txBody>
        </p:sp>
      </p:grpSp>
      <p:grpSp>
        <p:nvGrpSpPr>
          <p:cNvPr id="11" name="Group 11"/>
          <p:cNvGrpSpPr/>
          <p:nvPr/>
        </p:nvGrpSpPr>
        <p:grpSpPr>
          <a:xfrm>
            <a:off x="600456" y="6015990"/>
            <a:ext cx="4806107" cy="352044"/>
            <a:chOff x="600456" y="6015990"/>
            <a:chExt cx="4806107" cy="352044"/>
          </a:xfrm>
        </p:grpSpPr>
        <p:sp>
          <p:nvSpPr>
            <p:cNvPr id="10" name="TextBox 10"/>
            <p:cNvSpPr txBox="1"/>
            <p:nvPr/>
          </p:nvSpPr>
          <p:spPr>
            <a:xfrm>
              <a:off x="600456" y="6015990"/>
              <a:ext cx="4806107" cy="352044"/>
            </a:xfrm>
            <a:prstGeom prst="rect">
              <a:avLst/>
            </a:prstGeom>
            <a:noFill/>
            <a:ln>
              <a:noFill/>
            </a:ln>
          </p:spPr>
          <p:txBody>
            <a:bodyPr wrap="none" lIns="0" tIns="0" rIns="0" bIns="0" anchor="t" anchorCtr="0">
              <a:spAutoFit/>
            </a:bodyPr>
            <a:lstStyle/>
            <a:p>
              <a:pPr algn="l"/>
              <a:r>
                <a:rPr lang="fi-FI" sz="1800" dirty="0">
                  <a:solidFill>
                    <a:schemeClr val="accent6"/>
                  </a:solidFill>
                  <a:latin typeface="+mn-lt"/>
                  <a:ea typeface="+mn-ea"/>
                  <a:cs typeface="+mn-cs"/>
                </a:rPr>
                <a:t>Havainnollistus, ei raportti ajetuista testeistä.</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91312" y="621030"/>
            <a:ext cx="4889480" cy="1275588"/>
          </a:xfrm>
          <a:prstGeom prst="rect">
            <a:avLst/>
          </a:prstGeom>
          <a:noFill/>
          <a:ln>
            <a:noFill/>
          </a:ln>
        </p:spPr>
        <p:txBody>
          <a:bodyPr wrap="none" lIns="0" tIns="0" rIns="0" bIns="0" anchor="t" anchorCtr="0">
            <a:spAutoFit/>
          </a:bodyPr>
          <a:lstStyle/>
          <a:p>
            <a:pPr algn="l">
              <a:lnSpc>
                <a:spcPts val="4500"/>
              </a:lnSpc>
            </a:pPr>
            <a:r>
              <a:rPr lang="fi-FI" sz="3600" b="1" dirty="0">
                <a:solidFill>
                  <a:schemeClr val="accent1"/>
                </a:solidFill>
                <a:latin typeface="+mn-lt"/>
                <a:ea typeface="+mn-ea"/>
                <a:cs typeface="+mn-cs"/>
              </a:rPr>
              <a:t>Hyvä luovutus näyttää</a:t>
            </a:r>
            <a:br/>
            <a:r>
              <a:rPr lang="fi-FI" sz="3600" b="1" dirty="0">
                <a:solidFill>
                  <a:schemeClr val="accent1"/>
                </a:solidFill>
                <a:latin typeface="+mn-lt"/>
                <a:ea typeface="+mn-ea"/>
                <a:cs typeface="+mn-cs"/>
              </a:rPr>
              <a:t>muutoksen ja näytön</a:t>
            </a:r>
          </a:p>
        </p:txBody>
      </p:sp>
      <p:grpSp>
        <p:nvGrpSpPr>
          <p:cNvPr id="9" name="Group 9"/>
          <p:cNvGrpSpPr/>
          <p:nvPr/>
        </p:nvGrpSpPr>
        <p:grpSpPr>
          <a:xfrm>
            <a:off x="597408" y="2472690"/>
            <a:ext cx="6832092" cy="3052572"/>
            <a:chOff x="597408" y="2472690"/>
            <a:chExt cx="6832092" cy="3052572"/>
          </a:xfrm>
        </p:grpSpPr>
        <p:sp>
          <p:nvSpPr>
            <p:cNvPr id="3" name="TextBox 3"/>
            <p:cNvSpPr txBox="1"/>
            <p:nvPr/>
          </p:nvSpPr>
          <p:spPr>
            <a:xfrm>
              <a:off x="600456" y="2472690"/>
              <a:ext cx="2152468"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MALLILUOVUTUS</a:t>
              </a:r>
            </a:p>
          </p:txBody>
        </p:sp>
        <p:sp>
          <p:nvSpPr>
            <p:cNvPr id="4" name="TextBox 4"/>
            <p:cNvSpPr txBox="1"/>
            <p:nvPr/>
          </p:nvSpPr>
          <p:spPr>
            <a:xfrm>
              <a:off x="597408" y="3017520"/>
              <a:ext cx="5084800" cy="469392"/>
            </a:xfrm>
            <a:prstGeom prst="rect">
              <a:avLst/>
            </a:prstGeom>
            <a:noFill/>
            <a:ln>
              <a:noFill/>
            </a:ln>
          </p:spPr>
          <p:txBody>
            <a:bodyPr wrap="none" lIns="0" tIns="0" rIns="0" bIns="0" anchor="t" anchorCtr="0">
              <a:spAutoFit/>
            </a:bodyPr>
            <a:lstStyle/>
            <a:p>
              <a:pPr algn="l"/>
              <a:r>
                <a:rPr lang="fi-FI" sz="2400" b="1" dirty="0">
                  <a:solidFill>
                    <a:schemeClr val="dk1"/>
                  </a:solidFill>
                  <a:latin typeface="+mn-lt"/>
                  <a:ea typeface="+mn-ea"/>
                  <a:cs typeface="+mn-cs"/>
                </a:rPr>
                <a:t>Syy:</a:t>
              </a:r>
              <a:r>
                <a:rPr lang="fi-FI" sz="2400" dirty="0">
                  <a:solidFill>
                    <a:schemeClr val="dk1"/>
                  </a:solidFill>
                  <a:latin typeface="+mn-lt"/>
                  <a:ea typeface="+mn-ea"/>
                  <a:cs typeface="+mn-cs"/>
                </a:rPr>
                <a:t xml:space="preserve"> huoneisto puuttui payloadista.</a:t>
              </a:r>
            </a:p>
          </p:txBody>
        </p:sp>
        <p:sp>
          <p:nvSpPr>
            <p:cNvPr id="5" name="Line 5"/>
            <p:cNvSpPr/>
            <p:nvPr/>
          </p:nvSpPr>
          <p:spPr>
            <a:xfrm>
              <a:off x="609600" y="3590925"/>
              <a:ext cx="6819900" cy="9525"/>
            </a:xfrm>
            <a:custGeom>
              <a:avLst/>
              <a:gdLst/>
              <a:ahLst/>
              <a:cxnLst/>
              <a:rect l="l" t="t" r="r" b="b"/>
              <a:pathLst>
                <a:path w="6819900" h="9525">
                  <a:moveTo>
                    <a:pt x="0" y="0"/>
                  </a:moveTo>
                  <a:lnTo>
                    <a:pt x="6819900" y="0"/>
                  </a:lnTo>
                </a:path>
              </a:pathLst>
            </a:custGeom>
            <a:noFill/>
            <a:ln w="19050">
              <a:solidFill>
                <a:srgbClr val="CBD3D8"/>
              </a:solidFill>
            </a:ln>
          </p:spPr>
        </p:sp>
        <p:sp>
          <p:nvSpPr>
            <p:cNvPr id="6" name="TextBox 6"/>
            <p:cNvSpPr txBox="1"/>
            <p:nvPr/>
          </p:nvSpPr>
          <p:spPr>
            <a:xfrm>
              <a:off x="597408" y="3798570"/>
              <a:ext cx="4435529" cy="469392"/>
            </a:xfrm>
            <a:prstGeom prst="rect">
              <a:avLst/>
            </a:prstGeom>
            <a:noFill/>
            <a:ln>
              <a:noFill/>
            </a:ln>
          </p:spPr>
          <p:txBody>
            <a:bodyPr wrap="none" lIns="0" tIns="0" rIns="0" bIns="0" anchor="t" anchorCtr="0">
              <a:spAutoFit/>
            </a:bodyPr>
            <a:lstStyle/>
            <a:p>
              <a:pPr algn="l"/>
              <a:r>
                <a:rPr lang="fi-FI" sz="2400" b="1" dirty="0">
                  <a:solidFill>
                    <a:schemeClr val="dk1"/>
                  </a:solidFill>
                  <a:latin typeface="+mn-lt"/>
                  <a:ea typeface="+mn-ea"/>
                  <a:cs typeface="+mn-cs"/>
                </a:rPr>
                <a:t>Muutos:</a:t>
              </a:r>
              <a:r>
                <a:rPr lang="fi-FI" sz="2400" dirty="0">
                  <a:solidFill>
                    <a:schemeClr val="dk1"/>
                  </a:solidFill>
                  <a:latin typeface="+mn-lt"/>
                  <a:ea typeface="+mn-ea"/>
                  <a:cs typeface="+mn-cs"/>
                </a:rPr>
                <a:t xml:space="preserve"> lisää puuttuva kenttä.</a:t>
              </a:r>
            </a:p>
          </p:txBody>
        </p:sp>
        <p:sp>
          <p:nvSpPr>
            <p:cNvPr id="7" name="Line 7"/>
            <p:cNvSpPr/>
            <p:nvPr/>
          </p:nvSpPr>
          <p:spPr>
            <a:xfrm>
              <a:off x="609600" y="4391025"/>
              <a:ext cx="6819900" cy="9525"/>
            </a:xfrm>
            <a:custGeom>
              <a:avLst/>
              <a:gdLst/>
              <a:ahLst/>
              <a:cxnLst/>
              <a:rect l="l" t="t" r="r" b="b"/>
              <a:pathLst>
                <a:path w="6819900" h="9525">
                  <a:moveTo>
                    <a:pt x="0" y="0"/>
                  </a:moveTo>
                  <a:lnTo>
                    <a:pt x="6819900" y="0"/>
                  </a:lnTo>
                </a:path>
              </a:pathLst>
            </a:custGeom>
            <a:noFill/>
            <a:ln w="19050">
              <a:solidFill>
                <a:srgbClr val="CBD3D8"/>
              </a:solidFill>
            </a:ln>
          </p:spPr>
        </p:sp>
        <p:sp>
          <p:nvSpPr>
            <p:cNvPr id="8" name="TextBox 8"/>
            <p:cNvSpPr txBox="1"/>
            <p:nvPr/>
          </p:nvSpPr>
          <p:spPr>
            <a:xfrm>
              <a:off x="597408" y="4598670"/>
              <a:ext cx="4124249" cy="926592"/>
            </a:xfrm>
            <a:prstGeom prst="rect">
              <a:avLst/>
            </a:prstGeom>
            <a:noFill/>
            <a:ln>
              <a:noFill/>
            </a:ln>
          </p:spPr>
          <p:txBody>
            <a:bodyPr wrap="none" lIns="0" tIns="0" rIns="0" bIns="0" anchor="t" anchorCtr="0">
              <a:spAutoFit/>
            </a:bodyPr>
            <a:lstStyle/>
            <a:p>
              <a:pPr algn="l">
                <a:lnSpc>
                  <a:spcPts val="3600"/>
                </a:lnSpc>
              </a:pPr>
              <a:r>
                <a:rPr lang="fi-FI" sz="2400" dirty="0">
                  <a:solidFill>
                    <a:schemeClr val="dk1"/>
                  </a:solidFill>
                  <a:latin typeface="+mn-lt"/>
                  <a:ea typeface="+mn-ea"/>
                  <a:cs typeface="+mn-cs"/>
                </a:rPr>
                <a:t>Näyttö: liitä oikeasti ajettu testi</a:t>
              </a:r>
              <a:br/>
              <a:r>
                <a:rPr lang="fi-FI" sz="2400" dirty="0">
                  <a:solidFill>
                    <a:schemeClr val="dk1"/>
                  </a:solidFill>
                  <a:latin typeface="+mn-lt"/>
                  <a:ea typeface="+mn-ea"/>
                  <a:cs typeface="+mn-cs"/>
                </a:rPr>
                <a:t>ja selaimessa tehty tarkistus.</a:t>
              </a:r>
            </a:p>
          </p:txBody>
        </p:sp>
      </p:grpSp>
      <p:grpSp>
        <p:nvGrpSpPr>
          <p:cNvPr id="13" name="Group 13"/>
          <p:cNvGrpSpPr/>
          <p:nvPr/>
        </p:nvGrpSpPr>
        <p:grpSpPr>
          <a:xfrm>
            <a:off x="8039100" y="2314575"/>
            <a:ext cx="3543300" cy="3381375"/>
            <a:chOff x="8039100" y="2314575"/>
            <a:chExt cx="3543300" cy="3381375"/>
          </a:xfrm>
        </p:grpSpPr>
        <p:sp>
          <p:nvSpPr>
            <p:cNvPr id="10" name="Rectangle 10"/>
            <p:cNvSpPr/>
            <p:nvPr/>
          </p:nvSpPr>
          <p:spPr>
            <a:xfrm>
              <a:off x="8039100" y="2314575"/>
              <a:ext cx="3543300" cy="3381375"/>
            </a:xfrm>
            <a:prstGeom prst="rect">
              <a:avLst/>
            </a:prstGeom>
            <a:solidFill>
              <a:schemeClr val="accent1"/>
            </a:solidFill>
            <a:ln>
              <a:noFill/>
            </a:ln>
          </p:spPr>
        </p:sp>
        <p:sp>
          <p:nvSpPr>
            <p:cNvPr id="11" name="TextBox 11"/>
            <p:cNvSpPr txBox="1"/>
            <p:nvPr/>
          </p:nvSpPr>
          <p:spPr>
            <a:xfrm>
              <a:off x="8334756" y="2567940"/>
              <a:ext cx="1924753"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AVOIN PÄÄTÖS</a:t>
              </a:r>
            </a:p>
          </p:txBody>
        </p:sp>
        <p:sp>
          <p:nvSpPr>
            <p:cNvPr id="12" name="TextBox 12"/>
            <p:cNvSpPr txBox="1"/>
            <p:nvPr/>
          </p:nvSpPr>
          <p:spPr>
            <a:xfrm>
              <a:off x="8328660" y="3257550"/>
              <a:ext cx="1618488" cy="1653540"/>
            </a:xfrm>
            <a:prstGeom prst="rect">
              <a:avLst/>
            </a:prstGeom>
            <a:noFill/>
            <a:ln>
              <a:noFill/>
            </a:ln>
          </p:spPr>
          <p:txBody>
            <a:bodyPr wrap="none" lIns="0" tIns="0" rIns="0" bIns="0" anchor="t" anchorCtr="0">
              <a:spAutoFit/>
            </a:bodyPr>
            <a:lstStyle/>
            <a:p>
              <a:pPr algn="l">
                <a:lnSpc>
                  <a:spcPts val="4200"/>
                </a:lnSpc>
              </a:pPr>
              <a:r>
                <a:rPr lang="fi-FI" sz="3000" b="1" dirty="0">
                  <a:solidFill>
                    <a:srgbClr val="F8FAFC"/>
                  </a:solidFill>
                  <a:latin typeface="+mn-lt"/>
                  <a:ea typeface="+mn-ea"/>
                  <a:cs typeface="+mn-cs"/>
                </a:rPr>
                <a:t>Vanhan</a:t>
              </a:r>
              <a:br/>
              <a:r>
                <a:rPr lang="fi-FI" sz="3000" b="1" dirty="0">
                  <a:solidFill>
                    <a:srgbClr val="F8FAFC"/>
                  </a:solidFill>
                  <a:latin typeface="+mn-lt"/>
                  <a:ea typeface="+mn-ea"/>
                  <a:cs typeface="+mn-cs"/>
                </a:rPr>
                <a:t>datan</a:t>
              </a:r>
              <a:br/>
              <a:r>
                <a:rPr lang="fi-FI" sz="3000" b="1" dirty="0">
                  <a:solidFill>
                    <a:srgbClr val="F8FAFC"/>
                  </a:solidFill>
                  <a:latin typeface="+mn-lt"/>
                  <a:ea typeface="+mn-ea"/>
                  <a:cs typeface="+mn-cs"/>
                </a:rPr>
                <a:t>korjaus?</a:t>
              </a:r>
            </a:p>
          </p:txBody>
        </p:sp>
      </p:grpSp>
      <p:grpSp>
        <p:nvGrpSpPr>
          <p:cNvPr id="15" name="Group 15"/>
          <p:cNvGrpSpPr/>
          <p:nvPr/>
        </p:nvGrpSpPr>
        <p:grpSpPr>
          <a:xfrm>
            <a:off x="601980" y="6096000"/>
            <a:ext cx="7019110" cy="293370"/>
            <a:chOff x="601980" y="6096000"/>
            <a:chExt cx="7019110" cy="293370"/>
          </a:xfrm>
        </p:grpSpPr>
        <p:sp>
          <p:nvSpPr>
            <p:cNvPr id="14" name="TextBox 14"/>
            <p:cNvSpPr txBox="1"/>
            <p:nvPr/>
          </p:nvSpPr>
          <p:spPr>
            <a:xfrm>
              <a:off x="601980" y="6096000"/>
              <a:ext cx="7019110" cy="293370"/>
            </a:xfrm>
            <a:prstGeom prst="rect">
              <a:avLst/>
            </a:prstGeom>
            <a:noFill/>
            <a:ln>
              <a:noFill/>
            </a:ln>
          </p:spPr>
          <p:txBody>
            <a:bodyPr wrap="none" lIns="0" tIns="0" rIns="0" bIns="0" anchor="t" anchorCtr="0">
              <a:spAutoFit/>
            </a:bodyPr>
            <a:lstStyle/>
            <a:p>
              <a:pPr algn="l"/>
              <a:r>
                <a:rPr lang="fi-FI" sz="1500" dirty="0">
                  <a:solidFill>
                    <a:schemeClr val="accent6"/>
                  </a:solidFill>
                  <a:latin typeface="+mn-lt"/>
                  <a:ea typeface="+mn-ea"/>
                  <a:cs typeface="+mn-cs"/>
                </a:rPr>
                <a:t>Opetusesimerkin rakenne · Ei julkaistu PR tai väite suoritetusta tarkistuksesta.</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91312" y="621030"/>
            <a:ext cx="9289836" cy="704088"/>
          </a:xfrm>
          <a:prstGeom prst="rect">
            <a:avLst/>
          </a:prstGeom>
          <a:noFill/>
          <a:ln>
            <a:noFill/>
          </a:ln>
        </p:spPr>
        <p:txBody>
          <a:bodyPr wrap="none" lIns="0" tIns="0" rIns="0" bIns="0" anchor="t" anchorCtr="0">
            <a:spAutoFit/>
          </a:bodyPr>
          <a:lstStyle/>
          <a:p>
            <a:pPr algn="l"/>
            <a:r>
              <a:rPr lang="fi-FI" sz="3600" b="1" dirty="0">
                <a:solidFill>
                  <a:schemeClr val="accent1"/>
                </a:solidFill>
                <a:latin typeface="+mn-lt"/>
                <a:ea typeface="+mn-ea"/>
                <a:cs typeface="+mn-cs"/>
              </a:rPr>
              <a:t>Prototyyppi auttaa kysymään käyttäjältä</a:t>
            </a:r>
          </a:p>
        </p:txBody>
      </p:sp>
      <p:grpSp>
        <p:nvGrpSpPr>
          <p:cNvPr id="5" name="Group 5"/>
          <p:cNvGrpSpPr/>
          <p:nvPr/>
        </p:nvGrpSpPr>
        <p:grpSpPr>
          <a:xfrm>
            <a:off x="597408" y="2548890"/>
            <a:ext cx="2382873" cy="1566672"/>
            <a:chOff x="597408" y="2548890"/>
            <a:chExt cx="2382873" cy="1566672"/>
          </a:xfrm>
        </p:grpSpPr>
        <p:sp>
          <p:nvSpPr>
            <p:cNvPr id="3" name="TextBox 3"/>
            <p:cNvSpPr txBox="1"/>
            <p:nvPr/>
          </p:nvSpPr>
          <p:spPr>
            <a:xfrm>
              <a:off x="600456" y="2548890"/>
              <a:ext cx="2379825"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01 · MUISTIINPANO</a:t>
              </a:r>
            </a:p>
          </p:txBody>
        </p:sp>
        <p:sp>
          <p:nvSpPr>
            <p:cNvPr id="4" name="TextBox 4"/>
            <p:cNvSpPr txBox="1"/>
            <p:nvPr/>
          </p:nvSpPr>
          <p:spPr>
            <a:xfrm>
              <a:off x="597408" y="3188970"/>
              <a:ext cx="1719011" cy="926592"/>
            </a:xfrm>
            <a:prstGeom prst="rect">
              <a:avLst/>
            </a:prstGeom>
            <a:noFill/>
            <a:ln>
              <a:noFill/>
            </a:ln>
          </p:spPr>
          <p:txBody>
            <a:bodyPr wrap="none" lIns="0" tIns="0" rIns="0" bIns="0" anchor="t" anchorCtr="0">
              <a:spAutoFit/>
            </a:bodyPr>
            <a:lstStyle/>
            <a:p>
              <a:pPr algn="l">
                <a:lnSpc>
                  <a:spcPts val="3600"/>
                </a:lnSpc>
              </a:pPr>
              <a:r>
                <a:rPr lang="fi-FI" sz="2400" dirty="0">
                  <a:solidFill>
                    <a:schemeClr val="dk1"/>
                  </a:solidFill>
                  <a:latin typeface="+mn-lt"/>
                  <a:ea typeface="+mn-ea"/>
                  <a:cs typeface="+mn-cs"/>
                </a:rPr>
                <a:t>“Pumppu A</a:t>
              </a:r>
              <a:br/>
              <a:r>
                <a:rPr lang="fi-FI" sz="2400" dirty="0">
                  <a:solidFill>
                    <a:schemeClr val="dk1"/>
                  </a:solidFill>
                  <a:latin typeface="+mn-lt"/>
                  <a:ea typeface="+mn-ea"/>
                  <a:cs typeface="+mn-cs"/>
                </a:rPr>
                <a:t>pitää ääntä.”</a:t>
              </a:r>
            </a:p>
          </p:txBody>
        </p:sp>
      </p:grpSp>
      <p:grpSp>
        <p:nvGrpSpPr>
          <p:cNvPr id="8" name="Group 8"/>
          <p:cNvGrpSpPr/>
          <p:nvPr/>
        </p:nvGrpSpPr>
        <p:grpSpPr>
          <a:xfrm>
            <a:off x="3988308" y="2548890"/>
            <a:ext cx="1799837" cy="2023872"/>
            <a:chOff x="3988308" y="2548890"/>
            <a:chExt cx="1799837" cy="2023872"/>
          </a:xfrm>
        </p:grpSpPr>
        <p:sp>
          <p:nvSpPr>
            <p:cNvPr id="6" name="TextBox 6"/>
            <p:cNvSpPr txBox="1"/>
            <p:nvPr/>
          </p:nvSpPr>
          <p:spPr>
            <a:xfrm>
              <a:off x="3991356" y="2548890"/>
              <a:ext cx="1796789"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02 · LUONNOS</a:t>
              </a:r>
            </a:p>
          </p:txBody>
        </p:sp>
        <p:sp>
          <p:nvSpPr>
            <p:cNvPr id="7" name="TextBox 7"/>
            <p:cNvSpPr txBox="1"/>
            <p:nvPr/>
          </p:nvSpPr>
          <p:spPr>
            <a:xfrm>
              <a:off x="3988308" y="3188970"/>
              <a:ext cx="1684325" cy="1383792"/>
            </a:xfrm>
            <a:prstGeom prst="rect">
              <a:avLst/>
            </a:prstGeom>
            <a:noFill/>
            <a:ln>
              <a:noFill/>
            </a:ln>
          </p:spPr>
          <p:txBody>
            <a:bodyPr wrap="none" lIns="0" tIns="0" rIns="0" bIns="0" anchor="t" anchorCtr="0">
              <a:spAutoFit/>
            </a:bodyPr>
            <a:lstStyle/>
            <a:p>
              <a:pPr algn="l">
                <a:lnSpc>
                  <a:spcPts val="3600"/>
                </a:lnSpc>
              </a:pPr>
              <a:r>
                <a:rPr lang="fi-FI" sz="2400" dirty="0">
                  <a:solidFill>
                    <a:schemeClr val="dk1"/>
                  </a:solidFill>
                  <a:latin typeface="+mn-lt"/>
                  <a:ea typeface="+mn-ea"/>
                  <a:cs typeface="+mn-cs"/>
                </a:rPr>
                <a:t>AI jäsentää</a:t>
              </a:r>
              <a:br/>
              <a:r>
                <a:rPr lang="fi-FI" sz="2400" dirty="0">
                  <a:solidFill>
                    <a:schemeClr val="dk1"/>
                  </a:solidFill>
                  <a:latin typeface="+mn-lt"/>
                  <a:ea typeface="+mn-ea"/>
                  <a:cs typeface="+mn-cs"/>
                </a:rPr>
                <a:t>havainnon</a:t>
              </a:r>
              <a:br/>
              <a:r>
                <a:rPr lang="fi-FI" sz="2400" dirty="0">
                  <a:solidFill>
                    <a:schemeClr val="dk1"/>
                  </a:solidFill>
                  <a:latin typeface="+mn-lt"/>
                  <a:ea typeface="+mn-ea"/>
                  <a:cs typeface="+mn-cs"/>
                </a:rPr>
                <a:t>kirjaukseksi.</a:t>
              </a:r>
            </a:p>
          </p:txBody>
        </p:sp>
      </p:grpSp>
      <p:grpSp>
        <p:nvGrpSpPr>
          <p:cNvPr id="12" name="Group 12"/>
          <p:cNvGrpSpPr/>
          <p:nvPr/>
        </p:nvGrpSpPr>
        <p:grpSpPr>
          <a:xfrm>
            <a:off x="7391400" y="2324100"/>
            <a:ext cx="4191000" cy="3048000"/>
            <a:chOff x="7391400" y="2324100"/>
            <a:chExt cx="4191000" cy="3048000"/>
          </a:xfrm>
        </p:grpSpPr>
        <p:sp>
          <p:nvSpPr>
            <p:cNvPr id="9" name="Rectangle 9"/>
            <p:cNvSpPr/>
            <p:nvPr/>
          </p:nvSpPr>
          <p:spPr>
            <a:xfrm>
              <a:off x="7391400" y="2324100"/>
              <a:ext cx="4191000" cy="3048000"/>
            </a:xfrm>
            <a:prstGeom prst="rect">
              <a:avLst/>
            </a:prstGeom>
            <a:solidFill>
              <a:schemeClr val="accent1"/>
            </a:solidFill>
            <a:ln>
              <a:noFill/>
            </a:ln>
          </p:spPr>
        </p:sp>
        <p:sp>
          <p:nvSpPr>
            <p:cNvPr id="10" name="TextBox 10"/>
            <p:cNvSpPr txBox="1"/>
            <p:nvPr/>
          </p:nvSpPr>
          <p:spPr>
            <a:xfrm>
              <a:off x="7687056" y="2548890"/>
              <a:ext cx="3319104"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03 · ASENTAJAN KORJAUS</a:t>
              </a:r>
            </a:p>
          </p:txBody>
        </p:sp>
        <p:sp>
          <p:nvSpPr>
            <p:cNvPr id="11" name="TextBox 11"/>
            <p:cNvSpPr txBox="1"/>
            <p:nvPr/>
          </p:nvSpPr>
          <p:spPr>
            <a:xfrm>
              <a:off x="7684008" y="3188970"/>
              <a:ext cx="3124992" cy="1383792"/>
            </a:xfrm>
            <a:prstGeom prst="rect">
              <a:avLst/>
            </a:prstGeom>
            <a:noFill/>
            <a:ln>
              <a:noFill/>
            </a:ln>
          </p:spPr>
          <p:txBody>
            <a:bodyPr wrap="none" lIns="0" tIns="0" rIns="0" bIns="0" anchor="t" anchorCtr="0">
              <a:spAutoFit/>
            </a:bodyPr>
            <a:lstStyle/>
            <a:p>
              <a:pPr algn="l">
                <a:lnSpc>
                  <a:spcPts val="3600"/>
                </a:lnSpc>
              </a:pPr>
              <a:r>
                <a:rPr lang="fi-FI" sz="2400" dirty="0">
                  <a:solidFill>
                    <a:srgbClr val="F8FAFC"/>
                  </a:solidFill>
                  <a:latin typeface="+mn-lt"/>
                  <a:ea typeface="+mn-ea"/>
                  <a:cs typeface="+mn-cs"/>
                </a:rPr>
                <a:t>Onko havainto oikea?</a:t>
              </a:r>
              <a:br/>
              <a:r>
                <a:rPr lang="fi-FI" sz="2400" dirty="0">
                  <a:solidFill>
                    <a:srgbClr val="F8FAFC"/>
                  </a:solidFill>
                  <a:latin typeface="+mn-lt"/>
                  <a:ea typeface="+mn-ea"/>
                  <a:cs typeface="+mn-cs"/>
                </a:rPr>
                <a:t>Mitä puuttuu?</a:t>
              </a:r>
              <a:br/>
              <a:r>
                <a:rPr lang="fi-FI" sz="2400" dirty="0">
                  <a:solidFill>
                    <a:srgbClr val="F8FAFC"/>
                  </a:solidFill>
                  <a:latin typeface="+mn-lt"/>
                  <a:ea typeface="+mn-ea"/>
                  <a:cs typeface="+mn-cs"/>
                </a:rPr>
                <a:t>Auttaako tämä työssä?</a:t>
              </a:r>
            </a:p>
          </p:txBody>
        </p:sp>
      </p:grpSp>
      <p:grpSp>
        <p:nvGrpSpPr>
          <p:cNvPr id="15" name="Group 15"/>
          <p:cNvGrpSpPr/>
          <p:nvPr/>
        </p:nvGrpSpPr>
        <p:grpSpPr>
          <a:xfrm>
            <a:off x="600456" y="5911215"/>
            <a:ext cx="6281598" cy="582930"/>
            <a:chOff x="600456" y="5911215"/>
            <a:chExt cx="6281598" cy="582930"/>
          </a:xfrm>
        </p:grpSpPr>
        <p:sp>
          <p:nvSpPr>
            <p:cNvPr id="13" name="TextBox 13"/>
            <p:cNvSpPr txBox="1"/>
            <p:nvPr/>
          </p:nvSpPr>
          <p:spPr>
            <a:xfrm>
              <a:off x="600456" y="5911215"/>
              <a:ext cx="6281598" cy="352044"/>
            </a:xfrm>
            <a:prstGeom prst="rect">
              <a:avLst/>
            </a:prstGeom>
            <a:noFill/>
            <a:ln>
              <a:noFill/>
            </a:ln>
          </p:spPr>
          <p:txBody>
            <a:bodyPr wrap="none" lIns="0" tIns="0" rIns="0" bIns="0" anchor="t" anchorCtr="0">
              <a:spAutoFit/>
            </a:bodyPr>
            <a:lstStyle/>
            <a:p>
              <a:pPr algn="l"/>
              <a:r>
                <a:rPr lang="fi-FI" sz="1800" dirty="0">
                  <a:solidFill>
                    <a:schemeClr val="accent6"/>
                  </a:solidFill>
                  <a:latin typeface="+mn-lt"/>
                  <a:ea typeface="+mn-ea"/>
                  <a:cs typeface="+mn-cs"/>
                </a:rPr>
                <a:t>Selain tarkistaa toiminnan. Käyttäjäkokeilu hyödyllisyyden.</a:t>
              </a:r>
            </a:p>
          </p:txBody>
        </p:sp>
        <p:sp>
          <p:nvSpPr>
            <p:cNvPr id="14" name="TextBox 14"/>
            <p:cNvSpPr txBox="1"/>
            <p:nvPr/>
          </p:nvSpPr>
          <p:spPr>
            <a:xfrm>
              <a:off x="601980" y="6200775"/>
              <a:ext cx="3781119" cy="293370"/>
            </a:xfrm>
            <a:prstGeom prst="rect">
              <a:avLst/>
            </a:prstGeom>
            <a:noFill/>
            <a:ln>
              <a:noFill/>
            </a:ln>
          </p:spPr>
          <p:txBody>
            <a:bodyPr wrap="none" lIns="0" tIns="0" rIns="0" bIns="0" anchor="t" anchorCtr="0">
              <a:spAutoFit/>
            </a:bodyPr>
            <a:lstStyle/>
            <a:p>
              <a:pPr algn="l"/>
              <a:r>
                <a:rPr lang="fi-FI" sz="1500" dirty="0">
                  <a:solidFill>
                    <a:schemeClr val="accent6"/>
                  </a:solidFill>
                  <a:latin typeface="+mn-lt"/>
                  <a:ea typeface="+mn-ea"/>
                  <a:cs typeface="+mn-cs"/>
                </a:rPr>
                <a:t>Kuvitteellinen huoltotyön opetusesimerkki.</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91312" y="621030"/>
            <a:ext cx="9882704" cy="704088"/>
          </a:xfrm>
          <a:prstGeom prst="rect">
            <a:avLst/>
          </a:prstGeom>
          <a:noFill/>
          <a:ln>
            <a:noFill/>
          </a:ln>
        </p:spPr>
        <p:txBody>
          <a:bodyPr wrap="none" lIns="0" tIns="0" rIns="0" bIns="0" anchor="t" anchorCtr="0">
            <a:spAutoFit/>
          </a:bodyPr>
          <a:lstStyle/>
          <a:p>
            <a:pPr algn="l"/>
            <a:r>
              <a:rPr lang="fi-FI" sz="3600" b="1" dirty="0">
                <a:solidFill>
                  <a:schemeClr val="accent1"/>
                </a:solidFill>
                <a:latin typeface="+mn-lt"/>
                <a:ea typeface="+mn-ea"/>
                <a:cs typeface="+mn-cs"/>
              </a:rPr>
              <a:t>Rinnakkaisuus auttaa erillisissä tehtävissä</a:t>
            </a:r>
          </a:p>
        </p:txBody>
      </p:sp>
      <p:grpSp>
        <p:nvGrpSpPr>
          <p:cNvPr id="13" name="Group 13"/>
          <p:cNvGrpSpPr/>
          <p:nvPr/>
        </p:nvGrpSpPr>
        <p:grpSpPr>
          <a:xfrm>
            <a:off x="609600" y="2076450"/>
            <a:ext cx="9699346" cy="3228975"/>
            <a:chOff x="609600" y="2076450"/>
            <a:chExt cx="9699346" cy="3228975"/>
          </a:xfrm>
        </p:grpSpPr>
        <p:sp>
          <p:nvSpPr>
            <p:cNvPr id="3" name="Rectangle 3"/>
            <p:cNvSpPr/>
            <p:nvPr/>
          </p:nvSpPr>
          <p:spPr>
            <a:xfrm>
              <a:off x="609600" y="2076450"/>
              <a:ext cx="4191000" cy="1304925"/>
            </a:xfrm>
            <a:prstGeom prst="rect">
              <a:avLst/>
            </a:prstGeom>
            <a:solidFill>
              <a:schemeClr val="accent1"/>
            </a:solidFill>
            <a:ln>
              <a:noFill/>
            </a:ln>
          </p:spPr>
        </p:sp>
        <p:sp>
          <p:nvSpPr>
            <p:cNvPr id="4" name="TextBox 4"/>
            <p:cNvSpPr txBox="1"/>
            <p:nvPr/>
          </p:nvSpPr>
          <p:spPr>
            <a:xfrm>
              <a:off x="905256" y="2291715"/>
              <a:ext cx="1739489"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WORKTREE A</a:t>
              </a:r>
            </a:p>
          </p:txBody>
        </p:sp>
        <p:sp>
          <p:nvSpPr>
            <p:cNvPr id="5" name="TextBox 5"/>
            <p:cNvSpPr txBox="1"/>
            <p:nvPr/>
          </p:nvSpPr>
          <p:spPr>
            <a:xfrm>
              <a:off x="902208" y="2769870"/>
              <a:ext cx="2079811" cy="469392"/>
            </a:xfrm>
            <a:prstGeom prst="rect">
              <a:avLst/>
            </a:prstGeom>
            <a:noFill/>
            <a:ln>
              <a:noFill/>
            </a:ln>
          </p:spPr>
          <p:txBody>
            <a:bodyPr wrap="none" lIns="0" tIns="0" rIns="0" bIns="0" anchor="t" anchorCtr="0">
              <a:spAutoFit/>
            </a:bodyPr>
            <a:lstStyle/>
            <a:p>
              <a:pPr algn="l"/>
              <a:r>
                <a:rPr lang="fi-FI" sz="2400" dirty="0">
                  <a:solidFill>
                    <a:srgbClr val="F8FAFC"/>
                  </a:solidFill>
                  <a:latin typeface="+mn-lt"/>
                  <a:ea typeface="+mn-ea"/>
                  <a:cs typeface="+mn-cs"/>
                </a:rPr>
                <a:t>Regressiotesti</a:t>
              </a:r>
            </a:p>
          </p:txBody>
        </p:sp>
        <p:sp>
          <p:nvSpPr>
            <p:cNvPr id="6" name="Rectangle 6"/>
            <p:cNvSpPr/>
            <p:nvPr/>
          </p:nvSpPr>
          <p:spPr>
            <a:xfrm>
              <a:off x="609600" y="4000500"/>
              <a:ext cx="4191000" cy="1304925"/>
            </a:xfrm>
            <a:prstGeom prst="rect">
              <a:avLst/>
            </a:prstGeom>
            <a:solidFill>
              <a:schemeClr val="accent1"/>
            </a:solidFill>
            <a:ln>
              <a:noFill/>
            </a:ln>
          </p:spPr>
        </p:sp>
        <p:sp>
          <p:nvSpPr>
            <p:cNvPr id="7" name="TextBox 7"/>
            <p:cNvSpPr txBox="1"/>
            <p:nvPr/>
          </p:nvSpPr>
          <p:spPr>
            <a:xfrm>
              <a:off x="905256" y="4215765"/>
              <a:ext cx="1739489"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WORKTREE B</a:t>
              </a:r>
            </a:p>
          </p:txBody>
        </p:sp>
        <p:sp>
          <p:nvSpPr>
            <p:cNvPr id="8" name="TextBox 8"/>
            <p:cNvSpPr txBox="1"/>
            <p:nvPr/>
          </p:nvSpPr>
          <p:spPr>
            <a:xfrm>
              <a:off x="902208" y="4693920"/>
              <a:ext cx="1559876" cy="469392"/>
            </a:xfrm>
            <a:prstGeom prst="rect">
              <a:avLst/>
            </a:prstGeom>
            <a:noFill/>
            <a:ln>
              <a:noFill/>
            </a:ln>
          </p:spPr>
          <p:txBody>
            <a:bodyPr wrap="none" lIns="0" tIns="0" rIns="0" bIns="0" anchor="t" anchorCtr="0">
              <a:spAutoFit/>
            </a:bodyPr>
            <a:lstStyle/>
            <a:p>
              <a:pPr algn="l"/>
              <a:r>
                <a:rPr lang="fi-FI" sz="2400" dirty="0">
                  <a:solidFill>
                    <a:srgbClr val="F8FAFC"/>
                  </a:solidFill>
                  <a:latin typeface="+mn-lt"/>
                  <a:ea typeface="+mn-ea"/>
                  <a:cs typeface="+mn-cs"/>
                </a:rPr>
                <a:t>Käyttöohje</a:t>
              </a:r>
            </a:p>
          </p:txBody>
        </p:sp>
        <p:sp>
          <p:nvSpPr>
            <p:cNvPr id="9" name="Line 9"/>
            <p:cNvSpPr/>
            <p:nvPr/>
          </p:nvSpPr>
          <p:spPr>
            <a:xfrm>
              <a:off x="4800600" y="2733675"/>
              <a:ext cx="1562100" cy="962025"/>
            </a:xfrm>
            <a:custGeom>
              <a:avLst/>
              <a:gdLst/>
              <a:ahLst/>
              <a:cxnLst/>
              <a:rect l="l" t="t" r="r" b="b"/>
              <a:pathLst>
                <a:path w="1562100" h="962025">
                  <a:moveTo>
                    <a:pt x="0" y="0"/>
                  </a:moveTo>
                  <a:lnTo>
                    <a:pt x="1562100" y="962025"/>
                  </a:lnTo>
                </a:path>
              </a:pathLst>
            </a:custGeom>
            <a:noFill/>
            <a:ln w="28575">
              <a:solidFill>
                <a:schemeClr val="accent2"/>
              </a:solidFill>
            </a:ln>
          </p:spPr>
        </p:sp>
        <p:sp>
          <p:nvSpPr>
            <p:cNvPr id="10" name="Line 10"/>
            <p:cNvSpPr/>
            <p:nvPr/>
          </p:nvSpPr>
          <p:spPr>
            <a:xfrm>
              <a:off x="4800600" y="3695700"/>
              <a:ext cx="1562100" cy="962025"/>
            </a:xfrm>
            <a:custGeom>
              <a:avLst/>
              <a:gdLst/>
              <a:ahLst/>
              <a:cxnLst/>
              <a:rect l="l" t="t" r="r" b="b"/>
              <a:pathLst>
                <a:path w="1562100" h="962025">
                  <a:moveTo>
                    <a:pt x="0" y="962025"/>
                  </a:moveTo>
                  <a:lnTo>
                    <a:pt x="1562100" y="0"/>
                  </a:lnTo>
                </a:path>
              </a:pathLst>
            </a:custGeom>
            <a:noFill/>
            <a:ln w="28575">
              <a:solidFill>
                <a:schemeClr val="accent2"/>
              </a:solidFill>
            </a:ln>
          </p:spPr>
        </p:sp>
        <p:sp>
          <p:nvSpPr>
            <p:cNvPr id="11" name="Line 11"/>
            <p:cNvSpPr/>
            <p:nvPr/>
          </p:nvSpPr>
          <p:spPr>
            <a:xfrm>
              <a:off x="6362700" y="3695700"/>
              <a:ext cx="647700" cy="9525"/>
            </a:xfrm>
            <a:custGeom>
              <a:avLst/>
              <a:gdLst/>
              <a:ahLst/>
              <a:cxnLst/>
              <a:rect l="l" t="t" r="r" b="b"/>
              <a:pathLst>
                <a:path w="647700" h="9525">
                  <a:moveTo>
                    <a:pt x="0" y="0"/>
                  </a:moveTo>
                  <a:lnTo>
                    <a:pt x="647700" y="0"/>
                  </a:lnTo>
                </a:path>
              </a:pathLst>
            </a:custGeom>
            <a:noFill/>
            <a:ln w="28575">
              <a:solidFill>
                <a:schemeClr val="accent2"/>
              </a:solidFill>
            </a:ln>
          </p:spPr>
        </p:sp>
        <p:sp>
          <p:nvSpPr>
            <p:cNvPr id="12" name="TextBox 12"/>
            <p:cNvSpPr txBox="1"/>
            <p:nvPr/>
          </p:nvSpPr>
          <p:spPr>
            <a:xfrm>
              <a:off x="7303008" y="2684145"/>
              <a:ext cx="3005938" cy="1993392"/>
            </a:xfrm>
            <a:prstGeom prst="rect">
              <a:avLst/>
            </a:prstGeom>
            <a:noFill/>
            <a:ln>
              <a:noFill/>
            </a:ln>
          </p:spPr>
          <p:txBody>
            <a:bodyPr wrap="none" lIns="0" tIns="0" rIns="0" bIns="0" anchor="t" anchorCtr="0">
              <a:spAutoFit/>
            </a:bodyPr>
            <a:lstStyle/>
            <a:p>
              <a:pPr algn="l">
                <a:lnSpc>
                  <a:spcPts val="6000"/>
                </a:lnSpc>
              </a:pPr>
              <a:r>
                <a:rPr lang="fi-FI" sz="2400" b="1" dirty="0">
                  <a:solidFill>
                    <a:schemeClr val="accent1"/>
                  </a:solidFill>
                  <a:latin typeface="+mn-lt"/>
                  <a:ea typeface="+mn-ea"/>
                  <a:cs typeface="+mn-cs"/>
                </a:rPr>
                <a:t>Katselmointi</a:t>
              </a:r>
              <a:br/>
              <a:r>
                <a:rPr lang="fi-FI" sz="2400" b="1" dirty="0">
                  <a:solidFill>
                    <a:schemeClr val="accent1"/>
                  </a:solidFill>
                  <a:latin typeface="+mn-lt"/>
                  <a:ea typeface="+mn-ea"/>
                  <a:cs typeface="+mn-cs"/>
                </a:rPr>
                <a:t>Yhdistäminen</a:t>
              </a:r>
              <a:br/>
              <a:r>
                <a:rPr lang="fi-FI" sz="2400" b="1" dirty="0">
                  <a:solidFill>
                    <a:schemeClr val="accent1"/>
                  </a:solidFill>
                  <a:latin typeface="+mn-lt"/>
                  <a:ea typeface="+mn-ea"/>
                  <a:cs typeface="+mn-cs"/>
                </a:rPr>
                <a:t>Yhteiset tarkistukset</a:t>
              </a:r>
            </a:p>
          </p:txBody>
        </p:sp>
      </p:grpSp>
      <p:grpSp>
        <p:nvGrpSpPr>
          <p:cNvPr id="15" name="Group 15"/>
          <p:cNvGrpSpPr/>
          <p:nvPr/>
        </p:nvGrpSpPr>
        <p:grpSpPr>
          <a:xfrm>
            <a:off x="600456" y="5968365"/>
            <a:ext cx="6336520" cy="352044"/>
            <a:chOff x="600456" y="5968365"/>
            <a:chExt cx="6336520" cy="352044"/>
          </a:xfrm>
        </p:grpSpPr>
        <p:sp>
          <p:nvSpPr>
            <p:cNvPr id="14" name="TextBox 14"/>
            <p:cNvSpPr txBox="1"/>
            <p:nvPr/>
          </p:nvSpPr>
          <p:spPr>
            <a:xfrm>
              <a:off x="600456" y="5968365"/>
              <a:ext cx="6336520" cy="352044"/>
            </a:xfrm>
            <a:prstGeom prst="rect">
              <a:avLst/>
            </a:prstGeom>
            <a:noFill/>
            <a:ln>
              <a:noFill/>
            </a:ln>
          </p:spPr>
          <p:txBody>
            <a:bodyPr wrap="none" lIns="0" tIns="0" rIns="0" bIns="0" anchor="t" anchorCtr="0">
              <a:spAutoFit/>
            </a:bodyPr>
            <a:lstStyle/>
            <a:p>
              <a:pPr algn="l"/>
              <a:r>
                <a:rPr lang="fi-FI" sz="1800" dirty="0">
                  <a:solidFill>
                    <a:schemeClr val="accent6"/>
                  </a:solidFill>
                  <a:latin typeface="+mn-lt"/>
                  <a:ea typeface="+mn-ea"/>
                  <a:cs typeface="+mn-cs"/>
                </a:rPr>
                <a:t>Sama tiedosto vaatii työnjaon. Ei luvattua nopeuskerrointa.</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91312" y="621030"/>
            <a:ext cx="8697290" cy="704088"/>
          </a:xfrm>
          <a:prstGeom prst="rect">
            <a:avLst/>
          </a:prstGeom>
          <a:noFill/>
          <a:ln>
            <a:noFill/>
          </a:ln>
        </p:spPr>
        <p:txBody>
          <a:bodyPr wrap="none" lIns="0" tIns="0" rIns="0" bIns="0" anchor="t" anchorCtr="0">
            <a:spAutoFit/>
          </a:bodyPr>
          <a:lstStyle/>
          <a:p>
            <a:pPr algn="l"/>
            <a:r>
              <a:rPr lang="fi-FI" sz="3600" b="1" dirty="0">
                <a:solidFill>
                  <a:schemeClr val="accent1"/>
                </a:solidFill>
                <a:latin typeface="+mn-lt"/>
                <a:ea typeface="+mn-ea"/>
                <a:cs typeface="+mn-cs"/>
              </a:rPr>
              <a:t>Julkaisun jälkeen palaute jatkaa työtä</a:t>
            </a:r>
          </a:p>
        </p:txBody>
      </p:sp>
      <p:grpSp>
        <p:nvGrpSpPr>
          <p:cNvPr id="11" name="Group 11"/>
          <p:cNvGrpSpPr/>
          <p:nvPr/>
        </p:nvGrpSpPr>
        <p:grpSpPr>
          <a:xfrm>
            <a:off x="594360" y="2415540"/>
            <a:ext cx="10153461" cy="1152525"/>
            <a:chOff x="594360" y="2415540"/>
            <a:chExt cx="10153461" cy="1152525"/>
          </a:xfrm>
        </p:grpSpPr>
        <p:sp>
          <p:nvSpPr>
            <p:cNvPr id="3" name="TextBox 3"/>
            <p:cNvSpPr txBox="1"/>
            <p:nvPr/>
          </p:nvSpPr>
          <p:spPr>
            <a:xfrm>
              <a:off x="600456" y="2415540"/>
              <a:ext cx="287840"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01</a:t>
              </a:r>
            </a:p>
          </p:txBody>
        </p:sp>
        <p:sp>
          <p:nvSpPr>
            <p:cNvPr id="4" name="TextBox 4"/>
            <p:cNvSpPr txBox="1"/>
            <p:nvPr/>
          </p:nvSpPr>
          <p:spPr>
            <a:xfrm>
              <a:off x="594360" y="2981325"/>
              <a:ext cx="1748129" cy="586740"/>
            </a:xfrm>
            <a:prstGeom prst="rect">
              <a:avLst/>
            </a:prstGeom>
            <a:noFill/>
            <a:ln>
              <a:noFill/>
            </a:ln>
          </p:spPr>
          <p:txBody>
            <a:bodyPr wrap="none" lIns="0" tIns="0" rIns="0" bIns="0" anchor="t" anchorCtr="0">
              <a:spAutoFit/>
            </a:bodyPr>
            <a:lstStyle/>
            <a:p>
              <a:pPr algn="l"/>
              <a:r>
                <a:rPr lang="fi-FI" sz="3000" b="1" dirty="0">
                  <a:solidFill>
                    <a:schemeClr val="accent1"/>
                  </a:solidFill>
                  <a:latin typeface="+mn-lt"/>
                  <a:ea typeface="+mn-ea"/>
                  <a:cs typeface="+mn-cs"/>
                </a:rPr>
                <a:t>Havainto</a:t>
              </a:r>
            </a:p>
          </p:txBody>
        </p:sp>
        <p:sp>
          <p:nvSpPr>
            <p:cNvPr id="5" name="TextBox 5"/>
            <p:cNvSpPr txBox="1"/>
            <p:nvPr/>
          </p:nvSpPr>
          <p:spPr>
            <a:xfrm>
              <a:off x="3686556" y="2415540"/>
              <a:ext cx="287840"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02</a:t>
              </a:r>
            </a:p>
          </p:txBody>
        </p:sp>
        <p:sp>
          <p:nvSpPr>
            <p:cNvPr id="6" name="TextBox 6"/>
            <p:cNvSpPr txBox="1"/>
            <p:nvPr/>
          </p:nvSpPr>
          <p:spPr>
            <a:xfrm>
              <a:off x="3680460" y="2981325"/>
              <a:ext cx="1006061" cy="586740"/>
            </a:xfrm>
            <a:prstGeom prst="rect">
              <a:avLst/>
            </a:prstGeom>
            <a:noFill/>
            <a:ln>
              <a:noFill/>
            </a:ln>
          </p:spPr>
          <p:txBody>
            <a:bodyPr wrap="none" lIns="0" tIns="0" rIns="0" bIns="0" anchor="t" anchorCtr="0">
              <a:spAutoFit/>
            </a:bodyPr>
            <a:lstStyle/>
            <a:p>
              <a:pPr algn="l"/>
              <a:r>
                <a:rPr lang="fi-FI" sz="3000" b="1" dirty="0">
                  <a:solidFill>
                    <a:schemeClr val="accent1"/>
                  </a:solidFill>
                  <a:latin typeface="+mn-lt"/>
                  <a:ea typeface="+mn-ea"/>
                  <a:cs typeface="+mn-cs"/>
                </a:rPr>
                <a:t>Tutki</a:t>
              </a:r>
            </a:p>
          </p:txBody>
        </p:sp>
        <p:sp>
          <p:nvSpPr>
            <p:cNvPr id="7" name="TextBox 7"/>
            <p:cNvSpPr txBox="1"/>
            <p:nvPr/>
          </p:nvSpPr>
          <p:spPr>
            <a:xfrm>
              <a:off x="6410706" y="2415540"/>
              <a:ext cx="287840"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03</a:t>
              </a:r>
            </a:p>
          </p:txBody>
        </p:sp>
        <p:sp>
          <p:nvSpPr>
            <p:cNvPr id="8" name="TextBox 8"/>
            <p:cNvSpPr txBox="1"/>
            <p:nvPr/>
          </p:nvSpPr>
          <p:spPr>
            <a:xfrm>
              <a:off x="6404610" y="2981325"/>
              <a:ext cx="1299312" cy="586740"/>
            </a:xfrm>
            <a:prstGeom prst="rect">
              <a:avLst/>
            </a:prstGeom>
            <a:noFill/>
            <a:ln>
              <a:noFill/>
            </a:ln>
          </p:spPr>
          <p:txBody>
            <a:bodyPr wrap="none" lIns="0" tIns="0" rIns="0" bIns="0" anchor="t" anchorCtr="0">
              <a:spAutoFit/>
            </a:bodyPr>
            <a:lstStyle/>
            <a:p>
              <a:pPr algn="l"/>
              <a:r>
                <a:rPr lang="fi-FI" sz="3000" b="1" dirty="0">
                  <a:solidFill>
                    <a:schemeClr val="accent1"/>
                  </a:solidFill>
                  <a:latin typeface="+mn-lt"/>
                  <a:ea typeface="+mn-ea"/>
                  <a:cs typeface="+mn-cs"/>
                </a:rPr>
                <a:t>Korjaa</a:t>
              </a:r>
            </a:p>
          </p:txBody>
        </p:sp>
        <p:sp>
          <p:nvSpPr>
            <p:cNvPr id="9" name="TextBox 9"/>
            <p:cNvSpPr txBox="1"/>
            <p:nvPr/>
          </p:nvSpPr>
          <p:spPr>
            <a:xfrm>
              <a:off x="9163431" y="2415540"/>
              <a:ext cx="287840"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04</a:t>
              </a:r>
            </a:p>
          </p:txBody>
        </p:sp>
        <p:sp>
          <p:nvSpPr>
            <p:cNvPr id="10" name="TextBox 10"/>
            <p:cNvSpPr txBox="1"/>
            <p:nvPr/>
          </p:nvSpPr>
          <p:spPr>
            <a:xfrm>
              <a:off x="9157335" y="2981325"/>
              <a:ext cx="1590486" cy="586740"/>
            </a:xfrm>
            <a:prstGeom prst="rect">
              <a:avLst/>
            </a:prstGeom>
            <a:noFill/>
            <a:ln>
              <a:noFill/>
            </a:ln>
          </p:spPr>
          <p:txBody>
            <a:bodyPr wrap="none" lIns="0" tIns="0" rIns="0" bIns="0" anchor="t" anchorCtr="0">
              <a:spAutoFit/>
            </a:bodyPr>
            <a:lstStyle/>
            <a:p>
              <a:pPr algn="l"/>
              <a:r>
                <a:rPr lang="fi-FI" sz="3000" b="1" dirty="0">
                  <a:solidFill>
                    <a:schemeClr val="accent1"/>
                  </a:solidFill>
                  <a:latin typeface="+mn-lt"/>
                  <a:ea typeface="+mn-ea"/>
                  <a:cs typeface="+mn-cs"/>
                </a:rPr>
                <a:t>Tarkista</a:t>
              </a:r>
            </a:p>
          </p:txBody>
        </p:sp>
      </p:grpSp>
      <p:grpSp>
        <p:nvGrpSpPr>
          <p:cNvPr id="15" name="Group 15"/>
          <p:cNvGrpSpPr/>
          <p:nvPr/>
        </p:nvGrpSpPr>
        <p:grpSpPr>
          <a:xfrm>
            <a:off x="609600" y="4448175"/>
            <a:ext cx="10972800" cy="1762125"/>
            <a:chOff x="609600" y="4448175"/>
            <a:chExt cx="10972800" cy="1762125"/>
          </a:xfrm>
        </p:grpSpPr>
        <p:sp>
          <p:nvSpPr>
            <p:cNvPr id="12" name="Rectangle 12"/>
            <p:cNvSpPr/>
            <p:nvPr/>
          </p:nvSpPr>
          <p:spPr>
            <a:xfrm>
              <a:off x="609600" y="4448175"/>
              <a:ext cx="10972800" cy="1762125"/>
            </a:xfrm>
            <a:prstGeom prst="rect">
              <a:avLst/>
            </a:prstGeom>
            <a:solidFill>
              <a:schemeClr val="accent1"/>
            </a:solidFill>
            <a:ln>
              <a:noFill/>
            </a:ln>
          </p:spPr>
        </p:sp>
        <p:sp>
          <p:nvSpPr>
            <p:cNvPr id="13" name="TextBox 13"/>
            <p:cNvSpPr txBox="1"/>
            <p:nvPr/>
          </p:nvSpPr>
          <p:spPr>
            <a:xfrm>
              <a:off x="905256" y="4663440"/>
              <a:ext cx="2237676"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SOVI ETUKÄTEEN</a:t>
              </a:r>
            </a:p>
          </p:txBody>
        </p:sp>
        <p:sp>
          <p:nvSpPr>
            <p:cNvPr id="14" name="TextBox 14"/>
            <p:cNvSpPr txBox="1"/>
            <p:nvPr/>
          </p:nvSpPr>
          <p:spPr>
            <a:xfrm>
              <a:off x="902208" y="5151120"/>
              <a:ext cx="6598676" cy="926592"/>
            </a:xfrm>
            <a:prstGeom prst="rect">
              <a:avLst/>
            </a:prstGeom>
            <a:noFill/>
            <a:ln>
              <a:noFill/>
            </a:ln>
          </p:spPr>
          <p:txBody>
            <a:bodyPr wrap="none" lIns="0" tIns="0" rIns="0" bIns="0" anchor="t" anchorCtr="0">
              <a:spAutoFit/>
            </a:bodyPr>
            <a:lstStyle/>
            <a:p>
              <a:pPr algn="l">
                <a:lnSpc>
                  <a:spcPts val="3600"/>
                </a:lnSpc>
              </a:pPr>
              <a:r>
                <a:rPr lang="fi-FI" sz="2400" dirty="0">
                  <a:solidFill>
                    <a:srgbClr val="F8FAFC"/>
                  </a:solidFill>
                  <a:latin typeface="+mn-lt"/>
                  <a:ea typeface="+mn-ea"/>
                  <a:cs typeface="+mn-cs"/>
                </a:rPr>
                <a:t>Mitä seurataan? Kuka vastaanottaa ilmoituksen?</a:t>
              </a:r>
              <a:br/>
              <a:r>
                <a:rPr lang="fi-FI" sz="2400" dirty="0">
                  <a:solidFill>
                    <a:srgbClr val="F8FAFC"/>
                  </a:solidFill>
                  <a:latin typeface="+mn-lt"/>
                  <a:ea typeface="+mn-ea"/>
                  <a:cs typeface="+mn-cs"/>
                </a:rPr>
                <a:t>Kuka tekee julkaisupäätöksen?</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Group 4"/>
          <p:cNvGrpSpPr/>
          <p:nvPr/>
        </p:nvGrpSpPr>
        <p:grpSpPr>
          <a:xfrm>
            <a:off x="590550" y="739140"/>
            <a:ext cx="5818255" cy="3754755"/>
            <a:chOff x="590550" y="739140"/>
            <a:chExt cx="5818255" cy="3754755"/>
          </a:xfrm>
        </p:grpSpPr>
        <p:sp>
          <p:nvSpPr>
            <p:cNvPr id="2" name="TextBox 2"/>
            <p:cNvSpPr txBox="1"/>
            <p:nvPr/>
          </p:nvSpPr>
          <p:spPr>
            <a:xfrm>
              <a:off x="600456" y="739140"/>
              <a:ext cx="5808349"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DELEGOI TYÖ JA HARJOITTELE YMMÄRRYSTÄ</a:t>
              </a:r>
            </a:p>
          </p:txBody>
        </p:sp>
        <p:sp>
          <p:nvSpPr>
            <p:cNvPr id="3" name="TextBox 3"/>
            <p:cNvSpPr txBox="1"/>
            <p:nvPr/>
          </p:nvSpPr>
          <p:spPr>
            <a:xfrm>
              <a:off x="590550" y="1807845"/>
              <a:ext cx="5258547" cy="2686050"/>
            </a:xfrm>
            <a:prstGeom prst="rect">
              <a:avLst/>
            </a:prstGeom>
            <a:noFill/>
            <a:ln>
              <a:noFill/>
            </a:ln>
          </p:spPr>
          <p:txBody>
            <a:bodyPr wrap="none" lIns="0" tIns="0" rIns="0" bIns="0" anchor="t" anchorCtr="0">
              <a:spAutoFit/>
            </a:bodyPr>
            <a:lstStyle/>
            <a:p>
              <a:pPr algn="l">
                <a:lnSpc>
                  <a:spcPts val="6450"/>
                </a:lnSpc>
              </a:pPr>
              <a:r>
                <a:rPr lang="fi-FI" sz="5400" b="1" dirty="0">
                  <a:solidFill>
                    <a:srgbClr val="F8FAFC"/>
                  </a:solidFill>
                  <a:latin typeface="+mn-lt"/>
                  <a:ea typeface="+mn-ea"/>
                  <a:cs typeface="+mn-cs"/>
                </a:rPr>
                <a:t>Mitä rikkoutuisi,</a:t>
              </a:r>
              <a:br/>
              <a:r>
                <a:rPr lang="fi-FI" sz="5400" b="1" dirty="0">
                  <a:solidFill>
                    <a:srgbClr val="F8FAFC"/>
                  </a:solidFill>
                  <a:latin typeface="+mn-lt"/>
                  <a:ea typeface="+mn-ea"/>
                  <a:cs typeface="+mn-cs"/>
                </a:rPr>
                <a:t>jos huoneisto</a:t>
              </a:r>
              <a:br/>
              <a:r>
                <a:rPr lang="fi-FI" sz="5400" b="1" dirty="0">
                  <a:solidFill>
                    <a:srgbClr val="F8FAFC"/>
                  </a:solidFill>
                  <a:latin typeface="+mn-lt"/>
                  <a:ea typeface="+mn-ea"/>
                  <a:cs typeface="+mn-cs"/>
                </a:rPr>
                <a:t>olisi tyhjä?</a:t>
              </a:r>
            </a:p>
          </p:txBody>
        </p:sp>
      </p:grpSp>
      <p:grpSp>
        <p:nvGrpSpPr>
          <p:cNvPr id="7" name="Group 7"/>
          <p:cNvGrpSpPr/>
          <p:nvPr/>
        </p:nvGrpSpPr>
        <p:grpSpPr>
          <a:xfrm>
            <a:off x="597408" y="5551170"/>
            <a:ext cx="6930962" cy="921639"/>
            <a:chOff x="597408" y="5551170"/>
            <a:chExt cx="6930962" cy="921639"/>
          </a:xfrm>
        </p:grpSpPr>
        <p:sp>
          <p:nvSpPr>
            <p:cNvPr id="5" name="TextBox 5"/>
            <p:cNvSpPr txBox="1"/>
            <p:nvPr/>
          </p:nvSpPr>
          <p:spPr>
            <a:xfrm>
              <a:off x="597408" y="5551170"/>
              <a:ext cx="6930962" cy="469392"/>
            </a:xfrm>
            <a:prstGeom prst="rect">
              <a:avLst/>
            </a:prstGeom>
            <a:noFill/>
            <a:ln>
              <a:noFill/>
            </a:ln>
          </p:spPr>
          <p:txBody>
            <a:bodyPr wrap="none" lIns="0" tIns="0" rIns="0" bIns="0" anchor="t" anchorCtr="0">
              <a:spAutoFit/>
            </a:bodyPr>
            <a:lstStyle/>
            <a:p>
              <a:pPr algn="l"/>
              <a:r>
                <a:rPr lang="fi-FI" sz="2400" dirty="0">
                  <a:solidFill>
                    <a:schemeClr val="accent3"/>
                  </a:solidFill>
                  <a:latin typeface="+mn-lt"/>
                  <a:ea typeface="+mn-ea"/>
                  <a:cs typeface="+mn-cs"/>
                </a:rPr>
                <a:t>Ennusta tulos. Selitä ratkaisu. Tarkista yhdessä.</a:t>
              </a:r>
            </a:p>
          </p:txBody>
        </p:sp>
        <p:sp>
          <p:nvSpPr>
            <p:cNvPr id="6" name="TextBox 6"/>
            <p:cNvSpPr txBox="1"/>
            <p:nvPr/>
          </p:nvSpPr>
          <p:spPr>
            <a:xfrm>
              <a:off x="600456" y="6120765"/>
              <a:ext cx="3904164" cy="352044"/>
            </a:xfrm>
            <a:prstGeom prst="rect">
              <a:avLst/>
            </a:prstGeom>
            <a:noFill/>
            <a:ln>
              <a:noFill/>
            </a:ln>
          </p:spPr>
          <p:txBody>
            <a:bodyPr wrap="none" lIns="0" tIns="0" rIns="0" bIns="0" anchor="t" anchorCtr="0">
              <a:spAutoFit/>
            </a:bodyPr>
            <a:lstStyle/>
            <a:p>
              <a:pPr algn="l"/>
              <a:r>
                <a:rPr lang="fi-FI" sz="1800" dirty="0">
                  <a:solidFill>
                    <a:srgbClr val="F8FAFC"/>
                  </a:solidFill>
                  <a:latin typeface="+mn-lt"/>
                  <a:ea typeface="+mn-ea"/>
                  <a:cs typeface="+mn-cs"/>
                </a:rPr>
                <a:t>Valitse yksi päätös, jonka ymmärrät.</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91312" y="621030"/>
            <a:ext cx="9100629" cy="704088"/>
          </a:xfrm>
          <a:prstGeom prst="rect">
            <a:avLst/>
          </a:prstGeom>
          <a:noFill/>
          <a:ln>
            <a:noFill/>
          </a:ln>
        </p:spPr>
        <p:txBody>
          <a:bodyPr wrap="none" lIns="0" tIns="0" rIns="0" bIns="0" anchor="t" anchorCtr="0">
            <a:spAutoFit/>
          </a:bodyPr>
          <a:lstStyle/>
          <a:p>
            <a:pPr algn="l"/>
            <a:r>
              <a:rPr lang="fi-FI" sz="3600" b="1" dirty="0">
                <a:solidFill>
                  <a:schemeClr val="accent1"/>
                </a:solidFill>
                <a:latin typeface="+mn-lt"/>
                <a:ea typeface="+mn-ea"/>
                <a:cs typeface="+mn-cs"/>
              </a:rPr>
              <a:t>Aloita yhdestä hyödyllisestä tehtävästä</a:t>
            </a:r>
          </a:p>
        </p:txBody>
      </p:sp>
      <p:grpSp>
        <p:nvGrpSpPr>
          <p:cNvPr id="9" name="Group 9"/>
          <p:cNvGrpSpPr/>
          <p:nvPr/>
        </p:nvGrpSpPr>
        <p:grpSpPr>
          <a:xfrm>
            <a:off x="594360" y="2586990"/>
            <a:ext cx="9140495" cy="1657350"/>
            <a:chOff x="594360" y="2586990"/>
            <a:chExt cx="9140495" cy="1657350"/>
          </a:xfrm>
        </p:grpSpPr>
        <p:sp>
          <p:nvSpPr>
            <p:cNvPr id="3" name="TextBox 3"/>
            <p:cNvSpPr txBox="1"/>
            <p:nvPr/>
          </p:nvSpPr>
          <p:spPr>
            <a:xfrm>
              <a:off x="600456" y="2586990"/>
              <a:ext cx="287840"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01</a:t>
              </a:r>
            </a:p>
          </p:txBody>
        </p:sp>
        <p:sp>
          <p:nvSpPr>
            <p:cNvPr id="4" name="TextBox 4"/>
            <p:cNvSpPr txBox="1"/>
            <p:nvPr/>
          </p:nvSpPr>
          <p:spPr>
            <a:xfrm>
              <a:off x="594360" y="3124200"/>
              <a:ext cx="1364590" cy="1120140"/>
            </a:xfrm>
            <a:prstGeom prst="rect">
              <a:avLst/>
            </a:prstGeom>
            <a:noFill/>
            <a:ln>
              <a:noFill/>
            </a:ln>
          </p:spPr>
          <p:txBody>
            <a:bodyPr wrap="none" lIns="0" tIns="0" rIns="0" bIns="0" anchor="t" anchorCtr="0">
              <a:spAutoFit/>
            </a:bodyPr>
            <a:lstStyle/>
            <a:p>
              <a:pPr algn="l">
                <a:lnSpc>
                  <a:spcPts val="4200"/>
                </a:lnSpc>
              </a:pPr>
              <a:r>
                <a:rPr lang="fi-FI" sz="3000" b="1" dirty="0">
                  <a:solidFill>
                    <a:schemeClr val="accent1"/>
                  </a:solidFill>
                  <a:latin typeface="+mn-lt"/>
                  <a:ea typeface="+mn-ea"/>
                  <a:cs typeface="+mn-cs"/>
                </a:rPr>
                <a:t>Rajaa</a:t>
              </a:r>
              <a:br/>
              <a:r>
                <a:rPr lang="fi-FI" sz="3000" b="1" dirty="0">
                  <a:solidFill>
                    <a:schemeClr val="accent1"/>
                  </a:solidFill>
                  <a:latin typeface="+mn-lt"/>
                  <a:ea typeface="+mn-ea"/>
                  <a:cs typeface="+mn-cs"/>
                </a:rPr>
                <a:t>tehtävä</a:t>
              </a:r>
            </a:p>
          </p:txBody>
        </p:sp>
        <p:sp>
          <p:nvSpPr>
            <p:cNvPr id="5" name="TextBox 5"/>
            <p:cNvSpPr txBox="1"/>
            <p:nvPr/>
          </p:nvSpPr>
          <p:spPr>
            <a:xfrm>
              <a:off x="4467606" y="2586990"/>
              <a:ext cx="287840"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02</a:t>
              </a:r>
            </a:p>
          </p:txBody>
        </p:sp>
        <p:sp>
          <p:nvSpPr>
            <p:cNvPr id="6" name="TextBox 6"/>
            <p:cNvSpPr txBox="1"/>
            <p:nvPr/>
          </p:nvSpPr>
          <p:spPr>
            <a:xfrm>
              <a:off x="4461510" y="3124200"/>
              <a:ext cx="1364590" cy="1120140"/>
            </a:xfrm>
            <a:prstGeom prst="rect">
              <a:avLst/>
            </a:prstGeom>
            <a:noFill/>
            <a:ln>
              <a:noFill/>
            </a:ln>
          </p:spPr>
          <p:txBody>
            <a:bodyPr wrap="none" lIns="0" tIns="0" rIns="0" bIns="0" anchor="t" anchorCtr="0">
              <a:spAutoFit/>
            </a:bodyPr>
            <a:lstStyle/>
            <a:p>
              <a:pPr algn="l">
                <a:lnSpc>
                  <a:spcPts val="4200"/>
                </a:lnSpc>
              </a:pPr>
              <a:r>
                <a:rPr lang="fi-FI" sz="3000" b="1" dirty="0">
                  <a:solidFill>
                    <a:schemeClr val="accent1"/>
                  </a:solidFill>
                  <a:latin typeface="+mn-lt"/>
                  <a:ea typeface="+mn-ea"/>
                  <a:cs typeface="+mn-cs"/>
                </a:rPr>
                <a:t>Määritä</a:t>
              </a:r>
              <a:br/>
              <a:r>
                <a:rPr lang="fi-FI" sz="3000" b="1" dirty="0">
                  <a:solidFill>
                    <a:schemeClr val="accent1"/>
                  </a:solidFill>
                  <a:latin typeface="+mn-lt"/>
                  <a:ea typeface="+mn-ea"/>
                  <a:cs typeface="+mn-cs"/>
                </a:rPr>
                <a:t>näyttö</a:t>
              </a:r>
            </a:p>
          </p:txBody>
        </p:sp>
        <p:sp>
          <p:nvSpPr>
            <p:cNvPr id="7" name="TextBox 7"/>
            <p:cNvSpPr txBox="1"/>
            <p:nvPr/>
          </p:nvSpPr>
          <p:spPr>
            <a:xfrm>
              <a:off x="8334756" y="2586990"/>
              <a:ext cx="287840"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03</a:t>
              </a:r>
            </a:p>
          </p:txBody>
        </p:sp>
        <p:sp>
          <p:nvSpPr>
            <p:cNvPr id="8" name="TextBox 8"/>
            <p:cNvSpPr txBox="1"/>
            <p:nvPr/>
          </p:nvSpPr>
          <p:spPr>
            <a:xfrm>
              <a:off x="8328660" y="3124200"/>
              <a:ext cx="1406195" cy="1120140"/>
            </a:xfrm>
            <a:prstGeom prst="rect">
              <a:avLst/>
            </a:prstGeom>
            <a:noFill/>
            <a:ln>
              <a:noFill/>
            </a:ln>
          </p:spPr>
          <p:txBody>
            <a:bodyPr wrap="none" lIns="0" tIns="0" rIns="0" bIns="0" anchor="t" anchorCtr="0">
              <a:spAutoFit/>
            </a:bodyPr>
            <a:lstStyle/>
            <a:p>
              <a:pPr algn="l">
                <a:lnSpc>
                  <a:spcPts val="4200"/>
                </a:lnSpc>
              </a:pPr>
              <a:r>
                <a:rPr lang="fi-FI" sz="3000" b="1" dirty="0">
                  <a:solidFill>
                    <a:schemeClr val="accent1"/>
                  </a:solidFill>
                  <a:latin typeface="+mn-lt"/>
                  <a:ea typeface="+mn-ea"/>
                  <a:cs typeface="+mn-cs"/>
                </a:rPr>
                <a:t>Arvioi</a:t>
              </a:r>
              <a:br/>
              <a:r>
                <a:rPr lang="fi-FI" sz="3000" b="1" dirty="0">
                  <a:solidFill>
                    <a:schemeClr val="accent1"/>
                  </a:solidFill>
                  <a:latin typeface="+mn-lt"/>
                  <a:ea typeface="+mn-ea"/>
                  <a:cs typeface="+mn-cs"/>
                </a:rPr>
                <a:t>muutos</a:t>
              </a:r>
            </a:p>
          </p:txBody>
        </p:sp>
      </p:grpSp>
      <p:grpSp>
        <p:nvGrpSpPr>
          <p:cNvPr id="13" name="Group 13"/>
          <p:cNvGrpSpPr/>
          <p:nvPr/>
        </p:nvGrpSpPr>
        <p:grpSpPr>
          <a:xfrm>
            <a:off x="609600" y="5181600"/>
            <a:ext cx="10972800" cy="1243965"/>
            <a:chOff x="609600" y="5181600"/>
            <a:chExt cx="10972800" cy="1243965"/>
          </a:xfrm>
        </p:grpSpPr>
        <p:sp>
          <p:nvSpPr>
            <p:cNvPr id="10" name="Rectangle 10"/>
            <p:cNvSpPr/>
            <p:nvPr/>
          </p:nvSpPr>
          <p:spPr>
            <a:xfrm>
              <a:off x="609600" y="5181600"/>
              <a:ext cx="10972800" cy="1238250"/>
            </a:xfrm>
            <a:prstGeom prst="rect">
              <a:avLst/>
            </a:prstGeom>
            <a:solidFill>
              <a:schemeClr val="accent2"/>
            </a:solidFill>
            <a:ln>
              <a:noFill/>
            </a:ln>
          </p:spPr>
        </p:sp>
        <p:sp>
          <p:nvSpPr>
            <p:cNvPr id="11" name="TextBox 11"/>
            <p:cNvSpPr txBox="1"/>
            <p:nvPr/>
          </p:nvSpPr>
          <p:spPr>
            <a:xfrm>
              <a:off x="905256" y="5454015"/>
              <a:ext cx="2807040" cy="352044"/>
            </a:xfrm>
            <a:prstGeom prst="rect">
              <a:avLst/>
            </a:prstGeom>
            <a:noFill/>
            <a:ln>
              <a:noFill/>
            </a:ln>
          </p:spPr>
          <p:txBody>
            <a:bodyPr wrap="none" lIns="0" tIns="0" rIns="0" bIns="0" anchor="t" anchorCtr="0">
              <a:spAutoFit/>
            </a:bodyPr>
            <a:lstStyle/>
            <a:p>
              <a:pPr algn="l"/>
              <a:r>
                <a:rPr lang="fi-FI" sz="1800" dirty="0">
                  <a:solidFill>
                    <a:srgbClr val="F8FAFC"/>
                  </a:solidFill>
                  <a:latin typeface="+mn-lt"/>
                  <a:ea typeface="+mn-ea"/>
                  <a:cs typeface="+mn-cs"/>
                </a:rPr>
                <a:t>LOPPUGALLUP · 3 MIN</a:t>
              </a:r>
            </a:p>
          </p:txBody>
        </p:sp>
        <p:sp>
          <p:nvSpPr>
            <p:cNvPr id="12" name="TextBox 12"/>
            <p:cNvSpPr txBox="1"/>
            <p:nvPr/>
          </p:nvSpPr>
          <p:spPr>
            <a:xfrm>
              <a:off x="899160" y="5838825"/>
              <a:ext cx="3844776" cy="586740"/>
            </a:xfrm>
            <a:prstGeom prst="rect">
              <a:avLst/>
            </a:prstGeom>
            <a:noFill/>
            <a:ln>
              <a:noFill/>
            </a:ln>
          </p:spPr>
          <p:txBody>
            <a:bodyPr wrap="none" lIns="0" tIns="0" rIns="0" bIns="0" anchor="t" anchorCtr="0">
              <a:spAutoFit/>
            </a:bodyPr>
            <a:lstStyle/>
            <a:p>
              <a:pPr algn="l"/>
              <a:r>
                <a:rPr lang="fi-FI" sz="3000" b="1" dirty="0">
                  <a:solidFill>
                    <a:srgbClr val="F8FAFC"/>
                  </a:solidFill>
                  <a:latin typeface="+mn-lt"/>
                  <a:ea typeface="+mn-ea"/>
                  <a:cs typeface="+mn-cs"/>
                </a:rPr>
                <a:t>gallup.koodattu.dev</a:t>
              </a:r>
            </a:p>
          </p:txBody>
        </p:sp>
      </p:gr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3" name="Group 3"/>
          <p:cNvGrpSpPr/>
          <p:nvPr/>
        </p:nvGrpSpPr>
        <p:grpSpPr>
          <a:xfrm>
            <a:off x="590550" y="1584960"/>
            <a:ext cx="6336853" cy="2628900"/>
            <a:chOff x="590550" y="1584960"/>
            <a:chExt cx="6336853" cy="2628900"/>
          </a:xfrm>
        </p:grpSpPr>
        <p:sp>
          <p:nvSpPr>
            <p:cNvPr id="2" name="TextBox 2"/>
            <p:cNvSpPr txBox="1"/>
            <p:nvPr/>
          </p:nvSpPr>
          <p:spPr>
            <a:xfrm>
              <a:off x="590550" y="1584960"/>
              <a:ext cx="6336853" cy="2628900"/>
            </a:xfrm>
            <a:prstGeom prst="rect">
              <a:avLst/>
            </a:prstGeom>
            <a:noFill/>
            <a:ln>
              <a:noFill/>
            </a:ln>
          </p:spPr>
          <p:txBody>
            <a:bodyPr wrap="none" lIns="0" tIns="0" rIns="0" bIns="0" anchor="t" anchorCtr="0">
              <a:spAutoFit/>
            </a:bodyPr>
            <a:lstStyle/>
            <a:p>
              <a:pPr algn="l">
                <a:lnSpc>
                  <a:spcPts val="9750"/>
                </a:lnSpc>
              </a:pPr>
              <a:r>
                <a:rPr lang="fi-FI" sz="7200" b="1" dirty="0">
                  <a:solidFill>
                    <a:srgbClr val="F8FAFC"/>
                  </a:solidFill>
                  <a:latin typeface="+mn-lt"/>
                  <a:ea typeface="+mn-ea"/>
                  <a:cs typeface="+mn-cs"/>
                </a:rPr>
                <a:t>Koodi halpeni.</a:t>
              </a:r>
              <a:br/>
              <a:r>
                <a:rPr lang="fi-FI" sz="7200" b="1" dirty="0">
                  <a:solidFill>
                    <a:schemeClr val="accent3"/>
                  </a:solidFill>
                  <a:latin typeface="+mn-lt"/>
                  <a:ea typeface="+mn-ea"/>
                  <a:cs typeface="+mn-cs"/>
                </a:rPr>
                <a:t>Vastuu ei.</a:t>
              </a:r>
            </a:p>
          </p:txBody>
        </p:sp>
      </p:grpSp>
      <p:grpSp>
        <p:nvGrpSpPr>
          <p:cNvPr id="6" name="Group 6"/>
          <p:cNvGrpSpPr/>
          <p:nvPr/>
        </p:nvGrpSpPr>
        <p:grpSpPr>
          <a:xfrm>
            <a:off x="597408" y="5084445"/>
            <a:ext cx="4209105" cy="1371600"/>
            <a:chOff x="597408" y="5084445"/>
            <a:chExt cx="4209105" cy="1371600"/>
          </a:xfrm>
        </p:grpSpPr>
        <p:sp>
          <p:nvSpPr>
            <p:cNvPr id="4" name="TextBox 4"/>
            <p:cNvSpPr txBox="1"/>
            <p:nvPr/>
          </p:nvSpPr>
          <p:spPr>
            <a:xfrm>
              <a:off x="597408" y="5084445"/>
              <a:ext cx="4209105" cy="926592"/>
            </a:xfrm>
            <a:prstGeom prst="rect">
              <a:avLst/>
            </a:prstGeom>
            <a:noFill/>
            <a:ln>
              <a:noFill/>
            </a:ln>
          </p:spPr>
          <p:txBody>
            <a:bodyPr wrap="none" lIns="0" tIns="0" rIns="0" bIns="0" anchor="t" anchorCtr="0">
              <a:spAutoFit/>
            </a:bodyPr>
            <a:lstStyle/>
            <a:p>
              <a:pPr algn="l">
                <a:lnSpc>
                  <a:spcPts val="3600"/>
                </a:lnSpc>
              </a:pPr>
              <a:r>
                <a:rPr lang="fi-FI" sz="2400" dirty="0">
                  <a:solidFill>
                    <a:srgbClr val="F8FAFC"/>
                  </a:solidFill>
                  <a:latin typeface="+mn-lt"/>
                  <a:ea typeface="+mn-ea"/>
                  <a:cs typeface="+mn-cs"/>
                </a:rPr>
                <a:t>Valitse hyödyllinen tehtävä.</a:t>
              </a:r>
              <a:br/>
              <a:r>
                <a:rPr lang="fi-FI" sz="2400" dirty="0">
                  <a:solidFill>
                    <a:srgbClr val="F8FAFC"/>
                  </a:solidFill>
                  <a:latin typeface="+mn-lt"/>
                  <a:ea typeface="+mn-ea"/>
                  <a:cs typeface="+mn-cs"/>
                </a:rPr>
                <a:t>Tee lopputulos tarkistettavaksi.</a:t>
              </a:r>
            </a:p>
          </p:txBody>
        </p:sp>
        <p:sp>
          <p:nvSpPr>
            <p:cNvPr id="5" name="TextBox 5"/>
            <p:cNvSpPr txBox="1"/>
            <p:nvPr/>
          </p:nvSpPr>
          <p:spPr>
            <a:xfrm>
              <a:off x="601980" y="6162675"/>
              <a:ext cx="1941725" cy="293370"/>
            </a:xfrm>
            <a:prstGeom prst="rect">
              <a:avLst/>
            </a:prstGeom>
            <a:noFill/>
            <a:ln>
              <a:noFill/>
            </a:ln>
          </p:spPr>
          <p:txBody>
            <a:bodyPr wrap="none" lIns="0" tIns="0" rIns="0" bIns="0" anchor="t" anchorCtr="0">
              <a:spAutoFit/>
            </a:bodyPr>
            <a:lstStyle/>
            <a:p>
              <a:pPr algn="l"/>
              <a:r>
                <a:rPr lang="fi-FI" sz="1500" dirty="0">
                  <a:solidFill>
                    <a:srgbClr val="F8FAFC"/>
                  </a:solidFill>
                  <a:latin typeface="+mn-lt"/>
                  <a:ea typeface="+mn-ea"/>
                  <a:cs typeface="+mn-cs"/>
                </a:rPr>
                <a:t>Lakeus-Devaus 2026</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lakeus-ppt-master-experiment">
  <a:themeElements>
    <a:clrScheme name="lakeus-ppt-master-experiment">
      <a:dk1>
        <a:srgbClr val="162A3D"/>
      </a:dk1>
      <a:lt1>
        <a:srgbClr val="F4F0E7"/>
      </a:lt1>
      <a:dk2>
        <a:srgbClr val="1F497D"/>
      </a:dk2>
      <a:lt2>
        <a:srgbClr val="F4F0E7"/>
      </a:lt2>
      <a:accent1>
        <a:srgbClr val="10243A"/>
      </a:accent1>
      <a:accent2>
        <a:srgbClr val="2563EB"/>
      </a:accent2>
      <a:accent3>
        <a:srgbClr val="D8F36A"/>
      </a:accent3>
      <a:accent4>
        <a:srgbClr val="10243A"/>
      </a:accent4>
      <a:accent5>
        <a:srgbClr val="10243A"/>
      </a:accent5>
      <a:accent6>
        <a:srgbClr val="52616B"/>
      </a:accent6>
      <a:hlink>
        <a:srgbClr val="2563EB"/>
      </a:hlink>
      <a:folHlink>
        <a:srgbClr val="D8F36A"/>
      </a:folHlink>
    </a:clrScheme>
    <a:fontScheme name="lakeus-ppt-master-experiment">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keus-ppt-master-experime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lakeus-ppt-master-experiment">
  <a:themeElements>
    <a:clrScheme name="lakeus-ppt-master-experiment">
      <a:dk1>
        <a:srgbClr val="162A3D"/>
      </a:dk1>
      <a:lt1>
        <a:srgbClr val="F4F0E7"/>
      </a:lt1>
      <a:dk2>
        <a:srgbClr val="1F497D"/>
      </a:dk2>
      <a:lt2>
        <a:srgbClr val="F4F0E7"/>
      </a:lt2>
      <a:accent1>
        <a:srgbClr val="10243A"/>
      </a:accent1>
      <a:accent2>
        <a:srgbClr val="2563EB"/>
      </a:accent2>
      <a:accent3>
        <a:srgbClr val="D8F36A"/>
      </a:accent3>
      <a:accent4>
        <a:srgbClr val="10243A"/>
      </a:accent4>
      <a:accent5>
        <a:srgbClr val="10243A"/>
      </a:accent5>
      <a:accent6>
        <a:srgbClr val="52616B"/>
      </a:accent6>
      <a:hlink>
        <a:srgbClr val="2563EB"/>
      </a:hlink>
      <a:folHlink>
        <a:srgbClr val="D8F36A"/>
      </a:folHlink>
    </a:clrScheme>
    <a:fontScheme name="lakeus-ppt-master-experiment">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keus-ppt-master-experime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23</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fi-FI</dc:language>
  <cp:lastModifiedBy/>
  <cp:revision>1</cp:revision>
  <dcterms:created xsi:type="dcterms:W3CDTF">2026-09-05T18:11:19Z</dcterms:created>
  <dcterms:modified xsi:type="dcterms:W3CDTF">2026-09-05T18:11:19Z</dcterms:modified>
  <cp:category/>
  <cp:contentStatus/>
</cp:coreProperties>
</file>