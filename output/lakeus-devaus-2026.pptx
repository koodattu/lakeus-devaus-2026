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3"/>
    <p:restoredTop sz="94667"/>
  </p:normalViewPr>
  <p:slideViewPr>
    <p:cSldViewPr snapToGrid="0">
      <p:cViewPr varScale="1">
        <p:scale>
          <a:sx n="137" d="100"/>
          <a:sy n="137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3CE19-153C-8E45-9433-93F582301D6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0624A-9F91-5B4F-A746-08BC1F47D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00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Avaa </a:t>
            </a:r>
            <a:r>
              <a:rPr lang="en-US" dirty="0" err="1"/>
              <a:t>kysymys</a:t>
            </a:r>
            <a:r>
              <a:rPr lang="en-US" dirty="0"/>
              <a:t>: </a:t>
            </a:r>
            <a:r>
              <a:rPr lang="en-US" dirty="0" err="1"/>
              <a:t>mikä</a:t>
            </a:r>
            <a:r>
              <a:rPr lang="en-US" dirty="0"/>
              <a:t> </a:t>
            </a:r>
            <a:r>
              <a:rPr lang="en-US" dirty="0" err="1"/>
              <a:t>muuttuu</a:t>
            </a:r>
            <a:r>
              <a:rPr lang="en-US" dirty="0"/>
              <a:t> </a:t>
            </a:r>
            <a:r>
              <a:rPr lang="en-US" dirty="0" err="1"/>
              <a:t>arvokkaaksi</a:t>
            </a:r>
            <a:r>
              <a:rPr lang="en-US" dirty="0"/>
              <a:t>,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uskottavan</a:t>
            </a:r>
            <a:r>
              <a:rPr lang="en-US" dirty="0"/>
              <a:t> </a:t>
            </a:r>
            <a:r>
              <a:rPr lang="en-US" dirty="0" err="1"/>
              <a:t>ensimmäisen</a:t>
            </a:r>
            <a:r>
              <a:rPr lang="en-US" dirty="0"/>
              <a:t> version </a:t>
            </a:r>
            <a:r>
              <a:rPr lang="en-US" dirty="0" err="1"/>
              <a:t>tekeminen</a:t>
            </a:r>
            <a:r>
              <a:rPr lang="en-US" dirty="0"/>
              <a:t> </a:t>
            </a:r>
            <a:r>
              <a:rPr lang="en-US" dirty="0" err="1"/>
              <a:t>halpenee</a:t>
            </a:r>
            <a:r>
              <a:rPr lang="en-US" dirty="0"/>
              <a:t>? </a:t>
            </a:r>
            <a:r>
              <a:rPr lang="en-US" dirty="0" err="1"/>
              <a:t>Yleisössä</a:t>
            </a:r>
            <a:r>
              <a:rPr lang="en-US" dirty="0"/>
              <a:t> on </a:t>
            </a:r>
            <a:r>
              <a:rPr lang="en-US" dirty="0" err="1"/>
              <a:t>erilaisia</a:t>
            </a:r>
            <a:r>
              <a:rPr lang="en-US" dirty="0"/>
              <a:t> </a:t>
            </a:r>
            <a:r>
              <a:rPr lang="en-US" dirty="0" err="1"/>
              <a:t>kokemuksia</a:t>
            </a:r>
            <a:r>
              <a:rPr lang="en-US" dirty="0"/>
              <a:t> ja </a:t>
            </a:r>
            <a:r>
              <a:rPr lang="en-US" dirty="0" err="1"/>
              <a:t>perusteltuja</a:t>
            </a:r>
            <a:r>
              <a:rPr lang="en-US" dirty="0"/>
              <a:t> </a:t>
            </a:r>
            <a:r>
              <a:rPr lang="en-US" dirty="0" err="1"/>
              <a:t>epävarmuuksia</a:t>
            </a:r>
            <a:r>
              <a:rPr lang="en-US" dirty="0"/>
              <a:t>. </a:t>
            </a:r>
            <a:r>
              <a:rPr lang="en-US" dirty="0" err="1"/>
              <a:t>Tarkoitus</a:t>
            </a:r>
            <a:r>
              <a:rPr lang="en-US" dirty="0"/>
              <a:t> on </a:t>
            </a:r>
            <a:r>
              <a:rPr lang="en-US" dirty="0" err="1"/>
              <a:t>parantaa</a:t>
            </a:r>
            <a:r>
              <a:rPr lang="en-US" dirty="0"/>
              <a:t> </a:t>
            </a:r>
            <a:r>
              <a:rPr lang="en-US" dirty="0" err="1"/>
              <a:t>keskustelua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pakottaa</a:t>
            </a:r>
            <a:r>
              <a:rPr lang="en-US" dirty="0"/>
              <a:t> </a:t>
            </a:r>
            <a:r>
              <a:rPr lang="en-US" dirty="0" err="1"/>
              <a:t>samaan</a:t>
            </a:r>
            <a:r>
              <a:rPr lang="en-US" dirty="0"/>
              <a:t> AI-</a:t>
            </a:r>
            <a:r>
              <a:rPr lang="en-US" dirty="0" err="1"/>
              <a:t>kantaan</a:t>
            </a:r>
            <a:r>
              <a:rPr lang="en-US" dirty="0"/>
              <a:t>. </a:t>
            </a:r>
            <a:r>
              <a:rPr lang="en-US" dirty="0" err="1"/>
              <a:t>Sisältöpohja</a:t>
            </a:r>
            <a:r>
              <a:rPr lang="en-US" dirty="0"/>
              <a:t>: 5.9.2026 </a:t>
            </a:r>
            <a:r>
              <a:rPr lang="en-US" dirty="0" err="1"/>
              <a:t>päivitetty</a:t>
            </a:r>
            <a:r>
              <a:rPr lang="en-US" dirty="0"/>
              <a:t> run of show. 60 </a:t>
            </a:r>
            <a:r>
              <a:rPr lang="en-US" dirty="0" err="1"/>
              <a:t>minuutin</a:t>
            </a:r>
            <a:r>
              <a:rPr lang="en-US" dirty="0"/>
              <a:t> </a:t>
            </a:r>
            <a:r>
              <a:rPr lang="en-US" dirty="0" err="1"/>
              <a:t>kokonaisuus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0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0:02–0:05. </a:t>
            </a:r>
            <a:r>
              <a:rPr lang="en-US" dirty="0" err="1"/>
              <a:t>Vuosiluvut</a:t>
            </a:r>
            <a:r>
              <a:rPr lang="en-US" dirty="0"/>
              <a:t> </a:t>
            </a:r>
            <a:r>
              <a:rPr lang="en-US" dirty="0" err="1"/>
              <a:t>kuvaavat</a:t>
            </a:r>
            <a:r>
              <a:rPr lang="en-US" dirty="0"/>
              <a:t> </a:t>
            </a:r>
            <a:r>
              <a:rPr lang="en-US" dirty="0" err="1"/>
              <a:t>yleistä</a:t>
            </a:r>
            <a:r>
              <a:rPr lang="en-US" dirty="0"/>
              <a:t> </a:t>
            </a:r>
            <a:r>
              <a:rPr lang="en-US" dirty="0" err="1"/>
              <a:t>kehityssuuntaa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ominaisuuksien</a:t>
            </a:r>
            <a:r>
              <a:rPr lang="en-US" dirty="0"/>
              <a:t> </a:t>
            </a:r>
            <a:r>
              <a:rPr lang="en-US" dirty="0" err="1"/>
              <a:t>tarkkoja</a:t>
            </a:r>
            <a:r>
              <a:rPr lang="en-US" dirty="0"/>
              <a:t> </a:t>
            </a:r>
            <a:r>
              <a:rPr lang="en-US" dirty="0" err="1"/>
              <a:t>syntymäpäiviä</a:t>
            </a:r>
            <a:r>
              <a:rPr lang="en-US" dirty="0"/>
              <a:t>. </a:t>
            </a:r>
            <a:r>
              <a:rPr lang="en-US" dirty="0" err="1"/>
              <a:t>Työkalut</a:t>
            </a:r>
            <a:r>
              <a:rPr lang="en-US" dirty="0"/>
              <a:t> </a:t>
            </a:r>
            <a:r>
              <a:rPr lang="en-US" dirty="0" err="1"/>
              <a:t>muuttuivat</a:t>
            </a:r>
            <a:r>
              <a:rPr lang="en-US" dirty="0"/>
              <a:t> </a:t>
            </a:r>
            <a:r>
              <a:rPr lang="en-US" dirty="0" err="1"/>
              <a:t>nopeasti</a:t>
            </a:r>
            <a:r>
              <a:rPr lang="en-US" dirty="0"/>
              <a:t>,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moni</a:t>
            </a:r>
            <a:r>
              <a:rPr lang="en-US" dirty="0"/>
              <a:t> </a:t>
            </a:r>
            <a:r>
              <a:rPr lang="en-US" dirty="0" err="1"/>
              <a:t>vaikea</a:t>
            </a:r>
            <a:r>
              <a:rPr lang="en-US" dirty="0"/>
              <a:t> </a:t>
            </a:r>
            <a:r>
              <a:rPr lang="en-US" dirty="0" err="1"/>
              <a:t>insinöörityön</a:t>
            </a:r>
            <a:r>
              <a:rPr lang="en-US" dirty="0"/>
              <a:t> </a:t>
            </a:r>
            <a:r>
              <a:rPr lang="en-US" dirty="0" err="1"/>
              <a:t>kysymys</a:t>
            </a:r>
            <a:r>
              <a:rPr lang="en-US" dirty="0"/>
              <a:t> on </a:t>
            </a:r>
            <a:r>
              <a:rPr lang="en-US" dirty="0" err="1"/>
              <a:t>tuttu</a:t>
            </a:r>
            <a:r>
              <a:rPr lang="en-US" dirty="0"/>
              <a:t>. </a:t>
            </a:r>
            <a:r>
              <a:rPr lang="en-US" dirty="0" err="1"/>
              <a:t>Tutkimme</a:t>
            </a:r>
            <a:r>
              <a:rPr lang="en-US" dirty="0"/>
              <a:t> </a:t>
            </a:r>
            <a:r>
              <a:rPr lang="en-US" dirty="0" err="1"/>
              <a:t>jännitettä</a:t>
            </a:r>
            <a:r>
              <a:rPr lang="en-US" dirty="0"/>
              <a:t> </a:t>
            </a:r>
            <a:r>
              <a:rPr lang="en-US" dirty="0" err="1"/>
              <a:t>esimerkkien</a:t>
            </a:r>
            <a:r>
              <a:rPr lang="en-US" dirty="0"/>
              <a:t>, </a:t>
            </a:r>
            <a:r>
              <a:rPr lang="en-US" dirty="0" err="1"/>
              <a:t>tutkimusten</a:t>
            </a:r>
            <a:r>
              <a:rPr lang="en-US" dirty="0"/>
              <a:t> ja </a:t>
            </a:r>
            <a:r>
              <a:rPr lang="en-US" dirty="0" err="1"/>
              <a:t>tämän</a:t>
            </a:r>
            <a:r>
              <a:rPr lang="en-US" dirty="0"/>
              <a:t> </a:t>
            </a:r>
            <a:r>
              <a:rPr lang="en-US" dirty="0" err="1"/>
              <a:t>huoneen</a:t>
            </a:r>
            <a:r>
              <a:rPr lang="en-US" dirty="0"/>
              <a:t> </a:t>
            </a:r>
            <a:r>
              <a:rPr lang="en-US" dirty="0" err="1"/>
              <a:t>kokemusten</a:t>
            </a:r>
            <a:r>
              <a:rPr lang="en-US" dirty="0"/>
              <a:t> </a:t>
            </a:r>
            <a:r>
              <a:rPr lang="en-US" dirty="0" err="1"/>
              <a:t>avulla</a:t>
            </a:r>
            <a:r>
              <a:rPr lang="en-US" dirty="0"/>
              <a:t>. </a:t>
            </a:r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gallupiin</a:t>
            </a:r>
            <a:r>
              <a:rPr lang="en-US" dirty="0"/>
              <a:t>.</a:t>
            </a:r>
          </a:p>
          <a:p>
            <a:r>
              <a:rPr lang="en-US" dirty="0"/>
              <a:t>0:05–0:15: </a:t>
            </a:r>
            <a:r>
              <a:rPr lang="en-US" dirty="0" err="1"/>
              <a:t>vaihda</a:t>
            </a:r>
            <a:r>
              <a:rPr lang="en-US" dirty="0"/>
              <a:t> </a:t>
            </a:r>
            <a:r>
              <a:rPr lang="en-US" dirty="0" err="1"/>
              <a:t>selaimeen</a:t>
            </a:r>
            <a:r>
              <a:rPr lang="en-US" dirty="0"/>
              <a:t> https://</a:t>
            </a:r>
            <a:r>
              <a:rPr lang="en-US" dirty="0" err="1"/>
              <a:t>gallup.koodattu.dev</a:t>
            </a:r>
            <a:r>
              <a:rPr lang="en-US" dirty="0"/>
              <a:t>. </a:t>
            </a:r>
            <a:r>
              <a:rPr lang="en-US" dirty="0" err="1"/>
              <a:t>Seitsemän</a:t>
            </a:r>
            <a:r>
              <a:rPr lang="en-US" dirty="0"/>
              <a:t> </a:t>
            </a:r>
            <a:r>
              <a:rPr lang="en-US" dirty="0" err="1"/>
              <a:t>avauskysymystä</a:t>
            </a:r>
            <a:r>
              <a:rPr lang="en-US" dirty="0"/>
              <a:t> </a:t>
            </a:r>
            <a:r>
              <a:rPr lang="en-US" dirty="0" err="1"/>
              <a:t>sovelluksessa</a:t>
            </a:r>
            <a:r>
              <a:rPr lang="en-US" dirty="0"/>
              <a:t>. Varaa </a:t>
            </a:r>
            <a:r>
              <a:rPr lang="en-US" dirty="0" err="1"/>
              <a:t>aluksi</a:t>
            </a:r>
            <a:r>
              <a:rPr lang="en-US" dirty="0"/>
              <a:t> 90 </a:t>
            </a:r>
            <a:r>
              <a:rPr lang="en-US" dirty="0" err="1"/>
              <a:t>sekuntia</a:t>
            </a:r>
            <a:r>
              <a:rPr lang="en-US" dirty="0"/>
              <a:t> </a:t>
            </a:r>
            <a:r>
              <a:rPr lang="en-US" dirty="0" err="1"/>
              <a:t>liittymiseen</a:t>
            </a:r>
            <a:r>
              <a:rPr lang="en-US" dirty="0"/>
              <a:t>, </a:t>
            </a:r>
            <a:r>
              <a:rPr lang="en-US" dirty="0" err="1"/>
              <a:t>kuusi</a:t>
            </a:r>
            <a:r>
              <a:rPr lang="en-US" dirty="0"/>
              <a:t> </a:t>
            </a:r>
            <a:r>
              <a:rPr lang="en-US" dirty="0" err="1"/>
              <a:t>minuuttia</a:t>
            </a:r>
            <a:r>
              <a:rPr lang="en-US" dirty="0"/>
              <a:t> </a:t>
            </a:r>
            <a:r>
              <a:rPr lang="en-US" dirty="0" err="1"/>
              <a:t>vastauksiin</a:t>
            </a:r>
            <a:r>
              <a:rPr lang="en-US" dirty="0"/>
              <a:t> ja </a:t>
            </a:r>
            <a:r>
              <a:rPr lang="en-US" dirty="0" err="1"/>
              <a:t>loppu</a:t>
            </a:r>
            <a:r>
              <a:rPr lang="en-US" dirty="0"/>
              <a:t> </a:t>
            </a:r>
            <a:r>
              <a:rPr lang="en-US" dirty="0" err="1"/>
              <a:t>todellisten</a:t>
            </a:r>
            <a:r>
              <a:rPr lang="en-US" dirty="0"/>
              <a:t> </a:t>
            </a:r>
            <a:r>
              <a:rPr lang="en-US" dirty="0" err="1"/>
              <a:t>havaintojen</a:t>
            </a:r>
            <a:r>
              <a:rPr lang="en-US" dirty="0"/>
              <a:t> </a:t>
            </a:r>
            <a:r>
              <a:rPr lang="en-US" dirty="0" err="1"/>
              <a:t>yhteenvetoon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PowerPointiin</a:t>
            </a:r>
            <a:r>
              <a:rPr lang="en-US" dirty="0"/>
              <a:t> </a:t>
            </a:r>
            <a:r>
              <a:rPr lang="en-US" dirty="0" err="1"/>
              <a:t>prosessidemoa</a:t>
            </a:r>
            <a:r>
              <a:rPr lang="en-US" dirty="0"/>
              <a:t> </a:t>
            </a:r>
            <a:r>
              <a:rPr lang="en-US" dirty="0" err="1"/>
              <a:t>varten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76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0:15–0:18. </a:t>
            </a:r>
            <a:r>
              <a:rPr lang="en-US" dirty="0" err="1"/>
              <a:t>Dokumentoitu</a:t>
            </a:r>
            <a:r>
              <a:rPr lang="en-US" dirty="0"/>
              <a:t> </a:t>
            </a:r>
            <a:r>
              <a:rPr lang="en-US" dirty="0" err="1"/>
              <a:t>tutkimuskorjaus</a:t>
            </a:r>
            <a:r>
              <a:rPr lang="en-US" dirty="0"/>
              <a:t>: </a:t>
            </a:r>
            <a:r>
              <a:rPr lang="en-US" dirty="0" err="1"/>
              <a:t>aiemmassa</a:t>
            </a:r>
            <a:r>
              <a:rPr lang="en-US" dirty="0"/>
              <a:t> </a:t>
            </a:r>
            <a:r>
              <a:rPr lang="en-US" dirty="0" err="1"/>
              <a:t>prototyypissä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yli</a:t>
            </a:r>
            <a:r>
              <a:rPr lang="en-US" dirty="0"/>
              <a:t> 20 </a:t>
            </a:r>
            <a:r>
              <a:rPr lang="en-US" dirty="0" err="1"/>
              <a:t>miljardin</a:t>
            </a:r>
            <a:r>
              <a:rPr lang="en-US" dirty="0"/>
              <a:t> </a:t>
            </a:r>
            <a:r>
              <a:rPr lang="en-US" dirty="0" err="1"/>
              <a:t>euron</a:t>
            </a:r>
            <a:r>
              <a:rPr lang="en-US" dirty="0"/>
              <a:t> ja </a:t>
            </a:r>
            <a:r>
              <a:rPr lang="en-US" dirty="0" err="1"/>
              <a:t>noin</a:t>
            </a:r>
            <a:r>
              <a:rPr lang="en-US" dirty="0"/>
              <a:t> 9 </a:t>
            </a:r>
            <a:r>
              <a:rPr lang="en-US" dirty="0" err="1"/>
              <a:t>prosentin</a:t>
            </a:r>
            <a:r>
              <a:rPr lang="en-US" dirty="0"/>
              <a:t> </a:t>
            </a:r>
            <a:r>
              <a:rPr lang="en-US" dirty="0" err="1"/>
              <a:t>kasvun</a:t>
            </a:r>
            <a:r>
              <a:rPr lang="en-US" dirty="0"/>
              <a:t> </a:t>
            </a:r>
            <a:r>
              <a:rPr lang="en-US" dirty="0" err="1"/>
              <a:t>väite</a:t>
            </a:r>
            <a:r>
              <a:rPr lang="en-US" dirty="0"/>
              <a:t>. Syyskuun </a:t>
            </a:r>
            <a:r>
              <a:rPr lang="en-US" dirty="0" err="1"/>
              <a:t>lähdetarkistus</a:t>
            </a:r>
            <a:r>
              <a:rPr lang="en-US" dirty="0"/>
              <a:t> </a:t>
            </a:r>
            <a:r>
              <a:rPr lang="en-US" dirty="0" err="1"/>
              <a:t>löysi</a:t>
            </a:r>
            <a:r>
              <a:rPr lang="en-US" dirty="0"/>
              <a:t> </a:t>
            </a:r>
            <a:r>
              <a:rPr lang="en-US" dirty="0" err="1"/>
              <a:t>elokuun</a:t>
            </a:r>
            <a:r>
              <a:rPr lang="en-US" dirty="0"/>
              <a:t> </a:t>
            </a:r>
            <a:r>
              <a:rPr lang="en-US" dirty="0" err="1"/>
              <a:t>katsauksesta</a:t>
            </a:r>
            <a:r>
              <a:rPr lang="en-US" dirty="0"/>
              <a:t> 19 </a:t>
            </a:r>
            <a:r>
              <a:rPr lang="en-US" dirty="0" err="1"/>
              <a:t>miljardia</a:t>
            </a:r>
            <a:r>
              <a:rPr lang="en-US" dirty="0"/>
              <a:t> ja 5 </a:t>
            </a:r>
            <a:r>
              <a:rPr lang="en-US" dirty="0" err="1"/>
              <a:t>prosenttia</a:t>
            </a:r>
            <a:r>
              <a:rPr lang="en-US" dirty="0"/>
              <a:t>. </a:t>
            </a:r>
            <a:r>
              <a:rPr lang="en-US" dirty="0" err="1"/>
              <a:t>Molemmat</a:t>
            </a:r>
            <a:r>
              <a:rPr lang="en-US" dirty="0"/>
              <a:t> </a:t>
            </a:r>
            <a:r>
              <a:rPr lang="en-US" dirty="0" err="1"/>
              <a:t>koskevat</a:t>
            </a:r>
            <a:r>
              <a:rPr lang="en-US" dirty="0"/>
              <a:t> </a:t>
            </a:r>
            <a:r>
              <a:rPr lang="en-US" dirty="0" err="1"/>
              <a:t>vuoden</a:t>
            </a:r>
            <a:r>
              <a:rPr lang="en-US" dirty="0"/>
              <a:t> 2025 </a:t>
            </a:r>
            <a:r>
              <a:rPr lang="en-US" dirty="0" err="1"/>
              <a:t>liikevaihtoa</a:t>
            </a:r>
            <a:r>
              <a:rPr lang="en-US" dirty="0"/>
              <a:t>. </a:t>
            </a:r>
            <a:r>
              <a:rPr lang="en-US" dirty="0" err="1"/>
              <a:t>Korjaus</a:t>
            </a:r>
            <a:r>
              <a:rPr lang="en-US" dirty="0"/>
              <a:t> on </a:t>
            </a:r>
            <a:r>
              <a:rPr lang="en-US" dirty="0" err="1"/>
              <a:t>sovellettu</a:t>
            </a:r>
            <a:r>
              <a:rPr lang="en-US" dirty="0"/>
              <a:t> </a:t>
            </a:r>
            <a:r>
              <a:rPr lang="en-US" dirty="0" err="1"/>
              <a:t>tämän</a:t>
            </a:r>
            <a:r>
              <a:rPr lang="en-US" dirty="0"/>
              <a:t> </a:t>
            </a:r>
            <a:r>
              <a:rPr lang="en-US" dirty="0" err="1"/>
              <a:t>esityksen</a:t>
            </a:r>
            <a:r>
              <a:rPr lang="en-US" dirty="0"/>
              <a:t> </a:t>
            </a:r>
            <a:r>
              <a:rPr lang="en-US" dirty="0" err="1"/>
              <a:t>Suomen</a:t>
            </a:r>
            <a:r>
              <a:rPr lang="en-US" dirty="0"/>
              <a:t> </a:t>
            </a:r>
            <a:r>
              <a:rPr lang="en-US" dirty="0" err="1"/>
              <a:t>tilannekuvaan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esitä</a:t>
            </a:r>
            <a:r>
              <a:rPr lang="en-US" dirty="0"/>
              <a:t> </a:t>
            </a:r>
            <a:r>
              <a:rPr lang="en-US" dirty="0" err="1"/>
              <a:t>keksittyä</a:t>
            </a:r>
            <a:r>
              <a:rPr lang="en-US" dirty="0"/>
              <a:t> </a:t>
            </a:r>
            <a:r>
              <a:rPr lang="en-US" dirty="0" err="1"/>
              <a:t>ohjelmistobugia</a:t>
            </a:r>
            <a:r>
              <a:rPr lang="en-US" dirty="0"/>
              <a:t> tai </a:t>
            </a:r>
            <a:r>
              <a:rPr lang="en-US" dirty="0" err="1"/>
              <a:t>väitä</a:t>
            </a:r>
            <a:r>
              <a:rPr lang="en-US" dirty="0"/>
              <a:t> </a:t>
            </a:r>
            <a:r>
              <a:rPr lang="en-US" dirty="0" err="1"/>
              <a:t>äänestyssovelluksen</a:t>
            </a:r>
            <a:r>
              <a:rPr lang="en-US" dirty="0"/>
              <a:t> </a:t>
            </a:r>
            <a:r>
              <a:rPr lang="en-US" dirty="0" err="1"/>
              <a:t>syntyneen</a:t>
            </a:r>
            <a:r>
              <a:rPr lang="en-US" dirty="0"/>
              <a:t> </a:t>
            </a:r>
            <a:r>
              <a:rPr lang="en-US" dirty="0" err="1"/>
              <a:t>agentilla</a:t>
            </a:r>
            <a:r>
              <a:rPr lang="en-US" dirty="0"/>
              <a:t>.</a:t>
            </a:r>
          </a:p>
          <a:p>
            <a:r>
              <a:rPr lang="en-US" dirty="0" err="1"/>
              <a:t>Lähteet</a:t>
            </a:r>
            <a:r>
              <a:rPr lang="en-US" dirty="0"/>
              <a:t>: docs/13-research-refresh-2026-09-05.md ja </a:t>
            </a:r>
            <a:r>
              <a:rPr lang="en-US" dirty="0" err="1"/>
              <a:t>aiempi</a:t>
            </a:r>
            <a:r>
              <a:rPr lang="en-US" dirty="0"/>
              <a:t> HTML-</a:t>
            </a:r>
            <a:r>
              <a:rPr lang="en-US" dirty="0" err="1"/>
              <a:t>prototyyppi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teknologiateollisuus.fi</a:t>
            </a:r>
            <a:r>
              <a:rPr lang="en-US" dirty="0"/>
              <a:t>/</a:t>
            </a:r>
            <a:r>
              <a:rPr lang="en-US" dirty="0" err="1"/>
              <a:t>talous</a:t>
            </a:r>
            <a:r>
              <a:rPr lang="en-US" dirty="0"/>
              <a:t>-ja-</a:t>
            </a:r>
            <a:r>
              <a:rPr lang="en-US" dirty="0" err="1"/>
              <a:t>tilastot</a:t>
            </a:r>
            <a:r>
              <a:rPr lang="en-US" dirty="0"/>
              <a:t>/</a:t>
            </a:r>
            <a:r>
              <a:rPr lang="en-US" dirty="0" err="1"/>
              <a:t>teknologiateollisuuden-talousnakymat</a:t>
            </a:r>
            <a:r>
              <a:rPr lang="en-US" dirty="0"/>
              <a:t>/</a:t>
            </a:r>
            <a:r>
              <a:rPr lang="en-US" dirty="0" err="1"/>
              <a:t>tietotekniikka</a:t>
            </a:r>
            <a:r>
              <a:rPr lang="en-US" dirty="0"/>
              <a:t>-ala/</a:t>
            </a:r>
          </a:p>
          <a:p>
            <a:r>
              <a:rPr lang="en-US" dirty="0"/>
              <a:t>https://</a:t>
            </a:r>
            <a:r>
              <a:rPr lang="en-US" dirty="0" err="1"/>
              <a:t>teknologiateollisuus.fi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/economic-outlook-and-statistics/economic-outlook/information-technology-in-</a:t>
            </a:r>
            <a:r>
              <a:rPr lang="en-US" dirty="0" err="1"/>
              <a:t>finland</a:t>
            </a:r>
            <a:r>
              <a:rPr lang="en-US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8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0:18–0:20. </a:t>
            </a:r>
            <a:r>
              <a:rPr lang="en-US" dirty="0" err="1"/>
              <a:t>Tutkimusmuistio</a:t>
            </a:r>
            <a:r>
              <a:rPr lang="en-US" dirty="0"/>
              <a:t> </a:t>
            </a:r>
            <a:r>
              <a:rPr lang="en-US" dirty="0" err="1"/>
              <a:t>tarjosi</a:t>
            </a:r>
            <a:r>
              <a:rPr lang="en-US" dirty="0"/>
              <a:t> </a:t>
            </a:r>
            <a:r>
              <a:rPr lang="en-US" dirty="0" err="1"/>
              <a:t>lähdevertailun</a:t>
            </a:r>
            <a:r>
              <a:rPr lang="en-US" dirty="0"/>
              <a:t>. </a:t>
            </a:r>
            <a:r>
              <a:rPr lang="en-US" dirty="0" err="1"/>
              <a:t>Toimituksellinen</a:t>
            </a:r>
            <a:r>
              <a:rPr lang="en-US" dirty="0"/>
              <a:t> </a:t>
            </a:r>
            <a:r>
              <a:rPr lang="en-US" dirty="0" err="1"/>
              <a:t>päätös</a:t>
            </a:r>
            <a:r>
              <a:rPr lang="en-US" dirty="0"/>
              <a:t>: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lähdeversio</a:t>
            </a:r>
            <a:r>
              <a:rPr lang="en-US" dirty="0"/>
              <a:t> ja </a:t>
            </a:r>
            <a:r>
              <a:rPr lang="en-US" dirty="0" err="1"/>
              <a:t>havaintojaksot</a:t>
            </a:r>
            <a:r>
              <a:rPr lang="en-US" dirty="0"/>
              <a:t> </a:t>
            </a:r>
            <a:r>
              <a:rPr lang="en-US" dirty="0" err="1"/>
              <a:t>näkyviin</a:t>
            </a:r>
            <a:r>
              <a:rPr lang="en-US" dirty="0"/>
              <a:t>. </a:t>
            </a:r>
            <a:r>
              <a:rPr lang="en-US" dirty="0" err="1"/>
              <a:t>Erota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apu</a:t>
            </a:r>
            <a:r>
              <a:rPr lang="en-US" dirty="0"/>
              <a:t> </a:t>
            </a:r>
            <a:r>
              <a:rPr lang="en-US" dirty="0" err="1"/>
              <a:t>lähteiden</a:t>
            </a:r>
            <a:r>
              <a:rPr lang="en-US" dirty="0"/>
              <a:t> </a:t>
            </a:r>
            <a:r>
              <a:rPr lang="en-US" dirty="0" err="1"/>
              <a:t>käsittelyssä</a:t>
            </a:r>
            <a:r>
              <a:rPr lang="en-US" dirty="0"/>
              <a:t> </a:t>
            </a:r>
            <a:r>
              <a:rPr lang="en-US" dirty="0" err="1"/>
              <a:t>ihmisen</a:t>
            </a:r>
            <a:r>
              <a:rPr lang="en-US" dirty="0"/>
              <a:t> </a:t>
            </a:r>
            <a:r>
              <a:rPr lang="en-US" dirty="0" err="1"/>
              <a:t>vastuusta</a:t>
            </a:r>
            <a:r>
              <a:rPr lang="en-US" dirty="0"/>
              <a:t> </a:t>
            </a:r>
            <a:r>
              <a:rPr lang="en-US" dirty="0" err="1"/>
              <a:t>väitteeseen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yhdistele</a:t>
            </a:r>
            <a:r>
              <a:rPr lang="en-US" dirty="0"/>
              <a:t> </a:t>
            </a:r>
            <a:r>
              <a:rPr lang="en-US" dirty="0" err="1"/>
              <a:t>vanhoja</a:t>
            </a:r>
            <a:r>
              <a:rPr lang="en-US" dirty="0"/>
              <a:t> ja </a:t>
            </a:r>
            <a:r>
              <a:rPr lang="en-US" dirty="0" err="1"/>
              <a:t>uusia</a:t>
            </a:r>
            <a:r>
              <a:rPr lang="en-US" dirty="0"/>
              <a:t> </a:t>
            </a:r>
            <a:r>
              <a:rPr lang="en-US" dirty="0" err="1"/>
              <a:t>henkilöstölukuja</a:t>
            </a:r>
            <a:r>
              <a:rPr lang="en-US" dirty="0"/>
              <a:t> </a:t>
            </a:r>
            <a:r>
              <a:rPr lang="en-US" dirty="0" err="1"/>
              <a:t>yhtenäiseksi</a:t>
            </a:r>
            <a:r>
              <a:rPr lang="en-US" dirty="0"/>
              <a:t> </a:t>
            </a:r>
            <a:r>
              <a:rPr lang="en-US" dirty="0" err="1"/>
              <a:t>aikasarjaksi</a:t>
            </a:r>
            <a:r>
              <a:rPr lang="en-US" dirty="0"/>
              <a:t>.</a:t>
            </a:r>
          </a:p>
          <a:p>
            <a:r>
              <a:rPr lang="en-US" dirty="0"/>
              <a:t>Lähde: docs/13-research-refresh-2026-09-05.md.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116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0:20–0:22. </a:t>
            </a:r>
            <a:r>
              <a:rPr lang="en-US" dirty="0" err="1"/>
              <a:t>Halutessasi</a:t>
            </a:r>
            <a:r>
              <a:rPr lang="en-US" dirty="0"/>
              <a:t> </a:t>
            </a:r>
            <a:r>
              <a:rPr lang="en-US" dirty="0" err="1"/>
              <a:t>mainitse</a:t>
            </a:r>
            <a:r>
              <a:rPr lang="en-US" dirty="0"/>
              <a:t> </a:t>
            </a:r>
            <a:r>
              <a:rPr lang="en-US" dirty="0" err="1"/>
              <a:t>vuoden</a:t>
            </a:r>
            <a:r>
              <a:rPr lang="en-US" dirty="0"/>
              <a:t> 1968 </a:t>
            </a:r>
            <a:r>
              <a:rPr lang="en-US" dirty="0" err="1"/>
              <a:t>ohjelmistotekniikkakeskustelu</a:t>
            </a:r>
            <a:r>
              <a:rPr lang="en-US" dirty="0"/>
              <a:t> </a:t>
            </a:r>
            <a:r>
              <a:rPr lang="en-US" dirty="0" err="1"/>
              <a:t>yhdellä</a:t>
            </a:r>
            <a:r>
              <a:rPr lang="en-US" dirty="0"/>
              <a:t> </a:t>
            </a:r>
            <a:r>
              <a:rPr lang="en-US" dirty="0" err="1"/>
              <a:t>lauseella</a:t>
            </a:r>
            <a:r>
              <a:rPr lang="en-US" dirty="0"/>
              <a:t>. Brooks </a:t>
            </a:r>
            <a:r>
              <a:rPr lang="en-US" dirty="0" err="1"/>
              <a:t>erottaa</a:t>
            </a:r>
            <a:r>
              <a:rPr lang="en-US" dirty="0"/>
              <a:t> </a:t>
            </a:r>
            <a:r>
              <a:rPr lang="en-US" dirty="0" err="1"/>
              <a:t>ongelman</a:t>
            </a:r>
            <a:r>
              <a:rPr lang="en-US" dirty="0"/>
              <a:t> </a:t>
            </a:r>
            <a:r>
              <a:rPr lang="en-US" dirty="0" err="1"/>
              <a:t>olennaisen</a:t>
            </a:r>
            <a:r>
              <a:rPr lang="en-US" dirty="0"/>
              <a:t> </a:t>
            </a:r>
            <a:r>
              <a:rPr lang="en-US" dirty="0" err="1"/>
              <a:t>monimutkaisuuden</a:t>
            </a:r>
            <a:r>
              <a:rPr lang="en-US" dirty="0"/>
              <a:t> </a:t>
            </a:r>
            <a:r>
              <a:rPr lang="en-US" dirty="0" err="1"/>
              <a:t>toteutuksen</a:t>
            </a:r>
            <a:r>
              <a:rPr lang="en-US" dirty="0"/>
              <a:t> </a:t>
            </a:r>
            <a:r>
              <a:rPr lang="en-US" dirty="0" err="1"/>
              <a:t>satunnaisesta</a:t>
            </a:r>
            <a:r>
              <a:rPr lang="en-US" dirty="0"/>
              <a:t> </a:t>
            </a:r>
            <a:r>
              <a:rPr lang="en-US" dirty="0" err="1"/>
              <a:t>kitkasta</a:t>
            </a:r>
            <a:r>
              <a:rPr lang="en-US" dirty="0"/>
              <a:t>. </a:t>
            </a:r>
            <a:r>
              <a:rPr lang="en-US" dirty="0" err="1"/>
              <a:t>Suomenkieliset</a:t>
            </a:r>
            <a:r>
              <a:rPr lang="en-US" dirty="0"/>
              <a:t> </a:t>
            </a:r>
            <a:r>
              <a:rPr lang="en-US" dirty="0" err="1"/>
              <a:t>lauseet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esittäjän</a:t>
            </a:r>
            <a:r>
              <a:rPr lang="en-US" dirty="0"/>
              <a:t> </a:t>
            </a:r>
            <a:r>
              <a:rPr lang="en-US" dirty="0" err="1"/>
              <a:t>tulkintaa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suoria</a:t>
            </a:r>
            <a:r>
              <a:rPr lang="en-US" dirty="0"/>
              <a:t> </a:t>
            </a:r>
            <a:r>
              <a:rPr lang="en-US" dirty="0" err="1"/>
              <a:t>sitaatteja</a:t>
            </a:r>
            <a:r>
              <a:rPr lang="en-US" dirty="0"/>
              <a:t>. AI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 </a:t>
            </a:r>
            <a:r>
              <a:rPr lang="en-US" dirty="0" err="1"/>
              <a:t>myös</a:t>
            </a:r>
            <a:r>
              <a:rPr lang="en-US" dirty="0"/>
              <a:t> </a:t>
            </a:r>
            <a:r>
              <a:rPr lang="en-US" dirty="0" err="1"/>
              <a:t>käsitteellisissä</a:t>
            </a:r>
            <a:r>
              <a:rPr lang="en-US" dirty="0"/>
              <a:t> </a:t>
            </a:r>
            <a:r>
              <a:rPr lang="en-US" dirty="0" err="1"/>
              <a:t>ratkaisuissa</a:t>
            </a:r>
            <a:r>
              <a:rPr lang="en-US" dirty="0"/>
              <a:t>. Miten </a:t>
            </a:r>
            <a:r>
              <a:rPr lang="en-US" dirty="0" err="1"/>
              <a:t>ehdotukset</a:t>
            </a:r>
            <a:r>
              <a:rPr lang="en-US" dirty="0"/>
              <a:t> </a:t>
            </a:r>
            <a:r>
              <a:rPr lang="en-US" dirty="0" err="1"/>
              <a:t>arvioidaan</a:t>
            </a:r>
            <a:r>
              <a:rPr lang="en-US" dirty="0"/>
              <a:t>?</a:t>
            </a:r>
          </a:p>
          <a:p>
            <a:r>
              <a:rPr lang="en-US" dirty="0"/>
              <a:t>Fred Brooks, No Silver Bullet (1986/1987).</a:t>
            </a:r>
          </a:p>
          <a:p>
            <a:r>
              <a:rPr lang="en-US" dirty="0"/>
              <a:t>https://</a:t>
            </a:r>
            <a:r>
              <a:rPr lang="en-US" dirty="0" err="1"/>
              <a:t>dl.icdst.org</a:t>
            </a:r>
            <a:r>
              <a:rPr lang="en-US" dirty="0"/>
              <a:t>/pdfs/files3/f923b64c10c1292ad76c939911e3e3ac.pdf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59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0:22–0:24. </a:t>
            </a:r>
            <a:r>
              <a:rPr lang="en-US" dirty="0" err="1"/>
              <a:t>Naurin</a:t>
            </a:r>
            <a:r>
              <a:rPr lang="en-US" dirty="0"/>
              <a:t> theory building: </a:t>
            </a:r>
            <a:r>
              <a:rPr lang="en-US" dirty="0" err="1"/>
              <a:t>tekijä</a:t>
            </a:r>
            <a:r>
              <a:rPr lang="en-US" dirty="0"/>
              <a:t> </a:t>
            </a:r>
            <a:r>
              <a:rPr lang="en-US" dirty="0" err="1"/>
              <a:t>ymmärtää</a:t>
            </a:r>
            <a:r>
              <a:rPr lang="en-US" dirty="0"/>
              <a:t> </a:t>
            </a:r>
            <a:r>
              <a:rPr lang="en-US" dirty="0" err="1"/>
              <a:t>ongelman</a:t>
            </a:r>
            <a:r>
              <a:rPr lang="en-US" dirty="0"/>
              <a:t>, </a:t>
            </a:r>
            <a:r>
              <a:rPr lang="en-US" dirty="0" err="1"/>
              <a:t>ohjelman</a:t>
            </a:r>
            <a:r>
              <a:rPr lang="en-US" dirty="0"/>
              <a:t> ja </a:t>
            </a:r>
            <a:r>
              <a:rPr lang="en-US" dirty="0" err="1"/>
              <a:t>niiden</a:t>
            </a:r>
            <a:r>
              <a:rPr lang="en-US" dirty="0"/>
              <a:t> </a:t>
            </a:r>
            <a:r>
              <a:rPr lang="en-US" dirty="0" err="1"/>
              <a:t>suhteen</a:t>
            </a:r>
            <a:r>
              <a:rPr lang="en-US" dirty="0"/>
              <a:t>. </a:t>
            </a:r>
            <a:r>
              <a:rPr lang="en-US" dirty="0" err="1"/>
              <a:t>Muutos</a:t>
            </a:r>
            <a:r>
              <a:rPr lang="en-US" dirty="0"/>
              <a:t> </a:t>
            </a:r>
            <a:r>
              <a:rPr lang="en-US" dirty="0" err="1"/>
              <a:t>edellyttää</a:t>
            </a:r>
            <a:r>
              <a:rPr lang="en-US" dirty="0"/>
              <a:t> </a:t>
            </a:r>
            <a:r>
              <a:rPr lang="en-US" dirty="0" err="1"/>
              <a:t>tietoa</a:t>
            </a:r>
            <a:r>
              <a:rPr lang="en-US" dirty="0"/>
              <a:t> </a:t>
            </a:r>
            <a:r>
              <a:rPr lang="en-US" dirty="0" err="1"/>
              <a:t>siitä</a:t>
            </a:r>
            <a:r>
              <a:rPr lang="en-US" dirty="0"/>
              <a:t>, </a:t>
            </a:r>
            <a:r>
              <a:rPr lang="en-US" dirty="0" err="1"/>
              <a:t>miksi</a:t>
            </a:r>
            <a:r>
              <a:rPr lang="en-US" dirty="0"/>
              <a:t> </a:t>
            </a:r>
            <a:r>
              <a:rPr lang="en-US" dirty="0" err="1"/>
              <a:t>ratkaisu</a:t>
            </a:r>
            <a:r>
              <a:rPr lang="en-US" dirty="0"/>
              <a:t> on </a:t>
            </a:r>
            <a:r>
              <a:rPr lang="en-US" dirty="0" err="1"/>
              <a:t>tällainen</a:t>
            </a:r>
            <a:r>
              <a:rPr lang="en-US" dirty="0"/>
              <a:t>. </a:t>
            </a:r>
            <a:r>
              <a:rPr lang="en-US" dirty="0" err="1"/>
              <a:t>Pelkkä</a:t>
            </a:r>
            <a:r>
              <a:rPr lang="en-US" dirty="0"/>
              <a:t> </a:t>
            </a:r>
            <a:r>
              <a:rPr lang="en-US" dirty="0" err="1"/>
              <a:t>koodi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siirrä</a:t>
            </a:r>
            <a:r>
              <a:rPr lang="en-US" dirty="0"/>
              <a:t> </a:t>
            </a:r>
            <a:r>
              <a:rPr lang="en-US" dirty="0" err="1"/>
              <a:t>kaikkea</a:t>
            </a:r>
            <a:r>
              <a:rPr lang="en-US" dirty="0"/>
              <a:t> </a:t>
            </a:r>
            <a:r>
              <a:rPr lang="en-US" dirty="0" err="1"/>
              <a:t>tätä</a:t>
            </a:r>
            <a:r>
              <a:rPr lang="en-US" dirty="0"/>
              <a:t> </a:t>
            </a:r>
            <a:r>
              <a:rPr lang="en-US" dirty="0" err="1"/>
              <a:t>ymmärrystä</a:t>
            </a:r>
            <a:r>
              <a:rPr lang="en-US" dirty="0"/>
              <a:t>. </a:t>
            </a:r>
            <a:r>
              <a:rPr lang="en-US" dirty="0" err="1"/>
              <a:t>Siirtymä</a:t>
            </a:r>
            <a:r>
              <a:rPr lang="en-US" dirty="0"/>
              <a:t>: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voimme</a:t>
            </a:r>
            <a:r>
              <a:rPr lang="en-US" dirty="0"/>
              <a:t> </a:t>
            </a:r>
            <a:r>
              <a:rPr lang="en-US" dirty="0" err="1"/>
              <a:t>delegoida</a:t>
            </a:r>
            <a:r>
              <a:rPr lang="en-US" dirty="0"/>
              <a:t>,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annamme</a:t>
            </a:r>
            <a:r>
              <a:rPr lang="en-US" dirty="0"/>
              <a:t> </a:t>
            </a:r>
            <a:r>
              <a:rPr lang="en-US" dirty="0" err="1"/>
              <a:t>riittävästi</a:t>
            </a:r>
            <a:r>
              <a:rPr lang="en-US" dirty="0"/>
              <a:t> </a:t>
            </a:r>
            <a:r>
              <a:rPr lang="en-US" dirty="0" err="1"/>
              <a:t>kontekstia</a:t>
            </a:r>
            <a:r>
              <a:rPr lang="en-US" dirty="0"/>
              <a:t>?</a:t>
            </a:r>
          </a:p>
          <a:p>
            <a:r>
              <a:rPr lang="en-US" dirty="0"/>
              <a:t>Peter Naur, Programming as Theory Building (1985).</a:t>
            </a:r>
          </a:p>
          <a:p>
            <a:r>
              <a:rPr lang="en-US" dirty="0"/>
              <a:t>https://</a:t>
            </a:r>
            <a:r>
              <a:rPr lang="en-US" dirty="0" err="1"/>
              <a:t>gwern.net</a:t>
            </a:r>
            <a:r>
              <a:rPr lang="en-US" dirty="0"/>
              <a:t>/doc/cs/algorithm/1985-naur.pdf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33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0:24–0:26. Epoch </a:t>
            </a:r>
            <a:r>
              <a:rPr lang="en-US" dirty="0" err="1"/>
              <a:t>AI:n</a:t>
            </a:r>
            <a:r>
              <a:rPr lang="en-US" dirty="0"/>
              <a:t> ja </a:t>
            </a:r>
            <a:r>
              <a:rPr lang="en-US" dirty="0" err="1"/>
              <a:t>METR:n</a:t>
            </a:r>
            <a:r>
              <a:rPr lang="en-US" dirty="0"/>
              <a:t> </a:t>
            </a:r>
            <a:r>
              <a:rPr lang="en-US" dirty="0" err="1"/>
              <a:t>huhtikuun</a:t>
            </a:r>
            <a:r>
              <a:rPr lang="en-US" dirty="0"/>
              <a:t> </a:t>
            </a:r>
            <a:r>
              <a:rPr lang="en-US" dirty="0" err="1"/>
              <a:t>alustavat</a:t>
            </a:r>
            <a:r>
              <a:rPr lang="en-US" dirty="0"/>
              <a:t> </a:t>
            </a:r>
            <a:r>
              <a:rPr lang="en-US" dirty="0" err="1"/>
              <a:t>tulokset</a:t>
            </a:r>
            <a:r>
              <a:rPr lang="en-US" dirty="0"/>
              <a:t> </a:t>
            </a:r>
            <a:r>
              <a:rPr lang="en-US" dirty="0" err="1"/>
              <a:t>käsittelevät</a:t>
            </a:r>
            <a:r>
              <a:rPr lang="en-US" dirty="0"/>
              <a:t> </a:t>
            </a:r>
            <a:r>
              <a:rPr lang="en-US" dirty="0" err="1"/>
              <a:t>ohjelmien</a:t>
            </a:r>
            <a:r>
              <a:rPr lang="en-US" dirty="0"/>
              <a:t> </a:t>
            </a:r>
            <a:r>
              <a:rPr lang="en-US" dirty="0" err="1"/>
              <a:t>uudelleentoteutusta</a:t>
            </a:r>
            <a:r>
              <a:rPr lang="en-US" dirty="0"/>
              <a:t>. </a:t>
            </a:r>
            <a:r>
              <a:rPr lang="en-US" dirty="0" err="1"/>
              <a:t>gotree</a:t>
            </a:r>
            <a:r>
              <a:rPr lang="en-US" dirty="0"/>
              <a:t> on </a:t>
            </a:r>
            <a:r>
              <a:rPr lang="en-US" dirty="0" err="1"/>
              <a:t>noin</a:t>
            </a:r>
            <a:r>
              <a:rPr lang="en-US" dirty="0"/>
              <a:t> 16 000 </a:t>
            </a:r>
            <a:r>
              <a:rPr lang="en-US" dirty="0" err="1"/>
              <a:t>rivin</a:t>
            </a:r>
            <a:r>
              <a:rPr lang="en-US" dirty="0"/>
              <a:t> </a:t>
            </a:r>
            <a:r>
              <a:rPr lang="en-US" dirty="0" err="1"/>
              <a:t>vertailutyökalu</a:t>
            </a:r>
            <a:r>
              <a:rPr lang="en-US" dirty="0"/>
              <a:t>. </a:t>
            </a:r>
            <a:r>
              <a:rPr lang="en-US" dirty="0" err="1"/>
              <a:t>Arviointi</a:t>
            </a:r>
            <a:r>
              <a:rPr lang="en-US" dirty="0"/>
              <a:t> </a:t>
            </a:r>
            <a:r>
              <a:rPr lang="en-US" dirty="0" err="1"/>
              <a:t>kattoi</a:t>
            </a:r>
            <a:r>
              <a:rPr lang="en-US" dirty="0"/>
              <a:t> </a:t>
            </a:r>
            <a:r>
              <a:rPr lang="en-US" dirty="0" err="1"/>
              <a:t>valittuja</a:t>
            </a:r>
            <a:r>
              <a:rPr lang="en-US" dirty="0"/>
              <a:t> </a:t>
            </a:r>
            <a:r>
              <a:rPr lang="en-US" dirty="0" err="1"/>
              <a:t>toimintoja</a:t>
            </a:r>
            <a:r>
              <a:rPr lang="en-US" dirty="0"/>
              <a:t>. 2–17 </a:t>
            </a:r>
            <a:r>
              <a:rPr lang="en-US" dirty="0" err="1"/>
              <a:t>viikon</a:t>
            </a:r>
            <a:r>
              <a:rPr lang="en-US" dirty="0"/>
              <a:t> </a:t>
            </a:r>
            <a:r>
              <a:rPr lang="en-US" dirty="0" err="1"/>
              <a:t>ihmistyövertailu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asiantuntijoiden</a:t>
            </a:r>
            <a:r>
              <a:rPr lang="en-US" dirty="0"/>
              <a:t> </a:t>
            </a:r>
            <a:r>
              <a:rPr lang="en-US" dirty="0" err="1"/>
              <a:t>arvio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mitattu</a:t>
            </a:r>
            <a:r>
              <a:rPr lang="en-US" dirty="0"/>
              <a:t> </a:t>
            </a:r>
            <a:r>
              <a:rPr lang="en-US" dirty="0" err="1"/>
              <a:t>nopeutus</a:t>
            </a:r>
            <a:r>
              <a:rPr lang="en-US" dirty="0"/>
              <a:t>. </a:t>
            </a:r>
            <a:r>
              <a:rPr lang="en-US" dirty="0" err="1"/>
              <a:t>Pitkien</a:t>
            </a:r>
            <a:r>
              <a:rPr lang="en-US" dirty="0"/>
              <a:t> </a:t>
            </a:r>
            <a:r>
              <a:rPr lang="en-US" dirty="0" err="1"/>
              <a:t>tehtävien</a:t>
            </a:r>
            <a:r>
              <a:rPr lang="en-US" dirty="0"/>
              <a:t> </a:t>
            </a:r>
            <a:r>
              <a:rPr lang="en-US" dirty="0" err="1"/>
              <a:t>valmiit</a:t>
            </a:r>
            <a:r>
              <a:rPr lang="en-US" dirty="0"/>
              <a:t> </a:t>
            </a:r>
            <a:r>
              <a:rPr lang="en-US" dirty="0" err="1"/>
              <a:t>ihmisvertailut</a:t>
            </a:r>
            <a:r>
              <a:rPr lang="en-US" dirty="0"/>
              <a:t> </a:t>
            </a:r>
            <a:r>
              <a:rPr lang="en-US" dirty="0" err="1"/>
              <a:t>puuttuivat</a:t>
            </a:r>
            <a:r>
              <a:rPr lang="en-US" dirty="0"/>
              <a:t>. </a:t>
            </a:r>
            <a:r>
              <a:rPr lang="en-US" dirty="0" err="1"/>
              <a:t>Muistaminen</a:t>
            </a:r>
            <a:r>
              <a:rPr lang="en-US" dirty="0"/>
              <a:t> on </a:t>
            </a:r>
            <a:r>
              <a:rPr lang="en-US" dirty="0" err="1"/>
              <a:t>myös</a:t>
            </a:r>
            <a:r>
              <a:rPr lang="en-US" dirty="0"/>
              <a:t> </a:t>
            </a:r>
            <a:r>
              <a:rPr lang="en-US" dirty="0" err="1"/>
              <a:t>tunnistettu</a:t>
            </a:r>
            <a:r>
              <a:rPr lang="en-US" dirty="0"/>
              <a:t> </a:t>
            </a:r>
            <a:r>
              <a:rPr lang="en-US" dirty="0" err="1"/>
              <a:t>huoli</a:t>
            </a:r>
            <a:r>
              <a:rPr lang="en-US" dirty="0"/>
              <a:t>. </a:t>
            </a:r>
            <a:r>
              <a:rPr lang="en-US" dirty="0" err="1"/>
              <a:t>Vertailuohjelma</a:t>
            </a:r>
            <a:r>
              <a:rPr lang="en-US" dirty="0"/>
              <a:t> </a:t>
            </a:r>
            <a:r>
              <a:rPr lang="en-US" dirty="0" err="1"/>
              <a:t>antaa</a:t>
            </a:r>
            <a:r>
              <a:rPr lang="en-US" dirty="0"/>
              <a:t> </a:t>
            </a:r>
            <a:r>
              <a:rPr lang="en-US" dirty="0" err="1"/>
              <a:t>poikkeuksellisen</a:t>
            </a:r>
            <a:r>
              <a:rPr lang="en-US" dirty="0"/>
              <a:t> </a:t>
            </a:r>
            <a:r>
              <a:rPr lang="en-US" dirty="0" err="1"/>
              <a:t>tarkistettavan</a:t>
            </a:r>
            <a:r>
              <a:rPr lang="en-US" dirty="0"/>
              <a:t> </a:t>
            </a:r>
            <a:r>
              <a:rPr lang="en-US" dirty="0" err="1"/>
              <a:t>tavoitteen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epoch.ai</a:t>
            </a:r>
            <a:r>
              <a:rPr lang="en-US" dirty="0"/>
              <a:t>/publications/</a:t>
            </a:r>
            <a:r>
              <a:rPr lang="en-US" dirty="0" err="1"/>
              <a:t>mirrorcode</a:t>
            </a:r>
            <a:r>
              <a:rPr lang="en-US" dirty="0"/>
              <a:t>-preliminary-results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44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0:26–0:29. Kuvaa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työkierto</a:t>
            </a:r>
            <a:r>
              <a:rPr lang="en-US" dirty="0"/>
              <a:t>: </a:t>
            </a:r>
            <a:r>
              <a:rPr lang="en-US" dirty="0" err="1"/>
              <a:t>tavoite</a:t>
            </a:r>
            <a:r>
              <a:rPr lang="en-US" dirty="0"/>
              <a:t>, </a:t>
            </a:r>
            <a:r>
              <a:rPr lang="en-US" dirty="0" err="1"/>
              <a:t>konteksti</a:t>
            </a:r>
            <a:r>
              <a:rPr lang="en-US" dirty="0"/>
              <a:t>, </a:t>
            </a:r>
            <a:r>
              <a:rPr lang="en-US" dirty="0" err="1"/>
              <a:t>rajattu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, </a:t>
            </a:r>
            <a:r>
              <a:rPr lang="en-US" dirty="0" err="1"/>
              <a:t>näyttö</a:t>
            </a:r>
            <a:r>
              <a:rPr lang="en-US" dirty="0"/>
              <a:t>, </a:t>
            </a:r>
            <a:r>
              <a:rPr lang="en-US" dirty="0" err="1"/>
              <a:t>arvio</a:t>
            </a:r>
            <a:r>
              <a:rPr lang="en-US" dirty="0"/>
              <a:t> ja </a:t>
            </a:r>
            <a:r>
              <a:rPr lang="en-US" dirty="0" err="1"/>
              <a:t>parempi</a:t>
            </a:r>
            <a:r>
              <a:rPr lang="en-US" dirty="0"/>
              <a:t> </a:t>
            </a:r>
            <a:r>
              <a:rPr lang="en-US" dirty="0" err="1"/>
              <a:t>ympäristö</a:t>
            </a:r>
            <a:r>
              <a:rPr lang="en-US" dirty="0"/>
              <a:t> </a:t>
            </a:r>
            <a:r>
              <a:rPr lang="en-US" dirty="0" err="1"/>
              <a:t>seuraavalle</a:t>
            </a:r>
            <a:r>
              <a:rPr lang="en-US" dirty="0"/>
              <a:t> </a:t>
            </a:r>
            <a:r>
              <a:rPr lang="en-US" dirty="0" err="1"/>
              <a:t>tehtävälle</a:t>
            </a:r>
            <a:r>
              <a:rPr lang="en-US" dirty="0"/>
              <a:t>. </a:t>
            </a:r>
            <a:r>
              <a:rPr lang="en-US" dirty="0" err="1"/>
              <a:t>HubSpotin</a:t>
            </a:r>
            <a:r>
              <a:rPr lang="en-US" dirty="0"/>
              <a:t> </a:t>
            </a:r>
            <a:r>
              <a:rPr lang="en-US" dirty="0" err="1"/>
              <a:t>tapaus</a:t>
            </a:r>
            <a:r>
              <a:rPr lang="en-US" dirty="0"/>
              <a:t>: </a:t>
            </a:r>
            <a:r>
              <a:rPr lang="en-US" dirty="0" err="1"/>
              <a:t>palaute</a:t>
            </a:r>
            <a:r>
              <a:rPr lang="en-US" dirty="0"/>
              <a:t> ja </a:t>
            </a:r>
            <a:r>
              <a:rPr lang="en-US" dirty="0" err="1"/>
              <a:t>deterministiset</a:t>
            </a:r>
            <a:r>
              <a:rPr lang="en-US" dirty="0"/>
              <a:t> </a:t>
            </a:r>
            <a:r>
              <a:rPr lang="en-US" dirty="0" err="1"/>
              <a:t>elinkaaren</a:t>
            </a:r>
            <a:r>
              <a:rPr lang="en-US" dirty="0"/>
              <a:t> </a:t>
            </a:r>
            <a:r>
              <a:rPr lang="en-US" dirty="0" err="1"/>
              <a:t>vaiheet</a:t>
            </a:r>
            <a:r>
              <a:rPr lang="en-US" dirty="0"/>
              <a:t> </a:t>
            </a:r>
            <a:r>
              <a:rPr lang="en-US" dirty="0" err="1"/>
              <a:t>auttoivat</a:t>
            </a:r>
            <a:r>
              <a:rPr lang="en-US" dirty="0"/>
              <a:t> </a:t>
            </a:r>
            <a:r>
              <a:rPr lang="en-US" dirty="0" err="1"/>
              <a:t>keskeneräiseen</a:t>
            </a:r>
            <a:r>
              <a:rPr lang="en-US" dirty="0"/>
              <a:t> </a:t>
            </a:r>
            <a:r>
              <a:rPr lang="en-US" dirty="0" err="1"/>
              <a:t>agenttityöhön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esitä</a:t>
            </a:r>
            <a:r>
              <a:rPr lang="en-US" dirty="0"/>
              <a:t> PR-</a:t>
            </a:r>
            <a:r>
              <a:rPr lang="en-US" dirty="0" err="1"/>
              <a:t>määrää</a:t>
            </a:r>
            <a:r>
              <a:rPr lang="en-US" dirty="0"/>
              <a:t> </a:t>
            </a:r>
            <a:r>
              <a:rPr lang="en-US" dirty="0" err="1"/>
              <a:t>itsenäisenä</a:t>
            </a:r>
            <a:r>
              <a:rPr lang="en-US" dirty="0"/>
              <a:t> </a:t>
            </a:r>
            <a:r>
              <a:rPr lang="en-US" dirty="0" err="1"/>
              <a:t>tuottavuustodisteena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product.hubspot.com</a:t>
            </a:r>
            <a:r>
              <a:rPr lang="en-US" dirty="0"/>
              <a:t>/blog/cloud-coding-agents-at-</a:t>
            </a:r>
            <a:r>
              <a:rPr lang="en-US" dirty="0" err="1"/>
              <a:t>hubspot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97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0:29–0:31. </a:t>
            </a:r>
            <a:r>
              <a:rPr lang="en-US" dirty="0" err="1"/>
              <a:t>Käytä</a:t>
            </a:r>
            <a:r>
              <a:rPr lang="en-US" dirty="0"/>
              <a:t> </a:t>
            </a:r>
            <a:r>
              <a:rPr lang="en-US" dirty="0" err="1"/>
              <a:t>tapauksesta</a:t>
            </a:r>
            <a:r>
              <a:rPr lang="en-US" dirty="0"/>
              <a:t> </a:t>
            </a:r>
            <a:r>
              <a:rPr lang="en-US" dirty="0" err="1"/>
              <a:t>enintään</a:t>
            </a:r>
            <a:r>
              <a:rPr lang="en-US" dirty="0"/>
              <a:t> 60–90 </a:t>
            </a:r>
            <a:r>
              <a:rPr lang="en-US" dirty="0" err="1"/>
              <a:t>sekuntia</a:t>
            </a:r>
            <a:r>
              <a:rPr lang="en-US" dirty="0"/>
              <a:t>. </a:t>
            </a:r>
            <a:r>
              <a:rPr lang="en-US" dirty="0" err="1"/>
              <a:t>METR:n</a:t>
            </a:r>
            <a:r>
              <a:rPr lang="en-US" dirty="0"/>
              <a:t> 26.8.2026 </a:t>
            </a:r>
            <a:r>
              <a:rPr lang="en-US" dirty="0" err="1"/>
              <a:t>tutkinta</a:t>
            </a:r>
            <a:r>
              <a:rPr lang="en-US" dirty="0"/>
              <a:t> </a:t>
            </a:r>
            <a:r>
              <a:rPr lang="en-US" dirty="0" err="1"/>
              <a:t>koski</a:t>
            </a:r>
            <a:r>
              <a:rPr lang="en-US" dirty="0"/>
              <a:t> </a:t>
            </a:r>
            <a:r>
              <a:rPr lang="en-US" dirty="0" err="1"/>
              <a:t>OpenAI:n</a:t>
            </a:r>
            <a:r>
              <a:rPr lang="en-US" dirty="0"/>
              <a:t> </a:t>
            </a:r>
            <a:r>
              <a:rPr lang="en-US" dirty="0" err="1"/>
              <a:t>tietoturva-arviointeja</a:t>
            </a:r>
            <a:r>
              <a:rPr lang="en-US" dirty="0"/>
              <a:t>, </a:t>
            </a:r>
            <a:r>
              <a:rPr lang="en-US" dirty="0" err="1"/>
              <a:t>joissa</a:t>
            </a:r>
            <a:r>
              <a:rPr lang="en-US" dirty="0"/>
              <a:t> </a:t>
            </a:r>
            <a:r>
              <a:rPr lang="en-US" dirty="0" err="1"/>
              <a:t>agentit</a:t>
            </a:r>
            <a:r>
              <a:rPr lang="en-US" dirty="0"/>
              <a:t> </a:t>
            </a:r>
            <a:r>
              <a:rPr lang="en-US" dirty="0" err="1"/>
              <a:t>ylittivät</a:t>
            </a:r>
            <a:r>
              <a:rPr lang="en-US" dirty="0"/>
              <a:t> </a:t>
            </a:r>
            <a:r>
              <a:rPr lang="en-US" dirty="0" err="1"/>
              <a:t>tarkoitettuja</a:t>
            </a:r>
            <a:r>
              <a:rPr lang="en-US" dirty="0"/>
              <a:t> </a:t>
            </a:r>
            <a:r>
              <a:rPr lang="en-US" dirty="0" err="1"/>
              <a:t>eristysrajoja</a:t>
            </a:r>
            <a:r>
              <a:rPr lang="en-US" dirty="0"/>
              <a:t> ja </a:t>
            </a:r>
            <a:r>
              <a:rPr lang="en-US" dirty="0" err="1"/>
              <a:t>tekivät</a:t>
            </a:r>
            <a:r>
              <a:rPr lang="en-US" dirty="0"/>
              <a:t> </a:t>
            </a:r>
            <a:r>
              <a:rPr lang="en-US" dirty="0" err="1"/>
              <a:t>luvattomia</a:t>
            </a:r>
            <a:r>
              <a:rPr lang="en-US" dirty="0"/>
              <a:t> </a:t>
            </a:r>
            <a:r>
              <a:rPr lang="en-US" dirty="0" err="1"/>
              <a:t>toimia</a:t>
            </a:r>
            <a:r>
              <a:rPr lang="en-US" dirty="0"/>
              <a:t>. </a:t>
            </a:r>
            <a:r>
              <a:rPr lang="en-US" dirty="0" err="1"/>
              <a:t>Poikkeavan</a:t>
            </a:r>
            <a:r>
              <a:rPr lang="en-US" dirty="0"/>
              <a:t> </a:t>
            </a:r>
            <a:r>
              <a:rPr lang="en-US" dirty="0" err="1"/>
              <a:t>tutkimusympäristön</a:t>
            </a:r>
            <a:r>
              <a:rPr lang="en-US" dirty="0"/>
              <a:t> </a:t>
            </a:r>
            <a:r>
              <a:rPr lang="en-US" dirty="0" err="1"/>
              <a:t>suojaukset</a:t>
            </a:r>
            <a:r>
              <a:rPr lang="en-US" dirty="0"/>
              <a:t> </a:t>
            </a:r>
            <a:r>
              <a:rPr lang="en-US" dirty="0" err="1"/>
              <a:t>erosivat</a:t>
            </a:r>
            <a:r>
              <a:rPr lang="en-US" dirty="0"/>
              <a:t> </a:t>
            </a:r>
            <a:r>
              <a:rPr lang="en-US" dirty="0" err="1"/>
              <a:t>julkaistuista</a:t>
            </a:r>
            <a:r>
              <a:rPr lang="en-US" dirty="0"/>
              <a:t> </a:t>
            </a:r>
            <a:r>
              <a:rPr lang="en-US" dirty="0" err="1"/>
              <a:t>järjestelmistä</a:t>
            </a:r>
            <a:r>
              <a:rPr lang="en-US" dirty="0"/>
              <a:t>. Tutkinnan </a:t>
            </a:r>
            <a:r>
              <a:rPr lang="en-US" dirty="0" err="1"/>
              <a:t>kattavuus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rajallinen</a:t>
            </a:r>
            <a:r>
              <a:rPr lang="en-US" dirty="0"/>
              <a:t> ja </a:t>
            </a:r>
            <a:r>
              <a:rPr lang="en-US" dirty="0" err="1"/>
              <a:t>analyysissa</a:t>
            </a:r>
            <a:r>
              <a:rPr lang="en-US" dirty="0"/>
              <a:t> </a:t>
            </a:r>
            <a:r>
              <a:rPr lang="en-US" dirty="0" err="1"/>
              <a:t>käytettiin</a:t>
            </a:r>
            <a:r>
              <a:rPr lang="en-US" dirty="0"/>
              <a:t> </a:t>
            </a:r>
            <a:r>
              <a:rPr lang="en-US" dirty="0" err="1"/>
              <a:t>AI:ta</a:t>
            </a:r>
            <a:r>
              <a:rPr lang="en-US" dirty="0"/>
              <a:t>. Ei </a:t>
            </a:r>
            <a:r>
              <a:rPr lang="en-US" dirty="0" err="1"/>
              <a:t>tavallisten</a:t>
            </a:r>
            <a:r>
              <a:rPr lang="en-US" dirty="0"/>
              <a:t> </a:t>
            </a:r>
            <a:r>
              <a:rPr lang="en-US" dirty="0" err="1"/>
              <a:t>työpaikka-agenttien</a:t>
            </a:r>
            <a:r>
              <a:rPr lang="en-US" dirty="0"/>
              <a:t> </a:t>
            </a:r>
            <a:r>
              <a:rPr lang="en-US" dirty="0" err="1"/>
              <a:t>esiintyvyysarvio</a:t>
            </a:r>
            <a:r>
              <a:rPr lang="en-US" dirty="0"/>
              <a:t>. Ei </a:t>
            </a:r>
            <a:r>
              <a:rPr lang="en-US" dirty="0" err="1"/>
              <a:t>hyökkäysohjeita</a:t>
            </a:r>
            <a:r>
              <a:rPr lang="en-US" dirty="0"/>
              <a:t>. Oma </a:t>
            </a:r>
            <a:r>
              <a:rPr lang="en-US" dirty="0" err="1"/>
              <a:t>tulkinta</a:t>
            </a:r>
            <a:r>
              <a:rPr lang="en-US" dirty="0"/>
              <a:t>: </a:t>
            </a:r>
            <a:r>
              <a:rPr lang="en-US" dirty="0" err="1"/>
              <a:t>autonomia</a:t>
            </a:r>
            <a:r>
              <a:rPr lang="en-US" dirty="0"/>
              <a:t> </a:t>
            </a:r>
            <a:r>
              <a:rPr lang="en-US" dirty="0" err="1"/>
              <a:t>suhteutetaan</a:t>
            </a:r>
            <a:r>
              <a:rPr lang="en-US" dirty="0"/>
              <a:t> </a:t>
            </a:r>
            <a:r>
              <a:rPr lang="en-US" dirty="0" err="1"/>
              <a:t>seurauksiin</a:t>
            </a:r>
            <a:r>
              <a:rPr lang="en-US" dirty="0"/>
              <a:t>, </a:t>
            </a:r>
            <a:r>
              <a:rPr lang="en-US" dirty="0" err="1"/>
              <a:t>palautettavuuteen</a:t>
            </a:r>
            <a:r>
              <a:rPr lang="en-US" dirty="0"/>
              <a:t>, </a:t>
            </a:r>
            <a:r>
              <a:rPr lang="en-US" dirty="0" err="1"/>
              <a:t>arvioitavuuteen</a:t>
            </a:r>
            <a:r>
              <a:rPr lang="en-US" dirty="0"/>
              <a:t> ja </a:t>
            </a:r>
            <a:r>
              <a:rPr lang="en-US" dirty="0" err="1"/>
              <a:t>elinkaareen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metr.org</a:t>
            </a:r>
            <a:r>
              <a:rPr lang="en-US" dirty="0"/>
              <a:t>/blog/2026-08-26-openai-hugging-face-incident-investigation/</a:t>
            </a:r>
          </a:p>
          <a:p>
            <a:r>
              <a:rPr lang="en-US" dirty="0"/>
              <a:t>https://</a:t>
            </a:r>
            <a:r>
              <a:rPr lang="en-US" dirty="0" err="1"/>
              <a:t>openai.com</a:t>
            </a:r>
            <a:r>
              <a:rPr lang="en-US" dirty="0"/>
              <a:t>/index/hugging-face-incident-and-the-road-ahead/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93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0:31–0:33. Microsoft: 26,08 % </a:t>
            </a:r>
            <a:r>
              <a:rPr lang="en-US" dirty="0" err="1"/>
              <a:t>enemmän</a:t>
            </a:r>
            <a:r>
              <a:rPr lang="en-US" dirty="0"/>
              <a:t> </a:t>
            </a:r>
            <a:r>
              <a:rPr lang="en-US" dirty="0" err="1"/>
              <a:t>valmistuneita</a:t>
            </a:r>
            <a:r>
              <a:rPr lang="en-US" dirty="0"/>
              <a:t> </a:t>
            </a:r>
            <a:r>
              <a:rPr lang="en-US" dirty="0" err="1"/>
              <a:t>tehtäviä</a:t>
            </a:r>
            <a:r>
              <a:rPr lang="en-US" dirty="0"/>
              <a:t>, </a:t>
            </a:r>
            <a:r>
              <a:rPr lang="en-US" dirty="0" err="1"/>
              <a:t>keskivirhe</a:t>
            </a:r>
            <a:r>
              <a:rPr lang="en-US" dirty="0"/>
              <a:t> 10,3 </a:t>
            </a:r>
            <a:r>
              <a:rPr lang="en-US" dirty="0" err="1"/>
              <a:t>prosenttiyksikköä</a:t>
            </a:r>
            <a:r>
              <a:rPr lang="en-US" dirty="0"/>
              <a:t>. </a:t>
            </a:r>
            <a:r>
              <a:rPr lang="en-US" dirty="0" err="1"/>
              <a:t>Kolmen</a:t>
            </a:r>
            <a:r>
              <a:rPr lang="en-US" dirty="0"/>
              <a:t> </a:t>
            </a:r>
            <a:r>
              <a:rPr lang="en-US" dirty="0" err="1"/>
              <a:t>kenttäkokeen</a:t>
            </a:r>
            <a:r>
              <a:rPr lang="en-US" dirty="0"/>
              <a:t> </a:t>
            </a:r>
            <a:r>
              <a:rPr lang="en-US" dirty="0" err="1"/>
              <a:t>yhdistelmässä</a:t>
            </a:r>
            <a:r>
              <a:rPr lang="en-US" dirty="0"/>
              <a:t> 4 867 </a:t>
            </a:r>
            <a:r>
              <a:rPr lang="en-US" dirty="0" err="1"/>
              <a:t>kehittäjää</a:t>
            </a:r>
            <a:r>
              <a:rPr lang="en-US" dirty="0"/>
              <a:t>. METR: 19 % </a:t>
            </a:r>
            <a:r>
              <a:rPr lang="en-US" dirty="0" err="1"/>
              <a:t>enemmän</a:t>
            </a:r>
            <a:r>
              <a:rPr lang="en-US" dirty="0"/>
              <a:t> </a:t>
            </a:r>
            <a:r>
              <a:rPr lang="en-US" dirty="0" err="1"/>
              <a:t>suoritusaikaa</a:t>
            </a:r>
            <a:r>
              <a:rPr lang="en-US" dirty="0"/>
              <a:t>, 16 </a:t>
            </a:r>
            <a:r>
              <a:rPr lang="en-US" dirty="0" err="1"/>
              <a:t>kokenutta</a:t>
            </a:r>
            <a:r>
              <a:rPr lang="en-US" dirty="0"/>
              <a:t> </a:t>
            </a:r>
            <a:r>
              <a:rPr lang="en-US" dirty="0" err="1"/>
              <a:t>avoimen</a:t>
            </a:r>
            <a:r>
              <a:rPr lang="en-US" dirty="0"/>
              <a:t> </a:t>
            </a:r>
            <a:r>
              <a:rPr lang="en-US" dirty="0" err="1"/>
              <a:t>lähdekoodin</a:t>
            </a:r>
            <a:r>
              <a:rPr lang="en-US" dirty="0"/>
              <a:t> </a:t>
            </a:r>
            <a:r>
              <a:rPr lang="en-US" dirty="0" err="1"/>
              <a:t>kontribuoijaa</a:t>
            </a:r>
            <a:r>
              <a:rPr lang="en-US" dirty="0"/>
              <a:t>, 246 </a:t>
            </a:r>
            <a:r>
              <a:rPr lang="en-US" dirty="0" err="1"/>
              <a:t>tehtävää</a:t>
            </a:r>
            <a:r>
              <a:rPr lang="en-US" dirty="0"/>
              <a:t> </a:t>
            </a:r>
            <a:r>
              <a:rPr lang="en-US" dirty="0" err="1"/>
              <a:t>tutuissa</a:t>
            </a:r>
            <a:r>
              <a:rPr lang="en-US" dirty="0"/>
              <a:t> </a:t>
            </a:r>
            <a:r>
              <a:rPr lang="en-US" dirty="0" err="1"/>
              <a:t>repositorioissa</a:t>
            </a:r>
            <a:r>
              <a:rPr lang="en-US" dirty="0"/>
              <a:t>, </a:t>
            </a:r>
            <a:r>
              <a:rPr lang="en-US" dirty="0" err="1"/>
              <a:t>alkuvuoden</a:t>
            </a:r>
            <a:r>
              <a:rPr lang="en-US" dirty="0"/>
              <a:t> 2025 </a:t>
            </a:r>
            <a:r>
              <a:rPr lang="en-US" dirty="0" err="1"/>
              <a:t>työkalut</a:t>
            </a:r>
            <a:r>
              <a:rPr lang="en-US" dirty="0"/>
              <a:t>. </a:t>
            </a:r>
            <a:r>
              <a:rPr lang="en-US" dirty="0" err="1"/>
              <a:t>Mittarit</a:t>
            </a:r>
            <a:r>
              <a:rPr lang="en-US" dirty="0"/>
              <a:t> ja </a:t>
            </a:r>
            <a:r>
              <a:rPr lang="en-US" dirty="0" err="1"/>
              <a:t>asetelmat</a:t>
            </a:r>
            <a:r>
              <a:rPr lang="en-US" dirty="0"/>
              <a:t> </a:t>
            </a:r>
            <a:r>
              <a:rPr lang="en-US" dirty="0" err="1"/>
              <a:t>eroavat</a:t>
            </a:r>
            <a:r>
              <a:rPr lang="en-US" dirty="0"/>
              <a:t>. </a:t>
            </a:r>
            <a:r>
              <a:rPr lang="en-US" dirty="0" err="1"/>
              <a:t>Luvut</a:t>
            </a:r>
            <a:r>
              <a:rPr lang="en-US" dirty="0"/>
              <a:t> </a:t>
            </a:r>
            <a:r>
              <a:rPr lang="en-US" dirty="0" err="1"/>
              <a:t>eivät</a:t>
            </a:r>
            <a:r>
              <a:rPr lang="en-US" dirty="0"/>
              <a:t> ole </a:t>
            </a:r>
            <a:r>
              <a:rPr lang="en-US" dirty="0" err="1"/>
              <a:t>yleisiä</a:t>
            </a:r>
            <a:r>
              <a:rPr lang="en-US" dirty="0"/>
              <a:t> </a:t>
            </a:r>
            <a:r>
              <a:rPr lang="en-US" dirty="0" err="1"/>
              <a:t>vakioita</a:t>
            </a:r>
            <a:r>
              <a:rPr lang="en-US" dirty="0"/>
              <a:t> </a:t>
            </a:r>
            <a:r>
              <a:rPr lang="en-US" dirty="0" err="1"/>
              <a:t>eikä</a:t>
            </a:r>
            <a:r>
              <a:rPr lang="en-US" dirty="0"/>
              <a:t> </a:t>
            </a:r>
            <a:r>
              <a:rPr lang="en-US" dirty="0" err="1"/>
              <a:t>niitä</a:t>
            </a:r>
            <a:r>
              <a:rPr lang="en-US" dirty="0"/>
              <a:t> </a:t>
            </a:r>
            <a:r>
              <a:rPr lang="en-US" dirty="0" err="1"/>
              <a:t>pidä</a:t>
            </a:r>
            <a:r>
              <a:rPr lang="en-US" dirty="0"/>
              <a:t> </a:t>
            </a:r>
            <a:r>
              <a:rPr lang="en-US" dirty="0" err="1"/>
              <a:t>sijoittaa</a:t>
            </a:r>
            <a:r>
              <a:rPr lang="en-US" dirty="0"/>
              <a:t> </a:t>
            </a:r>
            <a:r>
              <a:rPr lang="en-US" dirty="0" err="1"/>
              <a:t>samalle</a:t>
            </a:r>
            <a:r>
              <a:rPr lang="en-US" dirty="0"/>
              <a:t> </a:t>
            </a:r>
            <a:r>
              <a:rPr lang="en-US" dirty="0" err="1"/>
              <a:t>prosenttiakselille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www.microsoft.com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-us/research/publication/the-effects-of-generative-ai-on-high-skilled-work-evidence-from-three-field-experiments-with-software-developers/</a:t>
            </a:r>
          </a:p>
          <a:p>
            <a:r>
              <a:rPr lang="en-US" dirty="0"/>
              <a:t>https://</a:t>
            </a:r>
            <a:r>
              <a:rPr lang="en-US" dirty="0" err="1"/>
              <a:t>metr.org</a:t>
            </a:r>
            <a:r>
              <a:rPr lang="en-US" dirty="0"/>
              <a:t>/blog/2025-07-10-early-2025-ai-experienced-os-dev-study/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99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0:33–0:34. </a:t>
            </a:r>
            <a:r>
              <a:rPr lang="en-US" dirty="0" err="1"/>
              <a:t>METR:n</a:t>
            </a:r>
            <a:r>
              <a:rPr lang="en-US" dirty="0"/>
              <a:t> </a:t>
            </a:r>
            <a:r>
              <a:rPr lang="en-US" dirty="0" err="1"/>
              <a:t>helmikuun</a:t>
            </a:r>
            <a:r>
              <a:rPr lang="en-US" dirty="0"/>
              <a:t> 2026 </a:t>
            </a:r>
            <a:r>
              <a:rPr lang="en-US" dirty="0" err="1"/>
              <a:t>jatkotutkimus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pystynyt</a:t>
            </a:r>
            <a:r>
              <a:rPr lang="en-US" dirty="0"/>
              <a:t> </a:t>
            </a:r>
            <a:r>
              <a:rPr lang="en-US" dirty="0" err="1"/>
              <a:t>muodostamaan</a:t>
            </a:r>
            <a:r>
              <a:rPr lang="en-US" dirty="0"/>
              <a:t> </a:t>
            </a:r>
            <a:r>
              <a:rPr lang="en-US" dirty="0" err="1"/>
              <a:t>luotettavaa</a:t>
            </a:r>
            <a:r>
              <a:rPr lang="en-US" dirty="0"/>
              <a:t> </a:t>
            </a:r>
            <a:r>
              <a:rPr lang="en-US" dirty="0" err="1"/>
              <a:t>nykyvaikutuksen</a:t>
            </a:r>
            <a:r>
              <a:rPr lang="en-US" dirty="0"/>
              <a:t> </a:t>
            </a:r>
            <a:r>
              <a:rPr lang="en-US" dirty="0" err="1"/>
              <a:t>arviota</a:t>
            </a:r>
            <a:r>
              <a:rPr lang="en-US" dirty="0"/>
              <a:t> </a:t>
            </a:r>
            <a:r>
              <a:rPr lang="en-US" dirty="0" err="1"/>
              <a:t>valikoitumis</a:t>
            </a:r>
            <a:r>
              <a:rPr lang="en-US" dirty="0"/>
              <a:t>- ja </a:t>
            </a:r>
            <a:r>
              <a:rPr lang="en-US" dirty="0" err="1"/>
              <a:t>mittausongelmien</a:t>
            </a:r>
            <a:r>
              <a:rPr lang="en-US" dirty="0"/>
              <a:t> </a:t>
            </a:r>
            <a:r>
              <a:rPr lang="en-US" dirty="0" err="1"/>
              <a:t>vuoksi</a:t>
            </a:r>
            <a:r>
              <a:rPr lang="en-US" dirty="0"/>
              <a:t>. Sano </a:t>
            </a:r>
            <a:r>
              <a:rPr lang="en-US" dirty="0" err="1"/>
              <a:t>tämä</a:t>
            </a:r>
            <a:r>
              <a:rPr lang="en-US" dirty="0"/>
              <a:t> </a:t>
            </a:r>
            <a:r>
              <a:rPr lang="en-US" dirty="0" err="1"/>
              <a:t>ääneen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huoneen</a:t>
            </a:r>
            <a:r>
              <a:rPr lang="en-US" dirty="0"/>
              <a:t> </a:t>
            </a:r>
            <a:r>
              <a:rPr lang="en-US" dirty="0" err="1"/>
              <a:t>koettua</a:t>
            </a:r>
            <a:r>
              <a:rPr lang="en-US" dirty="0"/>
              <a:t> </a:t>
            </a:r>
            <a:r>
              <a:rPr lang="en-US" dirty="0" err="1"/>
              <a:t>nopeutta</a:t>
            </a:r>
            <a:r>
              <a:rPr lang="en-US" dirty="0"/>
              <a:t> </a:t>
            </a:r>
            <a:r>
              <a:rPr lang="en-US" dirty="0" err="1"/>
              <a:t>koskeneeseen</a:t>
            </a:r>
            <a:r>
              <a:rPr lang="en-US" dirty="0"/>
              <a:t> </a:t>
            </a:r>
            <a:r>
              <a:rPr lang="en-US" dirty="0" err="1"/>
              <a:t>kysymykseen</a:t>
            </a:r>
            <a:r>
              <a:rPr lang="en-US" dirty="0"/>
              <a:t> </a:t>
            </a:r>
            <a:r>
              <a:rPr lang="en-US" dirty="0" err="1"/>
              <a:t>ilman</a:t>
            </a:r>
            <a:r>
              <a:rPr lang="en-US" dirty="0"/>
              <a:t> </a:t>
            </a:r>
            <a:r>
              <a:rPr lang="en-US" dirty="0" err="1"/>
              <a:t>oletusta</a:t>
            </a:r>
            <a:r>
              <a:rPr lang="en-US" dirty="0"/>
              <a:t> </a:t>
            </a:r>
            <a:r>
              <a:rPr lang="en-US" dirty="0" err="1"/>
              <a:t>osallistujien</a:t>
            </a:r>
            <a:r>
              <a:rPr lang="en-US" dirty="0"/>
              <a:t> </a:t>
            </a:r>
            <a:r>
              <a:rPr lang="en-US" dirty="0" err="1"/>
              <a:t>vastauksista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metr.org</a:t>
            </a:r>
            <a:r>
              <a:rPr lang="en-US" dirty="0"/>
              <a:t>/blog/2026-02-24-uplift-update/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6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0:34–0:36. </a:t>
            </a:r>
            <a:r>
              <a:rPr lang="en-US" dirty="0" err="1"/>
              <a:t>Tehtävän</a:t>
            </a:r>
            <a:r>
              <a:rPr lang="en-US" dirty="0"/>
              <a:t> </a:t>
            </a:r>
            <a:r>
              <a:rPr lang="en-US" dirty="0" err="1"/>
              <a:t>valmistuminen</a:t>
            </a:r>
            <a:r>
              <a:rPr lang="en-US" dirty="0"/>
              <a:t>, </a:t>
            </a:r>
            <a:r>
              <a:rPr lang="en-US" dirty="0" err="1"/>
              <a:t>tiimin</a:t>
            </a:r>
            <a:r>
              <a:rPr lang="en-US" dirty="0"/>
              <a:t> </a:t>
            </a:r>
            <a:r>
              <a:rPr lang="en-US" dirty="0" err="1"/>
              <a:t>toimitus</a:t>
            </a:r>
            <a:r>
              <a:rPr lang="en-US" dirty="0"/>
              <a:t> ja </a:t>
            </a:r>
            <a:r>
              <a:rPr lang="en-US" dirty="0" err="1"/>
              <a:t>asiakkaan</a:t>
            </a:r>
            <a:r>
              <a:rPr lang="en-US" dirty="0"/>
              <a:t> </a:t>
            </a:r>
            <a:r>
              <a:rPr lang="en-US" dirty="0" err="1"/>
              <a:t>hyöty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eri</a:t>
            </a:r>
            <a:r>
              <a:rPr lang="en-US" dirty="0"/>
              <a:t> </a:t>
            </a:r>
            <a:r>
              <a:rPr lang="en-US" dirty="0" err="1"/>
              <a:t>tuloksia</a:t>
            </a:r>
            <a:r>
              <a:rPr lang="en-US" dirty="0"/>
              <a:t>. </a:t>
            </a:r>
            <a:r>
              <a:rPr lang="en-US" dirty="0" err="1"/>
              <a:t>DORA:n</a:t>
            </a:r>
            <a:r>
              <a:rPr lang="en-US" dirty="0"/>
              <a:t> </a:t>
            </a:r>
            <a:r>
              <a:rPr lang="en-US" dirty="0" err="1"/>
              <a:t>maaliskuun</a:t>
            </a:r>
            <a:r>
              <a:rPr lang="en-US" dirty="0"/>
              <a:t> 2026 </a:t>
            </a:r>
            <a:r>
              <a:rPr lang="en-US" dirty="0" err="1"/>
              <a:t>synteesi</a:t>
            </a:r>
            <a:r>
              <a:rPr lang="en-US" dirty="0"/>
              <a:t> </a:t>
            </a:r>
            <a:r>
              <a:rPr lang="en-US" dirty="0" err="1"/>
              <a:t>nojaa</a:t>
            </a:r>
            <a:r>
              <a:rPr lang="en-US" dirty="0"/>
              <a:t> </a:t>
            </a:r>
            <a:r>
              <a:rPr lang="en-US" dirty="0" err="1"/>
              <a:t>vuoden</a:t>
            </a:r>
            <a:r>
              <a:rPr lang="en-US" dirty="0"/>
              <a:t> 2025 </a:t>
            </a:r>
            <a:r>
              <a:rPr lang="en-US" dirty="0" err="1"/>
              <a:t>aineistoon</a:t>
            </a:r>
            <a:r>
              <a:rPr lang="en-US" dirty="0"/>
              <a:t>. </a:t>
            </a:r>
            <a:r>
              <a:rPr lang="en-US" dirty="0" err="1"/>
              <a:t>Suurempi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käyttö</a:t>
            </a:r>
            <a:r>
              <a:rPr lang="en-US" dirty="0"/>
              <a:t> </a:t>
            </a:r>
            <a:r>
              <a:rPr lang="en-US" dirty="0" err="1"/>
              <a:t>liittyi</a:t>
            </a:r>
            <a:r>
              <a:rPr lang="en-US" dirty="0"/>
              <a:t> </a:t>
            </a:r>
            <a:r>
              <a:rPr lang="en-US" dirty="0" err="1"/>
              <a:t>sekä</a:t>
            </a:r>
            <a:r>
              <a:rPr lang="en-US" dirty="0"/>
              <a:t> </a:t>
            </a:r>
            <a:r>
              <a:rPr lang="en-US" dirty="0" err="1"/>
              <a:t>suurempaan</a:t>
            </a:r>
            <a:r>
              <a:rPr lang="en-US" dirty="0"/>
              <a:t> </a:t>
            </a:r>
            <a:r>
              <a:rPr lang="en-US" dirty="0" err="1"/>
              <a:t>läpimenoon</a:t>
            </a:r>
            <a:r>
              <a:rPr lang="en-US" dirty="0"/>
              <a:t>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suurempaan</a:t>
            </a:r>
            <a:r>
              <a:rPr lang="en-US" dirty="0"/>
              <a:t> </a:t>
            </a:r>
            <a:r>
              <a:rPr lang="en-US" dirty="0" err="1"/>
              <a:t>epävakauteen</a:t>
            </a:r>
            <a:r>
              <a:rPr lang="en-US" dirty="0"/>
              <a:t>. </a:t>
            </a:r>
            <a:r>
              <a:rPr lang="en-US" dirty="0" err="1"/>
              <a:t>Yhteys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syy-seuraustakuu</a:t>
            </a:r>
            <a:r>
              <a:rPr lang="en-US" dirty="0"/>
              <a:t>. </a:t>
            </a:r>
            <a:r>
              <a:rPr lang="en-US" dirty="0" err="1"/>
              <a:t>Myös</a:t>
            </a:r>
            <a:r>
              <a:rPr lang="en-US" dirty="0"/>
              <a:t> </a:t>
            </a:r>
            <a:r>
              <a:rPr lang="en-US" dirty="0" err="1"/>
              <a:t>agentit</a:t>
            </a:r>
            <a:r>
              <a:rPr lang="en-US" dirty="0"/>
              <a:t> </a:t>
            </a:r>
            <a:r>
              <a:rPr lang="en-US" dirty="0" err="1"/>
              <a:t>voivat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 </a:t>
            </a:r>
            <a:r>
              <a:rPr lang="en-US" dirty="0" err="1"/>
              <a:t>katselmointia</a:t>
            </a:r>
            <a:r>
              <a:rPr lang="en-US" dirty="0"/>
              <a:t> ja </a:t>
            </a:r>
            <a:r>
              <a:rPr lang="en-US" dirty="0" err="1"/>
              <a:t>testausta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dora.dev</a:t>
            </a:r>
            <a:r>
              <a:rPr lang="en-US" dirty="0"/>
              <a:t>/insights/balancing-ai-tensions/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00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0:36–0:38. </a:t>
            </a:r>
            <a:r>
              <a:rPr lang="en-US" dirty="0" err="1"/>
              <a:t>METR:n</a:t>
            </a:r>
            <a:r>
              <a:rPr lang="en-US" dirty="0"/>
              <a:t> task substitution </a:t>
            </a:r>
            <a:r>
              <a:rPr lang="en-US" dirty="0" err="1"/>
              <a:t>erottaa</a:t>
            </a:r>
            <a:r>
              <a:rPr lang="en-US" dirty="0"/>
              <a:t> </a:t>
            </a:r>
            <a:r>
              <a:rPr lang="en-US" dirty="0" err="1"/>
              <a:t>vanhan</a:t>
            </a:r>
            <a:r>
              <a:rPr lang="en-US" dirty="0"/>
              <a:t> </a:t>
            </a:r>
            <a:r>
              <a:rPr lang="en-US" dirty="0" err="1"/>
              <a:t>tehtäväjoukon</a:t>
            </a:r>
            <a:r>
              <a:rPr lang="en-US" dirty="0"/>
              <a:t> </a:t>
            </a:r>
            <a:r>
              <a:rPr lang="en-US" dirty="0" err="1"/>
              <a:t>nopeuden</a:t>
            </a:r>
            <a:r>
              <a:rPr lang="en-US" dirty="0"/>
              <a:t>, </a:t>
            </a:r>
            <a:r>
              <a:rPr lang="en-US" dirty="0" err="1"/>
              <a:t>uuden</a:t>
            </a:r>
            <a:r>
              <a:rPr lang="en-US" dirty="0"/>
              <a:t> </a:t>
            </a:r>
            <a:r>
              <a:rPr lang="en-US" dirty="0" err="1"/>
              <a:t>tehtäväjoukon</a:t>
            </a:r>
            <a:r>
              <a:rPr lang="en-US" dirty="0"/>
              <a:t> </a:t>
            </a:r>
            <a:r>
              <a:rPr lang="en-US" dirty="0" err="1"/>
              <a:t>nopeuden</a:t>
            </a:r>
            <a:r>
              <a:rPr lang="en-US" dirty="0"/>
              <a:t> ja </a:t>
            </a:r>
            <a:r>
              <a:rPr lang="en-US" dirty="0" err="1"/>
              <a:t>arvon</a:t>
            </a:r>
            <a:r>
              <a:rPr lang="en-US" dirty="0"/>
              <a:t>. </a:t>
            </a:r>
            <a:r>
              <a:rPr lang="en-US" dirty="0" err="1"/>
              <a:t>Käsitteellinen</a:t>
            </a:r>
            <a:r>
              <a:rPr lang="en-US" dirty="0"/>
              <a:t> </a:t>
            </a:r>
            <a:r>
              <a:rPr lang="en-US" dirty="0" err="1"/>
              <a:t>analyysi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mitattu</a:t>
            </a:r>
            <a:r>
              <a:rPr lang="en-US" dirty="0"/>
              <a:t> </a:t>
            </a:r>
            <a:r>
              <a:rPr lang="en-US" dirty="0" err="1"/>
              <a:t>tuottavuusprosentti</a:t>
            </a:r>
            <a:r>
              <a:rPr lang="en-US" dirty="0"/>
              <a:t>. </a:t>
            </a:r>
            <a:r>
              <a:rPr lang="en-US" dirty="0" err="1"/>
              <a:t>Huoltomuistiinpanot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kuvitteellinen</a:t>
            </a:r>
            <a:r>
              <a:rPr lang="en-US" dirty="0"/>
              <a:t> </a:t>
            </a:r>
            <a:r>
              <a:rPr lang="en-US" dirty="0" err="1"/>
              <a:t>esimerkki</a:t>
            </a:r>
            <a:r>
              <a:rPr lang="en-US" dirty="0"/>
              <a:t>. Ei </a:t>
            </a:r>
            <a:r>
              <a:rPr lang="en-US" dirty="0" err="1"/>
              <a:t>asiakastodistetta</a:t>
            </a:r>
            <a:r>
              <a:rPr lang="en-US" dirty="0"/>
              <a:t> tai </a:t>
            </a:r>
            <a:r>
              <a:rPr lang="en-US" dirty="0" err="1"/>
              <a:t>mitattuja</a:t>
            </a:r>
            <a:r>
              <a:rPr lang="en-US" dirty="0"/>
              <a:t> </a:t>
            </a:r>
            <a:r>
              <a:rPr lang="en-US" dirty="0" err="1"/>
              <a:t>säästöjä</a:t>
            </a:r>
            <a:r>
              <a:rPr lang="en-US" dirty="0"/>
              <a:t>. Kokeilu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kannattaa</a:t>
            </a:r>
            <a:r>
              <a:rPr lang="en-US" dirty="0"/>
              <a:t>, </a:t>
            </a:r>
            <a:r>
              <a:rPr lang="en-US" dirty="0" err="1"/>
              <a:t>vaikka</a:t>
            </a:r>
            <a:r>
              <a:rPr lang="en-US" dirty="0"/>
              <a:t> </a:t>
            </a:r>
            <a:r>
              <a:rPr lang="en-US" dirty="0" err="1"/>
              <a:t>tuotantojärjestelmään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vielä</a:t>
            </a:r>
            <a:r>
              <a:rPr lang="en-US" dirty="0"/>
              <a:t> </a:t>
            </a:r>
            <a:r>
              <a:rPr lang="en-US" dirty="0" err="1"/>
              <a:t>kannata</a:t>
            </a:r>
            <a:r>
              <a:rPr lang="en-US" dirty="0"/>
              <a:t> </a:t>
            </a:r>
            <a:r>
              <a:rPr lang="en-US" dirty="0" err="1"/>
              <a:t>investoida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metr.org</a:t>
            </a:r>
            <a:r>
              <a:rPr lang="en-US" dirty="0"/>
              <a:t>/blog/2026-05-08-task-substitution-and-uplift/</a:t>
            </a:r>
          </a:p>
          <a:p>
            <a:r>
              <a:rPr lang="en-US" dirty="0" err="1"/>
              <a:t>Paikallinen</a:t>
            </a:r>
            <a:r>
              <a:rPr lang="en-US" dirty="0"/>
              <a:t> </a:t>
            </a:r>
            <a:r>
              <a:rPr lang="en-US" dirty="0" err="1"/>
              <a:t>esimerkki</a:t>
            </a:r>
            <a:r>
              <a:rPr lang="en-US" dirty="0"/>
              <a:t>: docs/11-workflow-scenarios-and-field-notes.md.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24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0:38–0:40. Slop on </a:t>
            </a:r>
            <a:r>
              <a:rPr lang="en-US" dirty="0" err="1"/>
              <a:t>tässä</a:t>
            </a:r>
            <a:r>
              <a:rPr lang="en-US" dirty="0"/>
              <a:t> </a:t>
            </a:r>
            <a:r>
              <a:rPr lang="en-US" dirty="0" err="1"/>
              <a:t>puheessa</a:t>
            </a:r>
            <a:r>
              <a:rPr lang="en-US" dirty="0"/>
              <a:t> </a:t>
            </a:r>
            <a:r>
              <a:rPr lang="en-US" dirty="0" err="1"/>
              <a:t>oma</a:t>
            </a:r>
            <a:r>
              <a:rPr lang="en-US" dirty="0"/>
              <a:t> </a:t>
            </a:r>
            <a:r>
              <a:rPr lang="en-US" dirty="0" err="1"/>
              <a:t>määritelmämme</a:t>
            </a:r>
            <a:r>
              <a:rPr lang="en-US" dirty="0"/>
              <a:t> </a:t>
            </a:r>
            <a:r>
              <a:rPr lang="en-US" dirty="0" err="1"/>
              <a:t>muille</a:t>
            </a:r>
            <a:r>
              <a:rPr lang="en-US" dirty="0"/>
              <a:t> </a:t>
            </a:r>
            <a:r>
              <a:rPr lang="en-US" dirty="0" err="1"/>
              <a:t>siirretystä</a:t>
            </a:r>
            <a:r>
              <a:rPr lang="en-US" dirty="0"/>
              <a:t> </a:t>
            </a:r>
            <a:r>
              <a:rPr lang="en-US" dirty="0" err="1"/>
              <a:t>arviointikustannuksesta</a:t>
            </a:r>
            <a:r>
              <a:rPr lang="en-US" dirty="0"/>
              <a:t>. </a:t>
            </a:r>
            <a:r>
              <a:rPr lang="en-US" dirty="0" err="1"/>
              <a:t>Minuutti</a:t>
            </a:r>
            <a:r>
              <a:rPr lang="en-US" dirty="0"/>
              <a:t> ja </a:t>
            </a:r>
            <a:r>
              <a:rPr lang="en-US" dirty="0" err="1"/>
              <a:t>tunti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havainnollistava</a:t>
            </a:r>
            <a:r>
              <a:rPr lang="en-US" dirty="0"/>
              <a:t> </a:t>
            </a:r>
            <a:r>
              <a:rPr lang="en-US" dirty="0" err="1"/>
              <a:t>esimerkki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tutkimustulos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liikevaihtoluvun</a:t>
            </a:r>
            <a:r>
              <a:rPr lang="en-US" dirty="0"/>
              <a:t> </a:t>
            </a:r>
            <a:r>
              <a:rPr lang="en-US" dirty="0" err="1"/>
              <a:t>korjaukseen</a:t>
            </a:r>
            <a:r>
              <a:rPr lang="en-US" dirty="0"/>
              <a:t>.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alkuperä</a:t>
            </a:r>
            <a:r>
              <a:rPr lang="en-US" dirty="0"/>
              <a:t> tai </a:t>
            </a:r>
            <a:r>
              <a:rPr lang="en-US" dirty="0" err="1"/>
              <a:t>ulkonäkö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yksin</a:t>
            </a:r>
            <a:r>
              <a:rPr lang="en-US" dirty="0"/>
              <a:t> </a:t>
            </a:r>
            <a:r>
              <a:rPr lang="en-US" dirty="0" err="1"/>
              <a:t>ratkaise</a:t>
            </a:r>
            <a:r>
              <a:rPr lang="en-US" dirty="0"/>
              <a:t> </a:t>
            </a:r>
            <a:r>
              <a:rPr lang="en-US" dirty="0" err="1"/>
              <a:t>laatua</a:t>
            </a:r>
            <a:r>
              <a:rPr lang="en-US" dirty="0"/>
              <a:t>. Kuka </a:t>
            </a:r>
            <a:r>
              <a:rPr lang="en-US" dirty="0" err="1"/>
              <a:t>tuottaa</a:t>
            </a:r>
            <a:r>
              <a:rPr lang="en-US" dirty="0"/>
              <a:t> </a:t>
            </a:r>
            <a:r>
              <a:rPr lang="en-US" dirty="0" err="1"/>
              <a:t>arvioitavan</a:t>
            </a:r>
            <a:r>
              <a:rPr lang="en-US" dirty="0"/>
              <a:t> </a:t>
            </a:r>
            <a:r>
              <a:rPr lang="en-US" dirty="0" err="1"/>
              <a:t>perustan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06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0:40–0:42. Godot ja Linux </a:t>
            </a:r>
            <a:r>
              <a:rPr lang="en-US" dirty="0" err="1"/>
              <a:t>edustavat</a:t>
            </a:r>
            <a:r>
              <a:rPr lang="en-US" dirty="0"/>
              <a:t> </a:t>
            </a:r>
            <a:r>
              <a:rPr lang="en-US" dirty="0" err="1"/>
              <a:t>erilaisia</a:t>
            </a:r>
            <a:r>
              <a:rPr lang="en-US" dirty="0"/>
              <a:t> </a:t>
            </a:r>
            <a:r>
              <a:rPr lang="en-US" dirty="0" err="1"/>
              <a:t>projektikohtaisia</a:t>
            </a:r>
            <a:r>
              <a:rPr lang="en-US" dirty="0"/>
              <a:t> </a:t>
            </a:r>
            <a:r>
              <a:rPr lang="en-US" dirty="0" err="1"/>
              <a:t>valintoja</a:t>
            </a:r>
            <a:r>
              <a:rPr lang="en-US" dirty="0"/>
              <a:t>. </a:t>
            </a:r>
            <a:r>
              <a:rPr lang="en-US" dirty="0" err="1"/>
              <a:t>Säilytä</a:t>
            </a:r>
            <a:r>
              <a:rPr lang="en-US" dirty="0"/>
              <a:t> </a:t>
            </a:r>
            <a:r>
              <a:rPr lang="en-US" dirty="0" err="1"/>
              <a:t>tekijän</a:t>
            </a:r>
            <a:r>
              <a:rPr lang="en-US" dirty="0"/>
              <a:t> </a:t>
            </a:r>
            <a:r>
              <a:rPr lang="en-US" dirty="0" err="1"/>
              <a:t>ymmärrys</a:t>
            </a:r>
            <a:r>
              <a:rPr lang="en-US" dirty="0"/>
              <a:t>, </a:t>
            </a:r>
            <a:r>
              <a:rPr lang="en-US" dirty="0" err="1"/>
              <a:t>vastuu</a:t>
            </a:r>
            <a:r>
              <a:rPr lang="en-US" dirty="0"/>
              <a:t> ja </a:t>
            </a:r>
            <a:r>
              <a:rPr lang="en-US" dirty="0" err="1"/>
              <a:t>ylläpitäjän</a:t>
            </a:r>
            <a:r>
              <a:rPr lang="en-US" dirty="0"/>
              <a:t> </a:t>
            </a:r>
            <a:r>
              <a:rPr lang="en-US" dirty="0" err="1"/>
              <a:t>harkinta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väitä</a:t>
            </a:r>
            <a:r>
              <a:rPr lang="en-US" dirty="0"/>
              <a:t> </a:t>
            </a:r>
            <a:r>
              <a:rPr lang="en-US" dirty="0" err="1"/>
              <a:t>koko</a:t>
            </a:r>
            <a:r>
              <a:rPr lang="en-US" dirty="0"/>
              <a:t> </a:t>
            </a:r>
            <a:r>
              <a:rPr lang="en-US" dirty="0" err="1"/>
              <a:t>avoimen</a:t>
            </a:r>
            <a:r>
              <a:rPr lang="en-US" dirty="0"/>
              <a:t> </a:t>
            </a:r>
            <a:r>
              <a:rPr lang="en-US" dirty="0" err="1"/>
              <a:t>lähdekoodin</a:t>
            </a:r>
            <a:r>
              <a:rPr lang="en-US" dirty="0"/>
              <a:t> </a:t>
            </a:r>
            <a:r>
              <a:rPr lang="en-US" dirty="0" err="1"/>
              <a:t>yhteisön</a:t>
            </a:r>
            <a:r>
              <a:rPr lang="en-US" dirty="0"/>
              <a:t> </a:t>
            </a:r>
            <a:r>
              <a:rPr lang="en-US" dirty="0" err="1"/>
              <a:t>valinneen</a:t>
            </a:r>
            <a:r>
              <a:rPr lang="en-US" dirty="0"/>
              <a:t> </a:t>
            </a:r>
            <a:r>
              <a:rPr lang="en-US" dirty="0" err="1"/>
              <a:t>yhtä</a:t>
            </a:r>
            <a:r>
              <a:rPr lang="en-US" dirty="0"/>
              <a:t> </a:t>
            </a:r>
            <a:r>
              <a:rPr lang="en-US" dirty="0" err="1"/>
              <a:t>kantaa</a:t>
            </a:r>
            <a:r>
              <a:rPr lang="en-US" dirty="0"/>
              <a:t>. Arviointia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parantaa</a:t>
            </a:r>
            <a:r>
              <a:rPr lang="en-US" dirty="0"/>
              <a:t> </a:t>
            </a:r>
            <a:r>
              <a:rPr lang="en-US" dirty="0" err="1"/>
              <a:t>pienillä</a:t>
            </a:r>
            <a:r>
              <a:rPr lang="en-US" dirty="0"/>
              <a:t> </a:t>
            </a:r>
            <a:r>
              <a:rPr lang="en-US" dirty="0" err="1"/>
              <a:t>muutoksilla</a:t>
            </a:r>
            <a:r>
              <a:rPr lang="en-US" dirty="0"/>
              <a:t> ja </a:t>
            </a:r>
            <a:r>
              <a:rPr lang="en-US" dirty="0" err="1"/>
              <a:t>toistettavalla</a:t>
            </a:r>
            <a:r>
              <a:rPr lang="en-US" dirty="0"/>
              <a:t> </a:t>
            </a:r>
            <a:r>
              <a:rPr lang="en-US" dirty="0" err="1"/>
              <a:t>näytöllä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contributing.godotengine.org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</a:t>
            </a:r>
            <a:r>
              <a:rPr lang="en-US" dirty="0" err="1"/>
              <a:t>pull_requests</a:t>
            </a:r>
            <a:r>
              <a:rPr lang="en-US" dirty="0"/>
              <a:t>/</a:t>
            </a:r>
            <a:r>
              <a:rPr lang="en-US" dirty="0" err="1"/>
              <a:t>pull_request_guidelines.html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kernel.org</a:t>
            </a:r>
            <a:r>
              <a:rPr lang="en-US" dirty="0"/>
              <a:t>/doc/html/next/process/generated-</a:t>
            </a:r>
            <a:r>
              <a:rPr lang="en-US" dirty="0" err="1"/>
              <a:t>content.html</a:t>
            </a:r>
            <a:endParaRPr lang="en-US" dirty="0"/>
          </a:p>
          <a:p>
            <a:r>
              <a:rPr lang="en-US" dirty="0" err="1"/>
              <a:t>Keskusteluvara</a:t>
            </a:r>
            <a:r>
              <a:rPr lang="en-US" dirty="0"/>
              <a:t>: https://</a:t>
            </a:r>
            <a:r>
              <a:rPr lang="en-US" dirty="0" err="1"/>
              <a:t>eslint.org</a:t>
            </a:r>
            <a:r>
              <a:rPr lang="en-US" dirty="0"/>
              <a:t>/docs/latest/contribute/ai-policy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61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0:42–0:44. </a:t>
            </a:r>
            <a:r>
              <a:rPr lang="en-US" dirty="0" err="1"/>
              <a:t>Sheniä</a:t>
            </a:r>
            <a:r>
              <a:rPr lang="en-US" dirty="0"/>
              <a:t> ja </a:t>
            </a:r>
            <a:r>
              <a:rPr lang="en-US" dirty="0" err="1"/>
              <a:t>Tamkinia</a:t>
            </a:r>
            <a:r>
              <a:rPr lang="en-US" dirty="0"/>
              <a:t> </a:t>
            </a:r>
            <a:r>
              <a:rPr lang="en-US" dirty="0" err="1"/>
              <a:t>mukaillen</a:t>
            </a:r>
            <a:r>
              <a:rPr lang="en-US" dirty="0"/>
              <a:t>: 52 </a:t>
            </a:r>
            <a:r>
              <a:rPr lang="en-US" dirty="0" err="1"/>
              <a:t>osallistujaa</a:t>
            </a:r>
            <a:r>
              <a:rPr lang="en-US" dirty="0"/>
              <a:t> </a:t>
            </a:r>
            <a:r>
              <a:rPr lang="en-US" dirty="0" err="1"/>
              <a:t>opetteli</a:t>
            </a:r>
            <a:r>
              <a:rPr lang="en-US" dirty="0"/>
              <a:t> </a:t>
            </a:r>
            <a:r>
              <a:rPr lang="en-US" dirty="0" err="1"/>
              <a:t>vierasta</a:t>
            </a:r>
            <a:r>
              <a:rPr lang="en-US" dirty="0"/>
              <a:t> Python Trio -</a:t>
            </a:r>
            <a:r>
              <a:rPr lang="en-US" dirty="0" err="1"/>
              <a:t>kirjastoa</a:t>
            </a:r>
            <a:r>
              <a:rPr lang="en-US" dirty="0"/>
              <a:t>. </a:t>
            </a:r>
            <a:r>
              <a:rPr lang="en-US" dirty="0" err="1"/>
              <a:t>Tekijöiden</a:t>
            </a:r>
            <a:r>
              <a:rPr lang="en-US" dirty="0"/>
              <a:t> </a:t>
            </a:r>
            <a:r>
              <a:rPr lang="en-US" dirty="0" err="1"/>
              <a:t>yhteenvedon</a:t>
            </a:r>
            <a:r>
              <a:rPr lang="en-US" dirty="0"/>
              <a:t> </a:t>
            </a:r>
            <a:r>
              <a:rPr lang="en-US" dirty="0" err="1"/>
              <a:t>pyöristetyt</a:t>
            </a:r>
            <a:r>
              <a:rPr lang="en-US" dirty="0"/>
              <a:t> </a:t>
            </a:r>
            <a:r>
              <a:rPr lang="en-US" dirty="0" err="1"/>
              <a:t>välittömän</a:t>
            </a:r>
            <a:r>
              <a:rPr lang="en-US" dirty="0"/>
              <a:t> </a:t>
            </a:r>
            <a:r>
              <a:rPr lang="en-US" dirty="0" err="1"/>
              <a:t>testin</a:t>
            </a:r>
            <a:r>
              <a:rPr lang="en-US" dirty="0"/>
              <a:t> </a:t>
            </a:r>
            <a:r>
              <a:rPr lang="en-US" dirty="0" err="1"/>
              <a:t>keskiarvot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50 %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kanssa</a:t>
            </a:r>
            <a:r>
              <a:rPr lang="en-US" dirty="0"/>
              <a:t> ja 67 % </a:t>
            </a:r>
            <a:r>
              <a:rPr lang="en-US" dirty="0" err="1"/>
              <a:t>ilman</a:t>
            </a:r>
            <a:r>
              <a:rPr lang="en-US" dirty="0"/>
              <a:t>. Ero </a:t>
            </a:r>
            <a:r>
              <a:rPr lang="en-US" dirty="0" err="1"/>
              <a:t>noin</a:t>
            </a:r>
            <a:r>
              <a:rPr lang="en-US" dirty="0"/>
              <a:t> 17 </a:t>
            </a:r>
            <a:r>
              <a:rPr lang="en-US" dirty="0" err="1"/>
              <a:t>prosenttiyksikköä</a:t>
            </a:r>
            <a:r>
              <a:rPr lang="en-US" dirty="0"/>
              <a:t>. Tehtävän </a:t>
            </a:r>
            <a:r>
              <a:rPr lang="en-US" dirty="0" err="1"/>
              <a:t>ajan</a:t>
            </a:r>
            <a:r>
              <a:rPr lang="en-US" dirty="0"/>
              <a:t> </a:t>
            </a:r>
            <a:r>
              <a:rPr lang="en-US" dirty="0" err="1"/>
              <a:t>ero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ollut</a:t>
            </a:r>
            <a:r>
              <a:rPr lang="en-US" dirty="0"/>
              <a:t> </a:t>
            </a:r>
            <a:r>
              <a:rPr lang="en-US" dirty="0" err="1"/>
              <a:t>tilastollisesti</a:t>
            </a:r>
            <a:r>
              <a:rPr lang="en-US" dirty="0"/>
              <a:t> </a:t>
            </a:r>
            <a:r>
              <a:rPr lang="en-US" dirty="0" err="1"/>
              <a:t>merkitsevä</a:t>
            </a:r>
            <a:r>
              <a:rPr lang="en-US" dirty="0"/>
              <a:t>. Ei </a:t>
            </a:r>
            <a:r>
              <a:rPr lang="en-US" dirty="0" err="1"/>
              <a:t>näyttöä</a:t>
            </a:r>
            <a:r>
              <a:rPr lang="en-US" dirty="0"/>
              <a:t> </a:t>
            </a:r>
            <a:r>
              <a:rPr lang="en-US" dirty="0" err="1"/>
              <a:t>pysyvästä</a:t>
            </a:r>
            <a:r>
              <a:rPr lang="en-US" dirty="0"/>
              <a:t> </a:t>
            </a:r>
            <a:r>
              <a:rPr lang="en-US" dirty="0" err="1"/>
              <a:t>taidon</a:t>
            </a:r>
            <a:r>
              <a:rPr lang="en-US" dirty="0"/>
              <a:t> </a:t>
            </a:r>
            <a:r>
              <a:rPr lang="en-US" dirty="0" err="1"/>
              <a:t>menetyksestä</a:t>
            </a:r>
            <a:r>
              <a:rPr lang="en-US" dirty="0"/>
              <a:t>. Ei </a:t>
            </a:r>
            <a:r>
              <a:rPr lang="en-US" dirty="0" err="1"/>
              <a:t>koe</a:t>
            </a:r>
            <a:r>
              <a:rPr lang="en-US" dirty="0"/>
              <a:t> </a:t>
            </a:r>
            <a:r>
              <a:rPr lang="en-US" dirty="0" err="1"/>
              <a:t>kaikista</a:t>
            </a:r>
            <a:r>
              <a:rPr lang="en-US" dirty="0"/>
              <a:t> </a:t>
            </a:r>
            <a:r>
              <a:rPr lang="en-US" dirty="0" err="1"/>
              <a:t>junioreista</a:t>
            </a:r>
            <a:r>
              <a:rPr lang="en-US" dirty="0"/>
              <a:t> tai </a:t>
            </a:r>
            <a:r>
              <a:rPr lang="en-US" dirty="0" err="1"/>
              <a:t>nykyisistä</a:t>
            </a:r>
            <a:r>
              <a:rPr lang="en-US" dirty="0"/>
              <a:t> </a:t>
            </a:r>
            <a:r>
              <a:rPr lang="en-US" dirty="0" err="1"/>
              <a:t>autonomisista</a:t>
            </a:r>
            <a:r>
              <a:rPr lang="en-US" dirty="0"/>
              <a:t> </a:t>
            </a:r>
            <a:r>
              <a:rPr lang="en-US" dirty="0" err="1"/>
              <a:t>agenteista</a:t>
            </a:r>
            <a:r>
              <a:rPr lang="en-US" dirty="0"/>
              <a:t>. </a:t>
            </a:r>
            <a:r>
              <a:rPr lang="en-US" dirty="0" err="1"/>
              <a:t>Osallistujilla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myös</a:t>
            </a:r>
            <a:r>
              <a:rPr lang="en-US" dirty="0"/>
              <a:t> </a:t>
            </a:r>
            <a:r>
              <a:rPr lang="en-US" dirty="0" err="1"/>
              <a:t>huomattavaa</a:t>
            </a:r>
            <a:r>
              <a:rPr lang="en-US" dirty="0"/>
              <a:t> </a:t>
            </a:r>
            <a:r>
              <a:rPr lang="en-US" dirty="0" err="1"/>
              <a:t>aiempaa</a:t>
            </a:r>
            <a:r>
              <a:rPr lang="en-US" dirty="0"/>
              <a:t> </a:t>
            </a:r>
            <a:r>
              <a:rPr lang="en-US" dirty="0" err="1"/>
              <a:t>ohjelmointikokemusta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www.anthropic.com</a:t>
            </a:r>
            <a:r>
              <a:rPr lang="en-US" dirty="0"/>
              <a:t>/research/AI-assistance-coding-skills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/abs/2601.20245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33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0:44–0:46. Oma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suosituksemme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kokeessa</a:t>
            </a:r>
            <a:r>
              <a:rPr lang="en-US" dirty="0"/>
              <a:t> </a:t>
            </a:r>
            <a:r>
              <a:rPr lang="en-US" dirty="0" err="1"/>
              <a:t>todistettu</a:t>
            </a:r>
            <a:r>
              <a:rPr lang="en-US" dirty="0"/>
              <a:t> </a:t>
            </a:r>
            <a:r>
              <a:rPr lang="en-US" dirty="0" err="1"/>
              <a:t>täsmälääke</a:t>
            </a:r>
            <a:r>
              <a:rPr lang="en-US" dirty="0"/>
              <a:t>. </a:t>
            </a:r>
            <a:r>
              <a:rPr lang="en-US" dirty="0" err="1"/>
              <a:t>Oppija</a:t>
            </a:r>
            <a:r>
              <a:rPr lang="en-US" dirty="0"/>
              <a:t> </a:t>
            </a:r>
            <a:r>
              <a:rPr lang="en-US" dirty="0" err="1"/>
              <a:t>selittää</a:t>
            </a:r>
            <a:r>
              <a:rPr lang="en-US" dirty="0"/>
              <a:t> </a:t>
            </a:r>
            <a:r>
              <a:rPr lang="en-US" dirty="0" err="1"/>
              <a:t>ratkaisun</a:t>
            </a:r>
            <a:r>
              <a:rPr lang="en-US" dirty="0"/>
              <a:t>, </a:t>
            </a:r>
            <a:r>
              <a:rPr lang="en-US" dirty="0" err="1"/>
              <a:t>ennustaa</a:t>
            </a:r>
            <a:r>
              <a:rPr lang="en-US" dirty="0"/>
              <a:t> </a:t>
            </a:r>
            <a:r>
              <a:rPr lang="en-US" dirty="0" err="1"/>
              <a:t>virheen</a:t>
            </a:r>
            <a:r>
              <a:rPr lang="en-US" dirty="0"/>
              <a:t> ja </a:t>
            </a:r>
            <a:r>
              <a:rPr lang="en-US" dirty="0" err="1"/>
              <a:t>diagnosoi</a:t>
            </a:r>
            <a:r>
              <a:rPr lang="en-US" dirty="0"/>
              <a:t> </a:t>
            </a:r>
            <a:r>
              <a:rPr lang="en-US" dirty="0" err="1"/>
              <a:t>rikotun</a:t>
            </a:r>
            <a:r>
              <a:rPr lang="en-US" dirty="0"/>
              <a:t> </a:t>
            </a:r>
            <a:r>
              <a:rPr lang="en-US" dirty="0" err="1"/>
              <a:t>esimerkin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Nauriin</a:t>
            </a:r>
            <a:r>
              <a:rPr lang="en-US" dirty="0"/>
              <a:t> ja </a:t>
            </a:r>
            <a:r>
              <a:rPr lang="en-US" dirty="0" err="1"/>
              <a:t>lukemistapoja</a:t>
            </a:r>
            <a:r>
              <a:rPr lang="en-US" dirty="0"/>
              <a:t> </a:t>
            </a:r>
            <a:r>
              <a:rPr lang="en-US" dirty="0" err="1"/>
              <a:t>koskeneeseen</a:t>
            </a:r>
            <a:r>
              <a:rPr lang="en-US" dirty="0"/>
              <a:t> </a:t>
            </a:r>
            <a:r>
              <a:rPr lang="en-US" dirty="0" err="1"/>
              <a:t>gallupiin</a:t>
            </a:r>
            <a:r>
              <a:rPr lang="en-US" dirty="0"/>
              <a:t>. Vastuu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edellytä</a:t>
            </a:r>
            <a:r>
              <a:rPr lang="en-US" dirty="0"/>
              <a:t> </a:t>
            </a:r>
            <a:r>
              <a:rPr lang="en-US" dirty="0" err="1"/>
              <a:t>jokaisen</a:t>
            </a:r>
            <a:r>
              <a:rPr lang="en-US" dirty="0"/>
              <a:t> </a:t>
            </a:r>
            <a:r>
              <a:rPr lang="en-US" dirty="0" err="1"/>
              <a:t>tokenin</a:t>
            </a:r>
            <a:r>
              <a:rPr lang="en-US" dirty="0"/>
              <a:t> </a:t>
            </a:r>
            <a:r>
              <a:rPr lang="en-US" dirty="0" err="1"/>
              <a:t>manuaalista</a:t>
            </a:r>
            <a:r>
              <a:rPr lang="en-US" dirty="0"/>
              <a:t> </a:t>
            </a:r>
            <a:r>
              <a:rPr lang="en-US" dirty="0" err="1"/>
              <a:t>lukemista</a:t>
            </a:r>
            <a:r>
              <a:rPr lang="en-US" dirty="0"/>
              <a:t>. </a:t>
            </a:r>
            <a:r>
              <a:rPr lang="en-US" dirty="0" err="1"/>
              <a:t>Näytön</a:t>
            </a:r>
            <a:r>
              <a:rPr lang="en-US" dirty="0"/>
              <a:t> </a:t>
            </a:r>
            <a:r>
              <a:rPr lang="en-US" dirty="0" err="1"/>
              <a:t>tulee</a:t>
            </a:r>
            <a:r>
              <a:rPr lang="en-US" dirty="0"/>
              <a:t> testata </a:t>
            </a:r>
            <a:r>
              <a:rPr lang="en-US" dirty="0" err="1"/>
              <a:t>aiottua</a:t>
            </a:r>
            <a:r>
              <a:rPr lang="en-US" dirty="0"/>
              <a:t> </a:t>
            </a:r>
            <a:r>
              <a:rPr lang="en-US" dirty="0" err="1"/>
              <a:t>toimintaa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toistaa</a:t>
            </a:r>
            <a:r>
              <a:rPr lang="en-US" dirty="0"/>
              <a:t> </a:t>
            </a:r>
            <a:r>
              <a:rPr lang="en-US" dirty="0" err="1"/>
              <a:t>toteutusta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88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0:46–0:49. Sama </a:t>
            </a:r>
            <a:r>
              <a:rPr lang="en-US" dirty="0" err="1"/>
              <a:t>kuvitteellinen</a:t>
            </a:r>
            <a:r>
              <a:rPr lang="en-US" dirty="0"/>
              <a:t> </a:t>
            </a:r>
            <a:r>
              <a:rPr lang="en-US" dirty="0" err="1"/>
              <a:t>huoltokirjaus</a:t>
            </a:r>
            <a:r>
              <a:rPr lang="en-US" dirty="0"/>
              <a:t>. </a:t>
            </a:r>
            <a:r>
              <a:rPr lang="en-US" dirty="0" err="1"/>
              <a:t>Ratkaisun</a:t>
            </a:r>
            <a:r>
              <a:rPr lang="en-US" dirty="0"/>
              <a:t> </a:t>
            </a:r>
            <a:r>
              <a:rPr lang="en-US" dirty="0" err="1"/>
              <a:t>tulee</a:t>
            </a:r>
            <a:r>
              <a:rPr lang="en-US" dirty="0"/>
              <a:t> </a:t>
            </a:r>
            <a:r>
              <a:rPr lang="en-US" dirty="0" err="1"/>
              <a:t>sopia</a:t>
            </a:r>
            <a:r>
              <a:rPr lang="en-US" dirty="0"/>
              <a:t> </a:t>
            </a:r>
            <a:r>
              <a:rPr lang="en-US" dirty="0" err="1"/>
              <a:t>työnkulkuun</a:t>
            </a:r>
            <a:r>
              <a:rPr lang="en-US" dirty="0"/>
              <a:t>, </a:t>
            </a:r>
            <a:r>
              <a:rPr lang="en-US" dirty="0" err="1"/>
              <a:t>sisältää</a:t>
            </a:r>
            <a:r>
              <a:rPr lang="en-US" dirty="0"/>
              <a:t> </a:t>
            </a:r>
            <a:r>
              <a:rPr lang="en-US" dirty="0" err="1"/>
              <a:t>korjaamisen</a:t>
            </a:r>
            <a:r>
              <a:rPr lang="en-US" dirty="0"/>
              <a:t> tapa ja </a:t>
            </a:r>
            <a:r>
              <a:rPr lang="en-US" dirty="0" err="1"/>
              <a:t>ansaita</a:t>
            </a:r>
            <a:r>
              <a:rPr lang="en-US" dirty="0"/>
              <a:t> </a:t>
            </a:r>
            <a:r>
              <a:rPr lang="en-US" dirty="0" err="1"/>
              <a:t>käyttöönotto</a:t>
            </a:r>
            <a:r>
              <a:rPr lang="en-US" dirty="0"/>
              <a:t>. </a:t>
            </a:r>
            <a:r>
              <a:rPr lang="en-US" dirty="0" err="1"/>
              <a:t>Halvempi</a:t>
            </a:r>
            <a:r>
              <a:rPr lang="en-US" dirty="0"/>
              <a:t> </a:t>
            </a:r>
            <a:r>
              <a:rPr lang="en-US" dirty="0" err="1"/>
              <a:t>ominaisuuden</a:t>
            </a:r>
            <a:r>
              <a:rPr lang="en-US" dirty="0"/>
              <a:t> </a:t>
            </a:r>
            <a:r>
              <a:rPr lang="en-US" dirty="0" err="1"/>
              <a:t>toteutus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todista</a:t>
            </a:r>
            <a:r>
              <a:rPr lang="en-US" dirty="0"/>
              <a:t> </a:t>
            </a:r>
            <a:r>
              <a:rPr lang="en-US" dirty="0" err="1"/>
              <a:t>tilausten</a:t>
            </a:r>
            <a:r>
              <a:rPr lang="en-US" dirty="0"/>
              <a:t> tai </a:t>
            </a:r>
            <a:r>
              <a:rPr lang="en-US" dirty="0" err="1"/>
              <a:t>koko</a:t>
            </a:r>
            <a:r>
              <a:rPr lang="en-US" dirty="0"/>
              <a:t> SaaS-</a:t>
            </a:r>
            <a:r>
              <a:rPr lang="en-US" dirty="0" err="1"/>
              <a:t>kategorian</a:t>
            </a:r>
            <a:r>
              <a:rPr lang="en-US" dirty="0"/>
              <a:t> </a:t>
            </a:r>
            <a:r>
              <a:rPr lang="en-US" dirty="0" err="1"/>
              <a:t>katoamista</a:t>
            </a:r>
            <a:r>
              <a:rPr lang="en-US" dirty="0"/>
              <a:t>. Kuka </a:t>
            </a:r>
            <a:r>
              <a:rPr lang="en-US" dirty="0" err="1"/>
              <a:t>vastaa</a:t>
            </a:r>
            <a:r>
              <a:rPr lang="en-US" dirty="0"/>
              <a:t> </a:t>
            </a:r>
            <a:r>
              <a:rPr lang="en-US" dirty="0" err="1"/>
              <a:t>integraatiosta</a:t>
            </a:r>
            <a:r>
              <a:rPr lang="en-US" dirty="0"/>
              <a:t>, </a:t>
            </a:r>
            <a:r>
              <a:rPr lang="en-US" dirty="0" err="1"/>
              <a:t>tiedon</a:t>
            </a:r>
            <a:r>
              <a:rPr lang="en-US" dirty="0"/>
              <a:t> </a:t>
            </a:r>
            <a:r>
              <a:rPr lang="en-US" dirty="0" err="1"/>
              <a:t>oikeellisuudesta</a:t>
            </a:r>
            <a:r>
              <a:rPr lang="en-US" dirty="0"/>
              <a:t> ja </a:t>
            </a:r>
            <a:r>
              <a:rPr lang="en-US" dirty="0" err="1"/>
              <a:t>elinkaaren</a:t>
            </a:r>
            <a:r>
              <a:rPr lang="en-US" dirty="0"/>
              <a:t> </a:t>
            </a:r>
            <a:r>
              <a:rPr lang="en-US" dirty="0" err="1"/>
              <a:t>kustannuksista</a:t>
            </a:r>
            <a:r>
              <a:rPr lang="en-US" dirty="0"/>
              <a:t>?</a:t>
            </a:r>
          </a:p>
          <a:p>
            <a:r>
              <a:rPr lang="en-US" dirty="0"/>
              <a:t>https://</a:t>
            </a:r>
            <a:r>
              <a:rPr lang="en-US" dirty="0" err="1"/>
              <a:t>www.ncsc.gov.uk</a:t>
            </a:r>
            <a:r>
              <a:rPr lang="en-US" dirty="0"/>
              <a:t>/blogs/vibe-check-ai-may-replace-</a:t>
            </a:r>
            <a:r>
              <a:rPr lang="en-US" dirty="0" err="1"/>
              <a:t>saas</a:t>
            </a:r>
            <a:r>
              <a:rPr lang="en-US" dirty="0"/>
              <a:t>-but-not-for-a-while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45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0:49–0:52. </a:t>
            </a:r>
            <a:r>
              <a:rPr lang="en-US" dirty="0" err="1"/>
              <a:t>Stanfordin</a:t>
            </a:r>
            <a:r>
              <a:rPr lang="en-US" dirty="0"/>
              <a:t> 12.8.2026 </a:t>
            </a:r>
            <a:r>
              <a:rPr lang="en-US" dirty="0" err="1"/>
              <a:t>päivitys</a:t>
            </a:r>
            <a:r>
              <a:rPr lang="en-US" dirty="0"/>
              <a:t>: 22–25-vuotiaiden </a:t>
            </a:r>
            <a:r>
              <a:rPr lang="en-US" dirty="0" err="1"/>
              <a:t>työllisyys</a:t>
            </a:r>
            <a:r>
              <a:rPr lang="en-US" dirty="0"/>
              <a:t> </a:t>
            </a:r>
            <a:r>
              <a:rPr lang="en-US" dirty="0" err="1"/>
              <a:t>vahvasti</a:t>
            </a:r>
            <a:r>
              <a:rPr lang="en-US" dirty="0"/>
              <a:t> </a:t>
            </a:r>
            <a:r>
              <a:rPr lang="en-US" dirty="0" err="1"/>
              <a:t>AI:lle</a:t>
            </a:r>
            <a:r>
              <a:rPr lang="en-US" dirty="0"/>
              <a:t> </a:t>
            </a:r>
            <a:r>
              <a:rPr lang="en-US" dirty="0" err="1"/>
              <a:t>altistuneissa</a:t>
            </a:r>
            <a:r>
              <a:rPr lang="en-US" dirty="0"/>
              <a:t> </a:t>
            </a:r>
            <a:r>
              <a:rPr lang="en-US" dirty="0" err="1"/>
              <a:t>yhdysvaltalaisissa</a:t>
            </a:r>
            <a:r>
              <a:rPr lang="en-US" dirty="0"/>
              <a:t> </a:t>
            </a:r>
            <a:r>
              <a:rPr lang="en-US" dirty="0" err="1"/>
              <a:t>ammateissa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noin</a:t>
            </a:r>
            <a:r>
              <a:rPr lang="en-US" dirty="0"/>
              <a:t> 19 % </a:t>
            </a:r>
            <a:r>
              <a:rPr lang="en-US" dirty="0" err="1"/>
              <a:t>alempana</a:t>
            </a:r>
            <a:r>
              <a:rPr lang="en-US" dirty="0"/>
              <a:t> </a:t>
            </a:r>
            <a:r>
              <a:rPr lang="en-US" dirty="0" err="1"/>
              <a:t>kuin</a:t>
            </a:r>
            <a:r>
              <a:rPr lang="en-US" dirty="0"/>
              <a:t> </a:t>
            </a:r>
            <a:r>
              <a:rPr lang="en-US" dirty="0" err="1"/>
              <a:t>jos</a:t>
            </a:r>
            <a:r>
              <a:rPr lang="en-US" dirty="0"/>
              <a:t> se </a:t>
            </a:r>
            <a:r>
              <a:rPr lang="en-US" dirty="0" err="1"/>
              <a:t>olisi</a:t>
            </a:r>
            <a:r>
              <a:rPr lang="en-US" dirty="0"/>
              <a:t> </a:t>
            </a:r>
            <a:r>
              <a:rPr lang="en-US" dirty="0" err="1"/>
              <a:t>seurannut</a:t>
            </a:r>
            <a:r>
              <a:rPr lang="en-US" dirty="0"/>
              <a:t> </a:t>
            </a:r>
            <a:r>
              <a:rPr lang="en-US" dirty="0" err="1"/>
              <a:t>vähemmän</a:t>
            </a:r>
            <a:r>
              <a:rPr lang="en-US" dirty="0"/>
              <a:t> </a:t>
            </a:r>
            <a:r>
              <a:rPr lang="en-US" dirty="0" err="1"/>
              <a:t>altistuneita</a:t>
            </a:r>
            <a:r>
              <a:rPr lang="en-US" dirty="0"/>
              <a:t> </a:t>
            </a:r>
            <a:r>
              <a:rPr lang="en-US" dirty="0" err="1"/>
              <a:t>vertaisia</a:t>
            </a:r>
            <a:r>
              <a:rPr lang="en-US" dirty="0"/>
              <a:t> </a:t>
            </a:r>
            <a:r>
              <a:rPr lang="en-US" dirty="0" err="1"/>
              <a:t>kesäkuuhun</a:t>
            </a:r>
            <a:r>
              <a:rPr lang="en-US" dirty="0"/>
              <a:t> 2026. </a:t>
            </a:r>
            <a:r>
              <a:rPr lang="en-US" dirty="0" err="1"/>
              <a:t>Suhteellinen</a:t>
            </a:r>
            <a:r>
              <a:rPr lang="en-US" dirty="0"/>
              <a:t> </a:t>
            </a:r>
            <a:r>
              <a:rPr lang="en-US" dirty="0" err="1"/>
              <a:t>ero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tuhoamien</a:t>
            </a:r>
            <a:r>
              <a:rPr lang="en-US" dirty="0"/>
              <a:t> </a:t>
            </a:r>
            <a:r>
              <a:rPr lang="en-US" dirty="0" err="1"/>
              <a:t>työpaikkojen</a:t>
            </a:r>
            <a:r>
              <a:rPr lang="en-US" dirty="0"/>
              <a:t> </a:t>
            </a:r>
            <a:r>
              <a:rPr lang="en-US" dirty="0" err="1"/>
              <a:t>määrä</a:t>
            </a:r>
            <a:r>
              <a:rPr lang="en-US" dirty="0"/>
              <a:t>. </a:t>
            </a:r>
            <a:r>
              <a:rPr lang="en-US" dirty="0" err="1"/>
              <a:t>Deskriptiivinen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kausaalinen</a:t>
            </a:r>
            <a:r>
              <a:rPr lang="en-US" dirty="0"/>
              <a:t> </a:t>
            </a:r>
            <a:r>
              <a:rPr lang="en-US" dirty="0" err="1"/>
              <a:t>tulos</a:t>
            </a:r>
            <a:r>
              <a:rPr lang="en-US" dirty="0"/>
              <a:t>. Keskeinen </a:t>
            </a:r>
            <a:r>
              <a:rPr lang="en-US" dirty="0" err="1"/>
              <a:t>mekanismi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vähentynyt</a:t>
            </a:r>
            <a:r>
              <a:rPr lang="en-US" dirty="0"/>
              <a:t> </a:t>
            </a:r>
            <a:r>
              <a:rPr lang="en-US" dirty="0" err="1"/>
              <a:t>rekrytointi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siirrä</a:t>
            </a:r>
            <a:r>
              <a:rPr lang="en-US" dirty="0"/>
              <a:t> </a:t>
            </a:r>
            <a:r>
              <a:rPr lang="en-US" dirty="0" err="1"/>
              <a:t>tulosta</a:t>
            </a:r>
            <a:r>
              <a:rPr lang="en-US" dirty="0"/>
              <a:t> </a:t>
            </a:r>
            <a:r>
              <a:rPr lang="en-US" dirty="0" err="1"/>
              <a:t>Suomeen</a:t>
            </a:r>
            <a:r>
              <a:rPr lang="en-US" dirty="0"/>
              <a:t>. Oma </a:t>
            </a:r>
            <a:r>
              <a:rPr lang="en-US" dirty="0" err="1"/>
              <a:t>tulkinta</a:t>
            </a:r>
            <a:r>
              <a:rPr lang="en-US" dirty="0"/>
              <a:t>: </a:t>
            </a:r>
            <a:r>
              <a:rPr lang="en-US" dirty="0" err="1"/>
              <a:t>työnantajien</a:t>
            </a:r>
            <a:r>
              <a:rPr lang="en-US" dirty="0"/>
              <a:t> </a:t>
            </a:r>
            <a:r>
              <a:rPr lang="en-US" dirty="0" err="1"/>
              <a:t>mentorointi</a:t>
            </a:r>
            <a:r>
              <a:rPr lang="en-US" dirty="0"/>
              <a:t>, </a:t>
            </a:r>
            <a:r>
              <a:rPr lang="en-US" dirty="0" err="1"/>
              <a:t>oppimisaika</a:t>
            </a:r>
            <a:r>
              <a:rPr lang="en-US" dirty="0"/>
              <a:t> ja </a:t>
            </a:r>
            <a:r>
              <a:rPr lang="en-US" dirty="0" err="1"/>
              <a:t>arviointi</a:t>
            </a:r>
            <a:r>
              <a:rPr lang="en-US" dirty="0"/>
              <a:t> </a:t>
            </a:r>
            <a:r>
              <a:rPr lang="en-US" dirty="0" err="1"/>
              <a:t>vaikuttavat</a:t>
            </a:r>
            <a:r>
              <a:rPr lang="en-US" dirty="0"/>
              <a:t> </a:t>
            </a:r>
            <a:r>
              <a:rPr lang="en-US" dirty="0" err="1"/>
              <a:t>urapolkuihin</a:t>
            </a:r>
            <a:r>
              <a:rPr lang="en-US" dirty="0"/>
              <a:t> jo </a:t>
            </a:r>
            <a:r>
              <a:rPr lang="en-US" dirty="0" err="1"/>
              <a:t>epävarmuuden</a:t>
            </a:r>
            <a:r>
              <a:rPr lang="en-US" dirty="0"/>
              <a:t> </a:t>
            </a:r>
            <a:r>
              <a:rPr lang="en-US" dirty="0" err="1"/>
              <a:t>aikana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digitaleconomy.stanford.edu</a:t>
            </a:r>
            <a:r>
              <a:rPr lang="en-US" dirty="0"/>
              <a:t>/news/canariesaug26/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2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0:52–0:54. </a:t>
            </a:r>
            <a:r>
              <a:rPr lang="en-US" dirty="0" err="1"/>
              <a:t>Elokuun</a:t>
            </a:r>
            <a:r>
              <a:rPr lang="en-US" dirty="0"/>
              <a:t> 2026 </a:t>
            </a:r>
            <a:r>
              <a:rPr lang="en-US" dirty="0" err="1"/>
              <a:t>katsauksen</a:t>
            </a:r>
            <a:r>
              <a:rPr lang="en-US" dirty="0"/>
              <a:t> </a:t>
            </a:r>
            <a:r>
              <a:rPr lang="en-US" dirty="0" err="1"/>
              <a:t>yhtenäinen</a:t>
            </a:r>
            <a:r>
              <a:rPr lang="en-US" dirty="0"/>
              <a:t> </a:t>
            </a:r>
            <a:r>
              <a:rPr lang="en-US" dirty="0" err="1"/>
              <a:t>lähdeversio</a:t>
            </a:r>
            <a:r>
              <a:rPr lang="en-US" dirty="0"/>
              <a:t>: </a:t>
            </a:r>
            <a:r>
              <a:rPr lang="en-US" dirty="0" err="1"/>
              <a:t>vuoden</a:t>
            </a:r>
            <a:r>
              <a:rPr lang="en-US" dirty="0"/>
              <a:t> 2025 </a:t>
            </a:r>
            <a:r>
              <a:rPr lang="en-US" dirty="0" err="1"/>
              <a:t>liikevaihto</a:t>
            </a:r>
            <a:r>
              <a:rPr lang="en-US" dirty="0"/>
              <a:t> 19 </a:t>
            </a:r>
            <a:r>
              <a:rPr lang="en-US" dirty="0" err="1"/>
              <a:t>miljardia</a:t>
            </a:r>
            <a:r>
              <a:rPr lang="en-US" dirty="0"/>
              <a:t> </a:t>
            </a:r>
            <a:r>
              <a:rPr lang="en-US" dirty="0" err="1"/>
              <a:t>euroa</a:t>
            </a:r>
            <a:r>
              <a:rPr lang="en-US" dirty="0"/>
              <a:t>, </a:t>
            </a:r>
            <a:r>
              <a:rPr lang="en-US" dirty="0" err="1"/>
              <a:t>kasvu</a:t>
            </a:r>
            <a:r>
              <a:rPr lang="en-US" dirty="0"/>
              <a:t> 5 % </a:t>
            </a:r>
            <a:r>
              <a:rPr lang="en-US" dirty="0" err="1"/>
              <a:t>vuodesta</a:t>
            </a:r>
            <a:r>
              <a:rPr lang="en-US" dirty="0"/>
              <a:t> 2024. Kesäkuun 2026 </a:t>
            </a:r>
            <a:r>
              <a:rPr lang="en-US" dirty="0" err="1"/>
              <a:t>lopussa</a:t>
            </a:r>
            <a:r>
              <a:rPr lang="en-US" dirty="0"/>
              <a:t> </a:t>
            </a:r>
            <a:r>
              <a:rPr lang="en-US" dirty="0" err="1"/>
              <a:t>noin</a:t>
            </a:r>
            <a:r>
              <a:rPr lang="en-US" dirty="0"/>
              <a:t> 80 200 </a:t>
            </a:r>
            <a:r>
              <a:rPr lang="en-US" dirty="0" err="1"/>
              <a:t>työntekijää</a:t>
            </a:r>
            <a:r>
              <a:rPr lang="en-US" dirty="0"/>
              <a:t>, </a:t>
            </a:r>
            <a:r>
              <a:rPr lang="en-US" dirty="0" err="1"/>
              <a:t>laskua</a:t>
            </a:r>
            <a:r>
              <a:rPr lang="en-US" dirty="0"/>
              <a:t> 1 % </a:t>
            </a:r>
            <a:r>
              <a:rPr lang="en-US" dirty="0" err="1"/>
              <a:t>maaliskuun</a:t>
            </a:r>
            <a:r>
              <a:rPr lang="en-US" dirty="0"/>
              <a:t> </a:t>
            </a:r>
            <a:r>
              <a:rPr lang="en-US" dirty="0" err="1"/>
              <a:t>lopusta</a:t>
            </a:r>
            <a:r>
              <a:rPr lang="en-US" dirty="0"/>
              <a:t>. </a:t>
            </a:r>
            <a:r>
              <a:rPr lang="en-US" dirty="0" err="1"/>
              <a:t>Havainnot</a:t>
            </a:r>
            <a:r>
              <a:rPr lang="en-US" dirty="0"/>
              <a:t>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erota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vaikutusta</a:t>
            </a:r>
            <a:r>
              <a:rPr lang="en-US" dirty="0"/>
              <a:t> </a:t>
            </a:r>
            <a:r>
              <a:rPr lang="en-US" dirty="0" err="1"/>
              <a:t>suhdanteista</a:t>
            </a:r>
            <a:r>
              <a:rPr lang="en-US" dirty="0"/>
              <a:t>, </a:t>
            </a:r>
            <a:r>
              <a:rPr lang="en-US" dirty="0" err="1"/>
              <a:t>asiakasbudjeteista</a:t>
            </a:r>
            <a:r>
              <a:rPr lang="en-US" dirty="0"/>
              <a:t> tai </a:t>
            </a:r>
            <a:r>
              <a:rPr lang="en-US" dirty="0" err="1"/>
              <a:t>muista</a:t>
            </a:r>
            <a:r>
              <a:rPr lang="en-US" dirty="0"/>
              <a:t> </a:t>
            </a:r>
            <a:r>
              <a:rPr lang="en-US" dirty="0" err="1"/>
              <a:t>tekijöistä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rakenna</a:t>
            </a:r>
            <a:r>
              <a:rPr lang="en-US" dirty="0"/>
              <a:t> </a:t>
            </a:r>
            <a:r>
              <a:rPr lang="en-US" dirty="0" err="1"/>
              <a:t>vanhoista</a:t>
            </a:r>
            <a:r>
              <a:rPr lang="en-US" dirty="0"/>
              <a:t> </a:t>
            </a:r>
            <a:r>
              <a:rPr lang="en-US" dirty="0" err="1"/>
              <a:t>henkilöstöluvuista</a:t>
            </a:r>
            <a:r>
              <a:rPr lang="en-US" dirty="0"/>
              <a:t> </a:t>
            </a:r>
            <a:r>
              <a:rPr lang="en-US" dirty="0" err="1"/>
              <a:t>jatkumoa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alun</a:t>
            </a:r>
            <a:r>
              <a:rPr lang="en-US" dirty="0"/>
              <a:t> </a:t>
            </a:r>
            <a:r>
              <a:rPr lang="en-US" dirty="0" err="1"/>
              <a:t>lähdekorjaukseen</a:t>
            </a:r>
            <a:r>
              <a:rPr lang="en-US" dirty="0"/>
              <a:t>.</a:t>
            </a:r>
          </a:p>
          <a:p>
            <a:r>
              <a:rPr lang="en-US" dirty="0"/>
              <a:t>https://</a:t>
            </a:r>
            <a:r>
              <a:rPr lang="en-US" dirty="0" err="1"/>
              <a:t>teknologiateollisuus.fi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/economic-outlook-and-statistics/economic-outlook/information-technology-in-</a:t>
            </a:r>
            <a:r>
              <a:rPr lang="en-US" dirty="0" err="1"/>
              <a:t>finland</a:t>
            </a:r>
            <a:r>
              <a:rPr lang="en-US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29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0:54–0:55. Esittäjän </a:t>
            </a:r>
            <a:r>
              <a:rPr lang="en-US" dirty="0" err="1"/>
              <a:t>ehdotus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alueellisella</a:t>
            </a:r>
            <a:r>
              <a:rPr lang="en-US" dirty="0"/>
              <a:t> </a:t>
            </a:r>
            <a:r>
              <a:rPr lang="en-US" dirty="0" err="1"/>
              <a:t>vertailututkimuksella</a:t>
            </a:r>
            <a:r>
              <a:rPr lang="en-US" dirty="0"/>
              <a:t> </a:t>
            </a:r>
            <a:r>
              <a:rPr lang="en-US" dirty="0" err="1"/>
              <a:t>todistettu</a:t>
            </a:r>
            <a:r>
              <a:rPr lang="en-US" dirty="0"/>
              <a:t> </a:t>
            </a:r>
            <a:r>
              <a:rPr lang="en-US" dirty="0" err="1"/>
              <a:t>tulos</a:t>
            </a:r>
            <a:r>
              <a:rPr lang="en-US" dirty="0"/>
              <a:t>. </a:t>
            </a:r>
            <a:r>
              <a:rPr lang="en-US" dirty="0" err="1"/>
              <a:t>Toimialan</a:t>
            </a:r>
            <a:r>
              <a:rPr lang="en-US" dirty="0"/>
              <a:t> </a:t>
            </a:r>
            <a:r>
              <a:rPr lang="en-US" dirty="0" err="1"/>
              <a:t>tuntemus</a:t>
            </a:r>
            <a:r>
              <a:rPr lang="en-US" dirty="0"/>
              <a:t>, </a:t>
            </a:r>
            <a:r>
              <a:rPr lang="en-US" dirty="0" err="1"/>
              <a:t>asiakkaan</a:t>
            </a:r>
            <a:r>
              <a:rPr lang="en-US" dirty="0"/>
              <a:t> </a:t>
            </a:r>
            <a:r>
              <a:rPr lang="en-US" dirty="0" err="1"/>
              <a:t>ongelman</a:t>
            </a:r>
            <a:r>
              <a:rPr lang="en-US" dirty="0"/>
              <a:t> </a:t>
            </a:r>
            <a:r>
              <a:rPr lang="en-US" dirty="0" err="1"/>
              <a:t>ymmärtäminen</a:t>
            </a:r>
            <a:r>
              <a:rPr lang="en-US" dirty="0"/>
              <a:t>, </a:t>
            </a:r>
            <a:r>
              <a:rPr lang="en-US" dirty="0" err="1"/>
              <a:t>integraatio</a:t>
            </a:r>
            <a:r>
              <a:rPr lang="en-US" dirty="0"/>
              <a:t> ja </a:t>
            </a:r>
            <a:r>
              <a:rPr lang="en-US" dirty="0" err="1"/>
              <a:t>tuki</a:t>
            </a:r>
            <a:r>
              <a:rPr lang="en-US" dirty="0"/>
              <a:t> </a:t>
            </a:r>
            <a:r>
              <a:rPr lang="en-US" dirty="0" err="1"/>
              <a:t>voivat</a:t>
            </a:r>
            <a:r>
              <a:rPr lang="en-US" dirty="0"/>
              <a:t> </a:t>
            </a:r>
            <a:r>
              <a:rPr lang="en-US" dirty="0" err="1"/>
              <a:t>luoda</a:t>
            </a:r>
            <a:r>
              <a:rPr lang="en-US" dirty="0"/>
              <a:t> </a:t>
            </a:r>
            <a:r>
              <a:rPr lang="en-US" dirty="0" err="1"/>
              <a:t>arvoa</a:t>
            </a:r>
            <a:r>
              <a:rPr lang="en-US" dirty="0"/>
              <a:t>. Mikä </a:t>
            </a:r>
            <a:r>
              <a:rPr lang="en-US" dirty="0" err="1"/>
              <a:t>tekisi</a:t>
            </a:r>
            <a:r>
              <a:rPr lang="en-US" dirty="0"/>
              <a:t> </a:t>
            </a:r>
            <a:r>
              <a:rPr lang="en-US" dirty="0" err="1"/>
              <a:t>huoltokirjausesimerkistä</a:t>
            </a:r>
            <a:r>
              <a:rPr lang="en-US" dirty="0"/>
              <a:t> </a:t>
            </a:r>
            <a:r>
              <a:rPr lang="en-US" dirty="0" err="1"/>
              <a:t>maksamisen</a:t>
            </a:r>
            <a:r>
              <a:rPr lang="en-US" dirty="0"/>
              <a:t> ja </a:t>
            </a:r>
            <a:r>
              <a:rPr lang="en-US" dirty="0" err="1"/>
              <a:t>omistamisen</a:t>
            </a:r>
            <a:r>
              <a:rPr lang="en-US" dirty="0"/>
              <a:t> </a:t>
            </a:r>
            <a:r>
              <a:rPr lang="en-US" dirty="0" err="1"/>
              <a:t>arvoisen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26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0:55–0:57. Hyväksytty </a:t>
            </a:r>
            <a:r>
              <a:rPr lang="en-US" dirty="0" err="1"/>
              <a:t>lopputulos</a:t>
            </a:r>
            <a:r>
              <a:rPr lang="en-US" dirty="0"/>
              <a:t> ja </a:t>
            </a:r>
            <a:r>
              <a:rPr lang="en-US" dirty="0" err="1"/>
              <a:t>korjaustyö</a:t>
            </a:r>
            <a:r>
              <a:rPr lang="en-US" dirty="0"/>
              <a:t> </a:t>
            </a:r>
            <a:r>
              <a:rPr lang="en-US" dirty="0" err="1"/>
              <a:t>kertovat</a:t>
            </a:r>
            <a:r>
              <a:rPr lang="en-US" dirty="0"/>
              <a:t> </a:t>
            </a:r>
            <a:r>
              <a:rPr lang="en-US" dirty="0" err="1"/>
              <a:t>enemmän</a:t>
            </a:r>
            <a:r>
              <a:rPr lang="en-US" dirty="0"/>
              <a:t> </a:t>
            </a:r>
            <a:r>
              <a:rPr lang="en-US" dirty="0" err="1"/>
              <a:t>kuin</a:t>
            </a:r>
            <a:r>
              <a:rPr lang="en-US" dirty="0"/>
              <a:t> </a:t>
            </a:r>
            <a:r>
              <a:rPr lang="en-US" dirty="0" err="1"/>
              <a:t>tuotettu</a:t>
            </a:r>
            <a:r>
              <a:rPr lang="en-US" dirty="0"/>
              <a:t> </a:t>
            </a:r>
            <a:r>
              <a:rPr lang="en-US" dirty="0" err="1"/>
              <a:t>koodimäärä</a:t>
            </a:r>
            <a:r>
              <a:rPr lang="en-US" dirty="0"/>
              <a:t>. </a:t>
            </a:r>
            <a:r>
              <a:rPr lang="en-US" dirty="0" err="1"/>
              <a:t>Osaamisen</a:t>
            </a:r>
            <a:r>
              <a:rPr lang="en-US" dirty="0"/>
              <a:t> </a:t>
            </a:r>
            <a:r>
              <a:rPr lang="en-US" dirty="0" err="1"/>
              <a:t>kasvua</a:t>
            </a:r>
            <a:r>
              <a:rPr lang="en-US" dirty="0"/>
              <a:t> </a:t>
            </a:r>
            <a:r>
              <a:rPr lang="en-US" dirty="0" err="1"/>
              <a:t>tulee</a:t>
            </a:r>
            <a:r>
              <a:rPr lang="en-US" dirty="0"/>
              <a:t> </a:t>
            </a:r>
            <a:r>
              <a:rPr lang="en-US" dirty="0" err="1"/>
              <a:t>voida</a:t>
            </a:r>
            <a:r>
              <a:rPr lang="en-US" dirty="0"/>
              <a:t> </a:t>
            </a:r>
            <a:r>
              <a:rPr lang="en-US" dirty="0" err="1"/>
              <a:t>osoittaa</a:t>
            </a:r>
            <a:r>
              <a:rPr lang="en-US" dirty="0"/>
              <a:t>. </a:t>
            </a:r>
            <a:r>
              <a:rPr lang="en-US" dirty="0" err="1"/>
              <a:t>Omistajuus</a:t>
            </a:r>
            <a:r>
              <a:rPr lang="en-US" dirty="0"/>
              <a:t> </a:t>
            </a:r>
            <a:r>
              <a:rPr lang="en-US" dirty="0" err="1"/>
              <a:t>sovitaan</a:t>
            </a:r>
            <a:r>
              <a:rPr lang="en-US" dirty="0"/>
              <a:t> </a:t>
            </a:r>
            <a:r>
              <a:rPr lang="en-US" dirty="0" err="1"/>
              <a:t>ennen</a:t>
            </a:r>
            <a:r>
              <a:rPr lang="en-US" dirty="0"/>
              <a:t> </a:t>
            </a:r>
            <a:r>
              <a:rPr lang="en-US" dirty="0" err="1"/>
              <a:t>julkaisua</a:t>
            </a:r>
            <a:r>
              <a:rPr lang="en-US" dirty="0"/>
              <a:t>. </a:t>
            </a:r>
            <a:r>
              <a:rPr lang="en-US" dirty="0" err="1"/>
              <a:t>Suositukset</a:t>
            </a:r>
            <a:r>
              <a:rPr lang="en-US" dirty="0"/>
              <a:t> </a:t>
            </a:r>
            <a:r>
              <a:rPr lang="en-US" dirty="0" err="1"/>
              <a:t>perustuvat</a:t>
            </a:r>
            <a:r>
              <a:rPr lang="en-US" dirty="0"/>
              <a:t> </a:t>
            </a:r>
            <a:r>
              <a:rPr lang="en-US" dirty="0" err="1"/>
              <a:t>puheen</a:t>
            </a:r>
            <a:r>
              <a:rPr lang="en-US" dirty="0"/>
              <a:t> </a:t>
            </a:r>
            <a:r>
              <a:rPr lang="en-US" dirty="0" err="1"/>
              <a:t>argumenttiin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yhden</a:t>
            </a:r>
            <a:r>
              <a:rPr lang="en-US" dirty="0"/>
              <a:t> </a:t>
            </a:r>
            <a:r>
              <a:rPr lang="en-US" dirty="0" err="1"/>
              <a:t>tutkimuksen</a:t>
            </a:r>
            <a:r>
              <a:rPr lang="en-US" dirty="0"/>
              <a:t> </a:t>
            </a:r>
            <a:r>
              <a:rPr lang="en-US" dirty="0" err="1"/>
              <a:t>todistamaan</a:t>
            </a:r>
            <a:r>
              <a:rPr lang="en-US" dirty="0"/>
              <a:t> </a:t>
            </a:r>
            <a:r>
              <a:rPr lang="en-US" dirty="0" err="1"/>
              <a:t>yleispätevään</a:t>
            </a:r>
            <a:r>
              <a:rPr lang="en-US" dirty="0"/>
              <a:t> </a:t>
            </a:r>
            <a:r>
              <a:rPr lang="en-US" dirty="0" err="1"/>
              <a:t>reseptiin</a:t>
            </a:r>
            <a:r>
              <a:rPr lang="en-US" dirty="0"/>
              <a:t>.</a:t>
            </a:r>
          </a:p>
          <a:p>
            <a:r>
              <a:rPr lang="en-US" dirty="0"/>
              <a:t>0:57–0:59: </a:t>
            </a:r>
            <a:r>
              <a:rPr lang="en-US" dirty="0" err="1"/>
              <a:t>vaihda</a:t>
            </a:r>
            <a:r>
              <a:rPr lang="en-US" dirty="0"/>
              <a:t> </a:t>
            </a:r>
            <a:r>
              <a:rPr lang="en-US" dirty="0" err="1"/>
              <a:t>selaimeen</a:t>
            </a:r>
            <a:r>
              <a:rPr lang="en-US" dirty="0"/>
              <a:t> https://</a:t>
            </a:r>
            <a:r>
              <a:rPr lang="en-US" dirty="0" err="1"/>
              <a:t>gallup.koodattu.dev</a:t>
            </a:r>
            <a:r>
              <a:rPr lang="en-US" dirty="0"/>
              <a:t> ja </a:t>
            </a:r>
            <a:r>
              <a:rPr lang="en-US" dirty="0" err="1"/>
              <a:t>toista</a:t>
            </a:r>
            <a:r>
              <a:rPr lang="en-US" dirty="0"/>
              <a:t> </a:t>
            </a:r>
            <a:r>
              <a:rPr lang="en-US" dirty="0" err="1"/>
              <a:t>avauksen</a:t>
            </a:r>
            <a:r>
              <a:rPr lang="en-US" dirty="0"/>
              <a:t> AI-</a:t>
            </a:r>
            <a:r>
              <a:rPr lang="en-US" dirty="0" err="1"/>
              <a:t>fiilis</a:t>
            </a:r>
            <a:r>
              <a:rPr lang="en-US" dirty="0"/>
              <a:t>-</a:t>
            </a:r>
            <a:r>
              <a:rPr lang="en-US" dirty="0" err="1"/>
              <a:t>kysymys</a:t>
            </a:r>
            <a:r>
              <a:rPr lang="en-US" dirty="0"/>
              <a:t> </a:t>
            </a:r>
            <a:r>
              <a:rPr lang="en-US" dirty="0" err="1"/>
              <a:t>samoilla</a:t>
            </a:r>
            <a:r>
              <a:rPr lang="en-US" dirty="0"/>
              <a:t> </a:t>
            </a:r>
            <a:r>
              <a:rPr lang="en-US" dirty="0" err="1"/>
              <a:t>vaihtoehdoilla</a:t>
            </a:r>
            <a:r>
              <a:rPr lang="en-US" dirty="0"/>
              <a:t>. </a:t>
            </a:r>
            <a:r>
              <a:rPr lang="en-US" dirty="0" err="1"/>
              <a:t>Tämä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kontrolloitu</a:t>
            </a:r>
            <a:r>
              <a:rPr lang="en-US" dirty="0"/>
              <a:t> </a:t>
            </a:r>
            <a:r>
              <a:rPr lang="en-US" dirty="0" err="1"/>
              <a:t>asennemuutoskoe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PowerPointin</a:t>
            </a:r>
            <a:r>
              <a:rPr lang="en-US" dirty="0"/>
              <a:t> </a:t>
            </a:r>
            <a:r>
              <a:rPr lang="en-US" dirty="0" err="1"/>
              <a:t>päätösdiaan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85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0:59–1:00. Anna </a:t>
            </a:r>
            <a:r>
              <a:rPr lang="en-US" dirty="0" err="1"/>
              <a:t>päätöslauseille</a:t>
            </a:r>
            <a:r>
              <a:rPr lang="en-US" dirty="0"/>
              <a:t> </a:t>
            </a:r>
            <a:r>
              <a:rPr lang="en-US" dirty="0" err="1"/>
              <a:t>tilaa</a:t>
            </a:r>
            <a:r>
              <a:rPr lang="en-US" dirty="0"/>
              <a:t>. Kysy </a:t>
            </a:r>
            <a:r>
              <a:rPr lang="en-US" dirty="0" err="1"/>
              <a:t>lopuksi</a:t>
            </a:r>
            <a:r>
              <a:rPr lang="en-US" dirty="0"/>
              <a:t>: </a:t>
            </a:r>
            <a:r>
              <a:rPr lang="en-US" dirty="0" err="1"/>
              <a:t>Minkä</a:t>
            </a:r>
            <a:r>
              <a:rPr lang="en-US" dirty="0"/>
              <a:t> </a:t>
            </a:r>
            <a:r>
              <a:rPr lang="en-US" dirty="0" err="1"/>
              <a:t>seurauksen</a:t>
            </a:r>
            <a:r>
              <a:rPr lang="en-US" dirty="0"/>
              <a:t> </a:t>
            </a:r>
            <a:r>
              <a:rPr lang="en-US" dirty="0" err="1"/>
              <a:t>sinä</a:t>
            </a:r>
            <a:r>
              <a:rPr lang="en-US" dirty="0"/>
              <a:t> </a:t>
            </a:r>
            <a:r>
              <a:rPr lang="en-US" dirty="0" err="1"/>
              <a:t>olet</a:t>
            </a:r>
            <a:r>
              <a:rPr lang="en-US" dirty="0"/>
              <a:t> </a:t>
            </a:r>
            <a:r>
              <a:rPr lang="en-US" dirty="0" err="1"/>
              <a:t>valmis</a:t>
            </a:r>
            <a:r>
              <a:rPr lang="en-US" dirty="0"/>
              <a:t> </a:t>
            </a:r>
            <a:r>
              <a:rPr lang="en-US" dirty="0" err="1"/>
              <a:t>omistamaan</a:t>
            </a:r>
            <a:r>
              <a:rPr lang="en-US" dirty="0"/>
              <a:t>? </a:t>
            </a:r>
            <a:r>
              <a:rPr lang="en-US" dirty="0" err="1"/>
              <a:t>Virallinen</a:t>
            </a:r>
            <a:r>
              <a:rPr lang="en-US" dirty="0"/>
              <a:t> 60 </a:t>
            </a:r>
            <a:r>
              <a:rPr lang="en-US" dirty="0" err="1"/>
              <a:t>minuutin</a:t>
            </a:r>
            <a:r>
              <a:rPr lang="en-US" dirty="0"/>
              <a:t> </a:t>
            </a:r>
            <a:r>
              <a:rPr lang="en-US" dirty="0" err="1"/>
              <a:t>kokonaisuus</a:t>
            </a:r>
            <a:r>
              <a:rPr lang="en-US" dirty="0"/>
              <a:t> </a:t>
            </a:r>
            <a:r>
              <a:rPr lang="en-US" dirty="0" err="1"/>
              <a:t>päättyy</a:t>
            </a:r>
            <a:r>
              <a:rPr lang="en-US" dirty="0"/>
              <a:t> </a:t>
            </a:r>
            <a:r>
              <a:rPr lang="en-US" dirty="0" err="1"/>
              <a:t>tähän</a:t>
            </a:r>
            <a:r>
              <a:rPr lang="en-US" dirty="0"/>
              <a:t>.</a:t>
            </a:r>
          </a:p>
          <a:p>
            <a:r>
              <a:rPr lang="en-US" dirty="0" err="1"/>
              <a:t>Virallisen</a:t>
            </a:r>
            <a:r>
              <a:rPr lang="en-US" dirty="0"/>
              <a:t> </a:t>
            </a:r>
            <a:r>
              <a:rPr lang="en-US" dirty="0" err="1"/>
              <a:t>osuuden</a:t>
            </a:r>
            <a:r>
              <a:rPr lang="en-US" dirty="0"/>
              <a:t> </a:t>
            </a:r>
            <a:r>
              <a:rPr lang="en-US" dirty="0" err="1"/>
              <a:t>jälkeen</a:t>
            </a:r>
            <a:r>
              <a:rPr lang="en-US" dirty="0"/>
              <a:t> </a:t>
            </a:r>
            <a:r>
              <a:rPr lang="en-US" dirty="0" err="1"/>
              <a:t>avaa</a:t>
            </a:r>
            <a:r>
              <a:rPr lang="en-US" dirty="0"/>
              <a:t> https://</a:t>
            </a:r>
            <a:r>
              <a:rPr lang="en-US" dirty="0" err="1"/>
              <a:t>gallup.koodattu.dev</a:t>
            </a:r>
            <a:r>
              <a:rPr lang="en-US" dirty="0"/>
              <a:t> ja </a:t>
            </a:r>
            <a:r>
              <a:rPr lang="en-US" dirty="0" err="1"/>
              <a:t>viimeinen</a:t>
            </a:r>
            <a:r>
              <a:rPr lang="en-US" dirty="0"/>
              <a:t> </a:t>
            </a:r>
            <a:r>
              <a:rPr lang="en-US" dirty="0" err="1"/>
              <a:t>vapaa</a:t>
            </a:r>
            <a:r>
              <a:rPr lang="en-US" dirty="0"/>
              <a:t> </a:t>
            </a:r>
            <a:r>
              <a:rPr lang="en-US" dirty="0" err="1"/>
              <a:t>tekstikysymys</a:t>
            </a:r>
            <a:r>
              <a:rPr lang="en-US" dirty="0"/>
              <a:t>: </a:t>
            </a:r>
            <a:r>
              <a:rPr lang="en-US" dirty="0" err="1"/>
              <a:t>Mikä</a:t>
            </a:r>
            <a:r>
              <a:rPr lang="en-US" dirty="0"/>
              <a:t> </a:t>
            </a:r>
            <a:r>
              <a:rPr lang="en-US" dirty="0" err="1"/>
              <a:t>väite</a:t>
            </a:r>
            <a:r>
              <a:rPr lang="en-US" dirty="0"/>
              <a:t> tai </a:t>
            </a:r>
            <a:r>
              <a:rPr lang="en-US" dirty="0" err="1"/>
              <a:t>kysymys</a:t>
            </a:r>
            <a:r>
              <a:rPr lang="en-US" dirty="0"/>
              <a:t> </a:t>
            </a:r>
            <a:r>
              <a:rPr lang="en-US" dirty="0" err="1"/>
              <a:t>jäi</a:t>
            </a:r>
            <a:r>
              <a:rPr lang="en-US" dirty="0"/>
              <a:t> </a:t>
            </a:r>
            <a:r>
              <a:rPr lang="en-US" dirty="0" err="1"/>
              <a:t>pyörimään</a:t>
            </a:r>
            <a:r>
              <a:rPr lang="en-US" dirty="0"/>
              <a:t> </a:t>
            </a:r>
            <a:r>
              <a:rPr lang="en-US" dirty="0" err="1"/>
              <a:t>mieleen</a:t>
            </a:r>
            <a:r>
              <a:rPr lang="en-US" dirty="0"/>
              <a:t>? </a:t>
            </a:r>
            <a:r>
              <a:rPr lang="en-US" dirty="0" err="1"/>
              <a:t>Lisäaika</a:t>
            </a:r>
            <a:r>
              <a:rPr lang="en-US" dirty="0"/>
              <a:t> </a:t>
            </a:r>
            <a:r>
              <a:rPr lang="en-US" dirty="0" err="1"/>
              <a:t>kuuluu</a:t>
            </a:r>
            <a:r>
              <a:rPr lang="en-US" dirty="0"/>
              <a:t> </a:t>
            </a:r>
            <a:r>
              <a:rPr lang="en-US" dirty="0" err="1"/>
              <a:t>keskustelulle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43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6815-C7FD-B243-6F73-4D5E90298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9E163-6615-DD47-2F54-41F9ABFDF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B6FE7-96AF-FF72-26F7-DB81899D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54E30-2E8C-4221-E206-D908B8A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3BFB3-2AEC-157A-4349-358ED080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A904-9AF5-EE0F-B77B-25FF8066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D45B-E494-C5C2-E9F2-EE0EEF5F1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CD30-4AC6-5BC7-8537-248BE8DB0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3A0E7-2B67-0E71-D131-4E8837D9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06E3-6FAD-A716-E33D-43BAC07C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7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2540-B7B1-A39E-CA7C-4F3A760E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9E99E-EB47-C3B2-382E-155D5DAA5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8AD94-FE34-E61A-647B-08FEB0BB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B215-8952-56F5-7E86-F27E7528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F1356-FAE5-EC12-9C40-6B3C627D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1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9831-0C39-D24D-5BD4-93467DFB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E431-5775-C98B-1019-986C3F3E7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EAB80-8F0C-B5AA-807C-58E86B640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DC0A0-3727-4A60-6F69-39B68ECF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F6FDD-44F7-1808-2564-D5C325DA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72DEF-ACE9-B932-F2C5-B5097B26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65E7-1386-B517-C664-0EDB48F3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3CEFF-AD71-7089-8095-5637954D4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87930-9CBE-ABCD-55E5-F6DC272E7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8746E-6224-2F40-762C-731845607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280A8-2C20-4FFD-F119-81FB79ADD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751E9C-06ED-CA03-8E76-82BABEF0A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CAE9A-EA5B-A20A-003F-C1D86EE9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D8A21-AF7C-BF27-22AB-D894518B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7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96C9-0613-40FA-3E77-AE93E0EA9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7EEE3-56AC-96F9-9699-673362EB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09C64-1D8B-829A-AE58-FCF243D99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E8C34-C128-1CBD-AABF-FFEBBFDB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5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1BAA7A-CBA0-832F-10A2-4A52F314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FD7A2-1CE5-CFE1-E6F6-D19A1DBD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57C74-4396-6C84-070D-68F0FBB0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9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B92F-9043-AE0E-73F4-A9F6CCB2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AB160-A930-3627-A4E9-3A1C978D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0D63A-78D7-D3BB-A9F2-577E657AE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7C9B0-15E6-45E6-800F-13FBCC303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27650-5B5F-107D-96F9-1F13CB6D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BCC7-5FDE-9117-6DC8-A30F654E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0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6419-2006-0199-2744-A65536CD3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56EDE5-201D-D588-6B80-D74C6F601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07E20-F6B6-3E4E-5CAF-7DFC91A15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2B0A4-233D-BBE1-8F10-80A6CDEA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19C50-B5C0-DA69-91BB-94C3E35F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AFAC0-98ED-5245-CD22-8058E3BE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6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CFBC-5F93-986A-A371-BEC29CDE1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66A0F-1D63-C761-F0E1-7171F9A53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2B426-38F6-687D-C689-0BFE3156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3259D-5885-7FD3-ED28-F5255542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BFE17-FC46-D54A-3762-8A7D16D2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3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92BCF-89C8-8BA5-71D1-1CC0320EE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F6AB6-BD3A-2039-60F9-001A56E5F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0BEB-47E3-24D4-3EC1-BC0B7EECC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3232C-7970-06A9-4E7A-425ED013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B2B9-9558-495B-CBB4-B51E1DAB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58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4E24-2A0E-37F9-2AE8-FF416F1E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B7D8-8188-06F5-2F62-01E26F1F6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B0DAE-E1BA-A8BC-DE85-2BBB6DCD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65AC-DD94-B245-82D6-BE6367F0FC23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7846-C8A3-A004-A16F-F0F3F947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3D07-842D-5BAF-55CF-6B7E3250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D487C-475A-414A-AFA2-340E798A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080E3-A3EB-D940-2175-CEE933B4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C603C-6098-A2A1-3B86-045D011C9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8944D-E69C-6615-00B5-1F57377F2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08BED-85BF-5D63-93D4-4090D4AD9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83E29-D195-1F71-4357-5866D81F6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3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346B-1308-0B45-CE60-5754647EA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Hei ohjelmistokehitys, mitä kuuluu?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DE5EE-9505-69C2-E96D-CC0C647508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Koodi halpeni. Vastuu ei.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Lakeus-Devaus</a:t>
            </a:r>
          </a:p>
        </p:txBody>
      </p:sp>
    </p:spTree>
    <p:extLst>
      <p:ext uri="{BB962C8B-B14F-4D97-AF65-F5344CB8AC3E}">
        <p14:creationId xmlns:p14="http://schemas.microsoft.com/office/powerpoint/2010/main" val="1022919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5453-2DDB-D562-6C70-3AA168F3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Vastauksista tehtäviin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EA7F6-0A72-FBEB-7620-6F558154C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2022: pyysimme tekoälyltä vastauksia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2026: annamme sille kokonaisia tehtäviä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Mikä muuttuu arvokkaaksi, kun toteutus halpenee?</a:t>
            </a:r>
          </a:p>
        </p:txBody>
      </p:sp>
    </p:spTree>
    <p:extLst>
      <p:ext uri="{BB962C8B-B14F-4D97-AF65-F5344CB8AC3E}">
        <p14:creationId xmlns:p14="http://schemas.microsoft.com/office/powerpoint/2010/main" val="145306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91AB-29EE-60D5-4CEC-35E28DCE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Uskottava luku tarvitsi korjauksen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1DEC0-3551-B1C4-2653-0F0B8DA10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0" i="0" u="none" strike="noStrike" baseline="0" dirty="0" err="1">
                <a:latin typeface="Arial" panose="020B0604020202020204" pitchFamily="34" charset="0"/>
              </a:rPr>
              <a:t>Aiempi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latin typeface="Arial" panose="020B0604020202020204" pitchFamily="34" charset="0"/>
              </a:rPr>
              <a:t>luonnos</a:t>
            </a:r>
            <a:endParaRPr lang="en-US" b="0" i="0" u="none" strike="noStrike" baseline="0" dirty="0"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4FCB4-3D52-388E-FA83-56A55E678B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4200" dirty="0" err="1"/>
              <a:t>Yli</a:t>
            </a:r>
            <a:r>
              <a:rPr lang="en-US" sz="4200" dirty="0"/>
              <a:t> 20 </a:t>
            </a:r>
            <a:r>
              <a:rPr lang="en-US" sz="4200" dirty="0" err="1"/>
              <a:t>mrd</a:t>
            </a:r>
            <a:r>
              <a:rPr lang="en-US" sz="4200" dirty="0"/>
              <a:t>. €</a:t>
            </a:r>
          </a:p>
          <a:p>
            <a:r>
              <a:rPr lang="en-US" sz="2600" dirty="0" err="1"/>
              <a:t>kasvua</a:t>
            </a:r>
            <a:r>
              <a:rPr lang="en-US" sz="2600" dirty="0"/>
              <a:t> </a:t>
            </a:r>
            <a:r>
              <a:rPr lang="en-US" sz="2600" dirty="0" err="1"/>
              <a:t>noin</a:t>
            </a:r>
            <a:r>
              <a:rPr lang="en-US" sz="2600" dirty="0"/>
              <a:t> 9 %</a:t>
            </a:r>
          </a:p>
          <a:p>
            <a:endParaRPr lang="en-US" sz="2600" dirty="0"/>
          </a:p>
          <a:p>
            <a:r>
              <a:rPr lang="en-US" sz="2600" dirty="0" err="1"/>
              <a:t>Prototyypin</a:t>
            </a:r>
            <a:r>
              <a:rPr lang="en-US" sz="2600" dirty="0"/>
              <a:t> </a:t>
            </a:r>
            <a:r>
              <a:rPr lang="en-US" sz="2600" dirty="0" err="1"/>
              <a:t>aiempi</a:t>
            </a:r>
            <a:r>
              <a:rPr lang="en-US" sz="2600" dirty="0"/>
              <a:t> </a:t>
            </a:r>
            <a:r>
              <a:rPr lang="en-US" sz="2600" dirty="0" err="1"/>
              <a:t>väite</a:t>
            </a:r>
            <a:endParaRPr lang="en-US" sz="2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3600C-B758-01C4-E601-E819592A4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Elokuun</a:t>
            </a:r>
            <a:r>
              <a:rPr lang="en-US" dirty="0"/>
              <a:t> 2026 </a:t>
            </a:r>
            <a:r>
              <a:rPr lang="en-US" dirty="0" err="1"/>
              <a:t>lähde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E643B-292C-577B-6E8C-7C12861AE0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19 </a:t>
            </a:r>
            <a:r>
              <a:rPr lang="en-US" sz="4200" dirty="0" err="1"/>
              <a:t>mrd</a:t>
            </a:r>
            <a:r>
              <a:rPr lang="en-US" sz="4200" dirty="0"/>
              <a:t>. €</a:t>
            </a:r>
          </a:p>
          <a:p>
            <a:r>
              <a:rPr lang="en-US" sz="2600" dirty="0" err="1"/>
              <a:t>kasvua</a:t>
            </a:r>
            <a:r>
              <a:rPr lang="en-US" sz="2600" dirty="0"/>
              <a:t> 5 %</a:t>
            </a:r>
          </a:p>
          <a:p>
            <a:endParaRPr lang="en-US" sz="2600" dirty="0"/>
          </a:p>
          <a:p>
            <a:r>
              <a:rPr lang="en-US" sz="2600" dirty="0" err="1"/>
              <a:t>Tässä</a:t>
            </a:r>
            <a:r>
              <a:rPr lang="en-US" sz="2600" dirty="0"/>
              <a:t> </a:t>
            </a:r>
            <a:r>
              <a:rPr lang="en-US" sz="2600" dirty="0" err="1"/>
              <a:t>esityksessä</a:t>
            </a:r>
            <a:endParaRPr lang="en-US" sz="2600" dirty="0"/>
          </a:p>
          <a:p>
            <a:r>
              <a:rPr lang="en-US" sz="2600" dirty="0" err="1"/>
              <a:t>korjattu</a:t>
            </a:r>
            <a:r>
              <a:rPr lang="en-US" sz="2600" dirty="0"/>
              <a:t> </a:t>
            </a:r>
            <a:r>
              <a:rPr lang="en-US" sz="2600" dirty="0" err="1"/>
              <a:t>luku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86815-B7DB-BA7E-BF15-6034C9FD227A}"/>
              </a:ext>
            </a:extLst>
          </p:cNvPr>
          <p:cNvSpPr txBox="1"/>
          <p:nvPr/>
        </p:nvSpPr>
        <p:spPr>
          <a:xfrm>
            <a:off x="923731" y="6307494"/>
            <a:ext cx="1042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Sama </a:t>
            </a:r>
            <a:r>
              <a:rPr lang="en-US" sz="1400" dirty="0" err="1"/>
              <a:t>mittari</a:t>
            </a:r>
            <a:r>
              <a:rPr lang="en-US" sz="1400" dirty="0"/>
              <a:t>: </a:t>
            </a:r>
            <a:r>
              <a:rPr lang="en-US" sz="1400" dirty="0" err="1"/>
              <a:t>Suomen</a:t>
            </a:r>
            <a:r>
              <a:rPr lang="en-US" sz="1400" dirty="0"/>
              <a:t> IT-</a:t>
            </a:r>
            <a:r>
              <a:rPr lang="en-US" sz="1400" dirty="0" err="1"/>
              <a:t>alan</a:t>
            </a:r>
            <a:r>
              <a:rPr lang="en-US" sz="1400" dirty="0"/>
              <a:t> </a:t>
            </a:r>
            <a:r>
              <a:rPr lang="en-US" sz="1400" dirty="0" err="1"/>
              <a:t>liikevaihto</a:t>
            </a:r>
            <a:r>
              <a:rPr lang="en-US" sz="1400" dirty="0"/>
              <a:t> 2025. Teknologiateollisuus, </a:t>
            </a:r>
            <a:r>
              <a:rPr lang="en-US" sz="1400" dirty="0" err="1"/>
              <a:t>elokuun</a:t>
            </a:r>
            <a:r>
              <a:rPr lang="en-US" sz="1400" dirty="0"/>
              <a:t> </a:t>
            </a:r>
            <a:r>
              <a:rPr lang="en-US" sz="1400" dirty="0" err="1"/>
              <a:t>katsaus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295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835D-FF63-B88F-8068-5A51D72E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Korjauksen takana on päätös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F76ED-6EE6-35F3-0CF8-5C3940D88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Tavoite: ajantasainen, ymmärrettävä tilannekuva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Näyttö: saman ajankohdan suomalainen ja englanninkielinen lähde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Päätös: yksi lähdeversio, havaintojakso näkyviin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Esittäjä vastaa väitteestä myös tarkistuksen jälkeen</a:t>
            </a:r>
          </a:p>
        </p:txBody>
      </p:sp>
    </p:spTree>
    <p:extLst>
      <p:ext uri="{BB962C8B-B14F-4D97-AF65-F5344CB8AC3E}">
        <p14:creationId xmlns:p14="http://schemas.microsoft.com/office/powerpoint/2010/main" val="288622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E9E1-F1E7-1B10-3DE2-15A11E62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Toteutus helpottuu, monimutkaisuus jää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B8303-AF44-4A2C-2F5C-38CA4807B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Brooks: toteutuksen kitka ja ongelman vaikeus ovat eri asioita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Vaatimukset voivat olla ristiriitaisia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AI voi ehdottaa ratkaisua. Millä perusteella hyväksymme sen?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AB28C-3F3B-0988-DDBD-5C92212534C7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Brooks, No Silver Bullet, 1986/1987. </a:t>
            </a:r>
            <a:r>
              <a:rPr lang="en-US" sz="1400" dirty="0" err="1"/>
              <a:t>Suomenkielinen</a:t>
            </a:r>
            <a:r>
              <a:rPr lang="en-US" sz="1400" dirty="0"/>
              <a:t> </a:t>
            </a:r>
            <a:r>
              <a:rPr lang="en-US" sz="1400" dirty="0" err="1"/>
              <a:t>muotoilu</a:t>
            </a:r>
            <a:r>
              <a:rPr lang="en-US" sz="1400" dirty="0"/>
              <a:t> on </a:t>
            </a:r>
            <a:r>
              <a:rPr lang="en-US" sz="1400" dirty="0" err="1"/>
              <a:t>esittäjän</a:t>
            </a:r>
            <a:r>
              <a:rPr lang="en-US" sz="1400" dirty="0"/>
              <a:t> </a:t>
            </a:r>
            <a:r>
              <a:rPr lang="en-US" sz="1400" dirty="0" err="1"/>
              <a:t>tulkinta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871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CAA5-7ABE-48F9-FCD8-F7548ACA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Kuka ymmärtää järjestelmän ensi vuonna?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AA444-6452-D189-A039-8C4A7367A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Naur: ohjelmointi rakentaa ymmärrystä järjestelmästä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Koodi ei yksin kerro, miksi ratkaisu toimii tässä ympäristössä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Muutos ja vastuun siirto tarvitsevat tämän ymmärryksen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D9EA9-5193-1888-B528-35942D35C162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Naur, Programming as Theory Building, 1985. </a:t>
            </a:r>
            <a:r>
              <a:rPr lang="en-US" sz="1400" dirty="0" err="1"/>
              <a:t>Esittäjän</a:t>
            </a:r>
            <a:r>
              <a:rPr lang="en-US" sz="1400" dirty="0"/>
              <a:t> </a:t>
            </a:r>
            <a:r>
              <a:rPr lang="en-US" sz="1400" dirty="0" err="1"/>
              <a:t>tulkinta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058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B96F-9B71-0B27-75CA-B1AD938B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MirrorCode: tarkasti rajattu tehtävä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34DA9-D84B-CF1E-262A-9F1673834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Agentti toteutti gotree-työkalun toimintoja uudelleen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Vertailuohjelman käyttäytyminen ja testit antoivat palautteen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Ihmistyön 2–17 viikkoa oli asiantuntija-arvio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Tarkka jäljittely on helpompi arvioida kuin uuden tuotteen tarve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C6EA6-A486-D63E-8094-C15EDB489082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Epoch AI &amp; METR, </a:t>
            </a:r>
            <a:r>
              <a:rPr lang="en-US" sz="1400" dirty="0" err="1"/>
              <a:t>MirrorCode</a:t>
            </a:r>
            <a:r>
              <a:rPr lang="en-US" sz="1400" dirty="0"/>
              <a:t>, </a:t>
            </a:r>
            <a:r>
              <a:rPr lang="en-US" sz="1400" dirty="0" err="1"/>
              <a:t>huhtikuu</a:t>
            </a:r>
            <a:r>
              <a:rPr lang="en-US" sz="1400" dirty="0"/>
              <a:t> 2026. </a:t>
            </a:r>
            <a:r>
              <a:rPr lang="en-US" sz="1400" dirty="0" err="1"/>
              <a:t>Alustavat</a:t>
            </a:r>
            <a:r>
              <a:rPr lang="en-US" sz="1400" dirty="0"/>
              <a:t> </a:t>
            </a:r>
            <a:r>
              <a:rPr lang="en-US" sz="1400" dirty="0" err="1"/>
              <a:t>tulokset</a:t>
            </a:r>
            <a:r>
              <a:rPr lang="en-US" sz="1400" dirty="0"/>
              <a:t>, </a:t>
            </a:r>
            <a:r>
              <a:rPr lang="en-US" sz="1400" dirty="0" err="1"/>
              <a:t>rajattu</a:t>
            </a:r>
            <a:r>
              <a:rPr lang="en-US" sz="1400" dirty="0"/>
              <a:t> </a:t>
            </a:r>
            <a:r>
              <a:rPr lang="en-US" sz="1400" dirty="0" err="1"/>
              <a:t>arviointi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2126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EF5B-2728-A1B7-45A3-B3914967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Delegointi tarvitsee palautetta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6463A-8FD1-4E36-E1A4-2D1FF8606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Tavoite ja olennainen konteksti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Rajattu muutos ja toistettava näyttö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Ihmisen arvio seurauksista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Palaute parantaa seuraavaa tehtävää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D441F-410D-D568-BB1E-A3FA4F882B81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HubSpot, Cloud Coding Agents at HubSpot. </a:t>
            </a:r>
            <a:r>
              <a:rPr lang="en-US" sz="1400" dirty="0" err="1"/>
              <a:t>Yrityksen</a:t>
            </a:r>
            <a:r>
              <a:rPr lang="en-US" sz="1400" dirty="0"/>
              <a:t> </a:t>
            </a:r>
            <a:r>
              <a:rPr lang="en-US" sz="1400" dirty="0" err="1"/>
              <a:t>kuvaus</a:t>
            </a:r>
            <a:r>
              <a:rPr lang="en-US" sz="1400" dirty="0"/>
              <a:t> </a:t>
            </a:r>
            <a:r>
              <a:rPr lang="en-US" sz="1400" dirty="0" err="1"/>
              <a:t>omasta</a:t>
            </a:r>
            <a:r>
              <a:rPr lang="en-US" sz="1400" dirty="0"/>
              <a:t> </a:t>
            </a:r>
            <a:r>
              <a:rPr lang="en-US" sz="1400" dirty="0" err="1"/>
              <a:t>kehitystyöstään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476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FDDA-945B-BF39-6544-B23686C4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Kyky ja lupa ovat eri asioita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F0C12-E73B-56D5-E1F9-31BB4A54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Elokuun 2026 tietoturva-arvioinnissa agentit ylittivät tarkoitettuja rajoja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Poikkeava tutkimusympäristö, rajallinen tutkinta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Ohje, tekninen käyttöraja ja riippumaton loki palvelevat eri tarkoituksia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Autonomia riippuu seurauksista ja palautettavuudesta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44A93-0E30-5F3F-3E02-C8CA0A99D230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METR ja OpenAI, </a:t>
            </a:r>
            <a:r>
              <a:rPr lang="en-US" sz="1400" dirty="0" err="1"/>
              <a:t>elokuu</a:t>
            </a:r>
            <a:r>
              <a:rPr lang="en-US" sz="1400" dirty="0"/>
              <a:t> 2026. </a:t>
            </a:r>
            <a:r>
              <a:rPr lang="en-US" sz="1400" dirty="0" err="1"/>
              <a:t>Poikkeava</a:t>
            </a:r>
            <a:r>
              <a:rPr lang="en-US" sz="1400" dirty="0"/>
              <a:t> </a:t>
            </a:r>
            <a:r>
              <a:rPr lang="en-US" sz="1400" dirty="0" err="1"/>
              <a:t>tutkimusympäristö</a:t>
            </a:r>
            <a:r>
              <a:rPr lang="en-US" sz="1400" dirty="0"/>
              <a:t>, </a:t>
            </a:r>
            <a:r>
              <a:rPr lang="en-US" sz="1400" dirty="0" err="1"/>
              <a:t>rajallinen</a:t>
            </a:r>
            <a:r>
              <a:rPr lang="en-US" sz="1400" dirty="0"/>
              <a:t> </a:t>
            </a:r>
            <a:r>
              <a:rPr lang="en-US" sz="1400" dirty="0" err="1"/>
              <a:t>tutkinta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616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BFC3-DD42-7344-6058-7DAA25E0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Nopeammin missä tehtävässä?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2C966-3F39-3FE5-3909-9FBBB5EC0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0" i="0" u="none" strike="noStrike" baseline="0" dirty="0">
                <a:latin typeface="Arial" panose="020B0604020202020204" pitchFamily="34" charset="0"/>
              </a:rPr>
              <a:t>Microsoft Research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86024-F830-251D-B7FE-D5AB57C2E6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+26 %</a:t>
            </a:r>
          </a:p>
          <a:p>
            <a:r>
              <a:rPr lang="en-US" dirty="0" err="1"/>
              <a:t>valmiita</a:t>
            </a:r>
            <a:r>
              <a:rPr lang="en-US" dirty="0"/>
              <a:t> </a:t>
            </a:r>
            <a:r>
              <a:rPr lang="en-US" dirty="0" err="1"/>
              <a:t>tehtäviä</a:t>
            </a:r>
            <a:endParaRPr lang="en-US" dirty="0"/>
          </a:p>
          <a:p>
            <a:endParaRPr lang="en-US" dirty="0"/>
          </a:p>
          <a:p>
            <a:r>
              <a:rPr lang="en-US" dirty="0"/>
              <a:t>4 867 </a:t>
            </a:r>
            <a:r>
              <a:rPr lang="en-US" dirty="0" err="1"/>
              <a:t>kehittäjää</a:t>
            </a:r>
            <a:endParaRPr lang="en-US" dirty="0"/>
          </a:p>
          <a:p>
            <a:r>
              <a:rPr lang="en-US" dirty="0" err="1"/>
              <a:t>Kolme</a:t>
            </a:r>
            <a:r>
              <a:rPr lang="en-US" dirty="0"/>
              <a:t> </a:t>
            </a:r>
            <a:r>
              <a:rPr lang="en-US" dirty="0" err="1"/>
              <a:t>kenttäkoetta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29196-9128-1C2C-2D6C-3182B14C5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METR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EA857-9266-B5AD-1932-91C3EEDBAFC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+19 %</a:t>
            </a:r>
          </a:p>
          <a:p>
            <a:r>
              <a:rPr lang="en-US" sz="2600" dirty="0" err="1"/>
              <a:t>aikaa</a:t>
            </a:r>
            <a:r>
              <a:rPr lang="en-US" sz="2600" dirty="0"/>
              <a:t> </a:t>
            </a:r>
            <a:r>
              <a:rPr lang="en-US" sz="2600" dirty="0" err="1"/>
              <a:t>tehtävään</a:t>
            </a:r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16 </a:t>
            </a:r>
            <a:r>
              <a:rPr lang="en-US" sz="2600" dirty="0" err="1"/>
              <a:t>kokenutta</a:t>
            </a:r>
            <a:r>
              <a:rPr lang="en-US" sz="2600" dirty="0"/>
              <a:t> </a:t>
            </a:r>
            <a:r>
              <a:rPr lang="en-US" sz="2600" dirty="0" err="1"/>
              <a:t>kehittäjää</a:t>
            </a:r>
            <a:endParaRPr lang="en-US" sz="2600" dirty="0"/>
          </a:p>
          <a:p>
            <a:r>
              <a:rPr lang="en-US" sz="2600" dirty="0"/>
              <a:t>246 </a:t>
            </a:r>
            <a:r>
              <a:rPr lang="en-US" sz="2600" dirty="0" err="1"/>
              <a:t>tehtävää</a:t>
            </a:r>
            <a:r>
              <a:rPr lang="en-US" sz="2600" dirty="0"/>
              <a:t> </a:t>
            </a:r>
            <a:r>
              <a:rPr lang="en-US" sz="2600" dirty="0" err="1"/>
              <a:t>tutuissa</a:t>
            </a:r>
            <a:r>
              <a:rPr lang="en-US" sz="2600" dirty="0"/>
              <a:t> </a:t>
            </a:r>
            <a:r>
              <a:rPr lang="en-US" sz="2600" dirty="0" err="1"/>
              <a:t>repoissa</a:t>
            </a:r>
            <a:endParaRPr lang="en-US" sz="2600" dirty="0"/>
          </a:p>
          <a:p>
            <a:r>
              <a:rPr lang="en-US" sz="2600" dirty="0" err="1"/>
              <a:t>Alkuvuoden</a:t>
            </a:r>
            <a:r>
              <a:rPr lang="en-US" sz="2600" dirty="0"/>
              <a:t> 2025 </a:t>
            </a:r>
            <a:r>
              <a:rPr lang="en-US" sz="2600" dirty="0" err="1"/>
              <a:t>työkalut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6F756-70D1-ABDB-ED50-44BE0B7584EC}"/>
              </a:ext>
            </a:extLst>
          </p:cNvPr>
          <p:cNvSpPr txBox="1"/>
          <p:nvPr/>
        </p:nvSpPr>
        <p:spPr>
          <a:xfrm>
            <a:off x="923731" y="6307494"/>
            <a:ext cx="1043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Microsoft Research ja METR. Eri </a:t>
            </a:r>
            <a:r>
              <a:rPr lang="en-US" sz="1400" dirty="0" err="1"/>
              <a:t>mittarit</a:t>
            </a:r>
            <a:r>
              <a:rPr lang="en-US" sz="1400" dirty="0"/>
              <a:t> ja </a:t>
            </a:r>
            <a:r>
              <a:rPr lang="en-US" sz="1400" dirty="0" err="1"/>
              <a:t>koeasetelmat</a:t>
            </a:r>
            <a:r>
              <a:rPr lang="en-US" sz="1400" dirty="0"/>
              <a:t>. </a:t>
            </a:r>
            <a:r>
              <a:rPr lang="en-US" sz="1400" dirty="0" err="1"/>
              <a:t>Tarkat</a:t>
            </a:r>
            <a:r>
              <a:rPr lang="en-US" sz="1400" dirty="0"/>
              <a:t> </a:t>
            </a:r>
            <a:r>
              <a:rPr lang="en-US" sz="1400" dirty="0" err="1"/>
              <a:t>rajaukset</a:t>
            </a:r>
            <a:r>
              <a:rPr lang="en-US" sz="1400" dirty="0"/>
              <a:t> </a:t>
            </a:r>
            <a:r>
              <a:rPr lang="en-US" sz="1400" dirty="0" err="1"/>
              <a:t>muistiinpanoissa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2278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0C5B-9CE9-60D8-63AE-37740C8C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Vuoden 2025 tulos ei mittaa vuotta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B6984-D63A-26AC-76CC-078CFE03C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METR tutki kokeneita tekijöitä tutuissa repositorioissa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Vuoden 2026 jatkotutkimus ei tuottanut luotettavaa nykyarviota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Valikoituminen ja mittaus vaikeuttivat vertailua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Koettu nopeus ja mitattu vaikutus voivat erota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FC641-953E-DAA9-33FC-14A273AF5945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METR, 24.2.2026. </a:t>
            </a:r>
            <a:r>
              <a:rPr lang="en-US" sz="1400" dirty="0" err="1"/>
              <a:t>Jatkotutkimuksen</a:t>
            </a:r>
            <a:r>
              <a:rPr lang="en-US" sz="1400" dirty="0"/>
              <a:t> </a:t>
            </a:r>
            <a:r>
              <a:rPr lang="en-US" sz="1400" dirty="0" err="1"/>
              <a:t>valikoitumis</a:t>
            </a:r>
            <a:r>
              <a:rPr lang="en-US" sz="1400" dirty="0"/>
              <a:t>- ja </a:t>
            </a:r>
            <a:r>
              <a:rPr lang="en-US" sz="1400" dirty="0" err="1"/>
              <a:t>mittausongelmat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921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0C1D-67AE-D0C1-4FDE-E0B650E1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Tehtävä, toimitus ja hyöty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1AF7C-18F3-774D-003A-861051CA2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Yksilö saa tehtävän valmiiksi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Tiimi hyväksyy ja julkaisee muutoksen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Käyttäjä saa hyödyllisen lopputuloksen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DORA 2025: AI:n käyttö liittyi sekä suurempaan läpimenoon että epävakauteen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ED2F1-29F8-DE54-3A03-85DCCC12D527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DORA, </a:t>
            </a:r>
            <a:r>
              <a:rPr lang="en-US" sz="1400" dirty="0" err="1"/>
              <a:t>maaliskuun</a:t>
            </a:r>
            <a:r>
              <a:rPr lang="en-US" sz="1400" dirty="0"/>
              <a:t> 2026 </a:t>
            </a:r>
            <a:r>
              <a:rPr lang="en-US" sz="1400" dirty="0" err="1"/>
              <a:t>synteesi</a:t>
            </a:r>
            <a:r>
              <a:rPr lang="en-US" sz="1400" dirty="0"/>
              <a:t> </a:t>
            </a:r>
            <a:r>
              <a:rPr lang="en-US" sz="1400" dirty="0" err="1"/>
              <a:t>vuoden</a:t>
            </a:r>
            <a:r>
              <a:rPr lang="en-US" sz="1400" dirty="0"/>
              <a:t> 2025 </a:t>
            </a:r>
            <a:r>
              <a:rPr lang="en-US" sz="1400" dirty="0" err="1"/>
              <a:t>aineistosta</a:t>
            </a:r>
            <a:r>
              <a:rPr lang="en-US" sz="1400" dirty="0"/>
              <a:t>. </a:t>
            </a:r>
            <a:r>
              <a:rPr lang="en-US" sz="1400" dirty="0" err="1"/>
              <a:t>Yhteys</a:t>
            </a:r>
            <a:r>
              <a:rPr lang="en-US" sz="1400" dirty="0"/>
              <a:t> </a:t>
            </a:r>
            <a:r>
              <a:rPr lang="en-US" sz="1400" dirty="0" err="1"/>
              <a:t>ei</a:t>
            </a:r>
            <a:r>
              <a:rPr lang="en-US" sz="1400" dirty="0"/>
              <a:t> </a:t>
            </a:r>
            <a:r>
              <a:rPr lang="en-US" sz="1400" dirty="0" err="1"/>
              <a:t>osoita</a:t>
            </a:r>
            <a:r>
              <a:rPr lang="en-US" sz="1400" dirty="0"/>
              <a:t> </a:t>
            </a:r>
            <a:r>
              <a:rPr lang="en-US" sz="1400" dirty="0" err="1"/>
              <a:t>syy-seurausta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818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C181-8078-4D06-D1DF-4B2A7135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AI muuttaa myös kokeiltavaa työtä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6B14F-6B07-4FC6-FF13-7DDAB4280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Kuvitteellinen esimerkki: paikallisen valmistajan huoltomuistiinpanot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Valokuvista luonnoksia huoltokirjauksiksi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Pieni kokeilu selvittää, auttaako tämä asentajan työtä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Arvo syntyy hyödyllisestä havainnosta. Säästöä ei vielä tiedetä.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96976-10E0-065A-E088-E31F151D6B7E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METR, Task Substitution and Uplift, 8.5.2026. </a:t>
            </a:r>
            <a:r>
              <a:rPr lang="en-US" sz="1400" dirty="0" err="1"/>
              <a:t>Paikallinen</a:t>
            </a:r>
            <a:r>
              <a:rPr lang="en-US" sz="1400" dirty="0"/>
              <a:t> </a:t>
            </a:r>
            <a:r>
              <a:rPr lang="en-US" sz="1400" dirty="0" err="1"/>
              <a:t>esimerkki</a:t>
            </a:r>
            <a:r>
              <a:rPr lang="en-US" sz="1400" dirty="0"/>
              <a:t> on </a:t>
            </a:r>
            <a:r>
              <a:rPr lang="en-US" sz="1400" dirty="0" err="1"/>
              <a:t>kuvitteellinen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29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0FCC-D17D-8B56-2796-6CD43AAA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Kenen aikaa säästit?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D0222-B0E9-74C9-4083-387B57C6E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Tässä puheessa slop tarkoittaa muille siirrettyä arviointityötä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Uskottava tulos ilman tarkistettavaa perustaa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Tekijän säästämä minuutti voi kuluttaa arvioijan tunnin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Myös AI voi auttaa todentamaan ja korjaamaan tuloksen</a:t>
            </a:r>
          </a:p>
        </p:txBody>
      </p:sp>
    </p:spTree>
    <p:extLst>
      <p:ext uri="{BB962C8B-B14F-4D97-AF65-F5344CB8AC3E}">
        <p14:creationId xmlns:p14="http://schemas.microsoft.com/office/powerpoint/2010/main" val="551764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D10B-22F6-B6F2-01A9-FB102AF0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Katselmointi tarvitsee vastuunkantajan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DA10C-369B-013E-9761-C136210A6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Godot ja Linux valitsevat erilaisia AI-käytäntöjä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Tekijän ymmärrys ja ylläpitäjän harkinta ratkaisevat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Katselmoijan aika on rajallista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Pieni muutos ja toistettava näyttö helpottavat arviointia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06B8E-8F9F-6877-BB32-B444D01781AE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Godotin</a:t>
            </a:r>
            <a:r>
              <a:rPr lang="en-US" sz="1400" dirty="0"/>
              <a:t> ja </a:t>
            </a:r>
            <a:r>
              <a:rPr lang="en-US" sz="1400" dirty="0" err="1"/>
              <a:t>Linuxin</a:t>
            </a:r>
            <a:r>
              <a:rPr lang="en-US" sz="1400" dirty="0"/>
              <a:t> </a:t>
            </a:r>
            <a:r>
              <a:rPr lang="en-US" sz="1400" dirty="0" err="1"/>
              <a:t>kontribuutio-ohjeet</a:t>
            </a:r>
            <a:r>
              <a:rPr lang="en-US" sz="1400" dirty="0"/>
              <a:t>. </a:t>
            </a:r>
            <a:r>
              <a:rPr lang="en-US" sz="1400" dirty="0" err="1"/>
              <a:t>Syyskuun</a:t>
            </a:r>
            <a:r>
              <a:rPr lang="en-US" sz="1400" dirty="0"/>
              <a:t> 2026 </a:t>
            </a:r>
            <a:r>
              <a:rPr lang="en-US" sz="1400" dirty="0" err="1"/>
              <a:t>lähdemuistion</a:t>
            </a:r>
            <a:r>
              <a:rPr lang="en-US" sz="1400" dirty="0"/>
              <a:t> </a:t>
            </a:r>
            <a:r>
              <a:rPr lang="en-US" sz="1400" dirty="0" err="1"/>
              <a:t>tilanne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6447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D4DB-61D2-BF53-5BDC-C75157162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Valmis tehtävä ja opittu taito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617FE-6C2E-D40B-82D0-8D9F31ABB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0" i="0" u="none" strike="noStrike" baseline="0" dirty="0" err="1">
                <a:latin typeface="Arial" panose="020B0604020202020204" pitchFamily="34" charset="0"/>
              </a:rPr>
              <a:t>AI:n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latin typeface="Arial" panose="020B0604020202020204" pitchFamily="34" charset="0"/>
              </a:rPr>
              <a:t>kanssa</a:t>
            </a:r>
            <a:endParaRPr lang="en-US" b="0" i="0" u="none" strike="noStrike" baseline="0" dirty="0"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C5A4D-DAD9-2F83-B053-5F37FFA4BD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50 %</a:t>
            </a:r>
          </a:p>
          <a:p>
            <a:r>
              <a:rPr lang="en-US" sz="2600" dirty="0" err="1"/>
              <a:t>ymmärrystestin</a:t>
            </a:r>
            <a:r>
              <a:rPr lang="en-US" sz="2600" dirty="0"/>
              <a:t> </a:t>
            </a:r>
            <a:r>
              <a:rPr lang="en-US" sz="2600" dirty="0" err="1"/>
              <a:t>keskiarvo</a:t>
            </a:r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52 </a:t>
            </a:r>
            <a:r>
              <a:rPr lang="en-US" sz="2600" dirty="0" err="1"/>
              <a:t>osallistujaa</a:t>
            </a:r>
            <a:endParaRPr lang="en-US" sz="2600" dirty="0"/>
          </a:p>
          <a:p>
            <a:r>
              <a:rPr lang="en-US" sz="2600" dirty="0" err="1"/>
              <a:t>Vieras</a:t>
            </a:r>
            <a:r>
              <a:rPr lang="en-US" sz="2600" dirty="0"/>
              <a:t> Python-</a:t>
            </a:r>
            <a:r>
              <a:rPr lang="en-US" sz="2600" dirty="0" err="1"/>
              <a:t>kirjasto</a:t>
            </a:r>
            <a:endParaRPr lang="en-US" sz="2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1B36D-40FD-0533-96A8-F2F54B780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Ilman</a:t>
            </a:r>
            <a:r>
              <a:rPr lang="en-US" dirty="0"/>
              <a:t> </a:t>
            </a:r>
            <a:r>
              <a:rPr lang="en-US" dirty="0" err="1"/>
              <a:t>AI:ta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1E6F8-2A48-1E77-99AE-8FECBA872C3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67 %</a:t>
            </a:r>
          </a:p>
          <a:p>
            <a:r>
              <a:rPr lang="en-US" sz="2600" dirty="0" err="1"/>
              <a:t>ymmärrystestin</a:t>
            </a:r>
            <a:r>
              <a:rPr lang="en-US" sz="2600" dirty="0"/>
              <a:t> </a:t>
            </a:r>
            <a:r>
              <a:rPr lang="en-US" sz="2600" dirty="0" err="1"/>
              <a:t>keskiarvo</a:t>
            </a:r>
            <a:endParaRPr lang="en-US" sz="2600" dirty="0"/>
          </a:p>
          <a:p>
            <a:endParaRPr lang="en-US" sz="2600" dirty="0"/>
          </a:p>
          <a:p>
            <a:r>
              <a:rPr lang="en-US" sz="2600" dirty="0" err="1"/>
              <a:t>Välitön</a:t>
            </a:r>
            <a:r>
              <a:rPr lang="en-US" sz="2600" dirty="0"/>
              <a:t> </a:t>
            </a:r>
            <a:r>
              <a:rPr lang="en-US" sz="2600" dirty="0" err="1"/>
              <a:t>testi</a:t>
            </a:r>
            <a:r>
              <a:rPr lang="en-US" sz="2600" dirty="0"/>
              <a:t>, </a:t>
            </a:r>
            <a:r>
              <a:rPr lang="en-US" sz="2600" dirty="0" err="1"/>
              <a:t>lyhyt</a:t>
            </a:r>
            <a:r>
              <a:rPr lang="en-US" sz="2600" dirty="0"/>
              <a:t> </a:t>
            </a:r>
            <a:r>
              <a:rPr lang="en-US" sz="2600" dirty="0" err="1"/>
              <a:t>koe</a:t>
            </a:r>
            <a:endParaRPr lang="en-US" sz="2600" dirty="0"/>
          </a:p>
          <a:p>
            <a:r>
              <a:rPr lang="en-US" sz="2600" dirty="0"/>
              <a:t>Koe </a:t>
            </a:r>
            <a:r>
              <a:rPr lang="en-US" sz="2600" dirty="0" err="1"/>
              <a:t>ei</a:t>
            </a:r>
            <a:r>
              <a:rPr lang="en-US" sz="2600" dirty="0"/>
              <a:t> </a:t>
            </a:r>
            <a:r>
              <a:rPr lang="en-US" sz="2600" dirty="0" err="1"/>
              <a:t>mittaa</a:t>
            </a:r>
            <a:r>
              <a:rPr lang="en-US" sz="2600" dirty="0"/>
              <a:t> </a:t>
            </a:r>
            <a:r>
              <a:rPr lang="en-US" sz="2600" dirty="0" err="1"/>
              <a:t>pysyvää</a:t>
            </a:r>
            <a:endParaRPr lang="en-US" sz="2600" dirty="0"/>
          </a:p>
          <a:p>
            <a:r>
              <a:rPr lang="en-US" sz="2600" dirty="0" err="1"/>
              <a:t>osaamisen</a:t>
            </a:r>
            <a:r>
              <a:rPr lang="en-US" sz="2600" dirty="0"/>
              <a:t> </a:t>
            </a:r>
            <a:r>
              <a:rPr lang="en-US" sz="2600" dirty="0" err="1"/>
              <a:t>muutosta</a:t>
            </a:r>
            <a:endParaRPr 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31826-29FB-CB38-B0D3-1052B96F6CA0}"/>
              </a:ext>
            </a:extLst>
          </p:cNvPr>
          <p:cNvSpPr txBox="1"/>
          <p:nvPr/>
        </p:nvSpPr>
        <p:spPr>
          <a:xfrm>
            <a:off x="923731" y="6307494"/>
            <a:ext cx="1042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Shen &amp; Tamkin, 2026. </a:t>
            </a:r>
            <a:r>
              <a:rPr lang="en-US" sz="1400" dirty="0" err="1"/>
              <a:t>Tekijöiden</a:t>
            </a:r>
            <a:r>
              <a:rPr lang="en-US" sz="1400" dirty="0"/>
              <a:t> </a:t>
            </a:r>
            <a:r>
              <a:rPr lang="en-US" sz="1400" dirty="0" err="1"/>
              <a:t>yhteenvedon</a:t>
            </a:r>
            <a:r>
              <a:rPr lang="en-US" sz="1400" dirty="0"/>
              <a:t> </a:t>
            </a:r>
            <a:r>
              <a:rPr lang="en-US" sz="1400" dirty="0" err="1"/>
              <a:t>pyöristetyt</a:t>
            </a:r>
            <a:r>
              <a:rPr lang="en-US" sz="1400" dirty="0"/>
              <a:t> </a:t>
            </a:r>
            <a:r>
              <a:rPr lang="en-US" sz="1400" dirty="0" err="1"/>
              <a:t>keskiarvot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475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9E8E-5B49-E230-BCCA-FC53033D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Ymmärrys näkyy selittämisessä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5295B-2540-C8FB-82F4-0F0FC0965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Oma suosituksemme: oppija selittää yhden ratkaisun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Ennustaa, missä se voisi epäonnistua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Selvittää yhden rikotun esimerkin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Oppimiselle tarvitaan aikaa myös valmiin tehtävän jälkeen</a:t>
            </a:r>
          </a:p>
        </p:txBody>
      </p:sp>
    </p:spTree>
    <p:extLst>
      <p:ext uri="{BB962C8B-B14F-4D97-AF65-F5344CB8AC3E}">
        <p14:creationId xmlns:p14="http://schemas.microsoft.com/office/powerpoint/2010/main" val="2527400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8E6C-6F26-14B9-84DE-9FF4A53C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Kuka ottaa ratkaisun käyttöön?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D3691-DE23-7D49-A33E-243EB5D3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Kuvitteellinen huoltokirjaus: kuka tarkistaa luonnoksen?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Mihin järjestelmään hyväksytty tieto siirtyy?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Miksi asentaja vaihtaisi nykyistä tapaansa?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Kuka vastaa tiedosta ja tuesta vuoden kuluttua?</a:t>
            </a:r>
          </a:p>
        </p:txBody>
      </p:sp>
    </p:spTree>
    <p:extLst>
      <p:ext uri="{BB962C8B-B14F-4D97-AF65-F5344CB8AC3E}">
        <p14:creationId xmlns:p14="http://schemas.microsoft.com/office/powerpoint/2010/main" val="2277892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F37B-83CE-7032-9D99-A1469B10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Uran aloitus ja muuttuvat odotukset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EBE01-903C-B7D3-A34D-0A023AE17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Stanford: nuorten työllisyys jäi vertailuryhmästä AI:lle alttiissa ammateissa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Yhdysvallat, 22–25-vuotiaat, seuranta kesäkuuhun 2026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Havainto ei todista AI:n aiheuttamaa työpaikkakatoa Suomessa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Työnantaja vaikuttaa perehdytykseen, oppimisaikaan ja rekrytointiin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97886-5ACE-252D-FE45-3AFDCF91C3F4}"/>
              </a:ext>
            </a:extLst>
          </p:cNvPr>
          <p:cNvSpPr txBox="1"/>
          <p:nvPr/>
        </p:nvSpPr>
        <p:spPr>
          <a:xfrm>
            <a:off x="923731" y="6307494"/>
            <a:ext cx="1043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Stanford Digital Economy Lab, 12.8.2026. Kuvaileva </a:t>
            </a:r>
            <a:r>
              <a:rPr lang="en-US" sz="1400" dirty="0" err="1"/>
              <a:t>tulos</a:t>
            </a:r>
            <a:r>
              <a:rPr lang="en-US" sz="1400" dirty="0"/>
              <a:t>, </a:t>
            </a:r>
            <a:r>
              <a:rPr lang="en-US" sz="1400" dirty="0" err="1"/>
              <a:t>ei</a:t>
            </a:r>
            <a:r>
              <a:rPr lang="en-US" sz="1400" dirty="0"/>
              <a:t> </a:t>
            </a:r>
            <a:r>
              <a:rPr lang="en-US" sz="1400" dirty="0" err="1"/>
              <a:t>kausaalinen</a:t>
            </a:r>
            <a:r>
              <a:rPr lang="en-US" sz="1400" dirty="0"/>
              <a:t> AI-</a:t>
            </a:r>
            <a:r>
              <a:rPr lang="en-US" sz="1400" dirty="0" err="1"/>
              <a:t>vaikutus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709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4B06-7F95-4B59-18EF-A67022F3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Suomen IT-alan tilannekuva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ECE61-97EF-9E85-F30A-337AD8B10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0" i="0" u="none" strike="noStrike" baseline="0" dirty="0" err="1">
                <a:latin typeface="Arial" panose="020B0604020202020204" pitchFamily="34" charset="0"/>
              </a:rPr>
              <a:t>Liikevaihto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latin typeface="Arial" panose="020B0604020202020204" pitchFamily="34" charset="0"/>
              </a:rPr>
              <a:t>vuonna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 2025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1115C-1D7F-625F-0765-DDF49A2611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19 </a:t>
            </a:r>
            <a:r>
              <a:rPr lang="en-US" sz="4800" dirty="0" err="1"/>
              <a:t>mrd</a:t>
            </a:r>
            <a:r>
              <a:rPr lang="en-US" sz="4800" dirty="0"/>
              <a:t>. €</a:t>
            </a:r>
          </a:p>
          <a:p>
            <a:r>
              <a:rPr lang="en-US" dirty="0" err="1"/>
              <a:t>kasvua</a:t>
            </a:r>
            <a:r>
              <a:rPr lang="en-US" dirty="0"/>
              <a:t> 5 %</a:t>
            </a:r>
          </a:p>
          <a:p>
            <a:r>
              <a:rPr lang="en-US" dirty="0" err="1"/>
              <a:t>vuodesta</a:t>
            </a:r>
            <a:r>
              <a:rPr lang="en-US" dirty="0"/>
              <a:t> 2024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37AF5-25F5-D157-E1F1-BB189B163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Henkilöstö </a:t>
            </a:r>
            <a:r>
              <a:rPr lang="en-US" dirty="0" err="1"/>
              <a:t>kesäkuun</a:t>
            </a:r>
            <a:r>
              <a:rPr lang="en-US" dirty="0"/>
              <a:t> 2026 </a:t>
            </a:r>
            <a:r>
              <a:rPr lang="en-US" dirty="0" err="1"/>
              <a:t>lopussa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C23E3-3DBC-4FE2-43D5-259AE4BF2D0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Noin 80 200</a:t>
            </a:r>
          </a:p>
          <a:p>
            <a:r>
              <a:rPr lang="en-US" dirty="0" err="1"/>
              <a:t>laskua</a:t>
            </a:r>
            <a:r>
              <a:rPr lang="en-US" dirty="0"/>
              <a:t> 1 %</a:t>
            </a:r>
          </a:p>
          <a:p>
            <a:r>
              <a:rPr lang="en-US" dirty="0" err="1"/>
              <a:t>maaliskuun</a:t>
            </a:r>
            <a:r>
              <a:rPr lang="en-US" dirty="0"/>
              <a:t> 2026 </a:t>
            </a:r>
            <a:r>
              <a:rPr lang="en-US" dirty="0" err="1"/>
              <a:t>lopusta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771C9-8BDF-252F-8E21-23F484DC95BB}"/>
              </a:ext>
            </a:extLst>
          </p:cNvPr>
          <p:cNvSpPr txBox="1"/>
          <p:nvPr/>
        </p:nvSpPr>
        <p:spPr>
          <a:xfrm>
            <a:off x="923731" y="6307494"/>
            <a:ext cx="1042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Teknologiateollisuus, </a:t>
            </a:r>
            <a:r>
              <a:rPr lang="en-US" sz="1400" dirty="0" err="1"/>
              <a:t>elokuun</a:t>
            </a:r>
            <a:r>
              <a:rPr lang="en-US" sz="1400" dirty="0"/>
              <a:t> 2026 </a:t>
            </a:r>
            <a:r>
              <a:rPr lang="en-US" sz="1400" dirty="0" err="1"/>
              <a:t>katsaus</a:t>
            </a:r>
            <a:r>
              <a:rPr lang="en-US" sz="1400" dirty="0"/>
              <a:t>. </a:t>
            </a:r>
            <a:r>
              <a:rPr lang="en-US" sz="1400" dirty="0" err="1"/>
              <a:t>Luvut</a:t>
            </a:r>
            <a:r>
              <a:rPr lang="en-US" sz="1400" dirty="0"/>
              <a:t> </a:t>
            </a:r>
            <a:r>
              <a:rPr lang="en-US" sz="1400" dirty="0" err="1"/>
              <a:t>eivät</a:t>
            </a:r>
            <a:r>
              <a:rPr lang="en-US" sz="1400" dirty="0"/>
              <a:t> </a:t>
            </a:r>
            <a:r>
              <a:rPr lang="en-US" sz="1400" dirty="0" err="1"/>
              <a:t>erota</a:t>
            </a:r>
            <a:r>
              <a:rPr lang="en-US" sz="1400" dirty="0"/>
              <a:t> </a:t>
            </a:r>
            <a:r>
              <a:rPr lang="en-US" sz="1400" dirty="0" err="1"/>
              <a:t>AI:n</a:t>
            </a:r>
            <a:r>
              <a:rPr lang="en-US" sz="1400" dirty="0"/>
              <a:t> </a:t>
            </a:r>
            <a:r>
              <a:rPr lang="en-US" sz="1400" dirty="0" err="1"/>
              <a:t>vaikutusta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185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4236-8BAB-CD48-4073-ED18996B1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Paikallinen etu syntyy työn tuntemisesta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8C875-0426-52C6-46A8-1EF88EE0B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Oma ehdotuksemme Lakeudelle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Läheinen pääsy asiakkaan todelliseen ongelmaan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Toimiva integraatio ja luottamus käyttöönotossa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Jatkuva tuki tekee kokeilusta omistettavan palvelun</a:t>
            </a:r>
          </a:p>
        </p:txBody>
      </p:sp>
    </p:spTree>
    <p:extLst>
      <p:ext uri="{BB962C8B-B14F-4D97-AF65-F5344CB8AC3E}">
        <p14:creationId xmlns:p14="http://schemas.microsoft.com/office/powerpoint/2010/main" val="2576740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730C-CBC0-DDD4-75FE-9ED09D09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Kolme käytännön valintaa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33DBE-2DAB-F375-3CE9-F69BC39CA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Mittaa hyväksyttyä lopputulosta ja korjaustyötä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Varmista, että osaaminen kasvaa työn mukana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Sovi omistajuus ennen julkaisua</a:t>
            </a:r>
          </a:p>
        </p:txBody>
      </p:sp>
    </p:spTree>
    <p:extLst>
      <p:ext uri="{BB962C8B-B14F-4D97-AF65-F5344CB8AC3E}">
        <p14:creationId xmlns:p14="http://schemas.microsoft.com/office/powerpoint/2010/main" val="3908399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6466-65E7-7774-ED42-A527DF3159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Koodi halpeni. Vastuu ei.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CB38E-C429-5552-A660-A056E223A5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Koodia syntyy enemmän.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Varmuus ei synny samalla nopeudella.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Joku omistaa seuraukset joka tapauksessa.</a:t>
            </a:r>
          </a:p>
          <a:p>
            <a:pPr lvl="0"/>
            <a:r>
              <a:rPr lang="en-US" b="0" i="0" u="none" strike="noStrike" baseline="0">
                <a:latin typeface="Arial" panose="020B0604020202020204" pitchFamily="34" charset="0"/>
              </a:rPr>
              <a:t>Minkä seurauksen sinä olet valmis omistamaan?</a:t>
            </a:r>
          </a:p>
        </p:txBody>
      </p:sp>
    </p:spTree>
    <p:extLst>
      <p:ext uri="{BB962C8B-B14F-4D97-AF65-F5344CB8AC3E}">
        <p14:creationId xmlns:p14="http://schemas.microsoft.com/office/powerpoint/2010/main" val="104306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2339</Words>
  <Application>Microsoft Macintosh PowerPoint</Application>
  <PresentationFormat>Widescreen</PresentationFormat>
  <Paragraphs>227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Aptos</vt:lpstr>
      <vt:lpstr>Arial</vt:lpstr>
      <vt:lpstr>Office Theme</vt:lpstr>
      <vt:lpstr>Hei ohjelmistokehitys, mitä kuuluu?</vt:lpstr>
      <vt:lpstr>Vastauksista tehtäviin</vt:lpstr>
      <vt:lpstr>Uskottava luku tarvitsi korjauksen</vt:lpstr>
      <vt:lpstr>Korjauksen takana on päätös</vt:lpstr>
      <vt:lpstr>Toteutus helpottuu, monimutkaisuus jää</vt:lpstr>
      <vt:lpstr>Kuka ymmärtää järjestelmän ensi vuonna?</vt:lpstr>
      <vt:lpstr>MirrorCode: tarkasti rajattu tehtävä</vt:lpstr>
      <vt:lpstr>Delegointi tarvitsee palautetta</vt:lpstr>
      <vt:lpstr>Kyky ja lupa ovat eri asioita</vt:lpstr>
      <vt:lpstr>Nopeammin missä tehtävässä?</vt:lpstr>
      <vt:lpstr>Vuoden 2025 tulos ei mittaa vuotta 2026</vt:lpstr>
      <vt:lpstr>Tehtävä, toimitus ja hyöty</vt:lpstr>
      <vt:lpstr>AI muuttaa myös kokeiltavaa työtä</vt:lpstr>
      <vt:lpstr>Kenen aikaa säästit?</vt:lpstr>
      <vt:lpstr>Katselmointi tarvitsee vastuunkantajan</vt:lpstr>
      <vt:lpstr>Valmis tehtävä ja opittu taito</vt:lpstr>
      <vt:lpstr>Ymmärrys näkyy selittämisessä</vt:lpstr>
      <vt:lpstr>Kuka ottaa ratkaisun käyttöön?</vt:lpstr>
      <vt:lpstr>Uran aloitus ja muuttuvat odotukset</vt:lpstr>
      <vt:lpstr>Suomen IT-alan tilannekuva</vt:lpstr>
      <vt:lpstr>Paikallinen etu syntyy työn tuntemisesta</vt:lpstr>
      <vt:lpstr>Kolme käytännön valintaa</vt:lpstr>
      <vt:lpstr>Koodi halpeni. Vastuu ei.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4</cp:revision>
  <dcterms:created xsi:type="dcterms:W3CDTF">2026-09-05T16:00:56Z</dcterms:created>
  <dcterms:modified xsi:type="dcterms:W3CDTF">2026-09-05T16:25:24Z</dcterms:modified>
</cp:coreProperties>
</file>