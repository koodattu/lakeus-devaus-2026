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3.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charts/chart4.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charts/chart5.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6.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notesMasterIdLst>
    <p:notesMasterId r:id="rId8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lku" id="{cefec9ae-c711-f9e0-2e1f-cf17d45bffd3}">
          <p14:sldIdLst>
            <p14:sldId id="256"/>
            <p14:sldId id="257"/>
            <p14:sldId id="258"/>
            <p14:sldId id="259"/>
            <p14:sldId id="260"/>
            <p14:sldId id="261"/>
            <p14:sldId id="262"/>
          </p14:sldIdLst>
        </p14:section>
        <p14:section name="A · Mikä oikeasti muuttui?" id="{85654d2c-5b6e-498b-ee58-72de8925e52a}">
          <p14:sldIdLst>
            <p14:sldId id="263"/>
            <p14:sldId id="264"/>
            <p14:sldId id="265"/>
            <p14:sldId id="266"/>
            <p14:sldId id="267"/>
            <p14:sldId id="268"/>
            <p14:sldId id="269"/>
            <p14:sldId id="270"/>
          </p14:sldIdLst>
        </p14:section>
        <p14:section name="B · Tuleeko meistä nopeampia?" id="{3320301f-5688-8061-cbfb-d7022b6f5176}">
          <p14:sldIdLst>
            <p14:sldId id="271"/>
            <p14:sldId id="272"/>
            <p14:sldId id="273"/>
            <p14:sldId id="274"/>
            <p14:sldId id="275"/>
            <p14:sldId id="276"/>
            <p14:sldId id="277"/>
            <p14:sldId id="278"/>
            <p14:sldId id="279"/>
            <p14:sldId id="280"/>
            <p14:sldId id="281"/>
          </p14:sldIdLst>
        </p14:section>
        <p14:section name="C · Kuka tarkistaa – ja kuka oppii?" id="{37d1e2b0-caec-6028-4616-2d9f79084806}">
          <p14:sldIdLst>
            <p14:sldId id="282"/>
            <p14:sldId id="283"/>
            <p14:sldId id="284"/>
            <p14:sldId id="285"/>
            <p14:sldId id="286"/>
            <p14:sldId id="287"/>
          </p14:sldIdLst>
        </p14:section>
        <p14:section name="D · Mitä tämä tarkoittaa täällä?" id="{588788ce-0cf4-12b9-09c7-a7144845fd91}">
          <p14:sldIdLst>
            <p14:sldId id="288"/>
            <p14:sldId id="289"/>
            <p14:sldId id="290"/>
            <p14:sldId id="291"/>
            <p14:sldId id="292"/>
          </p14:sldIdLst>
        </p14:section>
        <p14:section name="Käytäntö · Miten tehdään?" id="{1af79674-53af-5838-363e-ce88c059ddd8}">
          <p14:sldIdLst>
            <p14:sldId id="293"/>
            <p14:sldId id="294"/>
            <p14:sldId id="295"/>
            <p14:sldId id="296"/>
            <p14:sldId id="297"/>
            <p14:sldId id="298"/>
            <p14:sldId id="299"/>
            <p14:sldId id="300"/>
            <p14:sldId id="301"/>
            <p14:sldId id="302"/>
            <p14:sldId id="303"/>
            <p14:sldId id="304"/>
            <p14:sldId id="305"/>
            <p14:sldId id="306"/>
            <p14:sldId id="307"/>
            <p14:sldId id="308"/>
            <p14:sldId id="309"/>
            <p14:sldId id="310"/>
          </p14:sldIdLst>
        </p14:section>
        <p14:section name="SuomiWoW · oikea projekti" id="{46cb2930-4fb7-0ad1-8042-aec8fb3bcab0}">
          <p14:sldIdLst>
            <p14:sldId id="311"/>
            <p14:sldId id="312"/>
            <p14:sldId id="313"/>
          </p14:sldIdLst>
        </p14:section>
        <p14:section name="Loppu" id="{977f5a29-4810-61e5-c643-25c9f346af80}">
          <p14:sldIdLst>
            <p14:sldId id="314"/>
            <p14:sldId id="315"/>
            <p14:sldId id="316"/>
            <p14:sldId id="317"/>
            <p14:sldId id="318"/>
          </p14:sldIdLst>
        </p14:section>
        <p14:section name="Varadiat" id="{79c73462-72be-0f58-b971-2c9ddc646137}">
          <p14:sldIdLst>
            <p14:sldId id="319"/>
            <p14:sldId id="320"/>
            <p14:sldId id="321"/>
            <p14:sldId id="322"/>
            <p14:sldId id="323"/>
            <p14:sldId id="324"/>
            <p14:sldId id="325"/>
            <p14:sldId id="326"/>
            <p14:sldId id="327"/>
            <p14:sldId id="328"/>
            <p14:sldId id="329"/>
            <p14:sldId id="330"/>
            <p14:sldId id="331"/>
            <p14:sldId id="332"/>
            <p14:sldId id="333"/>
            <p14:sldId id="334"/>
            <p14:sldId id="335"/>
            <p14:sldId id="33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Käyttää nyt</c:v>
                </c:pt>
              </c:strCache>
            </c:strRef>
          </c:tx>
          <c:spPr>
            <a:solidFill>
              <a:srgbClr val="2563EB"/>
            </a:solidFill>
            <a:effectLst/>
          </c:spPr>
          <c:invertIfNegative val="0"/>
          <c:dLbls>
            <c:numFmt formatCode="0&quot; %&quot;;-0&quot; %&quot;;" sourceLinked="0"/>
            <c:txPr>
              <a:bodyPr/>
              <a:lstStyle/>
              <a:p>
                <a:pPr>
                  <a:defRPr b="1" i="0" strike="noStrike" sz="2000" u="none">
                    <a:solidFill>
                      <a:srgbClr val="111827"/>
                    </a:solidFill>
                    <a:latin typeface="+mn-lt"/>
                  </a:defRPr>
                </a:pPr>
              </a:p>
            </c:txPr>
            <c:showLegendKey val="0"/>
            <c:showVal val="1"/>
            <c:showCatName val="0"/>
            <c:showSerName val="0"/>
            <c:showPercent val="0"/>
            <c:showBubbleSize val="0"/>
            <c:showLeaderLines val="0"/>
          </c:dLbls>
          <c:cat>
            <c:multiLvlStrRef>
              <c:f>Sheet1!$A$2:$A$5</c:f>
              <c:multiLvlStrCache>
                <c:ptCount val="4"/>
                <c:lvl>
                  <c:pt idx="0">
                    <c:v>Koodin tuottaminen tutulla alueella</c:v>
                  </c:pt>
                  <c:pt idx="1">
                    <c:v>Testien kirjoittaminen</c:v>
                  </c:pt>
                  <c:pt idx="2">
                    <c:v>Katselmointi</c:v>
                  </c:pt>
                  <c:pt idx="3">
                    <c:v>Tuotannon operointi ja vianetsintä</c:v>
                  </c:pt>
                </c:lvl>
              </c:multiLvlStrCache>
            </c:multiLvlStrRef>
          </c:cat>
          <c:val>
            <c:numRef>
              <c:f>Sheet1!$B$2:$B$5</c:f>
              <c:numCache>
                <c:formatCode>General</c:formatCode>
                <c:ptCount val="4"/>
                <c:pt idx="0">
                  <c:v>69.3</c:v>
                </c:pt>
                <c:pt idx="1">
                  <c:v>0</c:v>
                </c:pt>
                <c:pt idx="2">
                  <c:v>0</c:v>
                </c:pt>
                <c:pt idx="3">
                  <c:v>0</c:v>
                </c:pt>
              </c:numCache>
            </c:numRef>
          </c:val>
        </c:ser>
        <c:dLbls>
          <c:numFmt formatCode="0&quot; %&quot;;-0&quot; %&quot;;" sourceLinked="0"/>
          <c:txPr>
            <a:bodyPr/>
            <a:lstStyle/>
            <a:p>
              <a:pPr>
                <a:defRPr b="1" i="0" strike="noStrike" sz="2000" u="none">
                  <a:solidFill>
                    <a:srgbClr val="11182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111827"/>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0&quot; %&quot;" sourceLinked="0"/>
        <c:majorTickMark val="out"/>
        <c:minorTickMark val="none"/>
        <c:tickLblPos val="low"/>
        <c:spPr>
          <a:ln w="12700" cap="flat">
            <a:noFill/>
            <a:prstDash val="solid"/>
            <a:round/>
          </a:ln>
        </c:spPr>
        <c:txPr>
          <a:bodyPr/>
          <a:lstStyle/>
          <a:p>
            <a:pPr>
              <a:defRPr sz="1300" b="0" i="0" u="none" strike="noStrike">
                <a:solidFill>
                  <a:srgbClr val="6B7280"/>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Käyttää nyt</c:v>
                </c:pt>
              </c:strCache>
            </c:strRef>
          </c:tx>
          <c:spPr>
            <a:solidFill>
              <a:srgbClr val="2563EB"/>
            </a:solidFill>
            <a:effectLst/>
          </c:spPr>
          <c:invertIfNegative val="0"/>
          <c:dLbls>
            <c:numFmt formatCode="0&quot; %&quot;;-0&quot; %&quot;;" sourceLinked="0"/>
            <c:txPr>
              <a:bodyPr/>
              <a:lstStyle/>
              <a:p>
                <a:pPr>
                  <a:defRPr b="1" i="0" strike="noStrike" sz="2000" u="none">
                    <a:solidFill>
                      <a:srgbClr val="111827"/>
                    </a:solidFill>
                    <a:latin typeface="+mn-lt"/>
                  </a:defRPr>
                </a:pPr>
              </a:p>
            </c:txPr>
            <c:showLegendKey val="0"/>
            <c:showVal val="1"/>
            <c:showCatName val="0"/>
            <c:showSerName val="0"/>
            <c:showPercent val="0"/>
            <c:showBubbleSize val="0"/>
            <c:showLeaderLines val="0"/>
          </c:dLbls>
          <c:cat>
            <c:multiLvlStrRef>
              <c:f>Sheet1!$A$2:$A$5</c:f>
              <c:multiLvlStrCache>
                <c:ptCount val="4"/>
                <c:lvl>
                  <c:pt idx="0">
                    <c:v>Koodin tuottaminen tutulla alueella</c:v>
                  </c:pt>
                  <c:pt idx="1">
                    <c:v>Testien kirjoittaminen</c:v>
                  </c:pt>
                  <c:pt idx="2">
                    <c:v>Katselmointi</c:v>
                  </c:pt>
                  <c:pt idx="3">
                    <c:v>Tuotannon operointi ja vianetsintä</c:v>
                  </c:pt>
                </c:lvl>
              </c:multiLvlStrCache>
            </c:multiLvlStrRef>
          </c:cat>
          <c:val>
            <c:numRef>
              <c:f>Sheet1!$B$2:$B$5</c:f>
              <c:numCache>
                <c:formatCode>General</c:formatCode>
                <c:ptCount val="4"/>
                <c:pt idx="0">
                  <c:v>69.3</c:v>
                </c:pt>
                <c:pt idx="1">
                  <c:v>58.1</c:v>
                </c:pt>
                <c:pt idx="2">
                  <c:v>40.5</c:v>
                </c:pt>
                <c:pt idx="3">
                  <c:v>19.9</c:v>
                </c:pt>
              </c:numCache>
            </c:numRef>
          </c:val>
        </c:ser>
        <c:dLbls>
          <c:numFmt formatCode="0&quot; %&quot;;-0&quot; %&quot;;" sourceLinked="0"/>
          <c:txPr>
            <a:bodyPr/>
            <a:lstStyle/>
            <a:p>
              <a:pPr>
                <a:defRPr b="1" i="0" strike="noStrike" sz="2000" u="none">
                  <a:solidFill>
                    <a:srgbClr val="11182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111827"/>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0&quot; %&quot;" sourceLinked="0"/>
        <c:majorTickMark val="out"/>
        <c:minorTickMark val="none"/>
        <c:tickLblPos val="low"/>
        <c:spPr>
          <a:ln w="12700" cap="flat">
            <a:noFill/>
            <a:prstDash val="solid"/>
            <a:round/>
          </a:ln>
        </c:spPr>
        <c:txPr>
          <a:bodyPr/>
          <a:lstStyle/>
          <a:p>
            <a:pPr>
              <a:defRPr sz="1300" b="0" i="0" u="none" strike="noStrike">
                <a:solidFill>
                  <a:srgbClr val="6B7280"/>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Osaamiskoe</c:v>
                </c:pt>
              </c:strCache>
            </c:strRef>
          </c:tx>
          <c:spPr>
            <a:solidFill>
              <a:srgbClr val="2563EB"/>
            </a:solidFill>
            <a:effectLst/>
          </c:spPr>
          <c:invertIfNegative val="0"/>
          <c:dLbls>
            <c:numFmt formatCode="0&quot; %&quot;;-0&quot; %&quot;;" sourceLinked="0"/>
            <c:txPr>
              <a:bodyPr/>
              <a:lstStyle/>
              <a:p>
                <a:pPr>
                  <a:defRPr b="1" i="0" strike="noStrike" sz="2800" u="none">
                    <a:solidFill>
                      <a:srgbClr val="111827"/>
                    </a:solidFill>
                    <a:latin typeface="+mn-lt"/>
                  </a:defRPr>
                </a:pPr>
              </a:p>
            </c:txPr>
            <c:showLegendKey val="0"/>
            <c:showVal val="1"/>
            <c:showCatName val="0"/>
            <c:showSerName val="0"/>
            <c:showPercent val="0"/>
            <c:showBubbleSize val="0"/>
            <c:showLeaderLines val="0"/>
          </c:dLbls>
          <c:cat>
            <c:multiLvlStrRef>
              <c:f>Sheet1!$A$2:$A$3</c:f>
              <c:multiLvlStrCache>
                <c:ptCount val="2"/>
                <c:lvl>
                  <c:pt idx="0">
                    <c:v>AI:n kanssa</c:v>
                  </c:pt>
                  <c:pt idx="1">
                    <c:v>Ilman AI:ta</c:v>
                  </c:pt>
                </c:lvl>
              </c:multiLvlStrCache>
            </c:multiLvlStrRef>
          </c:cat>
          <c:val>
            <c:numRef>
              <c:f>Sheet1!$B$2:$B$3</c:f>
              <c:numCache>
                <c:formatCode>General</c:formatCode>
                <c:ptCount val="2"/>
                <c:pt idx="0">
                  <c:v>0</c:v>
                </c:pt>
                <c:pt idx="1">
                  <c:v>0</c:v>
                </c:pt>
              </c:numCache>
            </c:numRef>
          </c:val>
        </c:ser>
        <c:dLbls>
          <c:numFmt formatCode="0&quot; %&quot;;-0&quot; %&quot;;" sourceLinked="0"/>
          <c:txPr>
            <a:bodyPr/>
            <a:lstStyle/>
            <a:p>
              <a:pPr>
                <a:defRPr b="1" i="0" strike="noStrike" sz="2800" u="none">
                  <a:solidFill>
                    <a:srgbClr val="111827"/>
                  </a:solidFill>
                  <a:latin typeface="+mn-lt"/>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0D7DE"/>
            </a:solidFill>
            <a:prstDash val="solid"/>
            <a:round/>
          </a:ln>
        </c:spPr>
        <c:txPr>
          <a:bodyPr/>
          <a:lstStyle/>
          <a:p>
            <a:pPr>
              <a:defRPr sz="2000" b="0" i="0" u="none" strike="noStrike">
                <a:solidFill>
                  <a:srgbClr val="111827"/>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5E7EB"/>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300" b="0" i="0" u="none" strike="noStrike">
                <a:solidFill>
                  <a:srgbClr val="6B7280"/>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Osaamiskoe</c:v>
                </c:pt>
              </c:strCache>
            </c:strRef>
          </c:tx>
          <c:spPr>
            <a:solidFill>
              <a:srgbClr val="2563EB"/>
            </a:solidFill>
            <a:effectLst/>
          </c:spPr>
          <c:invertIfNegative val="0"/>
          <c:dLbls>
            <c:numFmt formatCode="0&quot; %&quot;;-0&quot; %&quot;;" sourceLinked="0"/>
            <c:txPr>
              <a:bodyPr/>
              <a:lstStyle/>
              <a:p>
                <a:pPr>
                  <a:defRPr b="1" i="0" strike="noStrike" sz="2800" u="none">
                    <a:solidFill>
                      <a:srgbClr val="111827"/>
                    </a:solidFill>
                    <a:latin typeface="+mn-lt"/>
                  </a:defRPr>
                </a:pPr>
              </a:p>
            </c:txPr>
            <c:showLegendKey val="0"/>
            <c:showVal val="1"/>
            <c:showCatName val="0"/>
            <c:showSerName val="0"/>
            <c:showPercent val="0"/>
            <c:showBubbleSize val="0"/>
            <c:showLeaderLines val="0"/>
          </c:dLbls>
          <c:cat>
            <c:multiLvlStrRef>
              <c:f>Sheet1!$A$2:$A$3</c:f>
              <c:multiLvlStrCache>
                <c:ptCount val="2"/>
                <c:lvl>
                  <c:pt idx="0">
                    <c:v>AI:n kanssa</c:v>
                  </c:pt>
                  <c:pt idx="1">
                    <c:v>Ilman AI:ta</c:v>
                  </c:pt>
                </c:lvl>
              </c:multiLvlStrCache>
            </c:multiLvlStrRef>
          </c:cat>
          <c:val>
            <c:numRef>
              <c:f>Sheet1!$B$2:$B$3</c:f>
              <c:numCache>
                <c:formatCode>General</c:formatCode>
                <c:ptCount val="2"/>
                <c:pt idx="0">
                  <c:v>50</c:v>
                </c:pt>
                <c:pt idx="1">
                  <c:v>67</c:v>
                </c:pt>
              </c:numCache>
            </c:numRef>
          </c:val>
        </c:ser>
        <c:dLbls>
          <c:numFmt formatCode="0&quot; %&quot;;-0&quot; %&quot;;" sourceLinked="0"/>
          <c:txPr>
            <a:bodyPr/>
            <a:lstStyle/>
            <a:p>
              <a:pPr>
                <a:defRPr b="1" i="0" strike="noStrike" sz="2800" u="none">
                  <a:solidFill>
                    <a:srgbClr val="111827"/>
                  </a:solidFill>
                  <a:latin typeface="+mn-lt"/>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0D7DE"/>
            </a:solidFill>
            <a:prstDash val="solid"/>
            <a:round/>
          </a:ln>
        </c:spPr>
        <c:txPr>
          <a:bodyPr/>
          <a:lstStyle/>
          <a:p>
            <a:pPr>
              <a:defRPr sz="2000" b="0" i="0" u="none" strike="noStrike">
                <a:solidFill>
                  <a:srgbClr val="111827"/>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5E7EB"/>
              </a:solidFill>
              <a:prstDash val="solid"/>
              <a:round/>
            </a:ln>
          </c:spPr>
        </c:majorGridlines>
        <c:numFmt formatCode="0&quot; %&quot;" sourceLinked="0"/>
        <c:majorTickMark val="out"/>
        <c:minorTickMark val="none"/>
        <c:tickLblPos val="nextTo"/>
        <c:spPr>
          <a:ln w="12700" cap="flat">
            <a:noFill/>
            <a:prstDash val="solid"/>
            <a:round/>
          </a:ln>
        </c:spPr>
        <c:txPr>
          <a:bodyPr/>
          <a:lstStyle/>
          <a:p>
            <a:pPr>
              <a:defRPr sz="1300" b="0" i="0" u="none" strike="noStrike">
                <a:solidFill>
                  <a:srgbClr val="6B7280"/>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AI käytössä</c:v>
                </c:pt>
              </c:strCache>
            </c:strRef>
          </c:tx>
          <c:spPr>
            <a:solidFill>
              <a:srgbClr val="2563EB"/>
            </a:solidFill>
            <a:effectLst/>
          </c:spPr>
          <c:invertIfNegative val="0"/>
          <c:dLbls>
            <c:numFmt formatCode="0&quot; %&quot;;-0&quot; %&quot;;" sourceLinked="0"/>
            <c:txPr>
              <a:bodyPr/>
              <a:lstStyle/>
              <a:p>
                <a:pPr>
                  <a:defRPr b="1" i="0" strike="noStrike" sz="2000" u="none">
                    <a:solidFill>
                      <a:srgbClr val="111827"/>
                    </a:solidFill>
                    <a:latin typeface="+mn-lt"/>
                  </a:defRPr>
                </a:pPr>
              </a:p>
            </c:txPr>
            <c:showLegendKey val="0"/>
            <c:showVal val="1"/>
            <c:showCatName val="0"/>
            <c:showSerName val="0"/>
            <c:showPercent val="0"/>
            <c:showBubbleSize val="0"/>
            <c:showLeaderLines val="0"/>
          </c:dLbls>
          <c:cat>
            <c:multiLvlStrRef>
              <c:f>Sheet1!$A$2:$A$5</c:f>
              <c:multiLvlStrCache>
                <c:ptCount val="4"/>
                <c:lvl>
                  <c:pt idx="0">
                    <c:v>Tieto ja viestintä</c:v>
                  </c:pt>
                  <c:pt idx="1">
                    <c:v>Kaikki toimialat</c:v>
                  </c:pt>
                  <c:pt idx="2">
                    <c:v>Rakentaminen</c:v>
                  </c:pt>
                  <c:pt idx="3">
                    <c:v>Kuljetus ja varastointi</c:v>
                  </c:pt>
                </c:lvl>
              </c:multiLvlStrCache>
            </c:multiLvlStrRef>
          </c:cat>
          <c:val>
            <c:numRef>
              <c:f>Sheet1!$B$2:$B$5</c:f>
              <c:numCache>
                <c:formatCode>General</c:formatCode>
                <c:ptCount val="4"/>
                <c:pt idx="0">
                  <c:v>0</c:v>
                </c:pt>
                <c:pt idx="1">
                  <c:v>0</c:v>
                </c:pt>
                <c:pt idx="2">
                  <c:v>0</c:v>
                </c:pt>
                <c:pt idx="3">
                  <c:v>0</c:v>
                </c:pt>
              </c:numCache>
            </c:numRef>
          </c:val>
        </c:ser>
        <c:dLbls>
          <c:numFmt formatCode="0&quot; %&quot;;-0&quot; %&quot;;" sourceLinked="0"/>
          <c:txPr>
            <a:bodyPr/>
            <a:lstStyle/>
            <a:p>
              <a:pPr>
                <a:defRPr b="1" i="0" strike="noStrike" sz="2000" u="none">
                  <a:solidFill>
                    <a:srgbClr val="11182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111827"/>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0&quot; %&quot;" sourceLinked="0"/>
        <c:majorTickMark val="out"/>
        <c:minorTickMark val="none"/>
        <c:tickLblPos val="low"/>
        <c:spPr>
          <a:ln w="12700" cap="flat">
            <a:noFill/>
            <a:prstDash val="solid"/>
            <a:round/>
          </a:ln>
        </c:spPr>
        <c:txPr>
          <a:bodyPr/>
          <a:lstStyle/>
          <a:p>
            <a:pPr>
              <a:defRPr sz="1300" b="0" i="0" u="none" strike="noStrike">
                <a:solidFill>
                  <a:srgbClr val="6B7280"/>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AI käytössä</c:v>
                </c:pt>
              </c:strCache>
            </c:strRef>
          </c:tx>
          <c:spPr>
            <a:solidFill>
              <a:srgbClr val="2563EB"/>
            </a:solidFill>
            <a:effectLst/>
          </c:spPr>
          <c:invertIfNegative val="0"/>
          <c:dLbls>
            <c:numFmt formatCode="0&quot; %&quot;;-0&quot; %&quot;;" sourceLinked="0"/>
            <c:txPr>
              <a:bodyPr/>
              <a:lstStyle/>
              <a:p>
                <a:pPr>
                  <a:defRPr b="1" i="0" strike="noStrike" sz="2000" u="none">
                    <a:solidFill>
                      <a:srgbClr val="111827"/>
                    </a:solidFill>
                    <a:latin typeface="+mn-lt"/>
                  </a:defRPr>
                </a:pPr>
              </a:p>
            </c:txPr>
            <c:showLegendKey val="0"/>
            <c:showVal val="1"/>
            <c:showCatName val="0"/>
            <c:showSerName val="0"/>
            <c:showPercent val="0"/>
            <c:showBubbleSize val="0"/>
            <c:showLeaderLines val="0"/>
          </c:dLbls>
          <c:cat>
            <c:multiLvlStrRef>
              <c:f>Sheet1!$A$2:$A$5</c:f>
              <c:multiLvlStrCache>
                <c:ptCount val="4"/>
                <c:lvl>
                  <c:pt idx="0">
                    <c:v>Tieto ja viestintä</c:v>
                  </c:pt>
                  <c:pt idx="1">
                    <c:v>Kaikki toimialat</c:v>
                  </c:pt>
                  <c:pt idx="2">
                    <c:v>Rakentaminen</c:v>
                  </c:pt>
                  <c:pt idx="3">
                    <c:v>Kuljetus ja varastointi</c:v>
                  </c:pt>
                </c:lvl>
              </c:multiLvlStrCache>
            </c:multiLvlStrRef>
          </c:cat>
          <c:val>
            <c:numRef>
              <c:f>Sheet1!$B$2:$B$5</c:f>
              <c:numCache>
                <c:formatCode>General</c:formatCode>
                <c:ptCount val="4"/>
                <c:pt idx="0">
                  <c:v>80</c:v>
                </c:pt>
                <c:pt idx="1">
                  <c:v>38</c:v>
                </c:pt>
                <c:pt idx="2">
                  <c:v>24</c:v>
                </c:pt>
                <c:pt idx="3">
                  <c:v>13</c:v>
                </c:pt>
              </c:numCache>
            </c:numRef>
          </c:val>
        </c:ser>
        <c:dLbls>
          <c:numFmt formatCode="0&quot; %&quot;;-0&quot; %&quot;;" sourceLinked="0"/>
          <c:txPr>
            <a:bodyPr/>
            <a:lstStyle/>
            <a:p>
              <a:pPr>
                <a:defRPr b="1" i="0" strike="noStrike" sz="2000" u="none">
                  <a:solidFill>
                    <a:srgbClr val="11182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600" b="0" i="0" u="none" strike="noStrike">
                <a:solidFill>
                  <a:srgbClr val="111827"/>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0&quot; %&quot;" sourceLinked="0"/>
        <c:majorTickMark val="out"/>
        <c:minorTickMark val="none"/>
        <c:tickLblPos val="low"/>
        <c:spPr>
          <a:ln w="12700" cap="flat">
            <a:noFill/>
            <a:prstDash val="solid"/>
            <a:round/>
          </a:ln>
        </c:spPr>
        <c:txPr>
          <a:bodyPr/>
          <a:lstStyle/>
          <a:p>
            <a:pPr>
              <a:defRPr sz="1300" b="0" i="0" u="none" strike="noStrike">
                <a:solidFill>
                  <a:srgbClr val="6B7280"/>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00:00–00:30 · Avaus
Avaa tilanteella, jonka kaikki tunnistavat: "Agentti sanoo, että muutos on valmis. Mikä saisi teidät uskomaan sen?"
Älä vielä selitä mitään. Seuraava dia kertoo, mitä illassa käydään läpi.
Rivi "git diff 2022..2026" on vitsi ja lupaus: katsotaan, mitä neljässä vuodessa muuttui.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00:30–01:00 · Agenda
Lue kysymykset nopeasti. Osoita lopuksi oikeaa korttia: "Tämä on koko illan kysymys. Koodi halpeni. Mikä ei?"
Siihen vastataan aivan lopussa.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01:00–01:15 · Kaksi puoliskoa
"Ensimmäinen puolisko on tilannekatsaus: mitä ohjelmistokehityksessä tapahtuu. Toinen puolisko on käytäntöä: miten agentin kanssa tehdään töitä."
Sano myös: "Saa kysyä – lopussa on aikaa kysymyksille."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01:15–02:00 · Kuka minä olen?
Seinäjoella SeAMK ja Härmä ovat ne meriitit, jotka merkitsevät – sano "Moon härmästä" rauhassa.
Älä luettele uraa, kerro yksi lause: rakennan ohjelmistoja ja tutkin tekoälyä, ja käytän agentteja joka päivä.
Sano ääneen: "Saa kysyä – lopussa on aikaa kysymyksille."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02:00–03:00 · Aikajana
"Kaksi vuotta sitten pidin täällä illan paikallisista koodausmalleista. Kuka oli paikalla?" – käsiä ylös.
"Silloin kysyttiin, saako paikallisen mallin ylipäätään auttamaan. Nyt kysymys on, kuinka ison tehtävän uskallamme antaa agentille – ja kuka tarkistaa tuloksen."
Vuodet näyttävät suunnan, eivät tarkkoja kyvykkyyspäivämääriä. Älä mainitse osallistujamäärää dialla.
TODO ennen esitystä: vaihda katkoviivalaatikkoon kuvakaappaus Lakeus-Devaus-sivuston julkaisusta.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03:00–04:15 · Kysy vai delegoi
Lue molemmat pyynnöt. Vasemmalla halutaan selitys, oikealla muutos ja näyttö siitä, että se toimii. Molemmat ovat hyödyllisiä – kumpikaan ei ole "kehittyneempi".
🙋 Käsiä ylös: kumpia teette useammin?
Tämä osoitebugi palaa käytännön osuudessa, ja oikean puolen ajatus on illan ensimmäinen viesti mukaan: "Pyydä tulosta, jonka voit tarkistaa."
Codex ja Claude Code ovat esimerkkejä työkaluista, joilla oikean puolen pyyntöjä tehdään.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04:15–05:00 ja gallup 05:00–15:00 · Siirto selaimeen
Tämä dia on näkyvissä koko gallupin ajan. Gallupin ainoa tehtävä: nähdä, missä tämä huone on GenAI:n ja ohjelmistokehityksen kanssa.
Aikataulu: 90 s liittymiseen · ~6 min kysymyksiin · 2,5 min korkeintaan kolmen havainnon käsittelyyn.
Yhteenveto kolmella lauseella: "Tässä huoneessa on ___ kokemusta. AI on ___ osa arkea. Käyttö, koettu hyöty ja luottamus ovat ___ suhteessa toisiinsa."
Älä ennakoi tuloksia. Tulokset kuvaavat tätä huonetta, eivät koko alaa.
Varasuunnitelma: jos palvelu ei toimi, kysy kokemus, käyttö ja AI-fiilis käsiä nostamalla.
TODO: täytä istuntokoodi ennen esitystä.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15:00 · Takaisin diaan (10 s)
"Katsotaan ensin, mikä ohjelmistokehityksessä oikeasti muuttui."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15:10–15:40 · Silta gallupista
"Tässä huoneessa X % käytti AI:ta koodaukseen tällä viikolla. Entä maailmalla?"
🙋 Kysy: "Kuinka moni käyttää AI:ta testien kirjoittamiseen?" Anna muutama arvaus.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15:40–16:10 · Paljastus
Testit 58 %, katselmointi 41 %, tuotannon operointi 20 %.
Huomio: kaikkien työhön ei kuulu tuotanto, joten pieni luku ei tarkoita, että AI olisi siellä kielletty.
Tarkat luvut: 69,3 / 58,1 / 40,5 / 19,9 %. Kysely on itse valikoitunut, ei koko alan otos.
Lähde: https://survey.stackoverflow.co/2026/ai/data/ai-work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16:10–17:00 · Ollaanko tässä oltu ennenkin?
1968 NATO:n konferenssissa puhuttiin ohjelmistokriisistä: järjestelmät kasvoivat isommiksi kuin niitä osattiin hallita.
Vuoden 2026 lause on retorinen tiivistys, ei tilasto.
🙋 Gallupin 20+ vuotta alalla olleille: "Kuulostaako tutulta?"
Lähde: https://onlinebooks.library.upenn.edu/webbin/book/lookupid?key=olbp48950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17:00–18:00 · Brooks ja Naur
Brooks erotti satunnaisen vaikeuden (miten kirjoitetaan) olennaisesta (mitä järjestelmän pitää tehdä ja miksi). Naurin mukaan ohjelmointi on teorian rakentamista: ymmärrys elää ihmisissä, ei pelkässä koodissa.
Tämä on tulkinta, ei lainaus. Älä väitä, että AI poistaisi vain satunnaisen vaikeuden – se ehdottaa myös rakenteita ja ratkaisuja.
Lähteet: https://dl.icdst.org/pdfs/files3/f923b64c10c1292ad76c939911e3e3ac.pdf · https://gwern.net/doc/cs/algorithm/1985-naur.pdf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18:00–18:40 · MirrorCode
Tehtävä: rakenna olemassa oleva ohjelma uudelleen näkemättä sen lähdekoodia. Agentilla on vain kuvaus siitä, miten ohjelman pitää käyttäytyä, ja testit.
🙋 "Arvatkaa, miten kävi?"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18:40–19:30 · Tulos
Paras toteutus läpäisi 2 000 testiä 2 001:stä. Se yksi reunatapaus on tarina: iso tehtävä onnistuu, kun onnistuminen on tarkasti määritelty.
🙋 "Mikä olisi teidän tehtävänne testisarja?"
Älä mainitse ihmistyöviikkoja – ne ovat asiantuntija-arvio. "14 h ja 251 $" vain jos varmistettu, että kyse on samasta ajosta.
Tämä ei ole asiakastarpeen löytämistä eikä tuotteen ylläpitoa.
Lähteet: https://epoch.ai/MirrorCode · https://arxiv.org/abs/2606.30182v2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19:30–20:00 · Meemi (Two buttons, koottu uudelleen omasta kuvasta)
Ei selitystä. Anna naurun tulla ja jatka: seuraavat 15 minuuttia ovat juuri tästä – nopeus vastaan tarkistaminen.
Halutessasi vaihda alkuperäiseen Two buttons -pohjaan suomenkielisillä teksteillä.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20:00 · METR-koe, ennakkoarvio
Kokeneet avoimen lähdekoodin kehittäjät tekivät oikeita tehtäviä omissa, tutuissa repoissaan. Ennen koetta he arvioivat, että AI nopeuttaa noin 24 %.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20:20 · Jälkikäteen
Kokeen jälkeen he arvioivat, että AI oli nopeuttanut noin 20 %.
🙋 Pysähdy: "Mitä mittaus näytti? Arvatkaa."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20:40 · Mitattu
Tehtäviin kului AI:n kanssa 19 % enemmän aikaa. Gallup-viittaus: "Moni teistä vastasi, että AI nopeuttaa. Ehkä nopeuttaakin – mutta kokemus ja mittaus voivat erota."
Tämä on alkuvuoden 2025 työkaluilla tehty kapea koe, ei nykyinen yleinen kerroin.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21:00 · Toinen tutkimus
Microsoftin kolmessa kenttäkokeessa (4 867 kehittäjää) koodiavustin lisäsi valmistuneita tehtäviä noin 26 %.
Eri mittari, eri tehtävä, eri ihmiset. Lukuja ei vähennetä toisistaan eikä piirretä samalle akselille.
Lähteet: https://metr.org/blog/2025-07-10-early-2025-ai-experienced-os-dev-study/ · https://www.microsoft.com/en-us/research/publication/the-effects-of-generative-ai-on-high-skilled-work-evidence-from-three-field-experiments-with-software-developers/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21:20 · Reaktio (5 s)
Ei tekstiä – huone on juuri nähnyt "arvio −24 % → mitattu +19 %", joten reaktio on punchline.
TODO: lisää GIF tähän (tarkista käyttöoikeus) tai poista 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21:30–22:00 · Mittaaminen vaikeutui
Anna alaotsikon naurattaa ja tee sitten pointti: kun työtapa muuttuu, vanha mittari ei välttämättä mittaa samaa asiaa.
METR ei saanut jatkokokeestaan luotettavaa nykyarviota. Tekijöiden arvio, että uudet työkalut todennäköisesti auttavat enemmän, ei ole tarkka korvaava luku.
Lähde: https://metr.org/blog/2026-02-24-uplift-update/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22:00 · Toimitusketju
Käy ketju läpi tarpeesta käyttöön.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22:20 · Toteutus nopeutuu
AI nopeuttaa toteutusta – laatikko kutistuu.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22:40–23:00 · Jono siirtyy
Jos katselmointi, integrointi tai epäselvät vaatimukset eivät nopeudu, työ odottaa niissä. Pullonkaula ei katoa, se siirtyy.
DORA käsittelee myös sitä, miten AI voi auttaa katselmoinnissa – tarkistuskapasiteetti ei ole pysyvästi kiinteä.
🙋 "Missä teillä työ odottaa?"
Lähde: https://dora.dev/insights/balancing-ai-tensions/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23:00–24:00 · Hetkinen…
Sama teknologia, kaksi suuntaa. Anthropicilla yhdistettyjen muutosten määrä kasvoi niin isoksi, että versionhallintaa piti rakentaa uudelleen. OpenAI käytti agentteja koodin poistamiseen: yli 800 000 riviä vähemmän.
Gallup-viittaus: "Enemmän vai parempaa koodia?" – mitä huone vastasi?
🙋 "Kumpaa teillä juhlitaan – tuotettua koodia vai hyödyllistä muutosta?"
Tämä dia kantaa mittaamisen viestin. Taustaksi: Stack Overflow 2026 -kyselyssä 10,2 % kertoi, että organisaatio arvioi AI:n käyttöä osana suoritusta – vain keskustelun herättäjäksi.
Molemmat ovat yritysten omia kertomuksia, eivät riippumattomia mittauksia.
Lähteet: https://www.anthropic.com/engineering/redesigning-source-control · https://developers.openai.com/blog/maintaining-software-with-the-gpt-6-family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24:00–25:00 · Mahdollisuuden käänne
AI ei vain nopeuta vanhoja tehtäviä. Se muuttaa myös sitä, mitä kannattaa yrittää: kokeilu, joka ei ennen ylittänyt kynnystä, voi nyt kannattaa.
Esimerkki on kuvitteellinen: valokuvatusta huoltomuistiinpanosta tehdään luonnos huoltokirjaukseen.
Varaus: jos esinettä ei olisi muuten tehty, sen "säästetty työaika" ei ole säästöä. Arvo syntyy siitä, että selviää halvalla, auttaako idea.
🙋 "Mitä kokeilisit nyt, mitä ei ennen kannattanut?"
Lähde: https://metr.org/blog/2026-05-08-task-substitution-and-uplift/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25:00–25:20 · Tapauksen avaus
Anna otsikon näkyä hetki. curl on ohjelma, joka on lähes jokaisessa laitteessa tässä huoneessa.
TODO: halutessasi korvaa tämä typografinen versio tiiviisti rajatulla kuvakaappauksella blogikirjoituksesta.
Lähde: https://daniel.haxx.se/blog/2026/01/26/the-end-of-the-curl-bug-bounty/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25:20–26:20 · curl
curl maksoi palkkioita löydetyistä haavoittuvuuksista. Sitten raportteja alkoi tulla paljon ja huonoja – osa vilpillisiä. Tammikuun 2026 lopussa palkkio-ohjelma lopetettiin. Aidot raportit ovat edelleen tervetulleita.
Kritisoi kannustinta, älä ihmisiä. Kaikki heikot raportit eivät olleet AI:n tekemiä.
Tasapainoksi: sama kyky voi auttaa, kun vastaanottaja on suostunut – esim. Anthropicin opt-in OSS Scanner. (https://red.anthropic.com/oss-scanner/)
Godot/Linux-vertailu on varadiassa B1.
Lähde: https://daniel.haxx.se/blog/2026/01/26/the-end-of-the-curl-bug-bounty/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26:20–26:50 · Arvaus
52 osallistujaa opetteli heille uuden Python-kirjaston (Trio), puolet AI:n kanssa, puolet ilman. Heti perään osaamiskoe.
🙋 "Kumpi ryhmä oppi paremmin?"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26:50–27:30 · Tulos
AI:n kanssa 50 %, ilman 67 % – noin 17 prosenttiyksikköä. Älä sano "17 % taidoista katosi".
Tehtäväajan ero ei ollut tilastollisesti merkitsevä. Mittaus oli välitön, ei pitkäaikainen, eikä se testannut nykyisiä agentteja. Selittävä käyttötapa liittyi parempaan ymmärrykseen.
Gallup-viittaus: "Luetko AI-koodin?"
Lähteet: https://www.anthropic.com/research/AI-assistance-coding-skills · https://arxiv.org/abs/2601.20245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27:30–29:00 · AI muuttaa työtä kahdesti
Kyky muuttaa tehtäviä. Odotukset muuttavat sitä, ketä palkataan, mitä opetellaan ja kuka mentoroi – jo ennen kuin ennuste on toteutunut.
Tunnista urahuoli, älä vähättele tai pilkkaa sitä.
Kortti: yksi poikkeuksellinen, nopeasti kasvava AI-yritys – juniorien osuus teknisistä rekrytoinneista laski 27 %:sta 9 %:iin, vaikka teknisiä rekrytointeja tehtiin absoluuttisesti enemmän. Osuus ≠ menetetyt työpaikat.
Taustaksi (vain puheessa): Stanfordin päivitetty analyysi Yhdysvalloista – 22–25-vuotiaiden työllisyys AI:lle altistuneissa ammateissa noin 19 % alempi kuin verrokeilla, kuvaileva, ei kausaalinen, ei Suomen lukuja.
Lähteet: https://www.anthropic.com/research/employment-at-anthropic · https://digitaleconomy.stanford.edu/news/canariesaug26/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29:00–30:00 · Meemi (Corporate needs you to find the differences, koottu uudelleen)
Naurun jälkeen sano: alkuperä ei kerro laatua. Joku joutuu silti lukemaan ja ymmärtämään sen.
Halutessasi vaihda alkuperäiseen meemipohjaan suomenkielisillä teksteillä.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30:00–31:00 · Suomen tilannekuva
Liikevaihto kasvoi, mutta tilaukset ja henkilöstö kertovat eri tarinaa. Luvut eivät erottele AI:n vaikutusta – heikko markkina, viivästyneet investoinnit ja julkisen sektorin säästöt vaikuttavat yhtä aikaa.
Älä käytä vanhoja lukuja (20 mrd €, +9 %).
TODO marraskuussa: päivitä uusimpaan toimialakatsaukseen ja muuta alaotsikon ajankohta.
Lähde: https://teknologiateollisuus.fi/talous-ja-tilastot/teknologiateollisuuden-talousnakymat/tietotekniikka-ala/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31:00–31:30 · Arvaus
🙋 "Monessako rakennusalan yrityksessä AI on käytössä?"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31:30–32:10 · Tulos
Tieto ja viestintä 80 %, kaikki toimialat 38 %, rakentaminen 24 %, kuljetus ja varastointi 13 %. Vain 15 %:lla yrityksistä on dokumentoidut AI-ohjeet.
Kehittäjäyhteisön oma työkalutottumus on huono mittari asiakkaan lähtötasolle. Integrointi, koulutus ja käytännöt voivat merkitä enemmän kuin seuraava malli.
TODO: jos Tilastokeskuksen vuoden 2026 julkaisu ilmestyy ennen tilaisuutta (todennäköisesti marraskuun lopussa), päivitä luvut.
Lähde: https://stat.fi/fi/julkaisu/cm1hnps701dbm07w59uo0jw6u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32:10–34:30 · Paikallinen etu
Tämä on esityksen ehdotus, ei todiste: kun geneerinen toteutus halpenee, oikean työn tunteminen, pääsy käyttäjiin, integrointi ja tuki voivat olla lähellä olevan tekijän vahvuuksia. Läheisyys ei takaa mitään.
Gofore–Tampereen yliopisto: asiakas osti arkkitehtuurin, toteutuksen, hallinnan ja ylläpidon – ei vain koodia. Yrityksen oma kertomus, kasvua ei voi laskea AI:n ansioksi.
"Moon härmästä" – tähän sopii oma lause siitä, miksi tunnet täkäläisen työn.
Keskustelu on jo täällä: SEAMKin Testauspaja: River IT syyskuussa käsitteli paikallisia malleja ja agenttikäyttöä.
🙋 "Mikä asiakkaan ongelma jää ratkaisematta, vaikka koodi olisi ilmaista?"
Lähteet: https://gofore.com/en/news/gofore-plcs-business-review-for-august-2026-net-sales-19-3-million-euros/ · https://www.seamk.fi/tapahtuma/testauspaja-river-it/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34:30–35:00 · Puoliskojen vaihto
"Nyt käytäntöön." Vaihda energiaa: seuraavat 20 minuuttia ovat yhtä bugia alusta loppuun.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35:00–36:10 · Bugi
"Asiakas ilmoittaa: kun osoite tallennetaan, huoneiston numero katoaa." Näytä ennen/jälkeen.
Alla oleva ketju on sama, joka oli toimitusketjun "Toteutus"-laatikon sisällä: rajaa, anna konteksti, toista, korjaa, tarkista, luovuta, seuraa.
Tämä on opetusesimerkki, ei asiakasprojekti eikä ajettu demo. Esitys näyttää vaiheet dioina.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36:10–37:30 · Kerro, miltä valmis näyttää
Vasemmalla agentti ei tiedä, mikä on vialla eikä miten muutos arvioidaan. Oikealla ongelma, tavoite, raja ja näyttö mahtuvat neljään riviin. Näyttö on se tärkein.
"Säilytä rajapinta" koskee tätä esimerkkiä, ei jokaista korjausta.
🙋 20 sekuntia: "Ajatelkaa yksi oma tehtävä näillä neljällä rivillä."
Pitkä versio: "Osoitteen muokkaaminen kadottaa huoneiston numeron. Selvitä ensin, missä tieto katoaa, ja toista virhe. Korjaa rajattu syy nykyisiä käytäntöjä seuraten. Säilytä rajapinta ja muu osoitekäytös. Lisää regressiotarkistus ja varmista tallennus myös sivun uudelleenlatauksen jälkeen. Kerro muutoksen syy, ajetut tarkistukset ja avoimet kysymykset. Älä julkaise muutosta."
Sama pohja on QR-koodin takana lopussa.
Lähteet: https://learn.chatgpt.com/docs/prompting · https://code.claude.com/docs/en/best-practices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37:30–38:40 · Projektin oma totuus
Codexille AGENTS.md, Claude Codelle CLAUDE.md. Kirjoita sinne vain se, mitä koodi ei itse kerro: testikomento, poikkeukselliset säännöt, rajat.
Tutkimus (v3, syyskuu 2026): ohjetiedostot eivät yleisesti parantaneet tehtävien onnistumista testatuissa asetelmissa, ja kustannus nousi yli 20 %. Se ei tarkoita "poista ohjeet", vaan: lyhyt ja paikkansapitävä voittaa pitkän ja yleisen.
Tehtäväkohtainen tavoite kuuluu pyyntöön, toistuva projektitieto pysyviin ohjeisiin.
Lähteet: https://arxiv.org/abs/2602.11988v3 · https://learn.chatgpt.com/docs/agent-configuration/agents-md · https://code.claude.com/docs/en/best-practices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38:40–39:50 · Työkalut
Shellillä agentti ajaa projektin testikomennon. Selaimella se näkee, mitä käyttäjä näkee. MCP voi tuoda liitetyn palvelun, kuten tikettijärjestelmän – jos se on asennettu ja sallittu. Skill kuvaa toistettavan työtavan.
Nämä eivät ole sama asia, eikä jokainen tehtävä tarvitse kaikkia. Hyvä CLI tai pieni skripti on usein yksinkertaisempi kuin MCP paikalliseen työhön.
Arvioi agenttia tuloksesta, ei käytettyjen työkalujen määrästä.
Lähteet: https://modelcontextprotocol.io/docs/develop/clients/client-best-practices · https://learn.chatgpt.com/docs/build-skills · https://code.claude.com/docs/en/common-workflows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39:50–40:30 · Toista ensin
Pyydä agenttia toistamaan virhe ennen kuin se korjaa mitään, ja seuraamaan arvoa ketjun läpi.
🙋 "Missä arvo voi kadota? Huutakaa."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40:30–41:00 · Löytyi
Tässä esimerkissä huoneisto puuttuu jo lähetettävästä pyynnöstä. Agentti on hyvä tässä: se hakee koodista, toistaa ja seuraa arvoa.
Sinä vahvistat, että tämä on oikea virhe – ei vain yksi 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41:00–41:30 · Agentin kierros
Tämä korvaa näyttötallenteen (päätös 18.10.2026: vain diat, ei videota).
Agentti lukee repon ja ohjeet, ajaa testin (ei läpi), muokkaa koodia ja ajaa testin uudelleen. Tämä kierros toistuu, kunnes tarkistus menee läpi tai agentti pysähtyy kysymään.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41:30 · Muutos
Korjauksen ydin: huoneisto puuttui lähetettävästä tiedosta, ja se lisätään. Pieni muutos – helppo katselmoida.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41:50 · Tarkistukset
Regressiotesti, joka ensin epäonnistuu ja sitten menee läpi, ja tyhjän huoneiston tapaus.
Tulokset ovat harmaita ja "odotettuja", koska tätä ei ole oikeasti ajettu. Älä koskaan näytä ajamatonta tarkistusta läpimenneenä.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42:10–42:50 · Selain
Arvo säilyy uudelleenlatauksen jälkeen.
🙋 "Mitä tämä testi ei todista?" Ota kaksi vastausta. Kaiva esiin: vanhat tietueet, joista huoneisto jo puuttuu; muiden maiden osoitemuodot; käyttäjän todellinen työnkulku.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42:50–43:10 · Sarjakuva
Anna lukea itse. Siirry suoraan seuraavaan diaan: "Siksi tarkistuksella on portaat."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43:10–44:20 · Tarkistuksen portaat
Portaat ovat esityksen oma jäsennys: käynnistyy → ratkaisee ongelman → ei riko muuta → toimii uudelleenlatauksessa → käyttäjä hyväksyy.
Kortin luvut: Stack Overflow 2026. 48 % valitsi vaihtoehdon "luotan, kun tulos on helppo tarkistaa" – vastausvaihtoehto, ei virhetodennäköisyys. Toimet ovat itse raportoituja ja päällekkäisiä.
Gallup-viittaus: "Luetko AI-koodin?"
🙋 "Mille portaalle sinä yleensä jäät?" (retorinen)
Lähteet: https://survey.stackoverflow.co/2026/ai/data/ai-trust · https://survey.stackoverflow.co/2026/ai/data/ai-work-next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44:20–45:20 · Luovutus
Pyydä agentilta lyhyt luovutus: miksi, mitä muuttui, miten tarkistettiin – ja mikä jäi päätettäväksi.
Avoin päätös on sinun: korjataanko vanhat tietueet, joista huoneisto jo puuttuu? Agentti voi ehdottaa, mutta päätös on ihmisen.
Muistuta curlista: nopeus ei saa siirtyä toisen ihmisen katselmointivelaksi.
AI voi auttaa katselmoinnissa, mutta sen löydökset pitää tarkistaa.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45:20–46:40 · Autonomia
Neljä kysymystä: kuinka laajalle vaikutus ulottuu, kuinka helposti muutoksen voi perua, voiko onnistumisen tarkistaa koneellisesti ja kuinka kauan koodi elää. Osoitebugi on pieni, peruttava ja hyvin testattava – mutta osoitekoodia ylläpidetään vuosia.
🙋 "Käsi ylös: kuka antaisi agentin yhdistää tämän itse?" Vertaa gallupin vastaukseen kysymykseen "Agentin PR tuotantoon?".
Puheessa: Stripe ajaa agentin vapaiden vaiheiden väliin aina samat lint-, Git- ja CI-vaiheet – "deterministinen selkäranka". Stack Overflow'n huhtikuun 2026 pulssissa 63 % antoi agentin toimia täysin itsenäisesti harvoin tai ei koskaan.
Lähteet: https://stripe.dev/blog/minions-stripes-one-shot-end-to-end-coding-agents-part-2 · https://stackoverflow.blog/2026/05/27/agents-on-a-leash-agentic-ai-remains-mostly-monitored-at-work/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46:40–47:50 · Julkaisun jälkeen
Palaute ja virheet tuottavat seuraavan tehtävän. Sovi, mitä seurataan, kuka saa ilmoituksen ja kuka tekee julkaisupäätöksen.
SWE-Maintain-esijulkaisu: kun edellisen muutoksen teki agentti, seuraava tehtävä onnistui keskimäärin 5,6 %-yksikköä harvemmin. Varaus: vaatimus aiempien testien läpimenosta itse asiassa kasvatti eroa 14 yksikköön; vain kapeassa osajoukossa eroa ei havaittu. Testit eivät siis ole todistettu lääke. Ihmisen ylläpidettävyyttä ei mitattu.
Lähde: https://arxiv.org/html/2610.14768v1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47:50–48:50 · Prototyyppi, osa 2
Paluu huoltoesimerkkiin: luonnos syntyy, asentaja korjaa sen. Toimiva selain todistaa, että ohjelma toimii – ei sitä, että siitä on hyötyä.
🙋 "Mihin kuvat menevät? Kuka korjaa väärän kirjauksen? Kuka tukee sesonkiaikana?"
Kuvitteellinen esimerkki, ei asiakastapaus.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48:50–50:00 · Oppiminen delegoidessa
🙋 Anna huoneen ennustaa: mitä rikkoutuisi, jos huoneisto olisi tyhjä?
Muistuta oppimiskaaviosta ääneen (älä näytä uudelleen): "Tehtävä valmistui. Ymmärrys ei välttämättä."
Kolme tapaa: selitä yksi päätös omin sanoin, ennusta yksi tapa jolla muutos rikkoutuu, korjaa yksi tarkoituksella rikottu esimerkki. Tämä on suositus, ei todistettu menetelmä.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50:00–51:00 · Yhteenveto bugista
Harjoitustesti: uusi kuulija osaa selittää nämä kaksi saraketta.
Siirtymä: "Opetusesimerkki oli pieni. Tältä sama näyttää oikeassa projektissa."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51:00–51:20 · SuomiWoW
"Moni teistä ei pelaa WoW:ia, eikä tarvitse. Tämä on suomalaisten kiltojen tulospalvelu, jota oikeat ihmiset käyttävät joka viikko."
TODO: päivitä kuvakaappaus marraskuussa.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51:20–52:30 · Vuosi agenttien kanssa
"En kirjoita koodia. Minä päätän." Codex ja Claude Code kirjoittivat käytännössä kaiken koodin; minä teen päätökset.
Luvut gitistä 18.10.2026: noin 1 250 committia 12 kuukaudessa, kaksi ihmistä, noin 190 000 riviä koodia. Päivitä luvut marraskuussa.
Minä-sarake mukailee PRODUCT.md:tä: palvelu ei saa tuntua kasinolta tai maksulliselta etenemiseltä, eikä mennyttä historiaa kirjoiteta hiljaa uudelleen.
Sano yhdellä lauseella: myös tämän esityksen tutkimus tehtiin agenttien kanssa – ja jokaisesta väitteestä lavalla vastaan minä.
🙋 "Mitä tässä oli halpaa – ja mikä ei?"
Lähde: https://github.com/Koodattu/suomiwow.vaarattu.tv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52:30–54:00 · Koodi oli halpaa. Tämä ei.
Oikea ajokirja tuotannon datan korjaukseen: ensin kuivaharjoitus, sitten varmuuskopio ja workerien pysäytys, sitten --apply, ja lopuksi tarkistus, että mitään ei jäänyt.
Muut oikeat commitit samasta aiheesta: "Separate database backups from automatic deployment", "Bound account repair transactions to fit production MongoDB cache", "Fix ingestion recovery with renewable fenced leases".
Siirtymä: "Ja tästä päästään illan kysymykseen."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54:00 · Vastaus otsikkoon
"Hei ohjelmistokehitys, mitä kuuluu?" – "Kiireistä. Koodia tulee enemmän kuin ehditään lukea."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54:20 · Illan kysymys
Palaa alun kysymykseen: "Koodi halpeni. Mikä 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54:30–55:00 · Vastaus
"Vastuu ei."
Sano ääneen, ei dialla: "Koodia syntyy enemmän. Varmuus ei synny samalla nopeudella. Joku omistaa seuraukset joka tapauksessa."
Valinnainen inhimillinen lause: "Me opimme kirjoittamalla koodia. Miten seuraavat oppivat?"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55:00–56:00 · Kolme asiaa mukaan
1. Pyydä tulosta, jonka voit tarkistaa. 2. Varmista, että osaaminen kasvaa työn mukana. 3. Sovi omistajuus ennen julkaisua.
Maanantain kokeilu: ota yksi toistettava virhe, kirjoita siitä neljä riviä (ongelma, tavoite, raja, näyttö) ja katso, mitä näyttöä saat. QR-koodin takana on pohja, esimerkki ja lähteet:
https://github.com/Koodattu/lakeus-devaus-2026/blob/main/materiaalit/maanantain-kokeilu.md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56:00–60:00 · Kiitos ja kysymykset
Samat kolme asiaa kuin edellisellä dialla. Viimeinen kysymys: "Minkä seurauksen sinä olet valmis omistamaan?"
Kysymyksiä tunnin sisällä, pidempi keskustelu jatkuu tilaisuuden jälkeen. Ei loppugallupia.
AI-käyttö kerrottu pienellä alareunassa.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B1 (piilotettu). Käytä keskustelussa tunnin jälkeen. Molemmat suojaavat niukkaa katselmointiaikaa eri keinoin. Kumpikaan ei ole ”AI-kielto”. https://contributing.godotengine.org/en/latest/pull_requests/pull_request_guidelines.html · https://kernel.org/doc/html/next/process/generated-content.html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B2 (piilotettu). Käytä keskustelussa tunnin jälkeen. Ei kuvaa tavallisia työpaikan koodausavustajia. https://metr.org/blog/2026-08-26-openai-hugging-face-incident-investigation/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B3 (piilotettu). Käytä keskustelussa tunnin jälkeen. Historiallinen vertailu, ei todiste siitä, ettei AI muuttaisi alaa.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B4 (piilotettu). Käytä keskustelussa tunnin jälkeen. Eri populaatiot ja määritelmät. https://stackoverflow.blog/2026/05/27/agents-on-a-leash-agentic-ai-remains-mostly-monitored-at-work/ · https://www.anthropic.com/research/claude-code-expertise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B5 (piilotettu). Käytä keskustelussa tunnin jälkeen. Taso 5 ei ole automaattisesti parempi.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B6 (piilotettu). Käytä keskustelussa tunnin jälkeen. https://developers.openai.com/cookbook/examples/codex/build_iterative_repair_loops_with_codex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B7 (piilotettu). Käytä keskustelussa tunnin jälkeen. Siirtymä kestää vuosia, ei yhtä kvartaalia.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B8 (piilotettu). Käytä keskustelussa tunnin jälkeen.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B9 (piilotettu). Käytä keskustelussa tunnin jälkeen. Ei osoita, että AI aiheutti kasvun.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B10 (piilotettu). Käytä keskustelussa tunnin jälkeen. https://digitaleconomy.stanford.edu/news/canariesaug26/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B11 (piilotettu). Käytä keskustelussa tunnin jälkeen. https://red.anthropic.com/oss-scanner/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B12 (piilotettu). Käytä keskustelussa tunnin jälkeen. Ei lakineuvontaa.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B13 (piilotettu). Käytä keskustelussa tunnin jälkeen.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B14 (piilotettu). Käytä keskustelussa tunnin jälkeen.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B15 (piilotettu). Käytä keskustelussa tunnin jälkeen. Kokemusluokat eivät vastaa gallupin luokkia.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B16 (piilotettu). Käytä keskustelussa tunnin jälkeen.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B17 (piilotettu). Käytä keskustelussa tunnin jälkeen. Ei nopeusväitteitä.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Varadia B18 (piilotettu). Käytä keskustelussa tunnin jälkeen.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11064240" cy="685800"/>
          </a:xfrm>
          <a:prstGeom prst="rect">
            <a:avLst/>
          </a:prstGeom>
          <a:noFill/>
          <a:ln/>
        </p:spPr>
        <p:txBody>
          <a:bodyPr wrap="square" rtlCol="0"/>
          <a:lstStyle>
            <a:lvl1pPr algn="l" indent="0" marL="0">
              <a:buNone/>
              <a:defRPr lang="en-US" b="1" dirty="0">
                <a:solidFill>
                  <a:srgbClr val="111827"/>
                </a:solidFill>
                <a:latin typeface="Segoe UI" pitchFamily="34" charset="0"/>
                <a:ea typeface="Segoe UI" pitchFamily="34" charset="-122"/>
                <a:cs typeface="Segoe UI" pitchFamily="34" charset="-120"/>
              </a:defRPr>
            </a:lvl1pPr>
          </a:lstStyle>
          <a:p>
            <a:pPr algn="l" indent="0" marL="0">
              <a:buNone/>
            </a:pPr>
            <a:endParaRPr lang="en-US" dirty="0"/>
          </a:p>
        </p:txBody>
      </p:sp>
      <p:sp>
        <p:nvSpPr>
          <p:cNvPr id="3" name="Text 0"/>
          <p:cNvSpPr/>
          <p:nvPr>
            <p:ph idx="101" type="body" hasCustomPrompt="1"/>
          </p:nvPr>
        </p:nvSpPr>
        <p:spPr>
          <a:xfrm>
            <a:off x="548640" y="1188720"/>
            <a:ext cx="11064240" cy="411480"/>
          </a:xfrm>
          <a:prstGeom prst="rect">
            <a:avLst/>
          </a:prstGeom>
          <a:noFill/>
          <a:ln/>
        </p:spPr>
        <p:txBody>
          <a:bodyPr wrap="square" rtlCol="0"/>
          <a:lstStyle>
            <a:lvl1pPr algn="l" indent="0" marL="0">
              <a:buNone/>
              <a:defRPr lang="en-US" dirty="0">
                <a:solidFill>
                  <a:srgbClr val="6B7280"/>
                </a:solidFill>
                <a:latin typeface="Segoe UI" pitchFamily="34" charset="0"/>
                <a:ea typeface="Segoe UI" pitchFamily="34" charset="-122"/>
                <a:cs typeface="Segoe UI"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D1117"/>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B949E"/>
                </a:solidFill>
                <a:latin typeface="Consolas"/>
                <a:ea typeface="Consolas"/>
                <a:cs typeface="Consolas"/>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2.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26-1.png"/><Relationship Id="rId6" Type="http://schemas.openxmlformats.org/officeDocument/2006/relationships/slideLayout" Target="../slideLayouts/slideLayout2.xml"/><Relationship Id="rId7"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36-3.png"/><Relationship Id="rId5" Type="http://schemas.openxmlformats.org/officeDocument/2006/relationships/image" Target="../media/image-41-5.png"/><Relationship Id="rId6" Type="http://schemas.openxmlformats.org/officeDocument/2006/relationships/slideLayout" Target="../slideLayouts/slideLayout2.xml"/><Relationship Id="rId7"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2.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1-1.jpg"/><Relationship Id="rId3" Type="http://schemas.openxmlformats.org/officeDocument/2006/relationships/image" Target="../media/image-41-1.png"/><Relationship Id="rId4" Type="http://schemas.openxmlformats.org/officeDocument/2006/relationships/image" Target="../media/image-41-1.png"/><Relationship Id="rId5" Type="http://schemas.openxmlformats.org/officeDocument/2006/relationships/slideLayout" Target="../slideLayouts/slideLayout3.xml"/><Relationship Id="rId6"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slideLayout" Target="../slideLayouts/slideLayout2.xml"/><Relationship Id="rId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55-2.png"/><Relationship Id="rId3" Type="http://schemas.openxmlformats.org/officeDocument/2006/relationships/slideLayout" Target="../slideLayouts/slideLayout2.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image" Target="../media/image-63-4.png"/><Relationship Id="rId5" Type="http://schemas.openxmlformats.org/officeDocument/2006/relationships/image" Target="../media/image-1-1.jpg"/><Relationship Id="rId6" Type="http://schemas.openxmlformats.org/officeDocument/2006/relationships/slideLayout" Target="../slideLayouts/slideLayout4.xml"/><Relationship Id="rId7"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051560"/>
            <a:ext cx="10058400" cy="411480"/>
          </a:xfrm>
          <a:prstGeom prst="rect">
            <a:avLst/>
          </a:prstGeom>
          <a:noFill/>
          <a:ln/>
        </p:spPr>
        <p:txBody>
          <a:bodyPr wrap="square" lIns="0" tIns="0" rIns="0" bIns="0" rtlCol="0" anchor="t"/>
          <a:lstStyle/>
          <a:p>
            <a:pPr algn="l" indent="0" marL="0">
              <a:buNone/>
            </a:pPr>
            <a:r>
              <a:rPr lang="en-US" sz="1800" dirty="0">
                <a:solidFill>
                  <a:srgbClr val="8B949E"/>
                </a:solidFill>
                <a:latin typeface="Consolas" pitchFamily="34" charset="0"/>
                <a:ea typeface="Consolas" pitchFamily="34" charset="-122"/>
                <a:cs typeface="Consolas" pitchFamily="34" charset="-120"/>
              </a:rPr>
              <a:t>$ git diff 2022..2026 -- ohjelmistokehitys</a:t>
            </a:r>
            <a:endParaRPr lang="en-US" sz="1800" dirty="0"/>
          </a:p>
        </p:txBody>
      </p:sp>
      <p:sp>
        <p:nvSpPr>
          <p:cNvPr id="3" name="Text 1"/>
          <p:cNvSpPr txBox="1"/>
          <p:nvPr/>
        </p:nvSpPr>
        <p:spPr>
          <a:xfrm>
            <a:off x="731520" y="1600200"/>
            <a:ext cx="8229600" cy="2377440"/>
          </a:xfrm>
          <a:prstGeom prst="rect">
            <a:avLst/>
          </a:prstGeom>
          <a:noFill/>
          <a:ln/>
        </p:spPr>
        <p:txBody>
          <a:bodyPr wrap="square" lIns="0" tIns="0" rIns="0" bIns="0" rtlCol="0" anchor="t"/>
          <a:lstStyle/>
          <a:p>
            <a:pPr algn="l" indent="0" marL="0">
              <a:buNone/>
            </a:pPr>
            <a:r>
              <a:rPr lang="en-US" sz="6000" b="1" dirty="0">
                <a:solidFill>
                  <a:srgbClr val="FFFFFF"/>
                </a:solidFill>
                <a:latin typeface="Segoe UI" pitchFamily="34" charset="0"/>
                <a:ea typeface="Segoe UI" pitchFamily="34" charset="-122"/>
                <a:cs typeface="Segoe UI" pitchFamily="34" charset="-120"/>
              </a:rPr>
              <a:t>Hei ohjelmistokehitys,</a:t>
            </a:r>
            <a:endParaRPr lang="en-US" sz="6000" dirty="0"/>
          </a:p>
          <a:p>
            <a:pPr algn="l" indent="0" marL="0">
              <a:buNone/>
            </a:pPr>
            <a:r>
              <a:rPr lang="en-US" sz="6000" b="1" dirty="0">
                <a:solidFill>
                  <a:srgbClr val="FFFFFF"/>
                </a:solidFill>
                <a:latin typeface="Segoe UI" pitchFamily="34" charset="0"/>
                <a:ea typeface="Segoe UI" pitchFamily="34" charset="-122"/>
                <a:cs typeface="Segoe UI" pitchFamily="34" charset="-120"/>
              </a:rPr>
              <a:t>mitä kuuluu?</a:t>
            </a:r>
            <a:endParaRPr lang="en-US" sz="6000" dirty="0"/>
          </a:p>
        </p:txBody>
      </p:sp>
      <p:sp>
        <p:nvSpPr>
          <p:cNvPr id="4" name="Text 2"/>
          <p:cNvSpPr txBox="1"/>
          <p:nvPr/>
        </p:nvSpPr>
        <p:spPr>
          <a:xfrm>
            <a:off x="731520" y="4389120"/>
            <a:ext cx="6400800" cy="457200"/>
          </a:xfrm>
          <a:prstGeom prst="rect">
            <a:avLst/>
          </a:prstGeom>
          <a:noFill/>
          <a:ln/>
        </p:spPr>
        <p:txBody>
          <a:bodyPr wrap="square" lIns="0" tIns="0" rIns="0" bIns="0" rtlCol="0" anchor="t"/>
          <a:lstStyle/>
          <a:p>
            <a:pPr algn="l" indent="0" marL="0">
              <a:buNone/>
            </a:pPr>
            <a:r>
              <a:rPr lang="en-US" sz="2400" b="1" dirty="0">
                <a:solidFill>
                  <a:srgbClr val="FFFFFF"/>
                </a:solidFill>
                <a:latin typeface="Segoe UI" pitchFamily="34" charset="0"/>
                <a:ea typeface="Segoe UI" pitchFamily="34" charset="-122"/>
                <a:cs typeface="Segoe UI" pitchFamily="34" charset="-120"/>
              </a:rPr>
              <a:t>Juha Ala-Rantala</a:t>
            </a:r>
            <a:endParaRPr lang="en-US" sz="2400" dirty="0"/>
          </a:p>
        </p:txBody>
      </p:sp>
      <p:sp>
        <p:nvSpPr>
          <p:cNvPr id="5" name="Text 3"/>
          <p:cNvSpPr txBox="1"/>
          <p:nvPr/>
        </p:nvSpPr>
        <p:spPr>
          <a:xfrm>
            <a:off x="731520" y="4846320"/>
            <a:ext cx="6400800" cy="365760"/>
          </a:xfrm>
          <a:prstGeom prst="rect">
            <a:avLst/>
          </a:prstGeom>
          <a:noFill/>
          <a:ln/>
        </p:spPr>
        <p:txBody>
          <a:bodyPr wrap="square" lIns="0" tIns="0" rIns="0" bIns="0" rtlCol="0" anchor="t"/>
          <a:lstStyle/>
          <a:p>
            <a:pPr algn="l" indent="0" marL="0">
              <a:buNone/>
            </a:pPr>
            <a:r>
              <a:rPr lang="en-US" sz="1600" dirty="0">
                <a:solidFill>
                  <a:srgbClr val="8B949E"/>
                </a:solidFill>
                <a:latin typeface="Consolas" pitchFamily="34" charset="0"/>
                <a:ea typeface="Consolas" pitchFamily="34" charset="-122"/>
                <a:cs typeface="Consolas" pitchFamily="34" charset="-120"/>
              </a:rPr>
              <a:t>Lakeus-Devaus · marraskuu 2026</a:t>
            </a:r>
            <a:endParaRPr lang="en-US" sz="1600" dirty="0"/>
          </a:p>
        </p:txBody>
      </p:sp>
      <p:sp>
        <p:nvSpPr>
          <p:cNvPr id="6" name="Shape 4"/>
          <p:cNvSpPr/>
          <p:nvPr/>
        </p:nvSpPr>
        <p:spPr>
          <a:xfrm>
            <a:off x="8567928" y="2807208"/>
            <a:ext cx="3072384" cy="3072384"/>
          </a:xfrm>
          <a:prstGeom prst="ellipse">
            <a:avLst/>
          </a:prstGeom>
          <a:ln w="25400">
            <a:solidFill>
              <a:srgbClr val="58A6FF"/>
            </a:solidFill>
            <a:prstDash val="solid"/>
          </a:ln>
        </p:spPr>
      </p:sp>
      <p:pic>
        <p:nvPicPr>
          <p:cNvPr id="7" name="Image 0" descr="Juha Ala-Rantala">    </p:cNvPr>
          <p:cNvPicPr>
            <a:picLocks noChangeAspect="1"/>
          </p:cNvPicPr>
          <p:nvPr/>
        </p:nvPicPr>
        <p:blipFill>
          <a:blip r:embed="rId1"/>
          <a:stretch>
            <a:fillRect/>
          </a:stretch>
        </p:blipFill>
        <p:spPr>
          <a:xfrm>
            <a:off x="8641080" y="2880360"/>
            <a:ext cx="2926080" cy="2926080"/>
          </a:xfrm>
          <a:prstGeom prst="ellipse">
            <a:avLst/>
          </a:prstGeom>
        </p:spPr>
      </p:pic>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B949E"/>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00 · alku</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Tänään</a:t>
            </a:r>
            <a:endParaRPr lang="en-US" sz="3200" dirty="0"/>
          </a:p>
        </p:txBody>
      </p:sp>
      <p:sp>
        <p:nvSpPr>
          <p:cNvPr id="4" name="Text 2"/>
          <p:cNvSpPr txBox="1"/>
          <p:nvPr/>
        </p:nvSpPr>
        <p:spPr>
          <a:xfrm>
            <a:off x="548640" y="1508760"/>
            <a:ext cx="64008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Consolas" pitchFamily="34" charset="0"/>
                <a:ea typeface="Consolas" pitchFamily="34" charset="-122"/>
                <a:cs typeface="Consolas" pitchFamily="34" charset="-120"/>
              </a:rPr>
              <a:t>01</a:t>
            </a:r>
            <a:endParaRPr lang="en-US" sz="2000" dirty="0"/>
          </a:p>
        </p:txBody>
      </p:sp>
      <p:sp>
        <p:nvSpPr>
          <p:cNvPr id="5" name="Text 3"/>
          <p:cNvSpPr txBox="1"/>
          <p:nvPr/>
        </p:nvSpPr>
        <p:spPr>
          <a:xfrm>
            <a:off x="1234440" y="1508760"/>
            <a:ext cx="5852160" cy="502920"/>
          </a:xfrm>
          <a:prstGeom prst="rect">
            <a:avLst/>
          </a:prstGeom>
          <a:noFill/>
          <a:ln/>
        </p:spPr>
        <p:txBody>
          <a:bodyPr wrap="square" lIns="0" tIns="0" rIns="0" bIns="0" rtlCol="0" anchor="ctr"/>
          <a:lstStyle/>
          <a:p>
            <a:pPr algn="l" indent="0" marL="0">
              <a:buNone/>
            </a:pPr>
            <a:r>
              <a:rPr lang="en-US" sz="2200" dirty="0">
                <a:solidFill>
                  <a:srgbClr val="111827"/>
                </a:solidFill>
                <a:latin typeface="Segoe UI" pitchFamily="34" charset="0"/>
                <a:ea typeface="Segoe UI" pitchFamily="34" charset="-122"/>
                <a:cs typeface="Segoe UI" pitchFamily="34" charset="-120"/>
              </a:rPr>
              <a:t>Mikä ohjelmistokehityksessä oikeasti muuttui?</a:t>
            </a:r>
            <a:endParaRPr lang="en-US" sz="2200" dirty="0"/>
          </a:p>
        </p:txBody>
      </p:sp>
      <p:sp>
        <p:nvSpPr>
          <p:cNvPr id="6" name="Text 4"/>
          <p:cNvSpPr txBox="1"/>
          <p:nvPr/>
        </p:nvSpPr>
        <p:spPr>
          <a:xfrm>
            <a:off x="548640" y="2258568"/>
            <a:ext cx="64008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Consolas" pitchFamily="34" charset="0"/>
                <a:ea typeface="Consolas" pitchFamily="34" charset="-122"/>
                <a:cs typeface="Consolas" pitchFamily="34" charset="-120"/>
              </a:rPr>
              <a:t>02</a:t>
            </a:r>
            <a:endParaRPr lang="en-US" sz="2000" dirty="0"/>
          </a:p>
        </p:txBody>
      </p:sp>
      <p:sp>
        <p:nvSpPr>
          <p:cNvPr id="7" name="Text 5"/>
          <p:cNvSpPr txBox="1"/>
          <p:nvPr/>
        </p:nvSpPr>
        <p:spPr>
          <a:xfrm>
            <a:off x="1234440" y="2258568"/>
            <a:ext cx="5852160" cy="502920"/>
          </a:xfrm>
          <a:prstGeom prst="rect">
            <a:avLst/>
          </a:prstGeom>
          <a:noFill/>
          <a:ln/>
        </p:spPr>
        <p:txBody>
          <a:bodyPr wrap="square" lIns="0" tIns="0" rIns="0" bIns="0" rtlCol="0" anchor="ctr"/>
          <a:lstStyle/>
          <a:p>
            <a:pPr algn="l" indent="0" marL="0">
              <a:buNone/>
            </a:pPr>
            <a:r>
              <a:rPr lang="en-US" sz="2200" dirty="0">
                <a:solidFill>
                  <a:srgbClr val="111827"/>
                </a:solidFill>
                <a:latin typeface="Segoe UI" pitchFamily="34" charset="0"/>
                <a:ea typeface="Segoe UI" pitchFamily="34" charset="-122"/>
                <a:cs typeface="Segoe UI" pitchFamily="34" charset="-120"/>
              </a:rPr>
              <a:t>Tuleeko meistä nopeampia?</a:t>
            </a:r>
            <a:endParaRPr lang="en-US" sz="2200" dirty="0"/>
          </a:p>
        </p:txBody>
      </p:sp>
      <p:sp>
        <p:nvSpPr>
          <p:cNvPr id="8" name="Text 6"/>
          <p:cNvSpPr txBox="1"/>
          <p:nvPr/>
        </p:nvSpPr>
        <p:spPr>
          <a:xfrm>
            <a:off x="548640" y="3008376"/>
            <a:ext cx="64008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Consolas" pitchFamily="34" charset="0"/>
                <a:ea typeface="Consolas" pitchFamily="34" charset="-122"/>
                <a:cs typeface="Consolas" pitchFamily="34" charset="-120"/>
              </a:rPr>
              <a:t>03</a:t>
            </a:r>
            <a:endParaRPr lang="en-US" sz="2000" dirty="0"/>
          </a:p>
        </p:txBody>
      </p:sp>
      <p:sp>
        <p:nvSpPr>
          <p:cNvPr id="9" name="Text 7"/>
          <p:cNvSpPr txBox="1"/>
          <p:nvPr/>
        </p:nvSpPr>
        <p:spPr>
          <a:xfrm>
            <a:off x="1234440" y="3008376"/>
            <a:ext cx="5852160" cy="502920"/>
          </a:xfrm>
          <a:prstGeom prst="rect">
            <a:avLst/>
          </a:prstGeom>
          <a:noFill/>
          <a:ln/>
        </p:spPr>
        <p:txBody>
          <a:bodyPr wrap="square" lIns="0" tIns="0" rIns="0" bIns="0" rtlCol="0" anchor="ctr"/>
          <a:lstStyle/>
          <a:p>
            <a:pPr algn="l" indent="0" marL="0">
              <a:buNone/>
            </a:pPr>
            <a:r>
              <a:rPr lang="en-US" sz="2200" dirty="0">
                <a:solidFill>
                  <a:srgbClr val="111827"/>
                </a:solidFill>
                <a:latin typeface="Segoe UI" pitchFamily="34" charset="0"/>
                <a:ea typeface="Segoe UI" pitchFamily="34" charset="-122"/>
                <a:cs typeface="Segoe UI" pitchFamily="34" charset="-120"/>
              </a:rPr>
              <a:t>Kuka tarkistaa – ja kuka oppii?</a:t>
            </a:r>
            <a:endParaRPr lang="en-US" sz="2200" dirty="0"/>
          </a:p>
        </p:txBody>
      </p:sp>
      <p:sp>
        <p:nvSpPr>
          <p:cNvPr id="10" name="Text 8"/>
          <p:cNvSpPr txBox="1"/>
          <p:nvPr/>
        </p:nvSpPr>
        <p:spPr>
          <a:xfrm>
            <a:off x="548640" y="3758184"/>
            <a:ext cx="64008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Consolas" pitchFamily="34" charset="0"/>
                <a:ea typeface="Consolas" pitchFamily="34" charset="-122"/>
                <a:cs typeface="Consolas" pitchFamily="34" charset="-120"/>
              </a:rPr>
              <a:t>04</a:t>
            </a:r>
            <a:endParaRPr lang="en-US" sz="2000" dirty="0"/>
          </a:p>
        </p:txBody>
      </p:sp>
      <p:sp>
        <p:nvSpPr>
          <p:cNvPr id="11" name="Text 9"/>
          <p:cNvSpPr txBox="1"/>
          <p:nvPr/>
        </p:nvSpPr>
        <p:spPr>
          <a:xfrm>
            <a:off x="1234440" y="3758184"/>
            <a:ext cx="5852160" cy="502920"/>
          </a:xfrm>
          <a:prstGeom prst="rect">
            <a:avLst/>
          </a:prstGeom>
          <a:noFill/>
          <a:ln/>
        </p:spPr>
        <p:txBody>
          <a:bodyPr wrap="square" lIns="0" tIns="0" rIns="0" bIns="0" rtlCol="0" anchor="ctr"/>
          <a:lstStyle/>
          <a:p>
            <a:pPr algn="l" indent="0" marL="0">
              <a:buNone/>
            </a:pPr>
            <a:r>
              <a:rPr lang="en-US" sz="2200" dirty="0">
                <a:solidFill>
                  <a:srgbClr val="111827"/>
                </a:solidFill>
                <a:latin typeface="Segoe UI" pitchFamily="34" charset="0"/>
                <a:ea typeface="Segoe UI" pitchFamily="34" charset="-122"/>
                <a:cs typeface="Segoe UI" pitchFamily="34" charset="-120"/>
              </a:rPr>
              <a:t>Mitä tämä tarkoittaa täällä Lakeudella?</a:t>
            </a:r>
            <a:endParaRPr lang="en-US" sz="2200" dirty="0"/>
          </a:p>
        </p:txBody>
      </p:sp>
      <p:sp>
        <p:nvSpPr>
          <p:cNvPr id="12" name="Text 10"/>
          <p:cNvSpPr txBox="1"/>
          <p:nvPr/>
        </p:nvSpPr>
        <p:spPr>
          <a:xfrm>
            <a:off x="548640" y="4507992"/>
            <a:ext cx="64008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Consolas" pitchFamily="34" charset="0"/>
                <a:ea typeface="Consolas" pitchFamily="34" charset="-122"/>
                <a:cs typeface="Consolas" pitchFamily="34" charset="-120"/>
              </a:rPr>
              <a:t>05</a:t>
            </a:r>
            <a:endParaRPr lang="en-US" sz="2000" dirty="0"/>
          </a:p>
        </p:txBody>
      </p:sp>
      <p:sp>
        <p:nvSpPr>
          <p:cNvPr id="13" name="Text 11"/>
          <p:cNvSpPr txBox="1"/>
          <p:nvPr/>
        </p:nvSpPr>
        <p:spPr>
          <a:xfrm>
            <a:off x="1234440" y="4507992"/>
            <a:ext cx="5852160" cy="502920"/>
          </a:xfrm>
          <a:prstGeom prst="rect">
            <a:avLst/>
          </a:prstGeom>
          <a:noFill/>
          <a:ln/>
        </p:spPr>
        <p:txBody>
          <a:bodyPr wrap="square" lIns="0" tIns="0" rIns="0" bIns="0" rtlCol="0" anchor="ctr"/>
          <a:lstStyle/>
          <a:p>
            <a:pPr algn="l" indent="0" marL="0">
              <a:buNone/>
            </a:pPr>
            <a:r>
              <a:rPr lang="en-US" sz="2200" dirty="0">
                <a:solidFill>
                  <a:srgbClr val="111827"/>
                </a:solidFill>
                <a:latin typeface="Segoe UI" pitchFamily="34" charset="0"/>
                <a:ea typeface="Segoe UI" pitchFamily="34" charset="-122"/>
                <a:cs typeface="Segoe UI" pitchFamily="34" charset="-120"/>
              </a:rPr>
              <a:t>Miten agentin kanssa tehdään oikeasti töitä?</a:t>
            </a:r>
            <a:endParaRPr lang="en-US" sz="2200" dirty="0"/>
          </a:p>
        </p:txBody>
      </p:sp>
      <p:sp>
        <p:nvSpPr>
          <p:cNvPr id="14" name="Kortti"/>
          <p:cNvSpPr/>
          <p:nvPr/>
        </p:nvSpPr>
        <p:spPr>
          <a:xfrm>
            <a:off x="7589520" y="1828800"/>
            <a:ext cx="4023360" cy="2651760"/>
          </a:xfrm>
          <a:prstGeom prst="roundRect">
            <a:avLst>
              <a:gd name="adj" fmla="val 3448"/>
            </a:avLst>
          </a:prstGeom>
          <a:solidFill>
            <a:srgbClr val="EFF6FF"/>
          </a:solidFill>
          <a:ln w="12700">
            <a:solidFill>
              <a:srgbClr val="BFDBFE"/>
            </a:solidFill>
            <a:prstDash val="solid"/>
          </a:ln>
        </p:spPr>
      </p:sp>
      <p:sp>
        <p:nvSpPr>
          <p:cNvPr id="15" name="Text 13"/>
          <p:cNvSpPr txBox="1"/>
          <p:nvPr/>
        </p:nvSpPr>
        <p:spPr>
          <a:xfrm>
            <a:off x="7863840" y="2057400"/>
            <a:ext cx="3474720" cy="320040"/>
          </a:xfrm>
          <a:prstGeom prst="rect">
            <a:avLst/>
          </a:prstGeom>
          <a:noFill/>
          <a:ln/>
        </p:spPr>
        <p:txBody>
          <a:bodyPr wrap="square" lIns="0" tIns="0" rIns="0" bIns="0" rtlCol="0" anchor="t"/>
          <a:lstStyle/>
          <a:p>
            <a:pPr algn="l" indent="0" marL="0">
              <a:buNone/>
            </a:pPr>
            <a:r>
              <a:rPr lang="en-US" sz="1300" dirty="0">
                <a:solidFill>
                  <a:srgbClr val="2563EB"/>
                </a:solidFill>
                <a:latin typeface="Consolas" pitchFamily="34" charset="0"/>
                <a:ea typeface="Consolas" pitchFamily="34" charset="-122"/>
                <a:cs typeface="Consolas" pitchFamily="34" charset="-120"/>
              </a:rPr>
              <a:t>// illan kysymys</a:t>
            </a:r>
            <a:endParaRPr lang="en-US" sz="1300" dirty="0"/>
          </a:p>
        </p:txBody>
      </p:sp>
      <p:sp>
        <p:nvSpPr>
          <p:cNvPr id="16" name="Text 14"/>
          <p:cNvSpPr txBox="1"/>
          <p:nvPr/>
        </p:nvSpPr>
        <p:spPr>
          <a:xfrm>
            <a:off x="7863840" y="2514600"/>
            <a:ext cx="3566160" cy="1645920"/>
          </a:xfrm>
          <a:prstGeom prst="rect">
            <a:avLst/>
          </a:prstGeom>
          <a:noFill/>
          <a:ln/>
        </p:spPr>
        <p:txBody>
          <a:bodyPr wrap="square" lIns="0" tIns="0" rIns="0" bIns="0" rtlCol="0" anchor="ctr"/>
          <a:lstStyle/>
          <a:p>
            <a:pPr algn="l" indent="0" marL="0">
              <a:buNone/>
            </a:pPr>
            <a:r>
              <a:rPr lang="en-US" sz="3600" b="1" dirty="0">
                <a:solidFill>
                  <a:srgbClr val="2563EB"/>
                </a:solidFill>
                <a:latin typeface="Segoe UI" pitchFamily="34" charset="0"/>
                <a:ea typeface="Segoe UI" pitchFamily="34" charset="-122"/>
                <a:cs typeface="Segoe UI" pitchFamily="34" charset="-120"/>
              </a:rPr>
              <a:t>Koodi halpeni.</a:t>
            </a:r>
            <a:endParaRPr lang="en-US" sz="3600" dirty="0"/>
          </a:p>
          <a:p>
            <a:pPr algn="l" indent="0" marL="0">
              <a:buNone/>
            </a:pPr>
            <a:r>
              <a:rPr lang="en-US" sz="3600" b="1" dirty="0">
                <a:solidFill>
                  <a:srgbClr val="2563EB"/>
                </a:solidFill>
                <a:latin typeface="Segoe UI" pitchFamily="34" charset="0"/>
                <a:ea typeface="Segoe UI" pitchFamily="34" charset="-122"/>
                <a:cs typeface="Segoe UI" pitchFamily="34" charset="-120"/>
              </a:rPr>
              <a:t>Mikä ei?</a:t>
            </a:r>
            <a:endParaRPr lang="en-US" sz="3600" dirty="0"/>
          </a:p>
        </p:txBody>
      </p:sp>
      <p:sp>
        <p:nvSpPr>
          <p:cNvPr id="18"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endParaRPr lang="en-US"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00 · alku</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Tänään</a:t>
            </a:r>
            <a:endParaRPr lang="en-US" sz="3200" dirty="0"/>
          </a:p>
        </p:txBody>
      </p:sp>
      <p:sp>
        <p:nvSpPr>
          <p:cNvPr id="4" name="Text 2"/>
          <p:cNvSpPr txBox="1"/>
          <p:nvPr/>
        </p:nvSpPr>
        <p:spPr>
          <a:xfrm>
            <a:off x="548640" y="1481328"/>
            <a:ext cx="6217920" cy="365760"/>
          </a:xfrm>
          <a:prstGeom prst="rect">
            <a:avLst/>
          </a:prstGeom>
          <a:noFill/>
          <a:ln/>
        </p:spPr>
        <p:txBody>
          <a:bodyPr wrap="square" lIns="0" tIns="0" rIns="0" bIns="0" rtlCol="0" anchor="t"/>
          <a:lstStyle/>
          <a:p>
            <a:pPr algn="l" indent="0" marL="0">
              <a:buNone/>
            </a:pPr>
            <a:r>
              <a:rPr lang="en-US" sz="1400" b="1" dirty="0">
                <a:solidFill>
                  <a:srgbClr val="2563EB"/>
                </a:solidFill>
                <a:latin typeface="Consolas" pitchFamily="34" charset="0"/>
                <a:ea typeface="Consolas" pitchFamily="34" charset="-122"/>
                <a:cs typeface="Consolas" pitchFamily="34" charset="-120"/>
              </a:rPr>
              <a:t>Mitä kuuluu?  · tilannekatsaus</a:t>
            </a:r>
            <a:endParaRPr lang="en-US" sz="1400" dirty="0"/>
          </a:p>
        </p:txBody>
      </p:sp>
      <p:sp>
        <p:nvSpPr>
          <p:cNvPr id="5" name="Text 3"/>
          <p:cNvSpPr txBox="1"/>
          <p:nvPr/>
        </p:nvSpPr>
        <p:spPr>
          <a:xfrm>
            <a:off x="548640" y="4389120"/>
            <a:ext cx="6217920" cy="365760"/>
          </a:xfrm>
          <a:prstGeom prst="rect">
            <a:avLst/>
          </a:prstGeom>
          <a:noFill/>
          <a:ln/>
        </p:spPr>
        <p:txBody>
          <a:bodyPr wrap="square" lIns="0" tIns="0" rIns="0" bIns="0" rtlCol="0" anchor="t"/>
          <a:lstStyle/>
          <a:p>
            <a:pPr algn="l" indent="0" marL="0">
              <a:buNone/>
            </a:pPr>
            <a:r>
              <a:rPr lang="en-US" sz="1400" b="1" dirty="0">
                <a:solidFill>
                  <a:srgbClr val="2563EB"/>
                </a:solidFill>
                <a:latin typeface="Consolas" pitchFamily="34" charset="0"/>
                <a:ea typeface="Consolas" pitchFamily="34" charset="-122"/>
                <a:cs typeface="Consolas" pitchFamily="34" charset="-120"/>
              </a:rPr>
              <a:t>Miten tehdään?  · käytäntö</a:t>
            </a:r>
            <a:endParaRPr lang="en-US" sz="1400" dirty="0"/>
          </a:p>
        </p:txBody>
      </p:sp>
      <p:sp>
        <p:nvSpPr>
          <p:cNvPr id="6" name="Text 4"/>
          <p:cNvSpPr txBox="1"/>
          <p:nvPr/>
        </p:nvSpPr>
        <p:spPr>
          <a:xfrm>
            <a:off x="548640" y="1965960"/>
            <a:ext cx="64008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Consolas" pitchFamily="34" charset="0"/>
                <a:ea typeface="Consolas" pitchFamily="34" charset="-122"/>
                <a:cs typeface="Consolas" pitchFamily="34" charset="-120"/>
              </a:rPr>
              <a:t>01</a:t>
            </a:r>
            <a:endParaRPr lang="en-US" sz="2000" dirty="0"/>
          </a:p>
        </p:txBody>
      </p:sp>
      <p:sp>
        <p:nvSpPr>
          <p:cNvPr id="7" name="Text 5"/>
          <p:cNvSpPr txBox="1"/>
          <p:nvPr/>
        </p:nvSpPr>
        <p:spPr>
          <a:xfrm>
            <a:off x="1234440" y="1965960"/>
            <a:ext cx="5852160" cy="502920"/>
          </a:xfrm>
          <a:prstGeom prst="rect">
            <a:avLst/>
          </a:prstGeom>
          <a:noFill/>
          <a:ln/>
        </p:spPr>
        <p:txBody>
          <a:bodyPr wrap="square" lIns="0" tIns="0" rIns="0" bIns="0" rtlCol="0" anchor="ctr"/>
          <a:lstStyle/>
          <a:p>
            <a:pPr algn="l" indent="0" marL="0">
              <a:buNone/>
            </a:pPr>
            <a:r>
              <a:rPr lang="en-US" sz="2000" dirty="0">
                <a:solidFill>
                  <a:srgbClr val="111827"/>
                </a:solidFill>
                <a:latin typeface="Segoe UI" pitchFamily="34" charset="0"/>
                <a:ea typeface="Segoe UI" pitchFamily="34" charset="-122"/>
                <a:cs typeface="Segoe UI" pitchFamily="34" charset="-120"/>
              </a:rPr>
              <a:t>Mikä ohjelmistokehityksessä oikeasti muuttui?</a:t>
            </a:r>
            <a:endParaRPr lang="en-US" sz="2000" dirty="0"/>
          </a:p>
        </p:txBody>
      </p:sp>
      <p:sp>
        <p:nvSpPr>
          <p:cNvPr id="8" name="Text 6"/>
          <p:cNvSpPr txBox="1"/>
          <p:nvPr/>
        </p:nvSpPr>
        <p:spPr>
          <a:xfrm>
            <a:off x="548640" y="2514600"/>
            <a:ext cx="64008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Consolas" pitchFamily="34" charset="0"/>
                <a:ea typeface="Consolas" pitchFamily="34" charset="-122"/>
                <a:cs typeface="Consolas" pitchFamily="34" charset="-120"/>
              </a:rPr>
              <a:t>02</a:t>
            </a:r>
            <a:endParaRPr lang="en-US" sz="2000" dirty="0"/>
          </a:p>
        </p:txBody>
      </p:sp>
      <p:sp>
        <p:nvSpPr>
          <p:cNvPr id="9" name="Text 7"/>
          <p:cNvSpPr txBox="1"/>
          <p:nvPr/>
        </p:nvSpPr>
        <p:spPr>
          <a:xfrm>
            <a:off x="1234440" y="2514600"/>
            <a:ext cx="5852160" cy="502920"/>
          </a:xfrm>
          <a:prstGeom prst="rect">
            <a:avLst/>
          </a:prstGeom>
          <a:noFill/>
          <a:ln/>
        </p:spPr>
        <p:txBody>
          <a:bodyPr wrap="square" lIns="0" tIns="0" rIns="0" bIns="0" rtlCol="0" anchor="ctr"/>
          <a:lstStyle/>
          <a:p>
            <a:pPr algn="l" indent="0" marL="0">
              <a:buNone/>
            </a:pPr>
            <a:r>
              <a:rPr lang="en-US" sz="2000" dirty="0">
                <a:solidFill>
                  <a:srgbClr val="111827"/>
                </a:solidFill>
                <a:latin typeface="Segoe UI" pitchFamily="34" charset="0"/>
                <a:ea typeface="Segoe UI" pitchFamily="34" charset="-122"/>
                <a:cs typeface="Segoe UI" pitchFamily="34" charset="-120"/>
              </a:rPr>
              <a:t>Tuleeko meistä nopeampia?</a:t>
            </a:r>
            <a:endParaRPr lang="en-US" sz="2000" dirty="0"/>
          </a:p>
        </p:txBody>
      </p:sp>
      <p:sp>
        <p:nvSpPr>
          <p:cNvPr id="10" name="Text 8"/>
          <p:cNvSpPr txBox="1"/>
          <p:nvPr/>
        </p:nvSpPr>
        <p:spPr>
          <a:xfrm>
            <a:off x="548640" y="3063240"/>
            <a:ext cx="64008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Consolas" pitchFamily="34" charset="0"/>
                <a:ea typeface="Consolas" pitchFamily="34" charset="-122"/>
                <a:cs typeface="Consolas" pitchFamily="34" charset="-120"/>
              </a:rPr>
              <a:t>03</a:t>
            </a:r>
            <a:endParaRPr lang="en-US" sz="2000" dirty="0"/>
          </a:p>
        </p:txBody>
      </p:sp>
      <p:sp>
        <p:nvSpPr>
          <p:cNvPr id="11" name="Text 9"/>
          <p:cNvSpPr txBox="1"/>
          <p:nvPr/>
        </p:nvSpPr>
        <p:spPr>
          <a:xfrm>
            <a:off x="1234440" y="3063240"/>
            <a:ext cx="5852160" cy="502920"/>
          </a:xfrm>
          <a:prstGeom prst="rect">
            <a:avLst/>
          </a:prstGeom>
          <a:noFill/>
          <a:ln/>
        </p:spPr>
        <p:txBody>
          <a:bodyPr wrap="square" lIns="0" tIns="0" rIns="0" bIns="0" rtlCol="0" anchor="ctr"/>
          <a:lstStyle/>
          <a:p>
            <a:pPr algn="l" indent="0" marL="0">
              <a:buNone/>
            </a:pPr>
            <a:r>
              <a:rPr lang="en-US" sz="2000" dirty="0">
                <a:solidFill>
                  <a:srgbClr val="111827"/>
                </a:solidFill>
                <a:latin typeface="Segoe UI" pitchFamily="34" charset="0"/>
                <a:ea typeface="Segoe UI" pitchFamily="34" charset="-122"/>
                <a:cs typeface="Segoe UI" pitchFamily="34" charset="-120"/>
              </a:rPr>
              <a:t>Kuka tarkistaa – ja kuka oppii?</a:t>
            </a:r>
            <a:endParaRPr lang="en-US" sz="2000" dirty="0"/>
          </a:p>
        </p:txBody>
      </p:sp>
      <p:sp>
        <p:nvSpPr>
          <p:cNvPr id="12" name="Text 10"/>
          <p:cNvSpPr txBox="1"/>
          <p:nvPr/>
        </p:nvSpPr>
        <p:spPr>
          <a:xfrm>
            <a:off x="548640" y="3611880"/>
            <a:ext cx="64008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Consolas" pitchFamily="34" charset="0"/>
                <a:ea typeface="Consolas" pitchFamily="34" charset="-122"/>
                <a:cs typeface="Consolas" pitchFamily="34" charset="-120"/>
              </a:rPr>
              <a:t>04</a:t>
            </a:r>
            <a:endParaRPr lang="en-US" sz="2000" dirty="0"/>
          </a:p>
        </p:txBody>
      </p:sp>
      <p:sp>
        <p:nvSpPr>
          <p:cNvPr id="13" name="Text 11"/>
          <p:cNvSpPr txBox="1"/>
          <p:nvPr/>
        </p:nvSpPr>
        <p:spPr>
          <a:xfrm>
            <a:off x="1234440" y="3611880"/>
            <a:ext cx="5852160" cy="502920"/>
          </a:xfrm>
          <a:prstGeom prst="rect">
            <a:avLst/>
          </a:prstGeom>
          <a:noFill/>
          <a:ln/>
        </p:spPr>
        <p:txBody>
          <a:bodyPr wrap="square" lIns="0" tIns="0" rIns="0" bIns="0" rtlCol="0" anchor="ctr"/>
          <a:lstStyle/>
          <a:p>
            <a:pPr algn="l" indent="0" marL="0">
              <a:buNone/>
            </a:pPr>
            <a:r>
              <a:rPr lang="en-US" sz="2000" dirty="0">
                <a:solidFill>
                  <a:srgbClr val="111827"/>
                </a:solidFill>
                <a:latin typeface="Segoe UI" pitchFamily="34" charset="0"/>
                <a:ea typeface="Segoe UI" pitchFamily="34" charset="-122"/>
                <a:cs typeface="Segoe UI" pitchFamily="34" charset="-120"/>
              </a:rPr>
              <a:t>Mitä tämä tarkoittaa täällä Lakeudella?</a:t>
            </a:r>
            <a:endParaRPr lang="en-US" sz="2000" dirty="0"/>
          </a:p>
        </p:txBody>
      </p:sp>
      <p:sp>
        <p:nvSpPr>
          <p:cNvPr id="14" name="Text 12"/>
          <p:cNvSpPr txBox="1"/>
          <p:nvPr/>
        </p:nvSpPr>
        <p:spPr>
          <a:xfrm>
            <a:off x="548640" y="4846320"/>
            <a:ext cx="64008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Consolas" pitchFamily="34" charset="0"/>
                <a:ea typeface="Consolas" pitchFamily="34" charset="-122"/>
                <a:cs typeface="Consolas" pitchFamily="34" charset="-120"/>
              </a:rPr>
              <a:t>05</a:t>
            </a:r>
            <a:endParaRPr lang="en-US" sz="2000" dirty="0"/>
          </a:p>
        </p:txBody>
      </p:sp>
      <p:sp>
        <p:nvSpPr>
          <p:cNvPr id="15" name="Text 13"/>
          <p:cNvSpPr txBox="1"/>
          <p:nvPr/>
        </p:nvSpPr>
        <p:spPr>
          <a:xfrm>
            <a:off x="1234440" y="4846320"/>
            <a:ext cx="5852160" cy="502920"/>
          </a:xfrm>
          <a:prstGeom prst="rect">
            <a:avLst/>
          </a:prstGeom>
          <a:noFill/>
          <a:ln/>
        </p:spPr>
        <p:txBody>
          <a:bodyPr wrap="square" lIns="0" tIns="0" rIns="0" bIns="0" rtlCol="0" anchor="ctr"/>
          <a:lstStyle/>
          <a:p>
            <a:pPr algn="l" indent="0" marL="0">
              <a:buNone/>
            </a:pPr>
            <a:r>
              <a:rPr lang="en-US" sz="2000" dirty="0">
                <a:solidFill>
                  <a:srgbClr val="111827"/>
                </a:solidFill>
                <a:latin typeface="Segoe UI" pitchFamily="34" charset="0"/>
                <a:ea typeface="Segoe UI" pitchFamily="34" charset="-122"/>
                <a:cs typeface="Segoe UI" pitchFamily="34" charset="-120"/>
              </a:rPr>
              <a:t>Miten agentin kanssa tehdään oikeasti töitä?</a:t>
            </a:r>
            <a:endParaRPr lang="en-US" sz="2000" dirty="0"/>
          </a:p>
        </p:txBody>
      </p:sp>
      <p:sp>
        <p:nvSpPr>
          <p:cNvPr id="16" name="Kortti"/>
          <p:cNvSpPr/>
          <p:nvPr/>
        </p:nvSpPr>
        <p:spPr>
          <a:xfrm>
            <a:off x="7589520" y="1828800"/>
            <a:ext cx="4023360" cy="2651760"/>
          </a:xfrm>
          <a:prstGeom prst="roundRect">
            <a:avLst>
              <a:gd name="adj" fmla="val 3448"/>
            </a:avLst>
          </a:prstGeom>
          <a:solidFill>
            <a:srgbClr val="EFF6FF"/>
          </a:solidFill>
          <a:ln w="12700">
            <a:solidFill>
              <a:srgbClr val="BFDBFE"/>
            </a:solidFill>
            <a:prstDash val="solid"/>
          </a:ln>
        </p:spPr>
      </p:sp>
      <p:sp>
        <p:nvSpPr>
          <p:cNvPr id="17" name="Text 15"/>
          <p:cNvSpPr txBox="1"/>
          <p:nvPr/>
        </p:nvSpPr>
        <p:spPr>
          <a:xfrm>
            <a:off x="7863840" y="2057400"/>
            <a:ext cx="3474720" cy="320040"/>
          </a:xfrm>
          <a:prstGeom prst="rect">
            <a:avLst/>
          </a:prstGeom>
          <a:noFill/>
          <a:ln/>
        </p:spPr>
        <p:txBody>
          <a:bodyPr wrap="square" lIns="0" tIns="0" rIns="0" bIns="0" rtlCol="0" anchor="t"/>
          <a:lstStyle/>
          <a:p>
            <a:pPr algn="l" indent="0" marL="0">
              <a:buNone/>
            </a:pPr>
            <a:r>
              <a:rPr lang="en-US" sz="1300" dirty="0">
                <a:solidFill>
                  <a:srgbClr val="2563EB"/>
                </a:solidFill>
                <a:latin typeface="Consolas" pitchFamily="34" charset="0"/>
                <a:ea typeface="Consolas" pitchFamily="34" charset="-122"/>
                <a:cs typeface="Consolas" pitchFamily="34" charset="-120"/>
              </a:rPr>
              <a:t>// illan kysymys</a:t>
            </a:r>
            <a:endParaRPr lang="en-US" sz="1300" dirty="0"/>
          </a:p>
        </p:txBody>
      </p:sp>
      <p:sp>
        <p:nvSpPr>
          <p:cNvPr id="18" name="Text 16"/>
          <p:cNvSpPr txBox="1"/>
          <p:nvPr/>
        </p:nvSpPr>
        <p:spPr>
          <a:xfrm>
            <a:off x="7863840" y="2514600"/>
            <a:ext cx="3566160" cy="1645920"/>
          </a:xfrm>
          <a:prstGeom prst="rect">
            <a:avLst/>
          </a:prstGeom>
          <a:noFill/>
          <a:ln/>
        </p:spPr>
        <p:txBody>
          <a:bodyPr wrap="square" lIns="0" tIns="0" rIns="0" bIns="0" rtlCol="0" anchor="ctr"/>
          <a:lstStyle/>
          <a:p>
            <a:pPr algn="l" indent="0" marL="0">
              <a:buNone/>
            </a:pPr>
            <a:r>
              <a:rPr lang="en-US" sz="3600" b="1" dirty="0">
                <a:solidFill>
                  <a:srgbClr val="2563EB"/>
                </a:solidFill>
                <a:latin typeface="Segoe UI" pitchFamily="34" charset="0"/>
                <a:ea typeface="Segoe UI" pitchFamily="34" charset="-122"/>
                <a:cs typeface="Segoe UI" pitchFamily="34" charset="-120"/>
              </a:rPr>
              <a:t>Koodi halpeni.</a:t>
            </a:r>
            <a:endParaRPr lang="en-US" sz="3600" dirty="0"/>
          </a:p>
          <a:p>
            <a:pPr algn="l" indent="0" marL="0">
              <a:buNone/>
            </a:pPr>
            <a:r>
              <a:rPr lang="en-US" sz="3600" b="1" dirty="0">
                <a:solidFill>
                  <a:srgbClr val="2563EB"/>
                </a:solidFill>
                <a:latin typeface="Segoe UI" pitchFamily="34" charset="0"/>
                <a:ea typeface="Segoe UI" pitchFamily="34" charset="-122"/>
                <a:cs typeface="Segoe UI" pitchFamily="34" charset="-120"/>
              </a:rPr>
              <a:t>Mikä ei?</a:t>
            </a:r>
            <a:endParaRPr lang="en-US" sz="3600" dirty="0"/>
          </a:p>
        </p:txBody>
      </p:sp>
      <p:sp>
        <p:nvSpPr>
          <p:cNvPr id="20"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endParaRPr lang="en-US"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00 · alku</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Kuka minä olen?</a:t>
            </a:r>
            <a:endParaRPr lang="en-US" sz="3200" dirty="0"/>
          </a:p>
        </p:txBody>
      </p:sp>
      <p:pic>
        <p:nvPicPr>
          <p:cNvPr id="4" name="Image 0" descr="Juha Ala-Rantala">    </p:cNvPr>
          <p:cNvPicPr>
            <a:picLocks noChangeAspect="1"/>
          </p:cNvPicPr>
          <p:nvPr/>
        </p:nvPicPr>
        <p:blipFill>
          <a:blip r:embed="rId1"/>
          <a:stretch>
            <a:fillRect/>
          </a:stretch>
        </p:blipFill>
        <p:spPr>
          <a:xfrm>
            <a:off x="548640" y="1417320"/>
            <a:ext cx="3223260" cy="4297680"/>
          </a:xfrm>
          <a:prstGeom prst="rect">
            <a:avLst/>
          </a:prstGeom>
        </p:spPr>
      </p:pic>
      <p:sp>
        <p:nvSpPr>
          <p:cNvPr id="5" name="Text 2"/>
          <p:cNvSpPr txBox="1"/>
          <p:nvPr/>
        </p:nvSpPr>
        <p:spPr>
          <a:xfrm>
            <a:off x="4503420" y="1371600"/>
            <a:ext cx="6400800" cy="548640"/>
          </a:xfrm>
          <a:prstGeom prst="rect">
            <a:avLst/>
          </a:prstGeom>
          <a:noFill/>
          <a:ln/>
        </p:spPr>
        <p:txBody>
          <a:bodyPr wrap="square" lIns="0" tIns="0" rIns="0" bIns="0" rtlCol="0" anchor="t"/>
          <a:lstStyle/>
          <a:p>
            <a:pPr algn="l" indent="0" marL="0">
              <a:buNone/>
            </a:pPr>
            <a:r>
              <a:rPr lang="en-US" sz="2800" b="1" dirty="0">
                <a:solidFill>
                  <a:srgbClr val="111827"/>
                </a:solidFill>
                <a:latin typeface="Segoe UI" pitchFamily="34" charset="0"/>
                <a:ea typeface="Segoe UI" pitchFamily="34" charset="-122"/>
                <a:cs typeface="Segoe UI" pitchFamily="34" charset="-120"/>
              </a:rPr>
              <a:t>Juha Ala-Rantala</a:t>
            </a:r>
            <a:endParaRPr lang="en-US" sz="2800" dirty="0"/>
          </a:p>
        </p:txBody>
      </p:sp>
      <p:sp>
        <p:nvSpPr>
          <p:cNvPr id="6" name="Text 3"/>
          <p:cNvSpPr txBox="1"/>
          <p:nvPr/>
        </p:nvSpPr>
        <p:spPr>
          <a:xfrm>
            <a:off x="4503420" y="1920240"/>
            <a:ext cx="6400800" cy="320040"/>
          </a:xfrm>
          <a:prstGeom prst="rect">
            <a:avLst/>
          </a:prstGeom>
          <a:noFill/>
          <a:ln/>
        </p:spPr>
        <p:txBody>
          <a:bodyPr wrap="square" lIns="0" tIns="0" rIns="0" bIns="0" rtlCol="0" anchor="t"/>
          <a:lstStyle/>
          <a:p>
            <a:pPr algn="l" indent="0" marL="0">
              <a:buNone/>
            </a:pPr>
            <a:r>
              <a:rPr lang="en-US" sz="1400" dirty="0">
                <a:solidFill>
                  <a:srgbClr val="6B7280"/>
                </a:solidFill>
                <a:latin typeface="Consolas" pitchFamily="34" charset="0"/>
                <a:ea typeface="Consolas" pitchFamily="34" charset="-122"/>
                <a:cs typeface="Consolas" pitchFamily="34" charset="-120"/>
              </a:rPr>
              <a:t>$ git log --oneline ura</a:t>
            </a:r>
            <a:endParaRPr lang="en-US" sz="1400" dirty="0"/>
          </a:p>
        </p:txBody>
      </p:sp>
      <p:sp>
        <p:nvSpPr>
          <p:cNvPr id="7" name="Shape 4"/>
          <p:cNvSpPr/>
          <p:nvPr/>
        </p:nvSpPr>
        <p:spPr>
          <a:xfrm>
            <a:off x="4613148" y="2514600"/>
            <a:ext cx="0" cy="2103120"/>
          </a:xfrm>
          <a:prstGeom prst="line">
            <a:avLst/>
          </a:prstGeom>
          <a:noFill/>
          <a:ln w="25400">
            <a:solidFill>
              <a:srgbClr val="E5E7EB"/>
            </a:solidFill>
            <a:prstDash val="solid"/>
          </a:ln>
        </p:spPr>
      </p:sp>
      <p:sp>
        <p:nvSpPr>
          <p:cNvPr id="8" name="Shape 5"/>
          <p:cNvSpPr/>
          <p:nvPr/>
        </p:nvSpPr>
        <p:spPr>
          <a:xfrm>
            <a:off x="4521708" y="2487168"/>
            <a:ext cx="182880" cy="182880"/>
          </a:xfrm>
          <a:prstGeom prst="ellipse">
            <a:avLst/>
          </a:prstGeom>
          <a:solidFill>
            <a:srgbClr val="2563EB"/>
          </a:solidFill>
          <a:ln w="19050">
            <a:solidFill>
              <a:srgbClr val="2563EB"/>
            </a:solidFill>
            <a:prstDash val="solid"/>
          </a:ln>
        </p:spPr>
      </p:sp>
      <p:sp>
        <p:nvSpPr>
          <p:cNvPr id="9" name="Text 6"/>
          <p:cNvSpPr txBox="1"/>
          <p:nvPr/>
        </p:nvSpPr>
        <p:spPr>
          <a:xfrm>
            <a:off x="4914900" y="2377440"/>
            <a:ext cx="5943600" cy="365760"/>
          </a:xfrm>
          <a:prstGeom prst="rect">
            <a:avLst/>
          </a:prstGeom>
          <a:noFill/>
          <a:ln/>
        </p:spPr>
        <p:txBody>
          <a:bodyPr wrap="square" lIns="0" tIns="0" rIns="0" bIns="0" rtlCol="0" anchor="t"/>
          <a:lstStyle/>
          <a:p>
            <a:pPr algn="l" indent="0" marL="0">
              <a:buNone/>
            </a:pPr>
            <a:r>
              <a:rPr lang="en-US" sz="2000" b="1" dirty="0">
                <a:solidFill>
                  <a:srgbClr val="111827"/>
                </a:solidFill>
                <a:latin typeface="Segoe UI" pitchFamily="34" charset="0"/>
                <a:ea typeface="Segoe UI" pitchFamily="34" charset="-122"/>
                <a:cs typeface="Segoe UI" pitchFamily="34" charset="-120"/>
              </a:rPr>
              <a:t>Teknologiajohtaja</a:t>
            </a:r>
            <a:endParaRPr lang="en-US" sz="2000" dirty="0"/>
          </a:p>
        </p:txBody>
      </p:sp>
      <p:sp>
        <p:nvSpPr>
          <p:cNvPr id="10" name="Text 7"/>
          <p:cNvSpPr txBox="1"/>
          <p:nvPr/>
        </p:nvSpPr>
        <p:spPr>
          <a:xfrm>
            <a:off x="4914900" y="2706624"/>
            <a:ext cx="5943600" cy="274320"/>
          </a:xfrm>
          <a:prstGeom prst="rect">
            <a:avLst/>
          </a:prstGeom>
          <a:noFill/>
          <a:ln/>
        </p:spPr>
        <p:txBody>
          <a:bodyPr wrap="square" lIns="0" tIns="0" rIns="0" bIns="0" rtlCol="0" anchor="t"/>
          <a:lstStyle/>
          <a:p>
            <a:pPr algn="l" indent="0" marL="0">
              <a:buNone/>
            </a:pPr>
            <a:r>
              <a:rPr lang="en-US" sz="1300" dirty="0">
                <a:solidFill>
                  <a:srgbClr val="6B7280"/>
                </a:solidFill>
                <a:latin typeface="Consolas" pitchFamily="34" charset="0"/>
                <a:ea typeface="Consolas" pitchFamily="34" charset="-122"/>
                <a:cs typeface="Consolas" pitchFamily="34" charset="-120"/>
              </a:rPr>
              <a:t>Clevoy Oy</a:t>
            </a:r>
            <a:endParaRPr lang="en-US" sz="1300" dirty="0"/>
          </a:p>
        </p:txBody>
      </p:sp>
      <p:sp>
        <p:nvSpPr>
          <p:cNvPr id="11" name="Shape 8"/>
          <p:cNvSpPr/>
          <p:nvPr/>
        </p:nvSpPr>
        <p:spPr>
          <a:xfrm>
            <a:off x="4521708" y="3172968"/>
            <a:ext cx="182880" cy="182880"/>
          </a:xfrm>
          <a:prstGeom prst="ellipse">
            <a:avLst/>
          </a:prstGeom>
          <a:solidFill>
            <a:srgbClr val="FFFFFF"/>
          </a:solidFill>
          <a:ln w="19050">
            <a:solidFill>
              <a:srgbClr val="2563EB"/>
            </a:solidFill>
            <a:prstDash val="solid"/>
          </a:ln>
        </p:spPr>
      </p:sp>
      <p:sp>
        <p:nvSpPr>
          <p:cNvPr id="12" name="Text 9"/>
          <p:cNvSpPr txBox="1"/>
          <p:nvPr/>
        </p:nvSpPr>
        <p:spPr>
          <a:xfrm>
            <a:off x="4914900" y="3063240"/>
            <a:ext cx="5943600" cy="365760"/>
          </a:xfrm>
          <a:prstGeom prst="rect">
            <a:avLst/>
          </a:prstGeom>
          <a:noFill/>
          <a:ln/>
        </p:spPr>
        <p:txBody>
          <a:bodyPr wrap="square" lIns="0" tIns="0" rIns="0" bIns="0" rtlCol="0" anchor="t"/>
          <a:lstStyle/>
          <a:p>
            <a:pPr algn="l" indent="0" marL="0">
              <a:buNone/>
            </a:pPr>
            <a:r>
              <a:rPr lang="en-US" sz="2000" b="1" dirty="0">
                <a:solidFill>
                  <a:srgbClr val="111827"/>
                </a:solidFill>
                <a:latin typeface="Segoe UI" pitchFamily="34" charset="0"/>
                <a:ea typeface="Segoe UI" pitchFamily="34" charset="-122"/>
                <a:cs typeface="Segoe UI" pitchFamily="34" charset="-120"/>
              </a:rPr>
              <a:t>Diplomi-insinööri, tekoälytutkija</a:t>
            </a:r>
            <a:endParaRPr lang="en-US" sz="2000" dirty="0"/>
          </a:p>
        </p:txBody>
      </p:sp>
      <p:sp>
        <p:nvSpPr>
          <p:cNvPr id="13" name="Text 10"/>
          <p:cNvSpPr txBox="1"/>
          <p:nvPr/>
        </p:nvSpPr>
        <p:spPr>
          <a:xfrm>
            <a:off x="4914900" y="3392424"/>
            <a:ext cx="5943600" cy="274320"/>
          </a:xfrm>
          <a:prstGeom prst="rect">
            <a:avLst/>
          </a:prstGeom>
          <a:noFill/>
          <a:ln/>
        </p:spPr>
        <p:txBody>
          <a:bodyPr wrap="square" lIns="0" tIns="0" rIns="0" bIns="0" rtlCol="0" anchor="t"/>
          <a:lstStyle/>
          <a:p>
            <a:pPr algn="l" indent="0" marL="0">
              <a:buNone/>
            </a:pPr>
            <a:r>
              <a:rPr lang="en-US" sz="1300" dirty="0">
                <a:solidFill>
                  <a:srgbClr val="6B7280"/>
                </a:solidFill>
                <a:latin typeface="Consolas" pitchFamily="34" charset="0"/>
                <a:ea typeface="Consolas" pitchFamily="34" charset="-122"/>
                <a:cs typeface="Consolas" pitchFamily="34" charset="-120"/>
              </a:rPr>
              <a:t>Tampereen yliopisto</a:t>
            </a:r>
            <a:endParaRPr lang="en-US" sz="1300" dirty="0"/>
          </a:p>
        </p:txBody>
      </p:sp>
      <p:sp>
        <p:nvSpPr>
          <p:cNvPr id="14" name="Shape 11"/>
          <p:cNvSpPr/>
          <p:nvPr/>
        </p:nvSpPr>
        <p:spPr>
          <a:xfrm>
            <a:off x="4521708" y="3858768"/>
            <a:ext cx="182880" cy="182880"/>
          </a:xfrm>
          <a:prstGeom prst="ellipse">
            <a:avLst/>
          </a:prstGeom>
          <a:solidFill>
            <a:srgbClr val="FFFFFF"/>
          </a:solidFill>
          <a:ln w="19050">
            <a:solidFill>
              <a:srgbClr val="2563EB"/>
            </a:solidFill>
            <a:prstDash val="solid"/>
          </a:ln>
        </p:spPr>
      </p:sp>
      <p:sp>
        <p:nvSpPr>
          <p:cNvPr id="15" name="Text 12"/>
          <p:cNvSpPr txBox="1"/>
          <p:nvPr/>
        </p:nvSpPr>
        <p:spPr>
          <a:xfrm>
            <a:off x="4914900" y="3749040"/>
            <a:ext cx="5943600" cy="365760"/>
          </a:xfrm>
          <a:prstGeom prst="rect">
            <a:avLst/>
          </a:prstGeom>
          <a:noFill/>
          <a:ln/>
        </p:spPr>
        <p:txBody>
          <a:bodyPr wrap="square" lIns="0" tIns="0" rIns="0" bIns="0" rtlCol="0" anchor="t"/>
          <a:lstStyle/>
          <a:p>
            <a:pPr algn="l" indent="0" marL="0">
              <a:buNone/>
            </a:pPr>
            <a:r>
              <a:rPr lang="en-US" sz="2000" b="1" dirty="0">
                <a:solidFill>
                  <a:srgbClr val="111827"/>
                </a:solidFill>
                <a:latin typeface="Segoe UI" pitchFamily="34" charset="0"/>
                <a:ea typeface="Segoe UI" pitchFamily="34" charset="-122"/>
                <a:cs typeface="Segoe UI" pitchFamily="34" charset="-120"/>
              </a:rPr>
              <a:t>Ohjelmistokehittäjä</a:t>
            </a:r>
            <a:endParaRPr lang="en-US" sz="2000" dirty="0"/>
          </a:p>
        </p:txBody>
      </p:sp>
      <p:sp>
        <p:nvSpPr>
          <p:cNvPr id="16" name="Text 13"/>
          <p:cNvSpPr txBox="1"/>
          <p:nvPr/>
        </p:nvSpPr>
        <p:spPr>
          <a:xfrm>
            <a:off x="4914900" y="4078224"/>
            <a:ext cx="5943600" cy="274320"/>
          </a:xfrm>
          <a:prstGeom prst="rect">
            <a:avLst/>
          </a:prstGeom>
          <a:noFill/>
          <a:ln/>
        </p:spPr>
        <p:txBody>
          <a:bodyPr wrap="square" lIns="0" tIns="0" rIns="0" bIns="0" rtlCol="0" anchor="t"/>
          <a:lstStyle/>
          <a:p>
            <a:pPr algn="l" indent="0" marL="0">
              <a:buNone/>
            </a:pPr>
            <a:r>
              <a:rPr lang="en-US" sz="1300" dirty="0">
                <a:solidFill>
                  <a:srgbClr val="6B7280"/>
                </a:solidFill>
                <a:latin typeface="Consolas" pitchFamily="34" charset="0"/>
                <a:ea typeface="Consolas" pitchFamily="34" charset="-122"/>
                <a:cs typeface="Consolas" pitchFamily="34" charset="-120"/>
              </a:rPr>
              <a:t>Prima Power</a:t>
            </a:r>
            <a:endParaRPr lang="en-US" sz="1300" dirty="0"/>
          </a:p>
        </p:txBody>
      </p:sp>
      <p:sp>
        <p:nvSpPr>
          <p:cNvPr id="17" name="Shape 14"/>
          <p:cNvSpPr/>
          <p:nvPr/>
        </p:nvSpPr>
        <p:spPr>
          <a:xfrm>
            <a:off x="4521708" y="4544568"/>
            <a:ext cx="182880" cy="182880"/>
          </a:xfrm>
          <a:prstGeom prst="ellipse">
            <a:avLst/>
          </a:prstGeom>
          <a:solidFill>
            <a:srgbClr val="FFFFFF"/>
          </a:solidFill>
          <a:ln w="19050">
            <a:solidFill>
              <a:srgbClr val="2563EB"/>
            </a:solidFill>
            <a:prstDash val="solid"/>
          </a:ln>
        </p:spPr>
      </p:sp>
      <p:sp>
        <p:nvSpPr>
          <p:cNvPr id="18" name="Text 15"/>
          <p:cNvSpPr txBox="1"/>
          <p:nvPr/>
        </p:nvSpPr>
        <p:spPr>
          <a:xfrm>
            <a:off x="4914900" y="4434840"/>
            <a:ext cx="5943600" cy="365760"/>
          </a:xfrm>
          <a:prstGeom prst="rect">
            <a:avLst/>
          </a:prstGeom>
          <a:noFill/>
          <a:ln/>
        </p:spPr>
        <p:txBody>
          <a:bodyPr wrap="square" lIns="0" tIns="0" rIns="0" bIns="0" rtlCol="0" anchor="t"/>
          <a:lstStyle/>
          <a:p>
            <a:pPr algn="l" indent="0" marL="0">
              <a:buNone/>
            </a:pPr>
            <a:r>
              <a:rPr lang="en-US" sz="2000" b="1" dirty="0">
                <a:solidFill>
                  <a:srgbClr val="111827"/>
                </a:solidFill>
                <a:latin typeface="Segoe UI" pitchFamily="34" charset="0"/>
                <a:ea typeface="Segoe UI" pitchFamily="34" charset="-122"/>
                <a:cs typeface="Segoe UI" pitchFamily="34" charset="-120"/>
              </a:rPr>
              <a:t>Insinööri</a:t>
            </a:r>
            <a:endParaRPr lang="en-US" sz="2000" dirty="0"/>
          </a:p>
        </p:txBody>
      </p:sp>
      <p:sp>
        <p:nvSpPr>
          <p:cNvPr id="19" name="Text 16"/>
          <p:cNvSpPr txBox="1"/>
          <p:nvPr/>
        </p:nvSpPr>
        <p:spPr>
          <a:xfrm>
            <a:off x="4914900" y="4764024"/>
            <a:ext cx="5943600" cy="274320"/>
          </a:xfrm>
          <a:prstGeom prst="rect">
            <a:avLst/>
          </a:prstGeom>
          <a:noFill/>
          <a:ln/>
        </p:spPr>
        <p:txBody>
          <a:bodyPr wrap="square" lIns="0" tIns="0" rIns="0" bIns="0" rtlCol="0" anchor="t"/>
          <a:lstStyle/>
          <a:p>
            <a:pPr algn="l" indent="0" marL="0">
              <a:buNone/>
            </a:pPr>
            <a:r>
              <a:rPr lang="en-US" sz="1300" dirty="0">
                <a:solidFill>
                  <a:srgbClr val="6B7280"/>
                </a:solidFill>
                <a:latin typeface="Consolas" pitchFamily="34" charset="0"/>
                <a:ea typeface="Consolas" pitchFamily="34" charset="-122"/>
                <a:cs typeface="Consolas" pitchFamily="34" charset="-120"/>
              </a:rPr>
              <a:t>Seinäjoen ammattikorkeakoulu</a:t>
            </a:r>
            <a:endParaRPr lang="en-US" sz="1300" dirty="0"/>
          </a:p>
        </p:txBody>
      </p:sp>
      <p:sp>
        <p:nvSpPr>
          <p:cNvPr id="20" name="Shape 17"/>
          <p:cNvSpPr/>
          <p:nvPr/>
        </p:nvSpPr>
        <p:spPr>
          <a:xfrm>
            <a:off x="4503420" y="5120640"/>
            <a:ext cx="5120640" cy="548640"/>
          </a:xfrm>
          <a:prstGeom prst="rect">
            <a:avLst/>
          </a:prstGeom>
          <a:solidFill>
            <a:srgbClr val="DAFBE1"/>
          </a:solidFill>
          <a:ln w="12700">
            <a:solidFill>
              <a:srgbClr val="DAFBE1"/>
            </a:solidFill>
            <a:prstDash val="solid"/>
          </a:ln>
        </p:spPr>
      </p:sp>
      <p:sp>
        <p:nvSpPr>
          <p:cNvPr id="21" name="Text 18"/>
          <p:cNvSpPr txBox="1"/>
          <p:nvPr/>
        </p:nvSpPr>
        <p:spPr>
          <a:xfrm>
            <a:off x="4613148" y="5120640"/>
            <a:ext cx="274320" cy="548640"/>
          </a:xfrm>
          <a:prstGeom prst="rect">
            <a:avLst/>
          </a:prstGeom>
          <a:noFill/>
          <a:ln/>
        </p:spPr>
        <p:txBody>
          <a:bodyPr wrap="square" lIns="0" tIns="0" rIns="0" bIns="0" rtlCol="0" anchor="ctr"/>
          <a:lstStyle/>
          <a:p>
            <a:pPr algn="l" indent="0" marL="0">
              <a:buNone/>
            </a:pPr>
            <a:r>
              <a:rPr lang="en-US" sz="2200" b="1" dirty="0">
                <a:solidFill>
                  <a:srgbClr val="1A7F37"/>
                </a:solidFill>
                <a:latin typeface="Consolas" pitchFamily="34" charset="0"/>
                <a:ea typeface="Consolas" pitchFamily="34" charset="-122"/>
                <a:cs typeface="Consolas" pitchFamily="34" charset="-120"/>
              </a:rPr>
              <a:t>+</a:t>
            </a:r>
            <a:endParaRPr lang="en-US" sz="2200" dirty="0"/>
          </a:p>
        </p:txBody>
      </p:sp>
      <p:sp>
        <p:nvSpPr>
          <p:cNvPr id="22" name="Text 19"/>
          <p:cNvSpPr txBox="1"/>
          <p:nvPr/>
        </p:nvSpPr>
        <p:spPr>
          <a:xfrm>
            <a:off x="4914900" y="5120640"/>
            <a:ext cx="4572000" cy="548640"/>
          </a:xfrm>
          <a:prstGeom prst="rect">
            <a:avLst/>
          </a:prstGeom>
          <a:noFill/>
          <a:ln/>
        </p:spPr>
        <p:txBody>
          <a:bodyPr wrap="square" lIns="0" tIns="0" rIns="0" bIns="0" rtlCol="0" anchor="ctr"/>
          <a:lstStyle/>
          <a:p>
            <a:pPr algn="l" indent="0" marL="0">
              <a:buNone/>
            </a:pPr>
            <a:r>
              <a:rPr lang="en-US" sz="2200" b="1" dirty="0">
                <a:solidFill>
                  <a:srgbClr val="111827"/>
                </a:solidFill>
                <a:latin typeface="Segoe UI" pitchFamily="34" charset="0"/>
                <a:ea typeface="Segoe UI" pitchFamily="34" charset="-122"/>
                <a:cs typeface="Segoe UI" pitchFamily="34" charset="-120"/>
              </a:rPr>
              <a:t>Moon härmästä.</a:t>
            </a:r>
            <a:endParaRPr lang="en-US" sz="2200" dirty="0"/>
          </a:p>
        </p:txBody>
      </p:sp>
      <p:sp>
        <p:nvSpPr>
          <p:cNvPr id="2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endParaRPr lang="en-US"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00 · alku</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Kaksi vuotta sitten kysyimme täällä eri kysymystä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2022 → 2024 → 2026</a:t>
            </a:r>
            <a:endParaRPr lang="en-US" sz="1800" dirty="0"/>
          </a:p>
        </p:txBody>
      </p:sp>
      <p:sp>
        <p:nvSpPr>
          <p:cNvPr id="5" name="Shape 3"/>
          <p:cNvSpPr/>
          <p:nvPr/>
        </p:nvSpPr>
        <p:spPr>
          <a:xfrm>
            <a:off x="640080" y="2514600"/>
            <a:ext cx="10607040" cy="0"/>
          </a:xfrm>
          <a:prstGeom prst="line">
            <a:avLst/>
          </a:prstGeom>
          <a:noFill/>
          <a:ln w="25400">
            <a:solidFill>
              <a:srgbClr val="E5E7EB"/>
            </a:solidFill>
            <a:prstDash val="solid"/>
          </a:ln>
        </p:spPr>
      </p:sp>
      <p:sp>
        <p:nvSpPr>
          <p:cNvPr id="6" name="Shape 4"/>
          <p:cNvSpPr/>
          <p:nvPr/>
        </p:nvSpPr>
        <p:spPr>
          <a:xfrm>
            <a:off x="548640" y="2395728"/>
            <a:ext cx="237744" cy="237744"/>
          </a:xfrm>
          <a:prstGeom prst="ellipse">
            <a:avLst/>
          </a:prstGeom>
          <a:solidFill>
            <a:srgbClr val="FFFFFF"/>
          </a:solidFill>
          <a:ln w="25400">
            <a:solidFill>
              <a:srgbClr val="2563EB"/>
            </a:solidFill>
            <a:prstDash val="solid"/>
          </a:ln>
        </p:spPr>
      </p:sp>
      <p:sp>
        <p:nvSpPr>
          <p:cNvPr id="7" name="Text 5"/>
          <p:cNvSpPr txBox="1"/>
          <p:nvPr/>
        </p:nvSpPr>
        <p:spPr>
          <a:xfrm>
            <a:off x="548640" y="1828800"/>
            <a:ext cx="3474720" cy="41148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2022</a:t>
            </a:r>
            <a:endParaRPr lang="en-US" sz="1800" dirty="0"/>
          </a:p>
        </p:txBody>
      </p:sp>
      <p:sp>
        <p:nvSpPr>
          <p:cNvPr id="8" name="Text 6"/>
          <p:cNvSpPr txBox="1"/>
          <p:nvPr/>
        </p:nvSpPr>
        <p:spPr>
          <a:xfrm>
            <a:off x="548640" y="2834640"/>
            <a:ext cx="3383280" cy="1188720"/>
          </a:xfrm>
          <a:prstGeom prst="rect">
            <a:avLst/>
          </a:prstGeom>
          <a:noFill/>
          <a:ln/>
        </p:spPr>
        <p:txBody>
          <a:bodyPr wrap="square" lIns="0" tIns="0" rIns="0" bIns="0" rtlCol="0" anchor="t"/>
          <a:lstStyle/>
          <a:p>
            <a:pPr algn="l" indent="0" marL="0">
              <a:buNone/>
            </a:pPr>
            <a:r>
              <a:rPr lang="en-US" sz="2000" b="1" dirty="0">
                <a:solidFill>
                  <a:srgbClr val="111827"/>
                </a:solidFill>
                <a:latin typeface="Segoe UI" pitchFamily="34" charset="0"/>
                <a:ea typeface="Segoe UI" pitchFamily="34" charset="-122"/>
                <a:cs typeface="Segoe UI" pitchFamily="34" charset="-120"/>
              </a:rPr>
              <a:t>Kone täydentää rivin.</a:t>
            </a:r>
            <a:endParaRPr lang="en-US" sz="2000" dirty="0"/>
          </a:p>
        </p:txBody>
      </p:sp>
      <p:sp>
        <p:nvSpPr>
          <p:cNvPr id="9" name="Shape 7"/>
          <p:cNvSpPr/>
          <p:nvPr/>
        </p:nvSpPr>
        <p:spPr>
          <a:xfrm>
            <a:off x="4343400" y="2395728"/>
            <a:ext cx="237744" cy="237744"/>
          </a:xfrm>
          <a:prstGeom prst="ellipse">
            <a:avLst/>
          </a:prstGeom>
          <a:solidFill>
            <a:srgbClr val="FFFFFF"/>
          </a:solidFill>
          <a:ln w="25400">
            <a:solidFill>
              <a:srgbClr val="2563EB"/>
            </a:solidFill>
            <a:prstDash val="solid"/>
          </a:ln>
        </p:spPr>
      </p:sp>
      <p:sp>
        <p:nvSpPr>
          <p:cNvPr id="10" name="Text 8"/>
          <p:cNvSpPr txBox="1"/>
          <p:nvPr/>
        </p:nvSpPr>
        <p:spPr>
          <a:xfrm>
            <a:off x="4343400" y="1828800"/>
            <a:ext cx="3474720" cy="41148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Joulukuu 2024</a:t>
            </a:r>
            <a:endParaRPr lang="en-US" sz="1800" dirty="0"/>
          </a:p>
        </p:txBody>
      </p:sp>
      <p:sp>
        <p:nvSpPr>
          <p:cNvPr id="11" name="Text 9"/>
          <p:cNvSpPr txBox="1"/>
          <p:nvPr/>
        </p:nvSpPr>
        <p:spPr>
          <a:xfrm>
            <a:off x="4343400" y="2834640"/>
            <a:ext cx="3383280" cy="1188720"/>
          </a:xfrm>
          <a:prstGeom prst="rect">
            <a:avLst/>
          </a:prstGeom>
          <a:noFill/>
          <a:ln/>
        </p:spPr>
        <p:txBody>
          <a:bodyPr wrap="square" lIns="0" tIns="0" rIns="0" bIns="0" rtlCol="0" anchor="t"/>
          <a:lstStyle/>
          <a:p>
            <a:pPr algn="l" indent="0" marL="0">
              <a:buNone/>
            </a:pPr>
            <a:r>
              <a:rPr lang="en-US" sz="2000" b="1" dirty="0">
                <a:solidFill>
                  <a:srgbClr val="111827"/>
                </a:solidFill>
                <a:latin typeface="Segoe UI" pitchFamily="34" charset="0"/>
                <a:ea typeface="Segoe UI" pitchFamily="34" charset="-122"/>
                <a:cs typeface="Segoe UI" pitchFamily="34" charset="-120"/>
              </a:rPr>
              <a:t>”Saako paikallisen mallin auttamaan koodauksessa?”</a:t>
            </a:r>
            <a:endParaRPr lang="en-US" sz="2000" dirty="0"/>
          </a:p>
        </p:txBody>
      </p:sp>
      <p:sp>
        <p:nvSpPr>
          <p:cNvPr id="12" name="Text 10"/>
          <p:cNvSpPr txBox="1"/>
          <p:nvPr/>
        </p:nvSpPr>
        <p:spPr>
          <a:xfrm>
            <a:off x="4343400" y="4023360"/>
            <a:ext cx="3383280" cy="548640"/>
          </a:xfrm>
          <a:prstGeom prst="rect">
            <a:avLst/>
          </a:prstGeom>
          <a:noFill/>
          <a:ln/>
        </p:spPr>
        <p:txBody>
          <a:bodyPr wrap="square" lIns="0" tIns="0" rIns="0" bIns="0" rtlCol="0" anchor="t"/>
          <a:lstStyle/>
          <a:p>
            <a:pPr algn="l" indent="0" marL="0">
              <a:buNone/>
            </a:pPr>
            <a:r>
              <a:rPr lang="en-US" sz="1200" dirty="0">
                <a:solidFill>
                  <a:srgbClr val="6B7280"/>
                </a:solidFill>
                <a:latin typeface="Consolas" pitchFamily="34" charset="0"/>
                <a:ea typeface="Consolas" pitchFamily="34" charset="-122"/>
                <a:cs typeface="Consolas" pitchFamily="34" charset="-120"/>
              </a:rPr>
              <a:t>Lakeus-Devaus: Paikalliset koodaavat kielimallit</a:t>
            </a:r>
            <a:endParaRPr lang="en-US" sz="1200" dirty="0"/>
          </a:p>
        </p:txBody>
      </p:sp>
      <p:sp>
        <p:nvSpPr>
          <p:cNvPr id="13" name="Shape 11"/>
          <p:cNvSpPr/>
          <p:nvPr/>
        </p:nvSpPr>
        <p:spPr>
          <a:xfrm>
            <a:off x="8138160" y="2395728"/>
            <a:ext cx="237744" cy="237744"/>
          </a:xfrm>
          <a:prstGeom prst="ellipse">
            <a:avLst/>
          </a:prstGeom>
          <a:solidFill>
            <a:srgbClr val="2563EB"/>
          </a:solidFill>
          <a:ln w="25400">
            <a:solidFill>
              <a:srgbClr val="2563EB"/>
            </a:solidFill>
            <a:prstDash val="solid"/>
          </a:ln>
        </p:spPr>
      </p:sp>
      <p:sp>
        <p:nvSpPr>
          <p:cNvPr id="14" name="Text 12"/>
          <p:cNvSpPr txBox="1"/>
          <p:nvPr/>
        </p:nvSpPr>
        <p:spPr>
          <a:xfrm>
            <a:off x="8138160" y="1828800"/>
            <a:ext cx="3474720" cy="41148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2026</a:t>
            </a:r>
            <a:endParaRPr lang="en-US" sz="1800" dirty="0"/>
          </a:p>
        </p:txBody>
      </p:sp>
      <p:sp>
        <p:nvSpPr>
          <p:cNvPr id="15" name="Text 13"/>
          <p:cNvSpPr txBox="1"/>
          <p:nvPr/>
        </p:nvSpPr>
        <p:spPr>
          <a:xfrm>
            <a:off x="8138160" y="2834640"/>
            <a:ext cx="3383280" cy="1188720"/>
          </a:xfrm>
          <a:prstGeom prst="rect">
            <a:avLst/>
          </a:prstGeom>
          <a:noFill/>
          <a:ln/>
        </p:spPr>
        <p:txBody>
          <a:bodyPr wrap="square" lIns="0" tIns="0" rIns="0" bIns="0" rtlCol="0" anchor="t"/>
          <a:lstStyle/>
          <a:p>
            <a:pPr algn="l" indent="0" marL="0">
              <a:buNone/>
            </a:pPr>
            <a:r>
              <a:rPr lang="en-US" sz="2000" b="1" dirty="0">
                <a:solidFill>
                  <a:srgbClr val="111827"/>
                </a:solidFill>
                <a:latin typeface="Segoe UI" pitchFamily="34" charset="0"/>
                <a:ea typeface="Segoe UI" pitchFamily="34" charset="-122"/>
                <a:cs typeface="Segoe UI" pitchFamily="34" charset="-120"/>
              </a:rPr>
              <a:t>”Kuinka ison tehtävän uskallamme antaa agentille?”</a:t>
            </a:r>
            <a:endParaRPr lang="en-US" sz="2000" dirty="0"/>
          </a:p>
        </p:txBody>
      </p:sp>
      <p:sp>
        <p:nvSpPr>
          <p:cNvPr id="16" name="Shape 14"/>
          <p:cNvSpPr/>
          <p:nvPr/>
        </p:nvSpPr>
        <p:spPr>
          <a:xfrm>
            <a:off x="4343400" y="4572000"/>
            <a:ext cx="3291840" cy="777240"/>
          </a:xfrm>
          <a:prstGeom prst="roundRect">
            <a:avLst>
              <a:gd name="adj" fmla="val 9412"/>
            </a:avLst>
          </a:prstGeom>
          <a:solidFill>
            <a:srgbClr val="F3F4F6"/>
          </a:solidFill>
          <a:ln w="12700">
            <a:solidFill>
              <a:srgbClr val="9CA3AF"/>
            </a:solidFill>
            <a:prstDash val="dash"/>
          </a:ln>
        </p:spPr>
      </p:sp>
      <p:sp>
        <p:nvSpPr>
          <p:cNvPr id="17" name="Text 15"/>
          <p:cNvSpPr txBox="1"/>
          <p:nvPr/>
        </p:nvSpPr>
        <p:spPr>
          <a:xfrm>
            <a:off x="4434840" y="4617720"/>
            <a:ext cx="3108960" cy="685800"/>
          </a:xfrm>
          <a:prstGeom prst="rect">
            <a:avLst/>
          </a:prstGeom>
          <a:noFill/>
          <a:ln/>
        </p:spPr>
        <p:txBody>
          <a:bodyPr wrap="square" lIns="0" tIns="0" rIns="0" bIns="0" rtlCol="0" anchor="ctr"/>
          <a:lstStyle/>
          <a:p>
            <a:pPr algn="ctr" indent="0" marL="0">
              <a:buNone/>
            </a:pPr>
            <a:r>
              <a:rPr lang="en-US" sz="1000" dirty="0">
                <a:solidFill>
                  <a:srgbClr val="6B7280"/>
                </a:solidFill>
                <a:latin typeface="Consolas" pitchFamily="34" charset="0"/>
                <a:ea typeface="Consolas" pitchFamily="34" charset="-122"/>
                <a:cs typeface="Consolas" pitchFamily="34" charset="-120"/>
              </a:rPr>
              <a:t>[kuvakaappaus: tapahtuman julkaisu Lakeus-Devaus-sivustolla]</a:t>
            </a:r>
            <a:endParaRPr lang="en-US" sz="1000" dirty="0"/>
          </a:p>
        </p:txBody>
      </p:sp>
      <p:sp>
        <p:nvSpPr>
          <p:cNvPr id="18"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Ja kuka tarkistaa, mitä sieltä tulee takaisin?</a:t>
            </a:r>
            <a:endParaRPr lang="en-US" sz="2000" dirty="0"/>
          </a:p>
        </p:txBody>
      </p:sp>
      <p:sp>
        <p:nvSpPr>
          <p:cNvPr id="19"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Lakeus-Devaus: Paikalliset koodaavat kielimallit (tapahtuma 12/2024, julkaistu sivustolla 2025).</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00 · alku</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Kysy vai delegoi?</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Sama työkalu, kaksi eri pyyntöä</a:t>
            </a:r>
            <a:endParaRPr lang="en-US" sz="1800" dirty="0"/>
          </a:p>
        </p:txBody>
      </p:sp>
      <p:sp>
        <p:nvSpPr>
          <p:cNvPr id="5" name="Kortti"/>
          <p:cNvSpPr/>
          <p:nvPr/>
        </p:nvSpPr>
        <p:spPr>
          <a:xfrm>
            <a:off x="548640" y="1828800"/>
            <a:ext cx="5349240" cy="3383280"/>
          </a:xfrm>
          <a:prstGeom prst="roundRect">
            <a:avLst>
              <a:gd name="adj" fmla="val 2703"/>
            </a:avLst>
          </a:prstGeom>
          <a:solidFill>
            <a:srgbClr val="FFFFFF"/>
          </a:solidFill>
          <a:ln w="12700">
            <a:solidFill>
              <a:srgbClr val="E5E7EB"/>
            </a:solidFill>
            <a:prstDash val="solid"/>
          </a:ln>
        </p:spPr>
      </p:sp>
      <p:sp>
        <p:nvSpPr>
          <p:cNvPr id="6" name="Shape 4"/>
          <p:cNvSpPr/>
          <p:nvPr/>
        </p:nvSpPr>
        <p:spPr>
          <a:xfrm>
            <a:off x="868680" y="2103120"/>
            <a:ext cx="731520" cy="731520"/>
          </a:xfrm>
          <a:prstGeom prst="ellipse">
            <a:avLst/>
          </a:prstGeom>
          <a:solidFill>
            <a:srgbClr val="EFF6FF"/>
          </a:solidFill>
          <a:ln w="12700">
            <a:solidFill>
              <a:srgbClr val="EFF6FF"/>
            </a:solidFill>
            <a:prstDash val="solid"/>
          </a:ln>
        </p:spPr>
      </p:sp>
      <p:pic>
        <p:nvPicPr>
          <p:cNvPr id="7" name="Image 0" descr="preencoded.png">    </p:cNvPr>
          <p:cNvPicPr>
            <a:picLocks noChangeAspect="1"/>
          </p:cNvPicPr>
          <p:nvPr/>
        </p:nvPicPr>
        <p:blipFill>
          <a:blip r:embed="rId1"/>
          <a:stretch>
            <a:fillRect/>
          </a:stretch>
        </p:blipFill>
        <p:spPr>
          <a:xfrm>
            <a:off x="1044245" y="2278685"/>
            <a:ext cx="380390" cy="380390"/>
          </a:xfrm>
          <a:prstGeom prst="rect">
            <a:avLst/>
          </a:prstGeom>
        </p:spPr>
      </p:pic>
      <p:sp>
        <p:nvSpPr>
          <p:cNvPr id="8" name="Text 5"/>
          <p:cNvSpPr txBox="1"/>
          <p:nvPr/>
        </p:nvSpPr>
        <p:spPr>
          <a:xfrm>
            <a:off x="1783080" y="2103120"/>
            <a:ext cx="3657600" cy="731520"/>
          </a:xfrm>
          <a:prstGeom prst="rect">
            <a:avLst/>
          </a:prstGeom>
          <a:noFill/>
          <a:ln/>
        </p:spPr>
        <p:txBody>
          <a:bodyPr wrap="square" lIns="0" tIns="0" rIns="0" bIns="0" rtlCol="0" anchor="ctr"/>
          <a:lstStyle/>
          <a:p>
            <a:pPr algn="l" indent="0" marL="0">
              <a:buNone/>
            </a:pPr>
            <a:r>
              <a:rPr lang="en-US" sz="3000" b="1" dirty="0">
                <a:solidFill>
                  <a:srgbClr val="2563EB"/>
                </a:solidFill>
                <a:latin typeface="Segoe UI" pitchFamily="34" charset="0"/>
                <a:ea typeface="Segoe UI" pitchFamily="34" charset="-122"/>
                <a:cs typeface="Segoe UI" pitchFamily="34" charset="-120"/>
              </a:rPr>
              <a:t>Kysy</a:t>
            </a:r>
            <a:endParaRPr lang="en-US" sz="3000" dirty="0"/>
          </a:p>
        </p:txBody>
      </p:sp>
      <p:sp>
        <p:nvSpPr>
          <p:cNvPr id="9" name="Text 6"/>
          <p:cNvSpPr txBox="1"/>
          <p:nvPr/>
        </p:nvSpPr>
        <p:spPr>
          <a:xfrm>
            <a:off x="868680" y="3017520"/>
            <a:ext cx="4709160" cy="1188720"/>
          </a:xfrm>
          <a:prstGeom prst="rect">
            <a:avLst/>
          </a:prstGeom>
          <a:noFill/>
          <a:ln/>
        </p:spPr>
        <p:txBody>
          <a:bodyPr wrap="square" lIns="0" tIns="0" rIns="0" bIns="0" rtlCol="0" anchor="ctr"/>
          <a:lstStyle/>
          <a:p>
            <a:pPr algn="l" indent="0" marL="0">
              <a:buNone/>
            </a:pPr>
            <a:r>
              <a:rPr lang="en-US" sz="2200" b="1" dirty="0">
                <a:solidFill>
                  <a:srgbClr val="111827"/>
                </a:solidFill>
                <a:latin typeface="Segoe UI" pitchFamily="34" charset="0"/>
                <a:ea typeface="Segoe UI" pitchFamily="34" charset="-122"/>
                <a:cs typeface="Segoe UI" pitchFamily="34" charset="-120"/>
              </a:rPr>
              <a:t>”Selitä, miten osoitteen tallennus toimii.”</a:t>
            </a:r>
            <a:endParaRPr lang="en-US" sz="2200" dirty="0"/>
          </a:p>
        </p:txBody>
      </p:sp>
      <p:sp>
        <p:nvSpPr>
          <p:cNvPr id="10" name="Text 7"/>
          <p:cNvSpPr txBox="1"/>
          <p:nvPr/>
        </p:nvSpPr>
        <p:spPr>
          <a:xfrm>
            <a:off x="868680" y="4389120"/>
            <a:ext cx="4709160" cy="457200"/>
          </a:xfrm>
          <a:prstGeom prst="rect">
            <a:avLst/>
          </a:prstGeom>
          <a:noFill/>
          <a:ln/>
        </p:spPr>
        <p:txBody>
          <a:bodyPr wrap="square" lIns="0" tIns="0" rIns="0" bIns="0" rtlCol="0" anchor="t"/>
          <a:lstStyle/>
          <a:p>
            <a:pPr algn="l" indent="0" marL="0">
              <a:buNone/>
            </a:pPr>
            <a:r>
              <a:rPr lang="en-US" sz="1600" dirty="0">
                <a:solidFill>
                  <a:srgbClr val="6B7280"/>
                </a:solidFill>
                <a:latin typeface="Consolas" pitchFamily="34" charset="0"/>
                <a:ea typeface="Consolas" pitchFamily="34" charset="-122"/>
                <a:cs typeface="Consolas" pitchFamily="34" charset="-120"/>
              </a:rPr>
              <a:t>→ saat selityksen</a:t>
            </a:r>
            <a:endParaRPr lang="en-US" sz="1600" dirty="0"/>
          </a:p>
        </p:txBody>
      </p:sp>
      <p:sp>
        <p:nvSpPr>
          <p:cNvPr id="11" name="Kortti"/>
          <p:cNvSpPr/>
          <p:nvPr/>
        </p:nvSpPr>
        <p:spPr>
          <a:xfrm>
            <a:off x="6263640" y="1828800"/>
            <a:ext cx="5349240" cy="3383280"/>
          </a:xfrm>
          <a:prstGeom prst="roundRect">
            <a:avLst>
              <a:gd name="adj" fmla="val 2703"/>
            </a:avLst>
          </a:prstGeom>
          <a:solidFill>
            <a:srgbClr val="FFFFFF"/>
          </a:solidFill>
          <a:ln w="12700">
            <a:solidFill>
              <a:srgbClr val="E5E7EB"/>
            </a:solidFill>
            <a:prstDash val="solid"/>
          </a:ln>
        </p:spPr>
      </p:sp>
      <p:sp>
        <p:nvSpPr>
          <p:cNvPr id="12" name="Shape 9"/>
          <p:cNvSpPr/>
          <p:nvPr/>
        </p:nvSpPr>
        <p:spPr>
          <a:xfrm>
            <a:off x="6583680" y="2103120"/>
            <a:ext cx="731520" cy="731520"/>
          </a:xfrm>
          <a:prstGeom prst="ellipse">
            <a:avLst/>
          </a:prstGeom>
          <a:solidFill>
            <a:srgbClr val="EFF6FF"/>
          </a:solidFill>
          <a:ln w="12700">
            <a:solidFill>
              <a:srgbClr val="EFF6FF"/>
            </a:solidFill>
            <a:prstDash val="solid"/>
          </a:ln>
        </p:spPr>
      </p:sp>
      <p:pic>
        <p:nvPicPr>
          <p:cNvPr id="13" name="Image 1" descr="preencoded.png">    </p:cNvPr>
          <p:cNvPicPr>
            <a:picLocks noChangeAspect="1"/>
          </p:cNvPicPr>
          <p:nvPr/>
        </p:nvPicPr>
        <p:blipFill>
          <a:blip r:embed="rId2"/>
          <a:stretch>
            <a:fillRect/>
          </a:stretch>
        </p:blipFill>
        <p:spPr>
          <a:xfrm>
            <a:off x="6759245" y="2278685"/>
            <a:ext cx="380390" cy="380390"/>
          </a:xfrm>
          <a:prstGeom prst="rect">
            <a:avLst/>
          </a:prstGeom>
        </p:spPr>
      </p:pic>
      <p:sp>
        <p:nvSpPr>
          <p:cNvPr id="14" name="Text 10"/>
          <p:cNvSpPr txBox="1"/>
          <p:nvPr/>
        </p:nvSpPr>
        <p:spPr>
          <a:xfrm>
            <a:off x="7498080" y="2103120"/>
            <a:ext cx="3657600" cy="731520"/>
          </a:xfrm>
          <a:prstGeom prst="rect">
            <a:avLst/>
          </a:prstGeom>
          <a:noFill/>
          <a:ln/>
        </p:spPr>
        <p:txBody>
          <a:bodyPr wrap="square" lIns="0" tIns="0" rIns="0" bIns="0" rtlCol="0" anchor="ctr"/>
          <a:lstStyle/>
          <a:p>
            <a:pPr algn="l" indent="0" marL="0">
              <a:buNone/>
            </a:pPr>
            <a:r>
              <a:rPr lang="en-US" sz="3000" b="1" dirty="0">
                <a:solidFill>
                  <a:srgbClr val="2563EB"/>
                </a:solidFill>
                <a:latin typeface="Segoe UI" pitchFamily="34" charset="0"/>
                <a:ea typeface="Segoe UI" pitchFamily="34" charset="-122"/>
                <a:cs typeface="Segoe UI" pitchFamily="34" charset="-120"/>
              </a:rPr>
              <a:t>Delegoi</a:t>
            </a:r>
            <a:endParaRPr lang="en-US" sz="3000" dirty="0"/>
          </a:p>
        </p:txBody>
      </p:sp>
      <p:sp>
        <p:nvSpPr>
          <p:cNvPr id="15" name="Text 11"/>
          <p:cNvSpPr txBox="1"/>
          <p:nvPr/>
        </p:nvSpPr>
        <p:spPr>
          <a:xfrm>
            <a:off x="6583680" y="3017520"/>
            <a:ext cx="4709160" cy="1188720"/>
          </a:xfrm>
          <a:prstGeom prst="rect">
            <a:avLst/>
          </a:prstGeom>
          <a:noFill/>
          <a:ln/>
        </p:spPr>
        <p:txBody>
          <a:bodyPr wrap="square" lIns="0" tIns="0" rIns="0" bIns="0" rtlCol="0" anchor="ctr"/>
          <a:lstStyle/>
          <a:p>
            <a:pPr algn="l" indent="0" marL="0">
              <a:buNone/>
            </a:pPr>
            <a:r>
              <a:rPr lang="en-US" sz="2200" b="1" dirty="0">
                <a:solidFill>
                  <a:srgbClr val="111827"/>
                </a:solidFill>
                <a:latin typeface="Segoe UI" pitchFamily="34" charset="0"/>
                <a:ea typeface="Segoe UI" pitchFamily="34" charset="-122"/>
                <a:cs typeface="Segoe UI" pitchFamily="34" charset="-120"/>
              </a:rPr>
              <a:t>”Toista virhe. Korjaa syy. Näytä, että tallennus toimii.”</a:t>
            </a:r>
            <a:endParaRPr lang="en-US" sz="2200" dirty="0"/>
          </a:p>
        </p:txBody>
      </p:sp>
      <p:sp>
        <p:nvSpPr>
          <p:cNvPr id="16" name="Text 12"/>
          <p:cNvSpPr txBox="1"/>
          <p:nvPr/>
        </p:nvSpPr>
        <p:spPr>
          <a:xfrm>
            <a:off x="6583680" y="4389120"/>
            <a:ext cx="4709160" cy="457200"/>
          </a:xfrm>
          <a:prstGeom prst="rect">
            <a:avLst/>
          </a:prstGeom>
          <a:noFill/>
          <a:ln/>
        </p:spPr>
        <p:txBody>
          <a:bodyPr wrap="square" lIns="0" tIns="0" rIns="0" bIns="0" rtlCol="0" anchor="t"/>
          <a:lstStyle/>
          <a:p>
            <a:pPr algn="l" indent="0" marL="0">
              <a:buNone/>
            </a:pPr>
            <a:r>
              <a:rPr lang="en-US" sz="1600" dirty="0">
                <a:solidFill>
                  <a:srgbClr val="6B7280"/>
                </a:solidFill>
                <a:latin typeface="Consolas" pitchFamily="34" charset="0"/>
                <a:ea typeface="Consolas" pitchFamily="34" charset="-122"/>
                <a:cs typeface="Consolas" pitchFamily="34" charset="-120"/>
              </a:rPr>
              <a:t>→ saat muutoksen ja näytön</a:t>
            </a:r>
            <a:endParaRPr lang="en-US" sz="1600" dirty="0"/>
          </a:p>
        </p:txBody>
      </p:sp>
      <p:sp>
        <p:nvSpPr>
          <p:cNvPr id="17"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Kumpia sinä teet useammin?</a:t>
            </a:r>
            <a:endParaRPr lang="en-US" sz="20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00 · alku</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Kysytään yleisöltä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Missä tämä huone on AI:n ja ohjelmistokehityksen kanssa?</a:t>
            </a:r>
            <a:endParaRPr lang="en-US" sz="1800" dirty="0"/>
          </a:p>
        </p:txBody>
      </p:sp>
      <p:sp>
        <p:nvSpPr>
          <p:cNvPr id="5" name="Shape 3"/>
          <p:cNvSpPr/>
          <p:nvPr/>
        </p:nvSpPr>
        <p:spPr>
          <a:xfrm>
            <a:off x="1463040" y="2011680"/>
            <a:ext cx="2743200" cy="2743200"/>
          </a:xfrm>
          <a:prstGeom prst="ellipse">
            <a:avLst/>
          </a:prstGeom>
          <a:solidFill>
            <a:srgbClr val="EFF6FF"/>
          </a:solidFill>
          <a:ln w="12700">
            <a:solidFill>
              <a:srgbClr val="EFF6FF"/>
            </a:solidFill>
            <a:prstDash val="solid"/>
          </a:ln>
        </p:spPr>
      </p:sp>
      <p:pic>
        <p:nvPicPr>
          <p:cNvPr id="6" name="Image 0" descr="preencoded.png">    </p:cNvPr>
          <p:cNvPicPr>
            <a:picLocks noChangeAspect="1"/>
          </p:cNvPicPr>
          <p:nvPr/>
        </p:nvPicPr>
        <p:blipFill>
          <a:blip r:embed="rId1"/>
          <a:stretch>
            <a:fillRect/>
          </a:stretch>
        </p:blipFill>
        <p:spPr>
          <a:xfrm>
            <a:off x="2121408" y="2670048"/>
            <a:ext cx="1426464" cy="1426464"/>
          </a:xfrm>
          <a:prstGeom prst="rect">
            <a:avLst/>
          </a:prstGeom>
        </p:spPr>
      </p:pic>
      <p:sp>
        <p:nvSpPr>
          <p:cNvPr id="7" name="Kortti"/>
          <p:cNvSpPr/>
          <p:nvPr/>
        </p:nvSpPr>
        <p:spPr>
          <a:xfrm>
            <a:off x="6949440" y="1783080"/>
            <a:ext cx="4206240" cy="4206240"/>
          </a:xfrm>
          <a:prstGeom prst="roundRect">
            <a:avLst>
              <a:gd name="adj" fmla="val 2174"/>
            </a:avLst>
          </a:prstGeom>
          <a:solidFill>
            <a:srgbClr val="FFFFFF"/>
          </a:solidFill>
          <a:ln w="12700">
            <a:solidFill>
              <a:srgbClr val="E5E7EB"/>
            </a:solidFill>
            <a:prstDash val="solid"/>
          </a:ln>
        </p:spPr>
      </p:sp>
      <p:pic>
        <p:nvPicPr>
          <p:cNvPr id="8" name="Image 1" descr="/Users/koodattu/Documents/GitHub/lakeus-devaus-2026/output/v3/assets/qr-gallup.png">    </p:cNvPr>
          <p:cNvPicPr>
            <a:picLocks noChangeAspect="1"/>
          </p:cNvPicPr>
          <p:nvPr/>
        </p:nvPicPr>
        <p:blipFill>
          <a:blip r:embed="rId2"/>
          <a:stretch>
            <a:fillRect/>
          </a:stretch>
        </p:blipFill>
        <p:spPr>
          <a:xfrm>
            <a:off x="7452360" y="1965960"/>
            <a:ext cx="3200400" cy="3200400"/>
          </a:xfrm>
          <a:prstGeom prst="rect">
            <a:avLst/>
          </a:prstGeom>
        </p:spPr>
      </p:pic>
      <p:sp>
        <p:nvSpPr>
          <p:cNvPr id="9" name="Text 5"/>
          <p:cNvSpPr txBox="1"/>
          <p:nvPr/>
        </p:nvSpPr>
        <p:spPr>
          <a:xfrm>
            <a:off x="6949440" y="5257800"/>
            <a:ext cx="4206240" cy="411480"/>
          </a:xfrm>
          <a:prstGeom prst="rect">
            <a:avLst/>
          </a:prstGeom>
          <a:noFill/>
          <a:ln/>
        </p:spPr>
        <p:txBody>
          <a:bodyPr wrap="square" lIns="0" tIns="0" rIns="0" bIns="0" rtlCol="0" anchor="ctr"/>
          <a:lstStyle/>
          <a:p>
            <a:pPr algn="ctr" indent="0" marL="0">
              <a:buNone/>
            </a:pPr>
            <a:r>
              <a:rPr lang="en-US" sz="2000" b="1" dirty="0">
                <a:solidFill>
                  <a:srgbClr val="111827"/>
                </a:solidFill>
                <a:latin typeface="Consolas" pitchFamily="34" charset="0"/>
                <a:ea typeface="Consolas" pitchFamily="34" charset="-122"/>
                <a:cs typeface="Consolas" pitchFamily="34" charset="-120"/>
              </a:rPr>
              <a:t>gallup.koodattu.dev</a:t>
            </a:r>
            <a:endParaRPr lang="en-US" sz="2000" dirty="0"/>
          </a:p>
        </p:txBody>
      </p:sp>
      <p:sp>
        <p:nvSpPr>
          <p:cNvPr id="10" name="Text 6"/>
          <p:cNvSpPr txBox="1"/>
          <p:nvPr/>
        </p:nvSpPr>
        <p:spPr>
          <a:xfrm>
            <a:off x="822960" y="5120640"/>
            <a:ext cx="4937760" cy="411480"/>
          </a:xfrm>
          <a:prstGeom prst="rect">
            <a:avLst/>
          </a:prstGeom>
          <a:noFill/>
          <a:ln/>
        </p:spPr>
        <p:txBody>
          <a:bodyPr wrap="square" lIns="0" tIns="0" rIns="0" bIns="0" rtlCol="0" anchor="t"/>
          <a:lstStyle/>
          <a:p>
            <a:pPr algn="ctr" indent="0" marL="0">
              <a:buNone/>
            </a:pPr>
            <a:r>
              <a:rPr lang="en-US" sz="1800" dirty="0">
                <a:solidFill>
                  <a:srgbClr val="6B7280"/>
                </a:solidFill>
                <a:latin typeface="Consolas" pitchFamily="34" charset="0"/>
                <a:ea typeface="Consolas" pitchFamily="34" charset="-122"/>
                <a:cs typeface="Consolas" pitchFamily="34" charset="-120"/>
              </a:rPr>
              <a:t>istuntokoodi: ______</a:t>
            </a:r>
            <a:endParaRPr lang="en-US" sz="18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1097280"/>
            <a:ext cx="5486400" cy="457200"/>
          </a:xfrm>
          <a:prstGeom prst="rect">
            <a:avLst/>
          </a:prstGeom>
          <a:noFill/>
          <a:ln/>
        </p:spPr>
        <p:txBody>
          <a:bodyPr wrap="square" lIns="0" tIns="0" rIns="0" bIns="0" rtlCol="0" anchor="t"/>
          <a:lstStyle/>
          <a:p>
            <a:pPr algn="l" indent="0" marL="0">
              <a:buNone/>
            </a:pPr>
            <a:r>
              <a:rPr lang="en-US" sz="2000" b="1" dirty="0">
                <a:solidFill>
                  <a:srgbClr val="58A6FF"/>
                </a:solidFill>
                <a:latin typeface="Consolas" pitchFamily="34" charset="0"/>
                <a:ea typeface="Consolas" pitchFamily="34" charset="-122"/>
                <a:cs typeface="Consolas" pitchFamily="34" charset="-120"/>
              </a:rPr>
              <a:t>// 01 / 05</a:t>
            </a:r>
            <a:endParaRPr lang="en-US" sz="2000" dirty="0"/>
          </a:p>
        </p:txBody>
      </p:sp>
      <p:sp>
        <p:nvSpPr>
          <p:cNvPr id="3" name="Text 1"/>
          <p:cNvSpPr txBox="1"/>
          <p:nvPr/>
        </p:nvSpPr>
        <p:spPr>
          <a:xfrm>
            <a:off x="731520" y="1645920"/>
            <a:ext cx="10515600" cy="1645920"/>
          </a:xfrm>
          <a:prstGeom prst="rect">
            <a:avLst/>
          </a:prstGeom>
          <a:noFill/>
          <a:ln/>
        </p:spPr>
        <p:txBody>
          <a:bodyPr wrap="square" lIns="0" tIns="0" rIns="0" bIns="0" rtlCol="0" anchor="t"/>
          <a:lstStyle/>
          <a:p>
            <a:pPr algn="l" indent="0" marL="0">
              <a:buNone/>
            </a:pPr>
            <a:r>
              <a:rPr lang="en-US" sz="4400" b="1" dirty="0">
                <a:solidFill>
                  <a:srgbClr val="FFFFFF"/>
                </a:solidFill>
                <a:latin typeface="Segoe UI" pitchFamily="34" charset="0"/>
                <a:ea typeface="Segoe UI" pitchFamily="34" charset="-122"/>
                <a:cs typeface="Segoe UI" pitchFamily="34" charset="-120"/>
              </a:rPr>
              <a:t>Mikä ohjelmistokehityksessä oikeasti muuttui?</a:t>
            </a:r>
            <a:endParaRPr lang="en-US" sz="4400" dirty="0"/>
          </a:p>
        </p:txBody>
      </p:sp>
      <p:sp>
        <p:nvSpPr>
          <p:cNvPr id="4" name="Text 2"/>
          <p:cNvSpPr txBox="1"/>
          <p:nvPr/>
        </p:nvSpPr>
        <p:spPr>
          <a:xfrm>
            <a:off x="731520" y="3794760"/>
            <a:ext cx="10515600" cy="365760"/>
          </a:xfrm>
          <a:prstGeom prst="rect">
            <a:avLst/>
          </a:prstGeom>
          <a:noFill/>
          <a:ln/>
        </p:spPr>
        <p:txBody>
          <a:bodyPr wrap="square" lIns="0" tIns="0" rIns="0" bIns="0" rtlCol="0" anchor="t"/>
          <a:lstStyle/>
          <a:p>
            <a:pPr algn="l" indent="0" marL="0">
              <a:buNone/>
            </a:pPr>
            <a:r>
              <a:rPr lang="en-US" sz="1500" b="1" dirty="0">
                <a:solidFill>
                  <a:srgbClr val="E6EDF3"/>
                </a:solidFill>
                <a:latin typeface="Consolas" pitchFamily="34" charset="0"/>
                <a:ea typeface="Consolas" pitchFamily="34" charset="-122"/>
                <a:cs typeface="Consolas" pitchFamily="34" charset="-120"/>
              </a:rPr>
              <a:t>01  Mikä ohjelmistokehityksessä oikeasti muuttui?</a:t>
            </a:r>
            <a:endParaRPr lang="en-US" sz="1500" dirty="0"/>
          </a:p>
        </p:txBody>
      </p:sp>
      <p:sp>
        <p:nvSpPr>
          <p:cNvPr id="5" name="Text 3"/>
          <p:cNvSpPr txBox="1"/>
          <p:nvPr/>
        </p:nvSpPr>
        <p:spPr>
          <a:xfrm>
            <a:off x="731520" y="4206240"/>
            <a:ext cx="10515600" cy="365760"/>
          </a:xfrm>
          <a:prstGeom prst="rect">
            <a:avLst/>
          </a:prstGeom>
          <a:noFill/>
          <a:ln/>
        </p:spPr>
        <p:txBody>
          <a:bodyPr wrap="square" lIns="0" tIns="0" rIns="0" bIns="0" rtlCol="0" anchor="t"/>
          <a:lstStyle/>
          <a:p>
            <a:pPr algn="l" indent="0" marL="0">
              <a:buNone/>
            </a:pPr>
            <a:r>
              <a:rPr lang="en-US" sz="1500" dirty="0">
                <a:solidFill>
                  <a:srgbClr val="6E7681"/>
                </a:solidFill>
                <a:latin typeface="Consolas" pitchFamily="34" charset="0"/>
                <a:ea typeface="Consolas" pitchFamily="34" charset="-122"/>
                <a:cs typeface="Consolas" pitchFamily="34" charset="-120"/>
              </a:rPr>
              <a:t>02  Tuleeko meistä nopeampia?</a:t>
            </a:r>
            <a:endParaRPr lang="en-US" sz="1500" dirty="0"/>
          </a:p>
        </p:txBody>
      </p:sp>
      <p:sp>
        <p:nvSpPr>
          <p:cNvPr id="6" name="Text 4"/>
          <p:cNvSpPr txBox="1"/>
          <p:nvPr/>
        </p:nvSpPr>
        <p:spPr>
          <a:xfrm>
            <a:off x="731520" y="4617720"/>
            <a:ext cx="10515600" cy="365760"/>
          </a:xfrm>
          <a:prstGeom prst="rect">
            <a:avLst/>
          </a:prstGeom>
          <a:noFill/>
          <a:ln/>
        </p:spPr>
        <p:txBody>
          <a:bodyPr wrap="square" lIns="0" tIns="0" rIns="0" bIns="0" rtlCol="0" anchor="t"/>
          <a:lstStyle/>
          <a:p>
            <a:pPr algn="l" indent="0" marL="0">
              <a:buNone/>
            </a:pPr>
            <a:r>
              <a:rPr lang="en-US" sz="1500" dirty="0">
                <a:solidFill>
                  <a:srgbClr val="6E7681"/>
                </a:solidFill>
                <a:latin typeface="Consolas" pitchFamily="34" charset="0"/>
                <a:ea typeface="Consolas" pitchFamily="34" charset="-122"/>
                <a:cs typeface="Consolas" pitchFamily="34" charset="-120"/>
              </a:rPr>
              <a:t>03  Kuka tarkistaa – ja kuka oppii?</a:t>
            </a:r>
            <a:endParaRPr lang="en-US" sz="1500" dirty="0"/>
          </a:p>
        </p:txBody>
      </p:sp>
      <p:sp>
        <p:nvSpPr>
          <p:cNvPr id="7" name="Text 5"/>
          <p:cNvSpPr txBox="1"/>
          <p:nvPr/>
        </p:nvSpPr>
        <p:spPr>
          <a:xfrm>
            <a:off x="731520" y="5029200"/>
            <a:ext cx="10515600" cy="365760"/>
          </a:xfrm>
          <a:prstGeom prst="rect">
            <a:avLst/>
          </a:prstGeom>
          <a:noFill/>
          <a:ln/>
        </p:spPr>
        <p:txBody>
          <a:bodyPr wrap="square" lIns="0" tIns="0" rIns="0" bIns="0" rtlCol="0" anchor="t"/>
          <a:lstStyle/>
          <a:p>
            <a:pPr algn="l" indent="0" marL="0">
              <a:buNone/>
            </a:pPr>
            <a:r>
              <a:rPr lang="en-US" sz="1500" dirty="0">
                <a:solidFill>
                  <a:srgbClr val="6E7681"/>
                </a:solidFill>
                <a:latin typeface="Consolas" pitchFamily="34" charset="0"/>
                <a:ea typeface="Consolas" pitchFamily="34" charset="-122"/>
                <a:cs typeface="Consolas" pitchFamily="34" charset="-120"/>
              </a:rPr>
              <a:t>04  Mitä tämä tarkoittaa täällä Lakeudella?</a:t>
            </a:r>
            <a:endParaRPr lang="en-US" sz="1500" dirty="0"/>
          </a:p>
        </p:txBody>
      </p:sp>
      <p:sp>
        <p:nvSpPr>
          <p:cNvPr id="8" name="Text 6"/>
          <p:cNvSpPr txBox="1"/>
          <p:nvPr/>
        </p:nvSpPr>
        <p:spPr>
          <a:xfrm>
            <a:off x="731520" y="5440680"/>
            <a:ext cx="10515600" cy="365760"/>
          </a:xfrm>
          <a:prstGeom prst="rect">
            <a:avLst/>
          </a:prstGeom>
          <a:noFill/>
          <a:ln/>
        </p:spPr>
        <p:txBody>
          <a:bodyPr wrap="square" lIns="0" tIns="0" rIns="0" bIns="0" rtlCol="0" anchor="t"/>
          <a:lstStyle/>
          <a:p>
            <a:pPr algn="l" indent="0" marL="0">
              <a:buNone/>
            </a:pPr>
            <a:r>
              <a:rPr lang="en-US" sz="1500" dirty="0">
                <a:solidFill>
                  <a:srgbClr val="6E7681"/>
                </a:solidFill>
                <a:latin typeface="Consolas" pitchFamily="34" charset="0"/>
                <a:ea typeface="Consolas" pitchFamily="34" charset="-122"/>
                <a:cs typeface="Consolas" pitchFamily="34" charset="-120"/>
              </a:rPr>
              <a:t>05  Miten agentin kanssa tehdään oikeasti töitä?</a:t>
            </a:r>
            <a:endParaRPr lang="en-US" sz="15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B949E"/>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01 · mikä muuttui</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Mihin AI:ta oikeasti käytetään?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Kansainvälinen kehittäjäkysely, 2026</a:t>
            </a:r>
            <a:endParaRPr lang="en-US" sz="1800" dirty="0"/>
          </a:p>
        </p:txBody>
      </p:sp>
      <p:graphicFrame>
        <p:nvGraphicFramePr>
          <p:cNvPr id="5" name="Chart 0" descr=""/>
          <p:cNvGraphicFramePr/>
          <p:nvPr/>
        </p:nvGraphicFramePr>
        <p:xfrm>
          <a:off x="457200" y="1737360"/>
          <a:ext cx="8229600" cy="3657600"/>
        </p:xfrm>
        <a:graphic xmlns:a="http://schemas.openxmlformats.org/drawingml/2006/main">
          <a:graphicData uri="http://schemas.openxmlformats.org/drawingml/2006/chart">
            <c:chart xmlns:c="http://schemas.openxmlformats.org/drawingml/2006/chart" r:id="rId1"/>
          </a:graphicData>
        </a:graphic>
      </p:graphicFrame>
      <p:sp>
        <p:nvSpPr>
          <p:cNvPr id="6" name="Kortti"/>
          <p:cNvSpPr/>
          <p:nvPr/>
        </p:nvSpPr>
        <p:spPr>
          <a:xfrm>
            <a:off x="8869680" y="2103120"/>
            <a:ext cx="2743200" cy="1828800"/>
          </a:xfrm>
          <a:prstGeom prst="roundRect">
            <a:avLst>
              <a:gd name="adj" fmla="val 5000"/>
            </a:avLst>
          </a:prstGeom>
          <a:solidFill>
            <a:srgbClr val="EFF6FF"/>
          </a:solidFill>
          <a:ln w="12700">
            <a:solidFill>
              <a:srgbClr val="BFDBFE"/>
            </a:solidFill>
            <a:prstDash val="solid"/>
          </a:ln>
        </p:spPr>
      </p:sp>
      <p:sp>
        <p:nvSpPr>
          <p:cNvPr id="7" name="Text 4"/>
          <p:cNvSpPr txBox="1"/>
          <p:nvPr/>
        </p:nvSpPr>
        <p:spPr>
          <a:xfrm>
            <a:off x="9098280" y="2249424"/>
            <a:ext cx="22860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arvaa</a:t>
            </a:r>
            <a:endParaRPr lang="en-US" sz="1200" dirty="0"/>
          </a:p>
        </p:txBody>
      </p:sp>
      <p:sp>
        <p:nvSpPr>
          <p:cNvPr id="8" name="Text 5"/>
          <p:cNvSpPr txBox="1"/>
          <p:nvPr/>
        </p:nvSpPr>
        <p:spPr>
          <a:xfrm>
            <a:off x="9098280" y="2542032"/>
            <a:ext cx="2286000" cy="1280160"/>
          </a:xfrm>
          <a:prstGeom prst="rect">
            <a:avLst/>
          </a:prstGeom>
          <a:noFill/>
          <a:ln/>
        </p:spPr>
        <p:txBody>
          <a:bodyPr wrap="square" lIns="0" tIns="0" rIns="0" bIns="0" rtlCol="0" anchor="ctr"/>
          <a:lstStyle/>
          <a:p>
            <a:pPr algn="l" indent="0" marL="0">
              <a:buNone/>
            </a:pPr>
            <a:r>
              <a:rPr lang="en-US" sz="1800" b="1" dirty="0">
                <a:solidFill>
                  <a:srgbClr val="111827"/>
                </a:solidFill>
                <a:latin typeface="Segoe UI" pitchFamily="34" charset="0"/>
                <a:ea typeface="Segoe UI" pitchFamily="34" charset="-122"/>
                <a:cs typeface="Segoe UI" pitchFamily="34" charset="-120"/>
              </a:rPr>
              <a:t>Kuinka moni käyttää AI:ta testien kirjoittamiseen?</a:t>
            </a:r>
            <a:endParaRPr lang="en-US" sz="1800" dirty="0"/>
          </a:p>
        </p:txBody>
      </p:sp>
      <p:sp>
        <p:nvSpPr>
          <p:cNvPr id="9"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Stack Overflow Developer Survey 2026 (n = 12 547, kesä–elokuu 2026) · itse valikoitunut otos · monivalinta · nykyinen käyttö · tuotanto ei kuulu kaikkien työhön.</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01 · mikä muuttui</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Mihin AI:ta oikeasti käytetään?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Kansainvälinen kehittäjäkysely, 2026</a:t>
            </a:r>
            <a:endParaRPr lang="en-US" sz="1800" dirty="0"/>
          </a:p>
        </p:txBody>
      </p:sp>
      <p:graphicFrame>
        <p:nvGraphicFramePr>
          <p:cNvPr id="5" name="Chart 0" descr=""/>
          <p:cNvGraphicFramePr/>
          <p:nvPr/>
        </p:nvGraphicFramePr>
        <p:xfrm>
          <a:off x="457200" y="1737360"/>
          <a:ext cx="8229600" cy="3657600"/>
        </p:xfrm>
        <a:graphic xmlns:a="http://schemas.openxmlformats.org/drawingml/2006/main">
          <a:graphicData uri="http://schemas.openxmlformats.org/drawingml/2006/chart">
            <c:chart xmlns:c="http://schemas.openxmlformats.org/drawingml/2006/chart" r:id="rId1"/>
          </a:graphicData>
        </a:graphic>
      </p:graphicFrame>
      <p:sp>
        <p:nvSpPr>
          <p:cNvPr id="6" name="Kortti"/>
          <p:cNvSpPr/>
          <p:nvPr/>
        </p:nvSpPr>
        <p:spPr>
          <a:xfrm>
            <a:off x="8869680" y="2103120"/>
            <a:ext cx="2743200" cy="1828800"/>
          </a:xfrm>
          <a:prstGeom prst="roundRect">
            <a:avLst>
              <a:gd name="adj" fmla="val 5000"/>
            </a:avLst>
          </a:prstGeom>
          <a:solidFill>
            <a:srgbClr val="FFFFFF"/>
          </a:solidFill>
          <a:ln w="12700">
            <a:solidFill>
              <a:srgbClr val="E5E7EB"/>
            </a:solidFill>
            <a:prstDash val="solid"/>
          </a:ln>
        </p:spPr>
      </p:sp>
      <p:sp>
        <p:nvSpPr>
          <p:cNvPr id="7" name="Text 4"/>
          <p:cNvSpPr txBox="1"/>
          <p:nvPr/>
        </p:nvSpPr>
        <p:spPr>
          <a:xfrm>
            <a:off x="9098280" y="2240280"/>
            <a:ext cx="2377440" cy="822960"/>
          </a:xfrm>
          <a:prstGeom prst="rect">
            <a:avLst/>
          </a:prstGeom>
          <a:noFill/>
          <a:ln/>
        </p:spPr>
        <p:txBody>
          <a:bodyPr wrap="square" lIns="0" tIns="0" rIns="0" bIns="0" rtlCol="0" anchor="t"/>
          <a:lstStyle/>
          <a:p>
            <a:pPr algn="l" indent="0" marL="0">
              <a:buNone/>
            </a:pPr>
            <a:r>
              <a:rPr lang="en-US" sz="4400" b="1" dirty="0">
                <a:solidFill>
                  <a:srgbClr val="2563EB"/>
                </a:solidFill>
                <a:latin typeface="Segoe UI" pitchFamily="34" charset="0"/>
                <a:ea typeface="Segoe UI" pitchFamily="34" charset="-122"/>
                <a:cs typeface="Segoe UI" pitchFamily="34" charset="-120"/>
              </a:rPr>
              <a:t>58 %</a:t>
            </a:r>
            <a:endParaRPr lang="en-US" sz="4400" dirty="0"/>
          </a:p>
        </p:txBody>
      </p:sp>
      <p:sp>
        <p:nvSpPr>
          <p:cNvPr id="8" name="Text 5"/>
          <p:cNvSpPr txBox="1"/>
          <p:nvPr/>
        </p:nvSpPr>
        <p:spPr>
          <a:xfrm>
            <a:off x="9098280" y="3063240"/>
            <a:ext cx="2377440" cy="731520"/>
          </a:xfrm>
          <a:prstGeom prst="rect">
            <a:avLst/>
          </a:prstGeom>
          <a:noFill/>
          <a:ln/>
        </p:spPr>
        <p:txBody>
          <a:bodyPr wrap="square" lIns="0" tIns="0" rIns="0" bIns="0" rtlCol="0" anchor="t"/>
          <a:lstStyle/>
          <a:p>
            <a:pPr algn="l" indent="0" marL="0">
              <a:buNone/>
            </a:pPr>
            <a:r>
              <a:rPr lang="en-US" sz="1600" dirty="0">
                <a:solidFill>
                  <a:srgbClr val="111827"/>
                </a:solidFill>
                <a:latin typeface="Segoe UI" pitchFamily="34" charset="0"/>
                <a:ea typeface="Segoe UI" pitchFamily="34" charset="-122"/>
                <a:cs typeface="Segoe UI" pitchFamily="34" charset="-120"/>
              </a:rPr>
              <a:t>testien kirjoittamiseen</a:t>
            </a:r>
            <a:endParaRPr lang="en-US" sz="1600" dirty="0"/>
          </a:p>
        </p:txBody>
      </p:sp>
      <p:sp>
        <p:nvSpPr>
          <p:cNvPr id="9"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Koodia AI:lle antaa jo moni. Tuotantoa harvempi.</a:t>
            </a:r>
            <a:endParaRPr lang="en-US" sz="2000" dirty="0"/>
          </a:p>
        </p:txBody>
      </p:sp>
      <p:sp>
        <p:nvSpPr>
          <p:cNvPr id="10"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Stack Overflow Developer Survey 2026 (n = 12 547, kesä–elokuu 2026) · itse valikoitunut otos · monivalinta · nykyinen käyttö · tuotanto ei kuulu kaikkien työhön.</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01 · mikä muuttui</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Ollaanko tässä oltu ennenkin?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Ohjelmistokriisi on vanhempi kuin useimmat meistä</a:t>
            </a:r>
            <a:endParaRPr lang="en-US" sz="1800" dirty="0"/>
          </a:p>
        </p:txBody>
      </p:sp>
      <p:sp>
        <p:nvSpPr>
          <p:cNvPr id="5" name="Kortti"/>
          <p:cNvSpPr/>
          <p:nvPr/>
        </p:nvSpPr>
        <p:spPr>
          <a:xfrm>
            <a:off x="548640" y="1783080"/>
            <a:ext cx="5349240" cy="2926080"/>
          </a:xfrm>
          <a:prstGeom prst="roundRect">
            <a:avLst>
              <a:gd name="adj" fmla="val 3125"/>
            </a:avLst>
          </a:prstGeom>
          <a:solidFill>
            <a:srgbClr val="F3F4F6"/>
          </a:solidFill>
          <a:ln w="12700">
            <a:solidFill>
              <a:srgbClr val="E5E7EB"/>
            </a:solidFill>
            <a:prstDash val="solid"/>
          </a:ln>
        </p:spPr>
      </p:sp>
      <p:sp>
        <p:nvSpPr>
          <p:cNvPr id="6" name="Text 4"/>
          <p:cNvSpPr txBox="1"/>
          <p:nvPr/>
        </p:nvSpPr>
        <p:spPr>
          <a:xfrm>
            <a:off x="731520" y="1920240"/>
            <a:ext cx="4983480" cy="2651760"/>
          </a:xfrm>
          <a:prstGeom prst="rect">
            <a:avLst/>
          </a:prstGeom>
          <a:noFill/>
          <a:ln/>
        </p:spPr>
        <p:txBody>
          <a:bodyPr wrap="square" lIns="0" tIns="0" rIns="0" bIns="0" rtlCol="0" anchor="ctr"/>
          <a:lstStyle/>
          <a:p>
            <a:pPr algn="ctr" indent="0" marL="0">
              <a:buNone/>
            </a:pPr>
            <a:r>
              <a:rPr lang="en-US" sz="1500" dirty="0">
                <a:solidFill>
                  <a:srgbClr val="374151"/>
                </a:solidFill>
                <a:latin typeface="Consolas" pitchFamily="34" charset="0"/>
                <a:ea typeface="Consolas" pitchFamily="34" charset="-122"/>
                <a:cs typeface="Consolas" pitchFamily="34" charset="-120"/>
              </a:rPr>
              <a:t>NATO SCIENCE COMMITTEE</a:t>
            </a:r>
            <a:endParaRPr lang="en-US" sz="1500" dirty="0"/>
          </a:p>
          <a:p>
            <a:pPr algn="ctr" indent="0" marL="0">
              <a:buNone/>
            </a:pPr>
            <a:endParaRPr lang="en-US" sz="1500" dirty="0"/>
          </a:p>
          <a:p>
            <a:pPr algn="ctr" indent="0" marL="0">
              <a:buNone/>
            </a:pPr>
            <a:r>
              <a:rPr lang="en-US" sz="1500" dirty="0">
                <a:solidFill>
                  <a:srgbClr val="374151"/>
                </a:solidFill>
                <a:latin typeface="Consolas" pitchFamily="34" charset="0"/>
                <a:ea typeface="Consolas" pitchFamily="34" charset="-122"/>
                <a:cs typeface="Consolas" pitchFamily="34" charset="-120"/>
              </a:rPr>
              <a:t>SOFTWARE ENGINEERING</a:t>
            </a:r>
            <a:endParaRPr lang="en-US" sz="1500" dirty="0"/>
          </a:p>
          <a:p>
            <a:pPr algn="ctr" indent="0" marL="0">
              <a:buNone/>
            </a:pPr>
            <a:endParaRPr lang="en-US" sz="1500" dirty="0"/>
          </a:p>
          <a:p>
            <a:pPr algn="ctr" indent="0" marL="0">
              <a:buNone/>
            </a:pPr>
            <a:r>
              <a:rPr lang="en-US" sz="1500" dirty="0">
                <a:solidFill>
                  <a:srgbClr val="374151"/>
                </a:solidFill>
                <a:latin typeface="Consolas" pitchFamily="34" charset="0"/>
                <a:ea typeface="Consolas" pitchFamily="34" charset="-122"/>
                <a:cs typeface="Consolas" pitchFamily="34" charset="-120"/>
              </a:rPr>
              <a:t>Report on a conference</a:t>
            </a:r>
            <a:endParaRPr lang="en-US" sz="1500" dirty="0"/>
          </a:p>
          <a:p>
            <a:pPr algn="ctr" indent="0" marL="0">
              <a:buNone/>
            </a:pPr>
            <a:r>
              <a:rPr lang="en-US" sz="1500" dirty="0">
                <a:solidFill>
                  <a:srgbClr val="374151"/>
                </a:solidFill>
                <a:latin typeface="Consolas" pitchFamily="34" charset="0"/>
                <a:ea typeface="Consolas" pitchFamily="34" charset="-122"/>
                <a:cs typeface="Consolas" pitchFamily="34" charset="-120"/>
              </a:rPr>
              <a:t>Garmisch, Germany</a:t>
            </a:r>
            <a:endParaRPr lang="en-US" sz="1500" dirty="0"/>
          </a:p>
          <a:p>
            <a:pPr algn="ctr" indent="0" marL="0">
              <a:buNone/>
            </a:pPr>
            <a:r>
              <a:rPr lang="en-US" sz="1500" dirty="0">
                <a:solidFill>
                  <a:srgbClr val="374151"/>
                </a:solidFill>
                <a:latin typeface="Consolas" pitchFamily="34" charset="0"/>
                <a:ea typeface="Consolas" pitchFamily="34" charset="-122"/>
                <a:cs typeface="Consolas" pitchFamily="34" charset="-120"/>
              </a:rPr>
              <a:t>7th to 11th October 1968</a:t>
            </a:r>
            <a:endParaRPr lang="en-US" sz="1500" dirty="0"/>
          </a:p>
        </p:txBody>
      </p:sp>
      <p:sp>
        <p:nvSpPr>
          <p:cNvPr id="7" name="Kortti"/>
          <p:cNvSpPr/>
          <p:nvPr/>
        </p:nvSpPr>
        <p:spPr>
          <a:xfrm>
            <a:off x="6263640" y="1783080"/>
            <a:ext cx="5349240" cy="2926080"/>
          </a:xfrm>
          <a:prstGeom prst="roundRect">
            <a:avLst>
              <a:gd name="adj" fmla="val 3125"/>
            </a:avLst>
          </a:prstGeom>
          <a:solidFill>
            <a:srgbClr val="FFFFFF"/>
          </a:solidFill>
          <a:ln w="12700">
            <a:solidFill>
              <a:srgbClr val="E5E7EB"/>
            </a:solidFill>
            <a:prstDash val="solid"/>
          </a:ln>
        </p:spPr>
      </p:sp>
      <p:sp>
        <p:nvSpPr>
          <p:cNvPr id="8" name="Shape 6"/>
          <p:cNvSpPr/>
          <p:nvPr/>
        </p:nvSpPr>
        <p:spPr>
          <a:xfrm>
            <a:off x="6492240" y="2011680"/>
            <a:ext cx="137160" cy="137160"/>
          </a:xfrm>
          <a:prstGeom prst="ellipse">
            <a:avLst/>
          </a:prstGeom>
          <a:solidFill>
            <a:srgbClr val="1A7F37"/>
          </a:solidFill>
          <a:ln w="12700">
            <a:solidFill>
              <a:srgbClr val="1A7F37"/>
            </a:solidFill>
            <a:prstDash val="solid"/>
          </a:ln>
        </p:spPr>
      </p:sp>
      <p:sp>
        <p:nvSpPr>
          <p:cNvPr id="9" name="Text 7"/>
          <p:cNvSpPr txBox="1"/>
          <p:nvPr/>
        </p:nvSpPr>
        <p:spPr>
          <a:xfrm>
            <a:off x="6766560" y="1920240"/>
            <a:ext cx="3017520" cy="310896"/>
          </a:xfrm>
          <a:prstGeom prst="rect">
            <a:avLst/>
          </a:prstGeom>
          <a:noFill/>
          <a:ln/>
        </p:spPr>
        <p:txBody>
          <a:bodyPr wrap="square" lIns="0" tIns="0" rIns="0" bIns="0" rtlCol="0" anchor="ctr"/>
          <a:lstStyle/>
          <a:p>
            <a:pPr algn="l" indent="0" marL="0">
              <a:buNone/>
            </a:pPr>
            <a:r>
              <a:rPr lang="en-US" sz="1200" dirty="0">
                <a:solidFill>
                  <a:srgbClr val="111827"/>
                </a:solidFill>
                <a:latin typeface="Segoe UI" pitchFamily="34" charset="0"/>
                <a:ea typeface="Segoe UI" pitchFamily="34" charset="-122"/>
                <a:cs typeface="Segoe UI" pitchFamily="34" charset="-120"/>
              </a:rPr>
              <a:t>Add retry to sync job</a:t>
            </a:r>
            <a:endParaRPr lang="en-US" sz="1200" dirty="0"/>
          </a:p>
        </p:txBody>
      </p:sp>
      <p:sp>
        <p:nvSpPr>
          <p:cNvPr id="10" name="Text 8"/>
          <p:cNvSpPr txBox="1"/>
          <p:nvPr/>
        </p:nvSpPr>
        <p:spPr>
          <a:xfrm>
            <a:off x="9509760" y="1920240"/>
            <a:ext cx="1965960" cy="310896"/>
          </a:xfrm>
          <a:prstGeom prst="rect">
            <a:avLst/>
          </a:prstGeom>
          <a:noFill/>
          <a:ln/>
        </p:spPr>
        <p:txBody>
          <a:bodyPr wrap="square" lIns="0" tIns="0" rIns="0" bIns="0" rtlCol="0" anchor="ctr"/>
          <a:lstStyle/>
          <a:p>
            <a:pPr algn="r" indent="0" marL="0">
              <a:buNone/>
            </a:pPr>
            <a:r>
              <a:rPr lang="en-US" sz="1000" dirty="0">
                <a:solidFill>
                  <a:srgbClr val="6B7280"/>
                </a:solidFill>
                <a:latin typeface="Consolas" pitchFamily="34" charset="0"/>
                <a:ea typeface="Consolas" pitchFamily="34" charset="-122"/>
                <a:cs typeface="Consolas" pitchFamily="34" charset="-120"/>
              </a:rPr>
              <a:t>odottaa katselmointia</a:t>
            </a:r>
            <a:endParaRPr lang="en-US" sz="1000" dirty="0"/>
          </a:p>
        </p:txBody>
      </p:sp>
      <p:sp>
        <p:nvSpPr>
          <p:cNvPr id="11" name="Shape 9"/>
          <p:cNvSpPr/>
          <p:nvPr/>
        </p:nvSpPr>
        <p:spPr>
          <a:xfrm>
            <a:off x="6492240" y="2340864"/>
            <a:ext cx="137160" cy="137160"/>
          </a:xfrm>
          <a:prstGeom prst="ellipse">
            <a:avLst/>
          </a:prstGeom>
          <a:solidFill>
            <a:srgbClr val="1A7F37"/>
          </a:solidFill>
          <a:ln w="12700">
            <a:solidFill>
              <a:srgbClr val="1A7F37"/>
            </a:solidFill>
            <a:prstDash val="solid"/>
          </a:ln>
        </p:spPr>
      </p:sp>
      <p:sp>
        <p:nvSpPr>
          <p:cNvPr id="12" name="Text 10"/>
          <p:cNvSpPr txBox="1"/>
          <p:nvPr/>
        </p:nvSpPr>
        <p:spPr>
          <a:xfrm>
            <a:off x="6766560" y="2249424"/>
            <a:ext cx="3017520" cy="310896"/>
          </a:xfrm>
          <a:prstGeom prst="rect">
            <a:avLst/>
          </a:prstGeom>
          <a:noFill/>
          <a:ln/>
        </p:spPr>
        <p:txBody>
          <a:bodyPr wrap="square" lIns="0" tIns="0" rIns="0" bIns="0" rtlCol="0" anchor="ctr"/>
          <a:lstStyle/>
          <a:p>
            <a:pPr algn="l" indent="0" marL="0">
              <a:buNone/>
            </a:pPr>
            <a:r>
              <a:rPr lang="en-US" sz="1200" dirty="0">
                <a:solidFill>
                  <a:srgbClr val="111827"/>
                </a:solidFill>
                <a:latin typeface="Segoe UI" pitchFamily="34" charset="0"/>
                <a:ea typeface="Segoe UI" pitchFamily="34" charset="-122"/>
                <a:cs typeface="Segoe UI" pitchFamily="34" charset="-120"/>
              </a:rPr>
              <a:t>Fix flaky checkout test</a:t>
            </a:r>
            <a:endParaRPr lang="en-US" sz="1200" dirty="0"/>
          </a:p>
        </p:txBody>
      </p:sp>
      <p:sp>
        <p:nvSpPr>
          <p:cNvPr id="13" name="Text 11"/>
          <p:cNvSpPr txBox="1"/>
          <p:nvPr/>
        </p:nvSpPr>
        <p:spPr>
          <a:xfrm>
            <a:off x="9509760" y="2249424"/>
            <a:ext cx="1965960" cy="310896"/>
          </a:xfrm>
          <a:prstGeom prst="rect">
            <a:avLst/>
          </a:prstGeom>
          <a:noFill/>
          <a:ln/>
        </p:spPr>
        <p:txBody>
          <a:bodyPr wrap="square" lIns="0" tIns="0" rIns="0" bIns="0" rtlCol="0" anchor="ctr"/>
          <a:lstStyle/>
          <a:p>
            <a:pPr algn="r" indent="0" marL="0">
              <a:buNone/>
            </a:pPr>
            <a:r>
              <a:rPr lang="en-US" sz="1000" dirty="0">
                <a:solidFill>
                  <a:srgbClr val="6B7280"/>
                </a:solidFill>
                <a:latin typeface="Consolas" pitchFamily="34" charset="0"/>
                <a:ea typeface="Consolas" pitchFamily="34" charset="-122"/>
                <a:cs typeface="Consolas" pitchFamily="34" charset="-120"/>
              </a:rPr>
              <a:t>odottaa katselmointia</a:t>
            </a:r>
            <a:endParaRPr lang="en-US" sz="1000" dirty="0"/>
          </a:p>
        </p:txBody>
      </p:sp>
      <p:sp>
        <p:nvSpPr>
          <p:cNvPr id="14" name="Shape 12"/>
          <p:cNvSpPr/>
          <p:nvPr/>
        </p:nvSpPr>
        <p:spPr>
          <a:xfrm>
            <a:off x="6492240" y="2670048"/>
            <a:ext cx="137160" cy="137160"/>
          </a:xfrm>
          <a:prstGeom prst="ellipse">
            <a:avLst/>
          </a:prstGeom>
          <a:solidFill>
            <a:srgbClr val="1A7F37"/>
          </a:solidFill>
          <a:ln w="12700">
            <a:solidFill>
              <a:srgbClr val="1A7F37"/>
            </a:solidFill>
            <a:prstDash val="solid"/>
          </a:ln>
        </p:spPr>
      </p:sp>
      <p:sp>
        <p:nvSpPr>
          <p:cNvPr id="15" name="Text 13"/>
          <p:cNvSpPr txBox="1"/>
          <p:nvPr/>
        </p:nvSpPr>
        <p:spPr>
          <a:xfrm>
            <a:off x="6766560" y="2578608"/>
            <a:ext cx="3017520" cy="310896"/>
          </a:xfrm>
          <a:prstGeom prst="rect">
            <a:avLst/>
          </a:prstGeom>
          <a:noFill/>
          <a:ln/>
        </p:spPr>
        <p:txBody>
          <a:bodyPr wrap="square" lIns="0" tIns="0" rIns="0" bIns="0" rtlCol="0" anchor="ctr"/>
          <a:lstStyle/>
          <a:p>
            <a:pPr algn="l" indent="0" marL="0">
              <a:buNone/>
            </a:pPr>
            <a:r>
              <a:rPr lang="en-US" sz="1200" dirty="0">
                <a:solidFill>
                  <a:srgbClr val="111827"/>
                </a:solidFill>
                <a:latin typeface="Segoe UI" pitchFamily="34" charset="0"/>
                <a:ea typeface="Segoe UI" pitchFamily="34" charset="-122"/>
                <a:cs typeface="Segoe UI" pitchFamily="34" charset="-120"/>
              </a:rPr>
              <a:t>Refactor address form</a:t>
            </a:r>
            <a:endParaRPr lang="en-US" sz="1200" dirty="0"/>
          </a:p>
        </p:txBody>
      </p:sp>
      <p:sp>
        <p:nvSpPr>
          <p:cNvPr id="16" name="Text 14"/>
          <p:cNvSpPr txBox="1"/>
          <p:nvPr/>
        </p:nvSpPr>
        <p:spPr>
          <a:xfrm>
            <a:off x="9509760" y="2578608"/>
            <a:ext cx="1965960" cy="310896"/>
          </a:xfrm>
          <a:prstGeom prst="rect">
            <a:avLst/>
          </a:prstGeom>
          <a:noFill/>
          <a:ln/>
        </p:spPr>
        <p:txBody>
          <a:bodyPr wrap="square" lIns="0" tIns="0" rIns="0" bIns="0" rtlCol="0" anchor="ctr"/>
          <a:lstStyle/>
          <a:p>
            <a:pPr algn="r" indent="0" marL="0">
              <a:buNone/>
            </a:pPr>
            <a:r>
              <a:rPr lang="en-US" sz="1000" dirty="0">
                <a:solidFill>
                  <a:srgbClr val="6B7280"/>
                </a:solidFill>
                <a:latin typeface="Consolas" pitchFamily="34" charset="0"/>
                <a:ea typeface="Consolas" pitchFamily="34" charset="-122"/>
                <a:cs typeface="Consolas" pitchFamily="34" charset="-120"/>
              </a:rPr>
              <a:t>odottaa katselmointia</a:t>
            </a:r>
            <a:endParaRPr lang="en-US" sz="1000" dirty="0"/>
          </a:p>
        </p:txBody>
      </p:sp>
      <p:sp>
        <p:nvSpPr>
          <p:cNvPr id="17" name="Shape 15"/>
          <p:cNvSpPr/>
          <p:nvPr/>
        </p:nvSpPr>
        <p:spPr>
          <a:xfrm>
            <a:off x="6492240" y="2999232"/>
            <a:ext cx="137160" cy="137160"/>
          </a:xfrm>
          <a:prstGeom prst="ellipse">
            <a:avLst/>
          </a:prstGeom>
          <a:solidFill>
            <a:srgbClr val="1A7F37"/>
          </a:solidFill>
          <a:ln w="12700">
            <a:solidFill>
              <a:srgbClr val="1A7F37"/>
            </a:solidFill>
            <a:prstDash val="solid"/>
          </a:ln>
        </p:spPr>
      </p:sp>
      <p:sp>
        <p:nvSpPr>
          <p:cNvPr id="18" name="Text 16"/>
          <p:cNvSpPr txBox="1"/>
          <p:nvPr/>
        </p:nvSpPr>
        <p:spPr>
          <a:xfrm>
            <a:off x="6766560" y="2907792"/>
            <a:ext cx="3017520" cy="310896"/>
          </a:xfrm>
          <a:prstGeom prst="rect">
            <a:avLst/>
          </a:prstGeom>
          <a:noFill/>
          <a:ln/>
        </p:spPr>
        <p:txBody>
          <a:bodyPr wrap="square" lIns="0" tIns="0" rIns="0" bIns="0" rtlCol="0" anchor="ctr"/>
          <a:lstStyle/>
          <a:p>
            <a:pPr algn="l" indent="0" marL="0">
              <a:buNone/>
            </a:pPr>
            <a:r>
              <a:rPr lang="en-US" sz="1200" dirty="0">
                <a:solidFill>
                  <a:srgbClr val="111827"/>
                </a:solidFill>
                <a:latin typeface="Segoe UI" pitchFamily="34" charset="0"/>
                <a:ea typeface="Segoe UI" pitchFamily="34" charset="-122"/>
                <a:cs typeface="Segoe UI" pitchFamily="34" charset="-120"/>
              </a:rPr>
              <a:t>Update dependencies</a:t>
            </a:r>
            <a:endParaRPr lang="en-US" sz="1200" dirty="0"/>
          </a:p>
        </p:txBody>
      </p:sp>
      <p:sp>
        <p:nvSpPr>
          <p:cNvPr id="19" name="Text 17"/>
          <p:cNvSpPr txBox="1"/>
          <p:nvPr/>
        </p:nvSpPr>
        <p:spPr>
          <a:xfrm>
            <a:off x="9509760" y="2907792"/>
            <a:ext cx="1965960" cy="310896"/>
          </a:xfrm>
          <a:prstGeom prst="rect">
            <a:avLst/>
          </a:prstGeom>
          <a:noFill/>
          <a:ln/>
        </p:spPr>
        <p:txBody>
          <a:bodyPr wrap="square" lIns="0" tIns="0" rIns="0" bIns="0" rtlCol="0" anchor="ctr"/>
          <a:lstStyle/>
          <a:p>
            <a:pPr algn="r" indent="0" marL="0">
              <a:buNone/>
            </a:pPr>
            <a:r>
              <a:rPr lang="en-US" sz="1000" dirty="0">
                <a:solidFill>
                  <a:srgbClr val="6B7280"/>
                </a:solidFill>
                <a:latin typeface="Consolas" pitchFamily="34" charset="0"/>
                <a:ea typeface="Consolas" pitchFamily="34" charset="-122"/>
                <a:cs typeface="Consolas" pitchFamily="34" charset="-120"/>
              </a:rPr>
              <a:t>odottaa katselmointia</a:t>
            </a:r>
            <a:endParaRPr lang="en-US" sz="1000" dirty="0"/>
          </a:p>
        </p:txBody>
      </p:sp>
      <p:sp>
        <p:nvSpPr>
          <p:cNvPr id="20" name="Shape 18"/>
          <p:cNvSpPr/>
          <p:nvPr/>
        </p:nvSpPr>
        <p:spPr>
          <a:xfrm>
            <a:off x="6492240" y="3328416"/>
            <a:ext cx="137160" cy="137160"/>
          </a:xfrm>
          <a:prstGeom prst="ellipse">
            <a:avLst/>
          </a:prstGeom>
          <a:solidFill>
            <a:srgbClr val="1A7F37"/>
          </a:solidFill>
          <a:ln w="12700">
            <a:solidFill>
              <a:srgbClr val="1A7F37"/>
            </a:solidFill>
            <a:prstDash val="solid"/>
          </a:ln>
        </p:spPr>
      </p:sp>
      <p:sp>
        <p:nvSpPr>
          <p:cNvPr id="21" name="Text 19"/>
          <p:cNvSpPr txBox="1"/>
          <p:nvPr/>
        </p:nvSpPr>
        <p:spPr>
          <a:xfrm>
            <a:off x="6766560" y="3236976"/>
            <a:ext cx="3017520" cy="310896"/>
          </a:xfrm>
          <a:prstGeom prst="rect">
            <a:avLst/>
          </a:prstGeom>
          <a:noFill/>
          <a:ln/>
        </p:spPr>
        <p:txBody>
          <a:bodyPr wrap="square" lIns="0" tIns="0" rIns="0" bIns="0" rtlCol="0" anchor="ctr"/>
          <a:lstStyle/>
          <a:p>
            <a:pPr algn="l" indent="0" marL="0">
              <a:buNone/>
            </a:pPr>
            <a:r>
              <a:rPr lang="en-US" sz="1200" dirty="0">
                <a:solidFill>
                  <a:srgbClr val="111827"/>
                </a:solidFill>
                <a:latin typeface="Segoe UI" pitchFamily="34" charset="0"/>
                <a:ea typeface="Segoe UI" pitchFamily="34" charset="-122"/>
                <a:cs typeface="Segoe UI" pitchFamily="34" charset="-120"/>
              </a:rPr>
              <a:t>Add CSV export</a:t>
            </a:r>
            <a:endParaRPr lang="en-US" sz="1200" dirty="0"/>
          </a:p>
        </p:txBody>
      </p:sp>
      <p:sp>
        <p:nvSpPr>
          <p:cNvPr id="22" name="Text 20"/>
          <p:cNvSpPr txBox="1"/>
          <p:nvPr/>
        </p:nvSpPr>
        <p:spPr>
          <a:xfrm>
            <a:off x="9509760" y="3236976"/>
            <a:ext cx="1965960" cy="310896"/>
          </a:xfrm>
          <a:prstGeom prst="rect">
            <a:avLst/>
          </a:prstGeom>
          <a:noFill/>
          <a:ln/>
        </p:spPr>
        <p:txBody>
          <a:bodyPr wrap="square" lIns="0" tIns="0" rIns="0" bIns="0" rtlCol="0" anchor="ctr"/>
          <a:lstStyle/>
          <a:p>
            <a:pPr algn="r" indent="0" marL="0">
              <a:buNone/>
            </a:pPr>
            <a:r>
              <a:rPr lang="en-US" sz="1000" dirty="0">
                <a:solidFill>
                  <a:srgbClr val="6B7280"/>
                </a:solidFill>
                <a:latin typeface="Consolas" pitchFamily="34" charset="0"/>
                <a:ea typeface="Consolas" pitchFamily="34" charset="-122"/>
                <a:cs typeface="Consolas" pitchFamily="34" charset="-120"/>
              </a:rPr>
              <a:t>odottaa katselmointia</a:t>
            </a:r>
            <a:endParaRPr lang="en-US" sz="1000" dirty="0"/>
          </a:p>
        </p:txBody>
      </p:sp>
      <p:sp>
        <p:nvSpPr>
          <p:cNvPr id="23" name="Shape 21"/>
          <p:cNvSpPr/>
          <p:nvPr/>
        </p:nvSpPr>
        <p:spPr>
          <a:xfrm>
            <a:off x="6492240" y="3657600"/>
            <a:ext cx="137160" cy="137160"/>
          </a:xfrm>
          <a:prstGeom prst="ellipse">
            <a:avLst/>
          </a:prstGeom>
          <a:solidFill>
            <a:srgbClr val="1A7F37"/>
          </a:solidFill>
          <a:ln w="12700">
            <a:solidFill>
              <a:srgbClr val="1A7F37"/>
            </a:solidFill>
            <a:prstDash val="solid"/>
          </a:ln>
        </p:spPr>
      </p:sp>
      <p:sp>
        <p:nvSpPr>
          <p:cNvPr id="24" name="Text 22"/>
          <p:cNvSpPr txBox="1"/>
          <p:nvPr/>
        </p:nvSpPr>
        <p:spPr>
          <a:xfrm>
            <a:off x="6766560" y="3566160"/>
            <a:ext cx="3017520" cy="310896"/>
          </a:xfrm>
          <a:prstGeom prst="rect">
            <a:avLst/>
          </a:prstGeom>
          <a:noFill/>
          <a:ln/>
        </p:spPr>
        <p:txBody>
          <a:bodyPr wrap="square" lIns="0" tIns="0" rIns="0" bIns="0" rtlCol="0" anchor="ctr"/>
          <a:lstStyle/>
          <a:p>
            <a:pPr algn="l" indent="0" marL="0">
              <a:buNone/>
            </a:pPr>
            <a:r>
              <a:rPr lang="en-US" sz="1200" dirty="0">
                <a:solidFill>
                  <a:srgbClr val="111827"/>
                </a:solidFill>
                <a:latin typeface="Segoe UI" pitchFamily="34" charset="0"/>
                <a:ea typeface="Segoe UI" pitchFamily="34" charset="-122"/>
                <a:cs typeface="Segoe UI" pitchFamily="34" charset="-120"/>
              </a:rPr>
              <a:t>Fix null in invoice view</a:t>
            </a:r>
            <a:endParaRPr lang="en-US" sz="1200" dirty="0"/>
          </a:p>
        </p:txBody>
      </p:sp>
      <p:sp>
        <p:nvSpPr>
          <p:cNvPr id="25" name="Text 23"/>
          <p:cNvSpPr txBox="1"/>
          <p:nvPr/>
        </p:nvSpPr>
        <p:spPr>
          <a:xfrm>
            <a:off x="9509760" y="3566160"/>
            <a:ext cx="1965960" cy="310896"/>
          </a:xfrm>
          <a:prstGeom prst="rect">
            <a:avLst/>
          </a:prstGeom>
          <a:noFill/>
          <a:ln/>
        </p:spPr>
        <p:txBody>
          <a:bodyPr wrap="square" lIns="0" tIns="0" rIns="0" bIns="0" rtlCol="0" anchor="ctr"/>
          <a:lstStyle/>
          <a:p>
            <a:pPr algn="r" indent="0" marL="0">
              <a:buNone/>
            </a:pPr>
            <a:r>
              <a:rPr lang="en-US" sz="1000" dirty="0">
                <a:solidFill>
                  <a:srgbClr val="6B7280"/>
                </a:solidFill>
                <a:latin typeface="Consolas" pitchFamily="34" charset="0"/>
                <a:ea typeface="Consolas" pitchFamily="34" charset="-122"/>
                <a:cs typeface="Consolas" pitchFamily="34" charset="-120"/>
              </a:rPr>
              <a:t>odottaa katselmointia</a:t>
            </a:r>
            <a:endParaRPr lang="en-US" sz="1000" dirty="0"/>
          </a:p>
        </p:txBody>
      </p:sp>
      <p:sp>
        <p:nvSpPr>
          <p:cNvPr id="26" name="Shape 24"/>
          <p:cNvSpPr/>
          <p:nvPr/>
        </p:nvSpPr>
        <p:spPr>
          <a:xfrm>
            <a:off x="6492240" y="3986784"/>
            <a:ext cx="137160" cy="137160"/>
          </a:xfrm>
          <a:prstGeom prst="ellipse">
            <a:avLst/>
          </a:prstGeom>
          <a:solidFill>
            <a:srgbClr val="1A7F37"/>
          </a:solidFill>
          <a:ln w="12700">
            <a:solidFill>
              <a:srgbClr val="1A7F37"/>
            </a:solidFill>
            <a:prstDash val="solid"/>
          </a:ln>
        </p:spPr>
      </p:sp>
      <p:sp>
        <p:nvSpPr>
          <p:cNvPr id="27" name="Text 25"/>
          <p:cNvSpPr txBox="1"/>
          <p:nvPr/>
        </p:nvSpPr>
        <p:spPr>
          <a:xfrm>
            <a:off x="6766560" y="3895344"/>
            <a:ext cx="3017520" cy="310896"/>
          </a:xfrm>
          <a:prstGeom prst="rect">
            <a:avLst/>
          </a:prstGeom>
          <a:noFill/>
          <a:ln/>
        </p:spPr>
        <p:txBody>
          <a:bodyPr wrap="square" lIns="0" tIns="0" rIns="0" bIns="0" rtlCol="0" anchor="ctr"/>
          <a:lstStyle/>
          <a:p>
            <a:pPr algn="l" indent="0" marL="0">
              <a:buNone/>
            </a:pPr>
            <a:r>
              <a:rPr lang="en-US" sz="1200" dirty="0">
                <a:solidFill>
                  <a:srgbClr val="111827"/>
                </a:solidFill>
                <a:latin typeface="Segoe UI" pitchFamily="34" charset="0"/>
                <a:ea typeface="Segoe UI" pitchFamily="34" charset="-122"/>
                <a:cs typeface="Segoe UI" pitchFamily="34" charset="-120"/>
              </a:rPr>
              <a:t>Improve error messages</a:t>
            </a:r>
            <a:endParaRPr lang="en-US" sz="1200" dirty="0"/>
          </a:p>
        </p:txBody>
      </p:sp>
      <p:sp>
        <p:nvSpPr>
          <p:cNvPr id="28" name="Text 26"/>
          <p:cNvSpPr txBox="1"/>
          <p:nvPr/>
        </p:nvSpPr>
        <p:spPr>
          <a:xfrm>
            <a:off x="9509760" y="3895344"/>
            <a:ext cx="1965960" cy="310896"/>
          </a:xfrm>
          <a:prstGeom prst="rect">
            <a:avLst/>
          </a:prstGeom>
          <a:noFill/>
          <a:ln/>
        </p:spPr>
        <p:txBody>
          <a:bodyPr wrap="square" lIns="0" tIns="0" rIns="0" bIns="0" rtlCol="0" anchor="ctr"/>
          <a:lstStyle/>
          <a:p>
            <a:pPr algn="r" indent="0" marL="0">
              <a:buNone/>
            </a:pPr>
            <a:r>
              <a:rPr lang="en-US" sz="1000" dirty="0">
                <a:solidFill>
                  <a:srgbClr val="6B7280"/>
                </a:solidFill>
                <a:latin typeface="Consolas" pitchFamily="34" charset="0"/>
                <a:ea typeface="Consolas" pitchFamily="34" charset="-122"/>
                <a:cs typeface="Consolas" pitchFamily="34" charset="-120"/>
              </a:rPr>
              <a:t>odottaa katselmointia</a:t>
            </a:r>
            <a:endParaRPr lang="en-US" sz="1000" dirty="0"/>
          </a:p>
        </p:txBody>
      </p:sp>
      <p:sp>
        <p:nvSpPr>
          <p:cNvPr id="29" name="Shape 27"/>
          <p:cNvSpPr/>
          <p:nvPr/>
        </p:nvSpPr>
        <p:spPr>
          <a:xfrm>
            <a:off x="6492240" y="4315968"/>
            <a:ext cx="137160" cy="137160"/>
          </a:xfrm>
          <a:prstGeom prst="ellipse">
            <a:avLst/>
          </a:prstGeom>
          <a:solidFill>
            <a:srgbClr val="1A7F37"/>
          </a:solidFill>
          <a:ln w="12700">
            <a:solidFill>
              <a:srgbClr val="1A7F37"/>
            </a:solidFill>
            <a:prstDash val="solid"/>
          </a:ln>
        </p:spPr>
      </p:sp>
      <p:sp>
        <p:nvSpPr>
          <p:cNvPr id="30" name="Text 28"/>
          <p:cNvSpPr txBox="1"/>
          <p:nvPr/>
        </p:nvSpPr>
        <p:spPr>
          <a:xfrm>
            <a:off x="6766560" y="4224528"/>
            <a:ext cx="3017520" cy="310896"/>
          </a:xfrm>
          <a:prstGeom prst="rect">
            <a:avLst/>
          </a:prstGeom>
          <a:noFill/>
          <a:ln/>
        </p:spPr>
        <p:txBody>
          <a:bodyPr wrap="square" lIns="0" tIns="0" rIns="0" bIns="0" rtlCol="0" anchor="ctr"/>
          <a:lstStyle/>
          <a:p>
            <a:pPr algn="l" indent="0" marL="0">
              <a:buNone/>
            </a:pPr>
            <a:r>
              <a:rPr lang="en-US" sz="1200" dirty="0">
                <a:solidFill>
                  <a:srgbClr val="111827"/>
                </a:solidFill>
                <a:latin typeface="Segoe UI" pitchFamily="34" charset="0"/>
                <a:ea typeface="Segoe UI" pitchFamily="34" charset="-122"/>
                <a:cs typeface="Segoe UI" pitchFamily="34" charset="-120"/>
              </a:rPr>
              <a:t>Add admin filters</a:t>
            </a:r>
            <a:endParaRPr lang="en-US" sz="1200" dirty="0"/>
          </a:p>
        </p:txBody>
      </p:sp>
      <p:sp>
        <p:nvSpPr>
          <p:cNvPr id="31" name="Text 29"/>
          <p:cNvSpPr txBox="1"/>
          <p:nvPr/>
        </p:nvSpPr>
        <p:spPr>
          <a:xfrm>
            <a:off x="9509760" y="4224528"/>
            <a:ext cx="1965960" cy="310896"/>
          </a:xfrm>
          <a:prstGeom prst="rect">
            <a:avLst/>
          </a:prstGeom>
          <a:noFill/>
          <a:ln/>
        </p:spPr>
        <p:txBody>
          <a:bodyPr wrap="square" lIns="0" tIns="0" rIns="0" bIns="0" rtlCol="0" anchor="ctr"/>
          <a:lstStyle/>
          <a:p>
            <a:pPr algn="r" indent="0" marL="0">
              <a:buNone/>
            </a:pPr>
            <a:r>
              <a:rPr lang="en-US" sz="1000" dirty="0">
                <a:solidFill>
                  <a:srgbClr val="6B7280"/>
                </a:solidFill>
                <a:latin typeface="Consolas" pitchFamily="34" charset="0"/>
                <a:ea typeface="Consolas" pitchFamily="34" charset="-122"/>
                <a:cs typeface="Consolas" pitchFamily="34" charset="-120"/>
              </a:rPr>
              <a:t>odottaa katselmointia</a:t>
            </a:r>
            <a:endParaRPr lang="en-US" sz="1000" dirty="0"/>
          </a:p>
        </p:txBody>
      </p:sp>
      <p:sp>
        <p:nvSpPr>
          <p:cNvPr id="32" name="Text 30"/>
          <p:cNvSpPr txBox="1"/>
          <p:nvPr/>
        </p:nvSpPr>
        <p:spPr>
          <a:xfrm>
            <a:off x="548640" y="4846320"/>
            <a:ext cx="5349240" cy="548640"/>
          </a:xfrm>
          <a:prstGeom prst="rect">
            <a:avLst/>
          </a:prstGeom>
          <a:noFill/>
          <a:ln/>
        </p:spPr>
        <p:txBody>
          <a:bodyPr wrap="square" lIns="0" tIns="0" rIns="0" bIns="0" rtlCol="0" anchor="ctr"/>
          <a:lstStyle/>
          <a:p>
            <a:pPr indent="0" marL="0">
              <a:buNone/>
            </a:pPr>
            <a:r>
              <a:rPr lang="en-US" sz="1800" b="1" dirty="0">
                <a:solidFill>
                  <a:srgbClr val="2563EB"/>
                </a:solidFill>
                <a:latin typeface="Segoe UI" pitchFamily="34" charset="0"/>
                <a:ea typeface="Segoe UI" pitchFamily="34" charset="-122"/>
                <a:cs typeface="Segoe UI" pitchFamily="34" charset="-120"/>
              </a:rPr>
              <a:t>1968: </a:t>
            </a:r>
            <a:pPr indent="0" marL="0">
              <a:buNone/>
            </a:pPr>
            <a:r>
              <a:rPr lang="en-US" sz="1800" dirty="0">
                <a:solidFill>
                  <a:srgbClr val="111827"/>
                </a:solidFill>
                <a:latin typeface="Segoe UI" pitchFamily="34" charset="0"/>
                <a:ea typeface="Segoe UI" pitchFamily="34" charset="-122"/>
                <a:cs typeface="Segoe UI" pitchFamily="34" charset="-120"/>
              </a:rPr>
              <a:t>Ohjelmistoa osataan tehdä enemmän kuin hallita.</a:t>
            </a:r>
            <a:endParaRPr lang="en-US" sz="1800" dirty="0"/>
          </a:p>
        </p:txBody>
      </p:sp>
      <p:sp>
        <p:nvSpPr>
          <p:cNvPr id="33" name="Text 31"/>
          <p:cNvSpPr txBox="1"/>
          <p:nvPr/>
        </p:nvSpPr>
        <p:spPr>
          <a:xfrm>
            <a:off x="6263640" y="4846320"/>
            <a:ext cx="5349240" cy="548640"/>
          </a:xfrm>
          <a:prstGeom prst="rect">
            <a:avLst/>
          </a:prstGeom>
          <a:noFill/>
          <a:ln/>
        </p:spPr>
        <p:txBody>
          <a:bodyPr wrap="square" lIns="0" tIns="0" rIns="0" bIns="0" rtlCol="0" anchor="ctr"/>
          <a:lstStyle/>
          <a:p>
            <a:pPr indent="0" marL="0">
              <a:buNone/>
            </a:pPr>
            <a:r>
              <a:rPr lang="en-US" sz="1800" b="1" dirty="0">
                <a:solidFill>
                  <a:srgbClr val="2563EB"/>
                </a:solidFill>
                <a:latin typeface="Segoe UI" pitchFamily="34" charset="0"/>
                <a:ea typeface="Segoe UI" pitchFamily="34" charset="-122"/>
                <a:cs typeface="Segoe UI" pitchFamily="34" charset="-120"/>
              </a:rPr>
              <a:t>2026: </a:t>
            </a:r>
            <a:pPr indent="0" marL="0">
              <a:buNone/>
            </a:pPr>
            <a:r>
              <a:rPr lang="en-US" sz="1800" dirty="0">
                <a:solidFill>
                  <a:srgbClr val="111827"/>
                </a:solidFill>
                <a:latin typeface="Segoe UI" pitchFamily="34" charset="0"/>
                <a:ea typeface="Segoe UI" pitchFamily="34" charset="-122"/>
                <a:cs typeface="Segoe UI" pitchFamily="34" charset="-120"/>
              </a:rPr>
              <a:t>Ohjelmistoa osataan tuottaa enemmän kuin tarkistaa.</a:t>
            </a:r>
            <a:endParaRPr lang="en-US" sz="1800" dirty="0"/>
          </a:p>
        </p:txBody>
      </p:sp>
      <p:sp>
        <p:nvSpPr>
          <p:cNvPr id="34"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Jokainen sukupolvi saa oman hopealuotinsa.</a:t>
            </a:r>
            <a:endParaRPr lang="en-US" sz="2000" dirty="0"/>
          </a:p>
        </p:txBody>
      </p:sp>
      <p:sp>
        <p:nvSpPr>
          <p:cNvPr id="35"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NATO Software Engineering Conference, Garmisch 1968 · oikealla havainnollistus, ei todellinen PR-lista.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01 · mikä muuttui</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Kirjoittaminen helpottui. Ymmärtäminen ei.</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Brooks ja Naur, luettuna vuonna 2026</a:t>
            </a:r>
            <a:endParaRPr lang="en-US" sz="1800" dirty="0"/>
          </a:p>
        </p:txBody>
      </p:sp>
      <p:sp>
        <p:nvSpPr>
          <p:cNvPr id="5" name="Kortti"/>
          <p:cNvSpPr/>
          <p:nvPr/>
        </p:nvSpPr>
        <p:spPr>
          <a:xfrm>
            <a:off x="548640" y="1783080"/>
            <a:ext cx="5349240" cy="3429000"/>
          </a:xfrm>
          <a:prstGeom prst="roundRect">
            <a:avLst>
              <a:gd name="adj" fmla="val 2667"/>
            </a:avLst>
          </a:prstGeom>
          <a:solidFill>
            <a:srgbClr val="FFFFFF"/>
          </a:solidFill>
          <a:ln w="12700">
            <a:solidFill>
              <a:srgbClr val="E5E7EB"/>
            </a:solidFill>
            <a:prstDash val="solid"/>
          </a:ln>
        </p:spPr>
      </p:sp>
      <p:sp>
        <p:nvSpPr>
          <p:cNvPr id="6" name="Shape 4"/>
          <p:cNvSpPr/>
          <p:nvPr/>
        </p:nvSpPr>
        <p:spPr>
          <a:xfrm>
            <a:off x="868680" y="2057400"/>
            <a:ext cx="685800" cy="685800"/>
          </a:xfrm>
          <a:prstGeom prst="ellipse">
            <a:avLst/>
          </a:prstGeom>
          <a:solidFill>
            <a:srgbClr val="EFF6FF"/>
          </a:solidFill>
          <a:ln w="12700">
            <a:solidFill>
              <a:srgbClr val="EFF6FF"/>
            </a:solidFill>
            <a:prstDash val="solid"/>
          </a:ln>
        </p:spPr>
      </p:sp>
      <p:pic>
        <p:nvPicPr>
          <p:cNvPr id="7" name="Image 0" descr="preencoded.png">    </p:cNvPr>
          <p:cNvPicPr>
            <a:picLocks noChangeAspect="1"/>
          </p:cNvPicPr>
          <p:nvPr/>
        </p:nvPicPr>
        <p:blipFill>
          <a:blip r:embed="rId1"/>
          <a:stretch>
            <a:fillRect/>
          </a:stretch>
        </p:blipFill>
        <p:spPr>
          <a:xfrm>
            <a:off x="1033272" y="2221992"/>
            <a:ext cx="356616" cy="356616"/>
          </a:xfrm>
          <a:prstGeom prst="rect">
            <a:avLst/>
          </a:prstGeom>
        </p:spPr>
      </p:pic>
      <p:sp>
        <p:nvSpPr>
          <p:cNvPr id="8" name="Text 5"/>
          <p:cNvSpPr txBox="1"/>
          <p:nvPr/>
        </p:nvSpPr>
        <p:spPr>
          <a:xfrm>
            <a:off x="868680" y="2880360"/>
            <a:ext cx="4754880" cy="914400"/>
          </a:xfrm>
          <a:prstGeom prst="rect">
            <a:avLst/>
          </a:prstGeom>
          <a:noFill/>
          <a:ln/>
        </p:spPr>
        <p:txBody>
          <a:bodyPr wrap="square" lIns="0" tIns="0" rIns="0" bIns="0" rtlCol="0" anchor="ctr"/>
          <a:lstStyle/>
          <a:p>
            <a:pPr algn="l" indent="0" marL="0">
              <a:buNone/>
            </a:pPr>
            <a:r>
              <a:rPr lang="en-US" sz="2400" b="1" dirty="0">
                <a:solidFill>
                  <a:srgbClr val="111827"/>
                </a:solidFill>
                <a:latin typeface="Segoe UI" pitchFamily="34" charset="0"/>
                <a:ea typeface="Segoe UI" pitchFamily="34" charset="-122"/>
                <a:cs typeface="Segoe UI" pitchFamily="34" charset="-120"/>
              </a:rPr>
              <a:t>”Miten tämä kirjoitetaan?”</a:t>
            </a:r>
            <a:endParaRPr lang="en-US" sz="2400" dirty="0"/>
          </a:p>
        </p:txBody>
      </p:sp>
      <p:sp>
        <p:nvSpPr>
          <p:cNvPr id="9" name="Text 6"/>
          <p:cNvSpPr txBox="1"/>
          <p:nvPr/>
        </p:nvSpPr>
        <p:spPr>
          <a:xfrm>
            <a:off x="868680" y="3840480"/>
            <a:ext cx="4754880" cy="457200"/>
          </a:xfrm>
          <a:prstGeom prst="rect">
            <a:avLst/>
          </a:prstGeom>
          <a:noFill/>
          <a:ln/>
        </p:spPr>
        <p:txBody>
          <a:bodyPr wrap="square" lIns="0" tIns="0" rIns="0" bIns="0" rtlCol="0" anchor="t"/>
          <a:lstStyle/>
          <a:p>
            <a:pPr algn="l" indent="0" marL="0">
              <a:buNone/>
            </a:pPr>
            <a:r>
              <a:rPr lang="en-US" sz="1400" dirty="0">
                <a:solidFill>
                  <a:srgbClr val="6B7280"/>
                </a:solidFill>
                <a:latin typeface="Consolas" pitchFamily="34" charset="0"/>
                <a:ea typeface="Consolas" pitchFamily="34" charset="-122"/>
                <a:cs typeface="Consolas" pitchFamily="34" charset="-120"/>
              </a:rPr>
              <a:t>syntaksi · rajapinnat · pohjakoodi</a:t>
            </a:r>
            <a:endParaRPr lang="en-US" sz="1400" dirty="0"/>
          </a:p>
        </p:txBody>
      </p:sp>
      <p:sp>
        <p:nvSpPr>
          <p:cNvPr id="10" name="Text 7"/>
          <p:cNvSpPr txBox="1"/>
          <p:nvPr/>
        </p:nvSpPr>
        <p:spPr>
          <a:xfrm>
            <a:off x="868680" y="4389120"/>
            <a:ext cx="4754880" cy="548640"/>
          </a:xfrm>
          <a:prstGeom prst="rect">
            <a:avLst/>
          </a:prstGeom>
          <a:noFill/>
          <a:ln/>
        </p:spPr>
        <p:txBody>
          <a:bodyPr wrap="square" lIns="0" tIns="0" rIns="0" bIns="0" rtlCol="0" anchor="t"/>
          <a:lstStyle/>
          <a:p>
            <a:pPr algn="l" indent="0" marL="0">
              <a:buNone/>
            </a:pPr>
            <a:r>
              <a:rPr lang="en-US" sz="2000" b="1" dirty="0">
                <a:solidFill>
                  <a:srgbClr val="2563EB"/>
                </a:solidFill>
                <a:latin typeface="Segoe UI" pitchFamily="34" charset="0"/>
                <a:ea typeface="Segoe UI" pitchFamily="34" charset="-122"/>
                <a:cs typeface="Segoe UI" pitchFamily="34" charset="-120"/>
              </a:rPr>
              <a:t>Tästä AI vie ison osan.</a:t>
            </a:r>
            <a:endParaRPr lang="en-US" sz="2000" dirty="0"/>
          </a:p>
        </p:txBody>
      </p:sp>
      <p:sp>
        <p:nvSpPr>
          <p:cNvPr id="11" name="Kortti"/>
          <p:cNvSpPr/>
          <p:nvPr/>
        </p:nvSpPr>
        <p:spPr>
          <a:xfrm>
            <a:off x="6263640" y="1783080"/>
            <a:ext cx="5349240" cy="3429000"/>
          </a:xfrm>
          <a:prstGeom prst="roundRect">
            <a:avLst>
              <a:gd name="adj" fmla="val 2667"/>
            </a:avLst>
          </a:prstGeom>
          <a:solidFill>
            <a:srgbClr val="FFFFFF"/>
          </a:solidFill>
          <a:ln w="12700">
            <a:solidFill>
              <a:srgbClr val="E5E7EB"/>
            </a:solidFill>
            <a:prstDash val="solid"/>
          </a:ln>
        </p:spPr>
      </p:sp>
      <p:sp>
        <p:nvSpPr>
          <p:cNvPr id="12" name="Shape 9"/>
          <p:cNvSpPr/>
          <p:nvPr/>
        </p:nvSpPr>
        <p:spPr>
          <a:xfrm>
            <a:off x="6583680" y="2057400"/>
            <a:ext cx="685800" cy="685800"/>
          </a:xfrm>
          <a:prstGeom prst="ellipse">
            <a:avLst/>
          </a:prstGeom>
          <a:solidFill>
            <a:srgbClr val="EFF6FF"/>
          </a:solidFill>
          <a:ln w="12700">
            <a:solidFill>
              <a:srgbClr val="EFF6FF"/>
            </a:solidFill>
            <a:prstDash val="solid"/>
          </a:ln>
        </p:spPr>
      </p:sp>
      <p:pic>
        <p:nvPicPr>
          <p:cNvPr id="13" name="Image 1" descr="preencoded.png">    </p:cNvPr>
          <p:cNvPicPr>
            <a:picLocks noChangeAspect="1"/>
          </p:cNvPicPr>
          <p:nvPr/>
        </p:nvPicPr>
        <p:blipFill>
          <a:blip r:embed="rId2"/>
          <a:stretch>
            <a:fillRect/>
          </a:stretch>
        </p:blipFill>
        <p:spPr>
          <a:xfrm>
            <a:off x="6748272" y="2221992"/>
            <a:ext cx="356616" cy="356616"/>
          </a:xfrm>
          <a:prstGeom prst="rect">
            <a:avLst/>
          </a:prstGeom>
        </p:spPr>
      </p:pic>
      <p:sp>
        <p:nvSpPr>
          <p:cNvPr id="14" name="Text 10"/>
          <p:cNvSpPr txBox="1"/>
          <p:nvPr/>
        </p:nvSpPr>
        <p:spPr>
          <a:xfrm>
            <a:off x="6583680" y="2880360"/>
            <a:ext cx="4754880" cy="914400"/>
          </a:xfrm>
          <a:prstGeom prst="rect">
            <a:avLst/>
          </a:prstGeom>
          <a:noFill/>
          <a:ln/>
        </p:spPr>
        <p:txBody>
          <a:bodyPr wrap="square" lIns="0" tIns="0" rIns="0" bIns="0" rtlCol="0" anchor="ctr"/>
          <a:lstStyle/>
          <a:p>
            <a:pPr algn="l" indent="0" marL="0">
              <a:buNone/>
            </a:pPr>
            <a:r>
              <a:rPr lang="en-US" sz="2400" b="1" dirty="0">
                <a:solidFill>
                  <a:srgbClr val="111827"/>
                </a:solidFill>
                <a:latin typeface="Segoe UI" pitchFamily="34" charset="0"/>
                <a:ea typeface="Segoe UI" pitchFamily="34" charset="-122"/>
                <a:cs typeface="Segoe UI" pitchFamily="34" charset="-120"/>
              </a:rPr>
              <a:t>”Mitä tämän pitää tehdä – ja miksi?”</a:t>
            </a:r>
            <a:endParaRPr lang="en-US" sz="2400" dirty="0"/>
          </a:p>
        </p:txBody>
      </p:sp>
      <p:sp>
        <p:nvSpPr>
          <p:cNvPr id="15" name="Text 11"/>
          <p:cNvSpPr txBox="1"/>
          <p:nvPr/>
        </p:nvSpPr>
        <p:spPr>
          <a:xfrm>
            <a:off x="6583680" y="3840480"/>
            <a:ext cx="4754880" cy="457200"/>
          </a:xfrm>
          <a:prstGeom prst="rect">
            <a:avLst/>
          </a:prstGeom>
          <a:noFill/>
          <a:ln/>
        </p:spPr>
        <p:txBody>
          <a:bodyPr wrap="square" lIns="0" tIns="0" rIns="0" bIns="0" rtlCol="0" anchor="t"/>
          <a:lstStyle/>
          <a:p>
            <a:pPr algn="l" indent="0" marL="0">
              <a:buNone/>
            </a:pPr>
            <a:r>
              <a:rPr lang="en-US" sz="1400" dirty="0">
                <a:solidFill>
                  <a:srgbClr val="6B7280"/>
                </a:solidFill>
                <a:latin typeface="Consolas" pitchFamily="34" charset="0"/>
                <a:ea typeface="Consolas" pitchFamily="34" charset="-122"/>
                <a:cs typeface="Consolas" pitchFamily="34" charset="-120"/>
              </a:rPr>
              <a:t>vaatimukset · muutos · ymmärrys ihmisten päässä</a:t>
            </a:r>
            <a:endParaRPr lang="en-US" sz="1400" dirty="0"/>
          </a:p>
        </p:txBody>
      </p:sp>
      <p:sp>
        <p:nvSpPr>
          <p:cNvPr id="16" name="Text 12"/>
          <p:cNvSpPr txBox="1"/>
          <p:nvPr/>
        </p:nvSpPr>
        <p:spPr>
          <a:xfrm>
            <a:off x="6583680" y="4389120"/>
            <a:ext cx="4754880" cy="548640"/>
          </a:xfrm>
          <a:prstGeom prst="rect">
            <a:avLst/>
          </a:prstGeom>
          <a:noFill/>
          <a:ln/>
        </p:spPr>
        <p:txBody>
          <a:bodyPr wrap="square" lIns="0" tIns="0" rIns="0" bIns="0" rtlCol="0" anchor="t"/>
          <a:lstStyle/>
          <a:p>
            <a:pPr algn="l" indent="0" marL="0">
              <a:buNone/>
            </a:pPr>
            <a:r>
              <a:rPr lang="en-US" sz="2000" b="1" dirty="0">
                <a:solidFill>
                  <a:srgbClr val="111827"/>
                </a:solidFill>
                <a:latin typeface="Segoe UI" pitchFamily="34" charset="0"/>
                <a:ea typeface="Segoe UI" pitchFamily="34" charset="-122"/>
                <a:cs typeface="Segoe UI" pitchFamily="34" charset="-120"/>
              </a:rPr>
              <a:t>Tässä AI auttaa, mutta ei omista.</a:t>
            </a:r>
            <a:endParaRPr lang="en-US" sz="2000" dirty="0"/>
          </a:p>
        </p:txBody>
      </p:sp>
      <p:sp>
        <p:nvSpPr>
          <p:cNvPr id="17"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Kuka ymmärtää järjestelmän, jos agentti kirjoittaa koodin?</a:t>
            </a:r>
            <a:endParaRPr lang="en-US" sz="2000" dirty="0"/>
          </a:p>
        </p:txBody>
      </p:sp>
      <p:sp>
        <p:nvSpPr>
          <p:cNvPr id="18"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Fred Brooks, No Silver Bullet (1986) · Peter Naur, Programming as Theory Building (1985) · vapaasti tulkittu.</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01 · mikä muuttui</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2600" b="1" dirty="0">
                <a:solidFill>
                  <a:srgbClr val="111827"/>
                </a:solidFill>
                <a:latin typeface="Segoe UI" pitchFamily="34" charset="0"/>
                <a:ea typeface="Segoe UI" pitchFamily="34" charset="-122"/>
                <a:cs typeface="Segoe UI" pitchFamily="34" charset="-120"/>
              </a:rPr>
              <a:t>Agentti kirjoitti ohjelman uusiksi näkemättä alkuperäistä koodia</a:t>
            </a:r>
            <a:endParaRPr lang="en-US" sz="26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MirrorCode: gotree, noin 16 000 riviä</a:t>
            </a:r>
            <a:endParaRPr lang="en-US" sz="1800" dirty="0"/>
          </a:p>
        </p:txBody>
      </p:sp>
      <p:sp>
        <p:nvSpPr>
          <p:cNvPr id="5" name="Kortti"/>
          <p:cNvSpPr/>
          <p:nvPr/>
        </p:nvSpPr>
        <p:spPr>
          <a:xfrm>
            <a:off x="548640" y="1783080"/>
            <a:ext cx="5852160" cy="3383280"/>
          </a:xfrm>
          <a:prstGeom prst="roundRect">
            <a:avLst>
              <a:gd name="adj" fmla="val 2703"/>
            </a:avLst>
          </a:prstGeom>
          <a:solidFill>
            <a:srgbClr val="FFFFFF"/>
          </a:solidFill>
          <a:ln w="12700">
            <a:solidFill>
              <a:srgbClr val="E5E7EB"/>
            </a:solidFill>
            <a:prstDash val="solid"/>
          </a:ln>
        </p:spPr>
      </p:sp>
      <p:sp>
        <p:nvSpPr>
          <p:cNvPr id="6" name="Shape 4"/>
          <p:cNvSpPr/>
          <p:nvPr/>
        </p:nvSpPr>
        <p:spPr>
          <a:xfrm>
            <a:off x="685800" y="2103120"/>
            <a:ext cx="5577840" cy="1005840"/>
          </a:xfrm>
          <a:prstGeom prst="rect">
            <a:avLst/>
          </a:prstGeom>
          <a:solidFill>
            <a:srgbClr val="DAFBE1"/>
          </a:solidFill>
          <a:ln w="12700">
            <a:solidFill>
              <a:srgbClr val="DAFBE1"/>
            </a:solidFill>
            <a:prstDash val="solid"/>
          </a:ln>
        </p:spPr>
      </p:sp>
      <p:sp>
        <p:nvSpPr>
          <p:cNvPr id="7" name="Text 5"/>
          <p:cNvSpPr txBox="1"/>
          <p:nvPr/>
        </p:nvSpPr>
        <p:spPr>
          <a:xfrm>
            <a:off x="822960" y="2103120"/>
            <a:ext cx="365760" cy="1005840"/>
          </a:xfrm>
          <a:prstGeom prst="rect">
            <a:avLst/>
          </a:prstGeom>
          <a:noFill/>
          <a:ln/>
        </p:spPr>
        <p:txBody>
          <a:bodyPr wrap="square" lIns="0" tIns="0" rIns="0" bIns="0" rtlCol="0" anchor="ctr"/>
          <a:lstStyle/>
          <a:p>
            <a:pPr algn="l" indent="0" marL="0">
              <a:buNone/>
            </a:pPr>
            <a:r>
              <a:rPr lang="en-US" sz="2600" b="1" dirty="0">
                <a:solidFill>
                  <a:srgbClr val="1A7F37"/>
                </a:solidFill>
                <a:latin typeface="Consolas" pitchFamily="34" charset="0"/>
                <a:ea typeface="Consolas" pitchFamily="34" charset="-122"/>
                <a:cs typeface="Consolas" pitchFamily="34" charset="-120"/>
              </a:rPr>
              <a:t>+</a:t>
            </a:r>
            <a:endParaRPr lang="en-US" sz="2600" dirty="0"/>
          </a:p>
        </p:txBody>
      </p:sp>
      <p:sp>
        <p:nvSpPr>
          <p:cNvPr id="8" name="Text 6"/>
          <p:cNvSpPr txBox="1"/>
          <p:nvPr/>
        </p:nvSpPr>
        <p:spPr>
          <a:xfrm>
            <a:off x="1280160" y="2103120"/>
            <a:ext cx="4846320" cy="1005840"/>
          </a:xfrm>
          <a:prstGeom prst="rect">
            <a:avLst/>
          </a:prstGeom>
          <a:noFill/>
          <a:ln/>
        </p:spPr>
        <p:txBody>
          <a:bodyPr wrap="square" lIns="0" tIns="0" rIns="0" bIns="0" rtlCol="0" anchor="ctr"/>
          <a:lstStyle/>
          <a:p>
            <a:pPr indent="0" marL="0">
              <a:buNone/>
            </a:pPr>
            <a:r>
              <a:rPr lang="en-US" sz="2100" b="1" dirty="0">
                <a:solidFill>
                  <a:srgbClr val="111827"/>
                </a:solidFill>
                <a:latin typeface="Segoe UI" pitchFamily="34" charset="0"/>
                <a:ea typeface="Segoe UI" pitchFamily="34" charset="-122"/>
                <a:cs typeface="Segoe UI" pitchFamily="34" charset="-120"/>
              </a:rPr>
              <a:t>Annettu: </a:t>
            </a:r>
            <a:pPr indent="0" marL="0">
              <a:buNone/>
            </a:pPr>
            <a:r>
              <a:rPr lang="en-US" sz="2100" dirty="0">
                <a:solidFill>
                  <a:srgbClr val="111827"/>
                </a:solidFill>
                <a:latin typeface="Segoe UI" pitchFamily="34" charset="0"/>
                <a:ea typeface="Segoe UI" pitchFamily="34" charset="-122"/>
                <a:cs typeface="Segoe UI" pitchFamily="34" charset="-120"/>
              </a:rPr>
              <a:t>miten ohjelman pitää käyttäytyä + testit</a:t>
            </a:r>
            <a:endParaRPr lang="en-US" sz="2100" dirty="0"/>
          </a:p>
        </p:txBody>
      </p:sp>
      <p:sp>
        <p:nvSpPr>
          <p:cNvPr id="9" name="Shape 7"/>
          <p:cNvSpPr/>
          <p:nvPr/>
        </p:nvSpPr>
        <p:spPr>
          <a:xfrm>
            <a:off x="685800" y="3474720"/>
            <a:ext cx="5577840" cy="1005840"/>
          </a:xfrm>
          <a:prstGeom prst="rect">
            <a:avLst/>
          </a:prstGeom>
          <a:solidFill>
            <a:srgbClr val="FFEBE9"/>
          </a:solidFill>
          <a:ln w="12700">
            <a:solidFill>
              <a:srgbClr val="FFEBE9"/>
            </a:solidFill>
            <a:prstDash val="solid"/>
          </a:ln>
        </p:spPr>
      </p:sp>
      <p:sp>
        <p:nvSpPr>
          <p:cNvPr id="10" name="Text 8"/>
          <p:cNvSpPr txBox="1"/>
          <p:nvPr/>
        </p:nvSpPr>
        <p:spPr>
          <a:xfrm>
            <a:off x="822960" y="3474720"/>
            <a:ext cx="365760" cy="1005840"/>
          </a:xfrm>
          <a:prstGeom prst="rect">
            <a:avLst/>
          </a:prstGeom>
          <a:noFill/>
          <a:ln/>
        </p:spPr>
        <p:txBody>
          <a:bodyPr wrap="square" lIns="0" tIns="0" rIns="0" bIns="0" rtlCol="0" anchor="ctr"/>
          <a:lstStyle/>
          <a:p>
            <a:pPr algn="l" indent="0" marL="0">
              <a:buNone/>
            </a:pPr>
            <a:r>
              <a:rPr lang="en-US" sz="2600" b="1" dirty="0">
                <a:solidFill>
                  <a:srgbClr val="CF222E"/>
                </a:solidFill>
                <a:latin typeface="Consolas" pitchFamily="34" charset="0"/>
                <a:ea typeface="Consolas" pitchFamily="34" charset="-122"/>
                <a:cs typeface="Consolas" pitchFamily="34" charset="-120"/>
              </a:rPr>
              <a:t>−</a:t>
            </a:r>
            <a:endParaRPr lang="en-US" sz="2600" dirty="0"/>
          </a:p>
        </p:txBody>
      </p:sp>
      <p:sp>
        <p:nvSpPr>
          <p:cNvPr id="11" name="Text 9"/>
          <p:cNvSpPr txBox="1"/>
          <p:nvPr/>
        </p:nvSpPr>
        <p:spPr>
          <a:xfrm>
            <a:off x="1280160" y="3474720"/>
            <a:ext cx="4846320" cy="1005840"/>
          </a:xfrm>
          <a:prstGeom prst="rect">
            <a:avLst/>
          </a:prstGeom>
          <a:noFill/>
          <a:ln/>
        </p:spPr>
        <p:txBody>
          <a:bodyPr wrap="square" lIns="0" tIns="0" rIns="0" bIns="0" rtlCol="0" anchor="ctr"/>
          <a:lstStyle/>
          <a:p>
            <a:pPr indent="0" marL="0">
              <a:buNone/>
            </a:pPr>
            <a:r>
              <a:rPr lang="en-US" sz="2100" b="1" dirty="0">
                <a:solidFill>
                  <a:srgbClr val="111827"/>
                </a:solidFill>
                <a:latin typeface="Segoe UI" pitchFamily="34" charset="0"/>
                <a:ea typeface="Segoe UI" pitchFamily="34" charset="-122"/>
                <a:cs typeface="Segoe UI" pitchFamily="34" charset="-120"/>
              </a:rPr>
              <a:t>Ei annettu: </a:t>
            </a:r>
            <a:pPr indent="0" marL="0">
              <a:buNone/>
            </a:pPr>
            <a:r>
              <a:rPr lang="en-US" sz="2100" dirty="0">
                <a:solidFill>
                  <a:srgbClr val="111827"/>
                </a:solidFill>
                <a:latin typeface="Segoe UI" pitchFamily="34" charset="0"/>
                <a:ea typeface="Segoe UI" pitchFamily="34" charset="-122"/>
                <a:cs typeface="Segoe UI" pitchFamily="34" charset="-120"/>
              </a:rPr>
              <a:t>lähdekoodia</a:t>
            </a:r>
            <a:endParaRPr lang="en-US" sz="2100" dirty="0"/>
          </a:p>
        </p:txBody>
      </p:sp>
      <p:sp>
        <p:nvSpPr>
          <p:cNvPr id="12" name="Shape 10"/>
          <p:cNvSpPr/>
          <p:nvPr/>
        </p:nvSpPr>
        <p:spPr>
          <a:xfrm>
            <a:off x="6858000" y="1783080"/>
            <a:ext cx="4754880" cy="3383280"/>
          </a:xfrm>
          <a:prstGeom prst="roundRect">
            <a:avLst>
              <a:gd name="adj" fmla="val 2703"/>
            </a:avLst>
          </a:prstGeom>
          <a:solidFill>
            <a:srgbClr val="F3F4F6"/>
          </a:solidFill>
          <a:ln w="15875">
            <a:solidFill>
              <a:srgbClr val="9CA3AF"/>
            </a:solidFill>
            <a:prstDash val="dash"/>
          </a:ln>
        </p:spPr>
      </p:sp>
      <p:sp>
        <p:nvSpPr>
          <p:cNvPr id="13" name="Text 11"/>
          <p:cNvSpPr txBox="1"/>
          <p:nvPr/>
        </p:nvSpPr>
        <p:spPr>
          <a:xfrm>
            <a:off x="6858000" y="1783080"/>
            <a:ext cx="4754880" cy="3383280"/>
          </a:xfrm>
          <a:prstGeom prst="rect">
            <a:avLst/>
          </a:prstGeom>
          <a:noFill/>
          <a:ln/>
        </p:spPr>
        <p:txBody>
          <a:bodyPr wrap="square" lIns="0" tIns="0" rIns="0" bIns="0" rtlCol="0" anchor="ctr"/>
          <a:lstStyle/>
          <a:p>
            <a:pPr algn="ctr" indent="0" marL="0">
              <a:buNone/>
            </a:pPr>
            <a:r>
              <a:rPr lang="en-US" sz="9600" dirty="0">
                <a:solidFill>
                  <a:srgbClr val="9CA3AF"/>
                </a:solidFill>
                <a:latin typeface="Consolas" pitchFamily="34" charset="0"/>
                <a:ea typeface="Consolas" pitchFamily="34" charset="-122"/>
                <a:cs typeface="Consolas" pitchFamily="34" charset="-120"/>
              </a:rPr>
              <a:t>?</a:t>
            </a:r>
            <a:endParaRPr lang="en-US" sz="9600" dirty="0"/>
          </a:p>
        </p:txBody>
      </p:sp>
      <p:sp>
        <p:nvSpPr>
          <p:cNvPr id="14"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Epoch AI &amp; METR, MirrorCode (projektisivu, tarkistettu 18.10.2026) · yksi protokolla · mahdollinen opetusdatan kontaminaatio.</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01 · mikä muuttui</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2600" b="1" dirty="0">
                <a:solidFill>
                  <a:srgbClr val="111827"/>
                </a:solidFill>
                <a:latin typeface="Segoe UI" pitchFamily="34" charset="0"/>
                <a:ea typeface="Segoe UI" pitchFamily="34" charset="-122"/>
                <a:cs typeface="Segoe UI" pitchFamily="34" charset="-120"/>
              </a:rPr>
              <a:t>Agentti kirjoitti ohjelman uusiksi näkemättä alkuperäistä koodia</a:t>
            </a:r>
            <a:endParaRPr lang="en-US" sz="26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MirrorCode: gotree, noin 16 000 riviä</a:t>
            </a:r>
            <a:endParaRPr lang="en-US" sz="1800" dirty="0"/>
          </a:p>
        </p:txBody>
      </p:sp>
      <p:sp>
        <p:nvSpPr>
          <p:cNvPr id="5" name="Kortti"/>
          <p:cNvSpPr/>
          <p:nvPr/>
        </p:nvSpPr>
        <p:spPr>
          <a:xfrm>
            <a:off x="548640" y="1783080"/>
            <a:ext cx="5852160" cy="3383280"/>
          </a:xfrm>
          <a:prstGeom prst="roundRect">
            <a:avLst>
              <a:gd name="adj" fmla="val 2703"/>
            </a:avLst>
          </a:prstGeom>
          <a:solidFill>
            <a:srgbClr val="FFFFFF"/>
          </a:solidFill>
          <a:ln w="12700">
            <a:solidFill>
              <a:srgbClr val="E5E7EB"/>
            </a:solidFill>
            <a:prstDash val="solid"/>
          </a:ln>
        </p:spPr>
      </p:sp>
      <p:sp>
        <p:nvSpPr>
          <p:cNvPr id="6" name="Shape 4"/>
          <p:cNvSpPr/>
          <p:nvPr/>
        </p:nvSpPr>
        <p:spPr>
          <a:xfrm>
            <a:off x="685800" y="2103120"/>
            <a:ext cx="5577840" cy="1005840"/>
          </a:xfrm>
          <a:prstGeom prst="rect">
            <a:avLst/>
          </a:prstGeom>
          <a:solidFill>
            <a:srgbClr val="DAFBE1"/>
          </a:solidFill>
          <a:ln w="12700">
            <a:solidFill>
              <a:srgbClr val="DAFBE1"/>
            </a:solidFill>
            <a:prstDash val="solid"/>
          </a:ln>
        </p:spPr>
      </p:sp>
      <p:sp>
        <p:nvSpPr>
          <p:cNvPr id="7" name="Text 5"/>
          <p:cNvSpPr txBox="1"/>
          <p:nvPr/>
        </p:nvSpPr>
        <p:spPr>
          <a:xfrm>
            <a:off x="822960" y="2103120"/>
            <a:ext cx="365760" cy="1005840"/>
          </a:xfrm>
          <a:prstGeom prst="rect">
            <a:avLst/>
          </a:prstGeom>
          <a:noFill/>
          <a:ln/>
        </p:spPr>
        <p:txBody>
          <a:bodyPr wrap="square" lIns="0" tIns="0" rIns="0" bIns="0" rtlCol="0" anchor="ctr"/>
          <a:lstStyle/>
          <a:p>
            <a:pPr algn="l" indent="0" marL="0">
              <a:buNone/>
            </a:pPr>
            <a:r>
              <a:rPr lang="en-US" sz="2600" b="1" dirty="0">
                <a:solidFill>
                  <a:srgbClr val="1A7F37"/>
                </a:solidFill>
                <a:latin typeface="Consolas" pitchFamily="34" charset="0"/>
                <a:ea typeface="Consolas" pitchFamily="34" charset="-122"/>
                <a:cs typeface="Consolas" pitchFamily="34" charset="-120"/>
              </a:rPr>
              <a:t>+</a:t>
            </a:r>
            <a:endParaRPr lang="en-US" sz="2600" dirty="0"/>
          </a:p>
        </p:txBody>
      </p:sp>
      <p:sp>
        <p:nvSpPr>
          <p:cNvPr id="8" name="Text 6"/>
          <p:cNvSpPr txBox="1"/>
          <p:nvPr/>
        </p:nvSpPr>
        <p:spPr>
          <a:xfrm>
            <a:off x="1280160" y="2103120"/>
            <a:ext cx="4846320" cy="1005840"/>
          </a:xfrm>
          <a:prstGeom prst="rect">
            <a:avLst/>
          </a:prstGeom>
          <a:noFill/>
          <a:ln/>
        </p:spPr>
        <p:txBody>
          <a:bodyPr wrap="square" lIns="0" tIns="0" rIns="0" bIns="0" rtlCol="0" anchor="ctr"/>
          <a:lstStyle/>
          <a:p>
            <a:pPr indent="0" marL="0">
              <a:buNone/>
            </a:pPr>
            <a:r>
              <a:rPr lang="en-US" sz="2100" b="1" dirty="0">
                <a:solidFill>
                  <a:srgbClr val="111827"/>
                </a:solidFill>
                <a:latin typeface="Segoe UI" pitchFamily="34" charset="0"/>
                <a:ea typeface="Segoe UI" pitchFamily="34" charset="-122"/>
                <a:cs typeface="Segoe UI" pitchFamily="34" charset="-120"/>
              </a:rPr>
              <a:t>Annettu: </a:t>
            </a:r>
            <a:pPr indent="0" marL="0">
              <a:buNone/>
            </a:pPr>
            <a:r>
              <a:rPr lang="en-US" sz="2100" dirty="0">
                <a:solidFill>
                  <a:srgbClr val="111827"/>
                </a:solidFill>
                <a:latin typeface="Segoe UI" pitchFamily="34" charset="0"/>
                <a:ea typeface="Segoe UI" pitchFamily="34" charset="-122"/>
                <a:cs typeface="Segoe UI" pitchFamily="34" charset="-120"/>
              </a:rPr>
              <a:t>miten ohjelman pitää käyttäytyä + testit</a:t>
            </a:r>
            <a:endParaRPr lang="en-US" sz="2100" dirty="0"/>
          </a:p>
        </p:txBody>
      </p:sp>
      <p:sp>
        <p:nvSpPr>
          <p:cNvPr id="9" name="Shape 7"/>
          <p:cNvSpPr/>
          <p:nvPr/>
        </p:nvSpPr>
        <p:spPr>
          <a:xfrm>
            <a:off x="685800" y="3474720"/>
            <a:ext cx="5577840" cy="1005840"/>
          </a:xfrm>
          <a:prstGeom prst="rect">
            <a:avLst/>
          </a:prstGeom>
          <a:solidFill>
            <a:srgbClr val="FFEBE9"/>
          </a:solidFill>
          <a:ln w="12700">
            <a:solidFill>
              <a:srgbClr val="FFEBE9"/>
            </a:solidFill>
            <a:prstDash val="solid"/>
          </a:ln>
        </p:spPr>
      </p:sp>
      <p:sp>
        <p:nvSpPr>
          <p:cNvPr id="10" name="Text 8"/>
          <p:cNvSpPr txBox="1"/>
          <p:nvPr/>
        </p:nvSpPr>
        <p:spPr>
          <a:xfrm>
            <a:off x="822960" y="3474720"/>
            <a:ext cx="365760" cy="1005840"/>
          </a:xfrm>
          <a:prstGeom prst="rect">
            <a:avLst/>
          </a:prstGeom>
          <a:noFill/>
          <a:ln/>
        </p:spPr>
        <p:txBody>
          <a:bodyPr wrap="square" lIns="0" tIns="0" rIns="0" bIns="0" rtlCol="0" anchor="ctr"/>
          <a:lstStyle/>
          <a:p>
            <a:pPr algn="l" indent="0" marL="0">
              <a:buNone/>
            </a:pPr>
            <a:r>
              <a:rPr lang="en-US" sz="2600" b="1" dirty="0">
                <a:solidFill>
                  <a:srgbClr val="CF222E"/>
                </a:solidFill>
                <a:latin typeface="Consolas" pitchFamily="34" charset="0"/>
                <a:ea typeface="Consolas" pitchFamily="34" charset="-122"/>
                <a:cs typeface="Consolas" pitchFamily="34" charset="-120"/>
              </a:rPr>
              <a:t>−</a:t>
            </a:r>
            <a:endParaRPr lang="en-US" sz="2600" dirty="0"/>
          </a:p>
        </p:txBody>
      </p:sp>
      <p:sp>
        <p:nvSpPr>
          <p:cNvPr id="11" name="Text 9"/>
          <p:cNvSpPr txBox="1"/>
          <p:nvPr/>
        </p:nvSpPr>
        <p:spPr>
          <a:xfrm>
            <a:off x="1280160" y="3474720"/>
            <a:ext cx="4846320" cy="1005840"/>
          </a:xfrm>
          <a:prstGeom prst="rect">
            <a:avLst/>
          </a:prstGeom>
          <a:noFill/>
          <a:ln/>
        </p:spPr>
        <p:txBody>
          <a:bodyPr wrap="square" lIns="0" tIns="0" rIns="0" bIns="0" rtlCol="0" anchor="ctr"/>
          <a:lstStyle/>
          <a:p>
            <a:pPr indent="0" marL="0">
              <a:buNone/>
            </a:pPr>
            <a:r>
              <a:rPr lang="en-US" sz="2100" b="1" dirty="0">
                <a:solidFill>
                  <a:srgbClr val="111827"/>
                </a:solidFill>
                <a:latin typeface="Segoe UI" pitchFamily="34" charset="0"/>
                <a:ea typeface="Segoe UI" pitchFamily="34" charset="-122"/>
                <a:cs typeface="Segoe UI" pitchFamily="34" charset="-120"/>
              </a:rPr>
              <a:t>Ei annettu: </a:t>
            </a:r>
            <a:pPr indent="0" marL="0">
              <a:buNone/>
            </a:pPr>
            <a:r>
              <a:rPr lang="en-US" sz="2100" dirty="0">
                <a:solidFill>
                  <a:srgbClr val="111827"/>
                </a:solidFill>
                <a:latin typeface="Segoe UI" pitchFamily="34" charset="0"/>
                <a:ea typeface="Segoe UI" pitchFamily="34" charset="-122"/>
                <a:cs typeface="Segoe UI" pitchFamily="34" charset="-120"/>
              </a:rPr>
              <a:t>lähdekoodia</a:t>
            </a:r>
            <a:endParaRPr lang="en-US" sz="2100" dirty="0"/>
          </a:p>
        </p:txBody>
      </p:sp>
      <p:sp>
        <p:nvSpPr>
          <p:cNvPr id="12" name="Text 10"/>
          <p:cNvSpPr txBox="1"/>
          <p:nvPr/>
        </p:nvSpPr>
        <p:spPr>
          <a:xfrm>
            <a:off x="6949440" y="2103120"/>
            <a:ext cx="4754880" cy="1005840"/>
          </a:xfrm>
          <a:prstGeom prst="rect">
            <a:avLst/>
          </a:prstGeom>
          <a:noFill/>
          <a:ln/>
        </p:spPr>
        <p:txBody>
          <a:bodyPr wrap="square" lIns="0" tIns="0" rIns="0" bIns="0" rtlCol="0" anchor="ctr"/>
          <a:lstStyle/>
          <a:p>
            <a:pPr algn="l" indent="0" marL="0">
              <a:buNone/>
            </a:pPr>
            <a:r>
              <a:rPr lang="en-US" sz="5400" b="1" dirty="0">
                <a:solidFill>
                  <a:srgbClr val="2563EB"/>
                </a:solidFill>
                <a:latin typeface="Segoe UI" pitchFamily="34" charset="0"/>
                <a:ea typeface="Segoe UI" pitchFamily="34" charset="-122"/>
                <a:cs typeface="Segoe UI" pitchFamily="34" charset="-120"/>
              </a:rPr>
              <a:t>2 000 / 2 001</a:t>
            </a:r>
            <a:endParaRPr lang="en-US" sz="5400" dirty="0"/>
          </a:p>
        </p:txBody>
      </p:sp>
      <p:sp>
        <p:nvSpPr>
          <p:cNvPr id="13" name="Text 11"/>
          <p:cNvSpPr txBox="1"/>
          <p:nvPr/>
        </p:nvSpPr>
        <p:spPr>
          <a:xfrm>
            <a:off x="6949440" y="3127248"/>
            <a:ext cx="4754880" cy="822960"/>
          </a:xfrm>
          <a:prstGeom prst="rect">
            <a:avLst/>
          </a:prstGeom>
          <a:noFill/>
          <a:ln/>
        </p:spPr>
        <p:txBody>
          <a:bodyPr wrap="square" lIns="0" tIns="0" rIns="0" bIns="0" rtlCol="0" anchor="t"/>
          <a:lstStyle/>
          <a:p>
            <a:pPr algn="l" indent="0" marL="0">
              <a:buNone/>
            </a:pPr>
            <a:r>
              <a:rPr lang="en-US" sz="2400" dirty="0">
                <a:solidFill>
                  <a:srgbClr val="111827"/>
                </a:solidFill>
                <a:latin typeface="Segoe UI" pitchFamily="34" charset="0"/>
                <a:ea typeface="Segoe UI" pitchFamily="34" charset="-122"/>
                <a:cs typeface="Segoe UI" pitchFamily="34" charset="-120"/>
              </a:rPr>
              <a:t>testiä läpi</a:t>
            </a:r>
            <a:endParaRPr lang="en-US" sz="2400" dirty="0"/>
          </a:p>
        </p:txBody>
      </p:sp>
      <p:sp>
        <p:nvSpPr>
          <p:cNvPr id="14" name="Text 12"/>
          <p:cNvSpPr txBox="1"/>
          <p:nvPr/>
        </p:nvSpPr>
        <p:spPr>
          <a:xfrm>
            <a:off x="6949440" y="4114800"/>
            <a:ext cx="4572000" cy="457200"/>
          </a:xfrm>
          <a:prstGeom prst="rect">
            <a:avLst/>
          </a:prstGeom>
          <a:noFill/>
          <a:ln/>
        </p:spPr>
        <p:txBody>
          <a:bodyPr wrap="square" lIns="0" tIns="0" rIns="0" bIns="0" rtlCol="0" anchor="t"/>
          <a:lstStyle/>
          <a:p>
            <a:pPr algn="l" indent="0" marL="0">
              <a:buNone/>
            </a:pPr>
            <a:r>
              <a:rPr lang="en-US" sz="1600" dirty="0">
                <a:solidFill>
                  <a:srgbClr val="6B7280"/>
                </a:solidFill>
                <a:latin typeface="Consolas" pitchFamily="34" charset="0"/>
                <a:ea typeface="Consolas" pitchFamily="34" charset="-122"/>
                <a:cs typeface="Consolas" pitchFamily="34" charset="-120"/>
              </a:rPr>
              <a:t>1 reunatapaus jäi.</a:t>
            </a:r>
            <a:endParaRPr lang="en-US" sz="1600" dirty="0"/>
          </a:p>
        </p:txBody>
      </p:sp>
      <p:sp>
        <p:nvSpPr>
          <p:cNvPr id="15"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Iso tehtävä onnistuu, kun tiedetään tarkalleen, mikä on oikein.</a:t>
            </a:r>
            <a:endParaRPr lang="en-US" sz="2000" dirty="0"/>
          </a:p>
        </p:txBody>
      </p:sp>
      <p:sp>
        <p:nvSpPr>
          <p:cNvPr id="16"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Epoch AI &amp; METR, MirrorCode (projektisivu, tarkistettu 18.10.2026) · yksi protokolla · mahdollinen opetusdatan kontaminaatio.</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ortti"/>
          <p:cNvSpPr/>
          <p:nvPr/>
        </p:nvSpPr>
        <p:spPr>
          <a:xfrm>
            <a:off x="2194560" y="548640"/>
            <a:ext cx="7772400" cy="3017520"/>
          </a:xfrm>
          <a:prstGeom prst="roundRect">
            <a:avLst>
              <a:gd name="adj" fmla="val 3030"/>
            </a:avLst>
          </a:prstGeom>
          <a:solidFill>
            <a:srgbClr val="FFFFFF"/>
          </a:solidFill>
          <a:ln w="12700">
            <a:solidFill>
              <a:srgbClr val="E5E7EB"/>
            </a:solidFill>
            <a:prstDash val="solid"/>
          </a:ln>
        </p:spPr>
      </p:sp>
      <p:sp>
        <p:nvSpPr>
          <p:cNvPr id="3" name="Text 1"/>
          <p:cNvSpPr txBox="1"/>
          <p:nvPr/>
        </p:nvSpPr>
        <p:spPr>
          <a:xfrm>
            <a:off x="2743200" y="777240"/>
            <a:ext cx="3108960" cy="731520"/>
          </a:xfrm>
          <a:prstGeom prst="rect">
            <a:avLst/>
          </a:prstGeom>
          <a:noFill/>
          <a:ln/>
        </p:spPr>
        <p:txBody>
          <a:bodyPr wrap="square" lIns="0" tIns="0" rIns="0" bIns="0" rtlCol="0" anchor="ctr"/>
          <a:lstStyle/>
          <a:p>
            <a:pPr algn="ctr" indent="0" marL="0">
              <a:buNone/>
            </a:pPr>
            <a:r>
              <a:rPr lang="en-US" sz="2000" b="1" dirty="0">
                <a:solidFill>
                  <a:srgbClr val="111827"/>
                </a:solidFill>
                <a:latin typeface="Segoe UI" pitchFamily="34" charset="0"/>
                <a:ea typeface="Segoe UI" pitchFamily="34" charset="-122"/>
                <a:cs typeface="Segoe UI" pitchFamily="34" charset="-120"/>
              </a:rPr>
              <a:t>Lue koko diffi</a:t>
            </a:r>
            <a:endParaRPr lang="en-US" sz="2000" dirty="0"/>
          </a:p>
        </p:txBody>
      </p:sp>
      <p:sp>
        <p:nvSpPr>
          <p:cNvPr id="4" name="Shape 2"/>
          <p:cNvSpPr/>
          <p:nvPr/>
        </p:nvSpPr>
        <p:spPr>
          <a:xfrm>
            <a:off x="2926080" y="1691640"/>
            <a:ext cx="2743200" cy="1463040"/>
          </a:xfrm>
          <a:prstGeom prst="ellipse">
            <a:avLst/>
          </a:prstGeom>
          <a:solidFill>
            <a:srgbClr val="E5534B"/>
          </a:solidFill>
          <a:ln w="50800">
            <a:solidFill>
              <a:srgbClr val="A40E26"/>
            </a:solidFill>
            <a:prstDash val="solid"/>
          </a:ln>
        </p:spPr>
      </p:sp>
      <p:sp>
        <p:nvSpPr>
          <p:cNvPr id="5" name="Text 3"/>
          <p:cNvSpPr txBox="1"/>
          <p:nvPr/>
        </p:nvSpPr>
        <p:spPr>
          <a:xfrm>
            <a:off x="6309360" y="777240"/>
            <a:ext cx="3108960" cy="731520"/>
          </a:xfrm>
          <a:prstGeom prst="rect">
            <a:avLst/>
          </a:prstGeom>
          <a:noFill/>
          <a:ln/>
        </p:spPr>
        <p:txBody>
          <a:bodyPr wrap="square" lIns="0" tIns="0" rIns="0" bIns="0" rtlCol="0" anchor="ctr"/>
          <a:lstStyle/>
          <a:p>
            <a:pPr algn="ctr" indent="0" marL="0">
              <a:buNone/>
            </a:pPr>
            <a:r>
              <a:rPr lang="en-US" sz="2000" b="1" dirty="0">
                <a:solidFill>
                  <a:srgbClr val="111827"/>
                </a:solidFill>
                <a:latin typeface="Segoe UI" pitchFamily="34" charset="0"/>
                <a:ea typeface="Segoe UI" pitchFamily="34" charset="-122"/>
                <a:cs typeface="Segoe UI" pitchFamily="34" charset="-120"/>
              </a:rPr>
              <a:t>Hyväksy, kun CI on vihreä</a:t>
            </a:r>
            <a:endParaRPr lang="en-US" sz="2000" dirty="0"/>
          </a:p>
        </p:txBody>
      </p:sp>
      <p:sp>
        <p:nvSpPr>
          <p:cNvPr id="6" name="Shape 4"/>
          <p:cNvSpPr/>
          <p:nvPr/>
        </p:nvSpPr>
        <p:spPr>
          <a:xfrm>
            <a:off x="6492240" y="1691640"/>
            <a:ext cx="2743200" cy="1463040"/>
          </a:xfrm>
          <a:prstGeom prst="ellipse">
            <a:avLst/>
          </a:prstGeom>
          <a:solidFill>
            <a:srgbClr val="E5534B"/>
          </a:solidFill>
          <a:ln w="50800">
            <a:solidFill>
              <a:srgbClr val="A40E26"/>
            </a:solidFill>
            <a:prstDash val="solid"/>
          </a:ln>
        </p:spPr>
      </p:sp>
      <p:pic>
        <p:nvPicPr>
          <p:cNvPr id="7" name="Image 0" descr="Juha Ala-Rantala">    </p:cNvPr>
          <p:cNvPicPr>
            <a:picLocks noChangeAspect="1"/>
          </p:cNvPicPr>
          <p:nvPr/>
        </p:nvPicPr>
        <p:blipFill>
          <a:blip r:embed="rId1"/>
          <a:stretch>
            <a:fillRect/>
          </a:stretch>
        </p:blipFill>
        <p:spPr>
          <a:xfrm>
            <a:off x="2834640" y="3886200"/>
            <a:ext cx="2377440" cy="2377440"/>
          </a:xfrm>
          <a:prstGeom prst="ellipse">
            <a:avLst/>
          </a:prstGeom>
        </p:spPr>
      </p:pic>
      <p:sp>
        <p:nvSpPr>
          <p:cNvPr id="8" name="Text 5"/>
          <p:cNvSpPr txBox="1"/>
          <p:nvPr/>
        </p:nvSpPr>
        <p:spPr>
          <a:xfrm>
            <a:off x="5486400" y="4251960"/>
            <a:ext cx="5943600" cy="1645920"/>
          </a:xfrm>
          <a:prstGeom prst="rect">
            <a:avLst/>
          </a:prstGeom>
          <a:noFill/>
          <a:ln/>
        </p:spPr>
        <p:txBody>
          <a:bodyPr wrap="square" lIns="0" tIns="0" rIns="0" bIns="0" rtlCol="0" anchor="ctr"/>
          <a:lstStyle/>
          <a:p>
            <a:pPr algn="l" indent="0" marL="0">
              <a:buNone/>
            </a:pPr>
            <a:r>
              <a:rPr lang="en-US" sz="3600" b="1" dirty="0">
                <a:solidFill>
                  <a:srgbClr val="111827"/>
                </a:solidFill>
                <a:latin typeface="Segoe UI" pitchFamily="34" charset="0"/>
                <a:ea typeface="Segoe UI" pitchFamily="34" charset="-122"/>
                <a:cs typeface="Segoe UI" pitchFamily="34" charset="-120"/>
              </a:rPr>
              <a:t>Minä, perjantaina</a:t>
            </a:r>
            <a:endParaRPr lang="en-US" sz="3600" dirty="0"/>
          </a:p>
          <a:p>
            <a:pPr algn="l" indent="0" marL="0">
              <a:buNone/>
            </a:pPr>
            <a:r>
              <a:rPr lang="en-US" sz="3600" b="1" dirty="0">
                <a:solidFill>
                  <a:srgbClr val="111827"/>
                </a:solidFill>
                <a:latin typeface="Segoe UI" pitchFamily="34" charset="0"/>
                <a:ea typeface="Segoe UI" pitchFamily="34" charset="-122"/>
                <a:cs typeface="Segoe UI" pitchFamily="34" charset="-120"/>
              </a:rPr>
              <a:t>klo 15.55.</a:t>
            </a:r>
            <a:endParaRPr lang="en-US" sz="36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02 · nopeus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Paljonko AI nopeuttaa kokeneita kehittäjiä?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16 kokenutta kehittäjää, 246 tehtävää omissa repoissaan (alkuvuosi 2025)</a:t>
            </a:r>
            <a:endParaRPr lang="en-US" sz="1800" dirty="0"/>
          </a:p>
        </p:txBody>
      </p:sp>
      <p:sp>
        <p:nvSpPr>
          <p:cNvPr id="5" name="Gallup-viittaus"/>
          <p:cNvSpPr/>
          <p:nvPr/>
        </p:nvSpPr>
        <p:spPr>
          <a:xfrm>
            <a:off x="7406640" y="155448"/>
            <a:ext cx="3611880" cy="329184"/>
          </a:xfrm>
          <a:prstGeom prst="roundRect">
            <a:avLst>
              <a:gd name="adj" fmla="val 41667"/>
            </a:avLst>
          </a:prstGeom>
          <a:solidFill>
            <a:srgbClr val="EFF6FF"/>
          </a:solidFill>
          <a:ln>
            <a:solidFill>
              <a:srgbClr val="BFDBFE"/>
            </a:solidFill>
          </a:ln>
        </p:spPr>
        <p:txBody>
          <a:bodyPr wrap="square" lIns="25400" tIns="25400" rIns="25400" bIns="25400" rtlCol="0" anchor="ctr"/>
          <a:lstStyle/>
          <a:p>
            <a:pPr algn="ctr" indent="0" marL="0">
              <a:buNone/>
            </a:pPr>
            <a:r>
              <a:rPr lang="en-US" sz="1100" dirty="0">
                <a:solidFill>
                  <a:srgbClr val="2563EB"/>
                </a:solidFill>
                <a:latin typeface="Consolas" pitchFamily="34" charset="0"/>
                <a:ea typeface="Consolas" pitchFamily="34" charset="-122"/>
                <a:cs typeface="Consolas" pitchFamily="34" charset="-120"/>
              </a:rPr>
              <a:t>↩ gallup: Nopeuttaako AI sinua?</a:t>
            </a:r>
            <a:endParaRPr lang="en-US" sz="1100" dirty="0"/>
          </a:p>
        </p:txBody>
      </p:sp>
      <p:sp>
        <p:nvSpPr>
          <p:cNvPr id="6" name="Text 4"/>
          <p:cNvSpPr txBox="1"/>
          <p:nvPr/>
        </p:nvSpPr>
        <p:spPr>
          <a:xfrm>
            <a:off x="1143000" y="1874520"/>
            <a:ext cx="2651760" cy="822960"/>
          </a:xfrm>
          <a:prstGeom prst="rect">
            <a:avLst/>
          </a:prstGeom>
          <a:noFill/>
          <a:ln/>
        </p:spPr>
        <p:txBody>
          <a:bodyPr wrap="square" lIns="0" tIns="0" rIns="0" bIns="0" rtlCol="0" anchor="ctr"/>
          <a:lstStyle/>
          <a:p>
            <a:pPr algn="l" indent="0" marL="0">
              <a:buNone/>
            </a:pPr>
            <a:r>
              <a:rPr lang="en-US" sz="2000" dirty="0">
                <a:solidFill>
                  <a:srgbClr val="6B7280"/>
                </a:solidFill>
                <a:latin typeface="Segoe UI" pitchFamily="34" charset="0"/>
                <a:ea typeface="Segoe UI" pitchFamily="34" charset="-122"/>
                <a:cs typeface="Segoe UI" pitchFamily="34" charset="-120"/>
              </a:rPr>
              <a:t>Ennakkoarvio</a:t>
            </a:r>
            <a:endParaRPr lang="en-US" sz="2000" dirty="0"/>
          </a:p>
        </p:txBody>
      </p:sp>
      <p:sp>
        <p:nvSpPr>
          <p:cNvPr id="7" name="Text 5"/>
          <p:cNvSpPr txBox="1"/>
          <p:nvPr/>
        </p:nvSpPr>
        <p:spPr>
          <a:xfrm>
            <a:off x="3749040" y="1874520"/>
            <a:ext cx="4297680" cy="822960"/>
          </a:xfrm>
          <a:prstGeom prst="rect">
            <a:avLst/>
          </a:prstGeom>
          <a:noFill/>
          <a:ln/>
        </p:spPr>
        <p:txBody>
          <a:bodyPr wrap="square" lIns="0" tIns="0" rIns="0" bIns="0" rtlCol="0" anchor="ctr"/>
          <a:lstStyle/>
          <a:p>
            <a:pPr algn="l" indent="0" marL="0">
              <a:buNone/>
            </a:pPr>
            <a:r>
              <a:rPr lang="en-US" sz="3200" b="1" dirty="0">
                <a:solidFill>
                  <a:srgbClr val="111827"/>
                </a:solidFill>
                <a:latin typeface="Segoe UI" pitchFamily="34" charset="0"/>
                <a:ea typeface="Segoe UI" pitchFamily="34" charset="-122"/>
                <a:cs typeface="Segoe UI" pitchFamily="34" charset="-120"/>
              </a:rPr>
              <a:t>24 % nopeammin</a:t>
            </a:r>
            <a:endParaRPr lang="en-US" sz="3200" dirty="0"/>
          </a:p>
        </p:txBody>
      </p:sp>
      <p:sp>
        <p:nvSpPr>
          <p:cNvPr id="8"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METR 7/2025 ja päivitys 2/2026 · Microsoft Research 2025 · eri mittarit – ei samalle akselille.</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02 · nopeus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Paljonko AI nopeuttaa kokeneita kehittäjiä?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16 kokenutta kehittäjää, 246 tehtävää omissa repoissaan (alkuvuosi 2025)</a:t>
            </a:r>
            <a:endParaRPr lang="en-US" sz="1800" dirty="0"/>
          </a:p>
        </p:txBody>
      </p:sp>
      <p:sp>
        <p:nvSpPr>
          <p:cNvPr id="5" name="Gallup-viittaus"/>
          <p:cNvSpPr/>
          <p:nvPr/>
        </p:nvSpPr>
        <p:spPr>
          <a:xfrm>
            <a:off x="7406640" y="155448"/>
            <a:ext cx="3611880" cy="329184"/>
          </a:xfrm>
          <a:prstGeom prst="roundRect">
            <a:avLst>
              <a:gd name="adj" fmla="val 41667"/>
            </a:avLst>
          </a:prstGeom>
          <a:solidFill>
            <a:srgbClr val="EFF6FF"/>
          </a:solidFill>
          <a:ln>
            <a:solidFill>
              <a:srgbClr val="BFDBFE"/>
            </a:solidFill>
          </a:ln>
        </p:spPr>
        <p:txBody>
          <a:bodyPr wrap="square" lIns="25400" tIns="25400" rIns="25400" bIns="25400" rtlCol="0" anchor="ctr"/>
          <a:lstStyle/>
          <a:p>
            <a:pPr algn="ctr" indent="0" marL="0">
              <a:buNone/>
            </a:pPr>
            <a:r>
              <a:rPr lang="en-US" sz="1100" dirty="0">
                <a:solidFill>
                  <a:srgbClr val="2563EB"/>
                </a:solidFill>
                <a:latin typeface="Consolas" pitchFamily="34" charset="0"/>
                <a:ea typeface="Consolas" pitchFamily="34" charset="-122"/>
                <a:cs typeface="Consolas" pitchFamily="34" charset="-120"/>
              </a:rPr>
              <a:t>↩ gallup: Nopeuttaako AI sinua?</a:t>
            </a:r>
            <a:endParaRPr lang="en-US" sz="1100" dirty="0"/>
          </a:p>
        </p:txBody>
      </p:sp>
      <p:sp>
        <p:nvSpPr>
          <p:cNvPr id="6" name="Text 4"/>
          <p:cNvSpPr txBox="1"/>
          <p:nvPr/>
        </p:nvSpPr>
        <p:spPr>
          <a:xfrm>
            <a:off x="1143000" y="1874520"/>
            <a:ext cx="2651760" cy="822960"/>
          </a:xfrm>
          <a:prstGeom prst="rect">
            <a:avLst/>
          </a:prstGeom>
          <a:noFill/>
          <a:ln/>
        </p:spPr>
        <p:txBody>
          <a:bodyPr wrap="square" lIns="0" tIns="0" rIns="0" bIns="0" rtlCol="0" anchor="ctr"/>
          <a:lstStyle/>
          <a:p>
            <a:pPr algn="l" indent="0" marL="0">
              <a:buNone/>
            </a:pPr>
            <a:r>
              <a:rPr lang="en-US" sz="2000" dirty="0">
                <a:solidFill>
                  <a:srgbClr val="6B7280"/>
                </a:solidFill>
                <a:latin typeface="Segoe UI" pitchFamily="34" charset="0"/>
                <a:ea typeface="Segoe UI" pitchFamily="34" charset="-122"/>
                <a:cs typeface="Segoe UI" pitchFamily="34" charset="-120"/>
              </a:rPr>
              <a:t>Ennakkoarvio</a:t>
            </a:r>
            <a:endParaRPr lang="en-US" sz="2000" dirty="0"/>
          </a:p>
        </p:txBody>
      </p:sp>
      <p:sp>
        <p:nvSpPr>
          <p:cNvPr id="7" name="Text 5"/>
          <p:cNvSpPr txBox="1"/>
          <p:nvPr/>
        </p:nvSpPr>
        <p:spPr>
          <a:xfrm>
            <a:off x="3749040" y="1874520"/>
            <a:ext cx="4297680" cy="822960"/>
          </a:xfrm>
          <a:prstGeom prst="rect">
            <a:avLst/>
          </a:prstGeom>
          <a:noFill/>
          <a:ln/>
        </p:spPr>
        <p:txBody>
          <a:bodyPr wrap="square" lIns="0" tIns="0" rIns="0" bIns="0" rtlCol="0" anchor="ctr"/>
          <a:lstStyle/>
          <a:p>
            <a:pPr algn="l" indent="0" marL="0">
              <a:buNone/>
            </a:pPr>
            <a:r>
              <a:rPr lang="en-US" sz="3200" b="1" dirty="0">
                <a:solidFill>
                  <a:srgbClr val="111827"/>
                </a:solidFill>
                <a:latin typeface="Segoe UI" pitchFamily="34" charset="0"/>
                <a:ea typeface="Segoe UI" pitchFamily="34" charset="-122"/>
                <a:cs typeface="Segoe UI" pitchFamily="34" charset="-120"/>
              </a:rPr>
              <a:t>24 % nopeammin</a:t>
            </a:r>
            <a:endParaRPr lang="en-US" sz="3200" dirty="0"/>
          </a:p>
        </p:txBody>
      </p:sp>
      <p:sp>
        <p:nvSpPr>
          <p:cNvPr id="8" name="Text 6"/>
          <p:cNvSpPr txBox="1"/>
          <p:nvPr/>
        </p:nvSpPr>
        <p:spPr>
          <a:xfrm>
            <a:off x="1143000" y="2834640"/>
            <a:ext cx="2651760" cy="822960"/>
          </a:xfrm>
          <a:prstGeom prst="rect">
            <a:avLst/>
          </a:prstGeom>
          <a:noFill/>
          <a:ln/>
        </p:spPr>
        <p:txBody>
          <a:bodyPr wrap="square" lIns="0" tIns="0" rIns="0" bIns="0" rtlCol="0" anchor="ctr"/>
          <a:lstStyle/>
          <a:p>
            <a:pPr algn="l" indent="0" marL="0">
              <a:buNone/>
            </a:pPr>
            <a:r>
              <a:rPr lang="en-US" sz="2000" dirty="0">
                <a:solidFill>
                  <a:srgbClr val="6B7280"/>
                </a:solidFill>
                <a:latin typeface="Segoe UI" pitchFamily="34" charset="0"/>
                <a:ea typeface="Segoe UI" pitchFamily="34" charset="-122"/>
                <a:cs typeface="Segoe UI" pitchFamily="34" charset="-120"/>
              </a:rPr>
              <a:t>Jälkikäteen tuntui</a:t>
            </a:r>
            <a:endParaRPr lang="en-US" sz="2000" dirty="0"/>
          </a:p>
        </p:txBody>
      </p:sp>
      <p:sp>
        <p:nvSpPr>
          <p:cNvPr id="9" name="Text 7"/>
          <p:cNvSpPr txBox="1"/>
          <p:nvPr/>
        </p:nvSpPr>
        <p:spPr>
          <a:xfrm>
            <a:off x="3749040" y="2834640"/>
            <a:ext cx="4297680" cy="822960"/>
          </a:xfrm>
          <a:prstGeom prst="rect">
            <a:avLst/>
          </a:prstGeom>
          <a:noFill/>
          <a:ln/>
        </p:spPr>
        <p:txBody>
          <a:bodyPr wrap="square" lIns="0" tIns="0" rIns="0" bIns="0" rtlCol="0" anchor="ctr"/>
          <a:lstStyle/>
          <a:p>
            <a:pPr algn="l" indent="0" marL="0">
              <a:buNone/>
            </a:pPr>
            <a:r>
              <a:rPr lang="en-US" sz="3200" b="1" dirty="0">
                <a:solidFill>
                  <a:srgbClr val="111827"/>
                </a:solidFill>
                <a:latin typeface="Segoe UI" pitchFamily="34" charset="0"/>
                <a:ea typeface="Segoe UI" pitchFamily="34" charset="-122"/>
                <a:cs typeface="Segoe UI" pitchFamily="34" charset="-120"/>
              </a:rPr>
              <a:t>20 % nopeammin</a:t>
            </a:r>
            <a:endParaRPr lang="en-US" sz="3200" dirty="0"/>
          </a:p>
        </p:txBody>
      </p:sp>
      <p:sp>
        <p:nvSpPr>
          <p:cNvPr id="10" name="Text 8"/>
          <p:cNvSpPr txBox="1"/>
          <p:nvPr/>
        </p:nvSpPr>
        <p:spPr>
          <a:xfrm>
            <a:off x="3749040" y="3794760"/>
            <a:ext cx="1371600" cy="822960"/>
          </a:xfrm>
          <a:prstGeom prst="rect">
            <a:avLst/>
          </a:prstGeom>
          <a:noFill/>
          <a:ln/>
        </p:spPr>
        <p:txBody>
          <a:bodyPr wrap="square" lIns="0" tIns="0" rIns="0" bIns="0" rtlCol="0" anchor="ctr"/>
          <a:lstStyle/>
          <a:p>
            <a:pPr algn="l" indent="0" marL="0">
              <a:buNone/>
            </a:pPr>
            <a:r>
              <a:rPr lang="en-US" sz="4000" dirty="0">
                <a:solidFill>
                  <a:srgbClr val="9CA3AF"/>
                </a:solidFill>
                <a:latin typeface="Consolas" pitchFamily="34" charset="0"/>
                <a:ea typeface="Consolas" pitchFamily="34" charset="-122"/>
                <a:cs typeface="Consolas" pitchFamily="34" charset="-120"/>
              </a:rPr>
              <a:t>?</a:t>
            </a:r>
            <a:endParaRPr lang="en-US" sz="40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METR 7/2025 ja päivitys 2/2026 · Microsoft Research 2025 · eri mittarit – ei samalle akselille.</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02 · nopeus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Paljonko AI nopeuttaa kokeneita kehittäjiä?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16 kokenutta kehittäjää, 246 tehtävää omissa repoissaan (alkuvuosi 2025)</a:t>
            </a:r>
            <a:endParaRPr lang="en-US" sz="1800" dirty="0"/>
          </a:p>
        </p:txBody>
      </p:sp>
      <p:sp>
        <p:nvSpPr>
          <p:cNvPr id="5" name="Gallup-viittaus"/>
          <p:cNvSpPr/>
          <p:nvPr/>
        </p:nvSpPr>
        <p:spPr>
          <a:xfrm>
            <a:off x="7406640" y="155448"/>
            <a:ext cx="3611880" cy="329184"/>
          </a:xfrm>
          <a:prstGeom prst="roundRect">
            <a:avLst>
              <a:gd name="adj" fmla="val 41667"/>
            </a:avLst>
          </a:prstGeom>
          <a:solidFill>
            <a:srgbClr val="EFF6FF"/>
          </a:solidFill>
          <a:ln>
            <a:solidFill>
              <a:srgbClr val="BFDBFE"/>
            </a:solidFill>
          </a:ln>
        </p:spPr>
        <p:txBody>
          <a:bodyPr wrap="square" lIns="25400" tIns="25400" rIns="25400" bIns="25400" rtlCol="0" anchor="ctr"/>
          <a:lstStyle/>
          <a:p>
            <a:pPr algn="ctr" indent="0" marL="0">
              <a:buNone/>
            </a:pPr>
            <a:r>
              <a:rPr lang="en-US" sz="1100" dirty="0">
                <a:solidFill>
                  <a:srgbClr val="2563EB"/>
                </a:solidFill>
                <a:latin typeface="Consolas" pitchFamily="34" charset="0"/>
                <a:ea typeface="Consolas" pitchFamily="34" charset="-122"/>
                <a:cs typeface="Consolas" pitchFamily="34" charset="-120"/>
              </a:rPr>
              <a:t>↩ gallup: Nopeuttaako AI sinua?</a:t>
            </a:r>
            <a:endParaRPr lang="en-US" sz="1100" dirty="0"/>
          </a:p>
        </p:txBody>
      </p:sp>
      <p:sp>
        <p:nvSpPr>
          <p:cNvPr id="6" name="Text 4"/>
          <p:cNvSpPr txBox="1"/>
          <p:nvPr/>
        </p:nvSpPr>
        <p:spPr>
          <a:xfrm>
            <a:off x="1143000" y="1874520"/>
            <a:ext cx="2651760" cy="822960"/>
          </a:xfrm>
          <a:prstGeom prst="rect">
            <a:avLst/>
          </a:prstGeom>
          <a:noFill/>
          <a:ln/>
        </p:spPr>
        <p:txBody>
          <a:bodyPr wrap="square" lIns="0" tIns="0" rIns="0" bIns="0" rtlCol="0" anchor="ctr"/>
          <a:lstStyle/>
          <a:p>
            <a:pPr algn="l" indent="0" marL="0">
              <a:buNone/>
            </a:pPr>
            <a:r>
              <a:rPr lang="en-US" sz="2000" dirty="0">
                <a:solidFill>
                  <a:srgbClr val="6B7280"/>
                </a:solidFill>
                <a:latin typeface="Segoe UI" pitchFamily="34" charset="0"/>
                <a:ea typeface="Segoe UI" pitchFamily="34" charset="-122"/>
                <a:cs typeface="Segoe UI" pitchFamily="34" charset="-120"/>
              </a:rPr>
              <a:t>Ennakkoarvio</a:t>
            </a:r>
            <a:endParaRPr lang="en-US" sz="2000" dirty="0"/>
          </a:p>
        </p:txBody>
      </p:sp>
      <p:sp>
        <p:nvSpPr>
          <p:cNvPr id="7" name="Text 5"/>
          <p:cNvSpPr txBox="1"/>
          <p:nvPr/>
        </p:nvSpPr>
        <p:spPr>
          <a:xfrm>
            <a:off x="3749040" y="1874520"/>
            <a:ext cx="4297680" cy="822960"/>
          </a:xfrm>
          <a:prstGeom prst="rect">
            <a:avLst/>
          </a:prstGeom>
          <a:noFill/>
          <a:ln/>
        </p:spPr>
        <p:txBody>
          <a:bodyPr wrap="square" lIns="0" tIns="0" rIns="0" bIns="0" rtlCol="0" anchor="ctr"/>
          <a:lstStyle/>
          <a:p>
            <a:pPr algn="l" indent="0" marL="0">
              <a:buNone/>
            </a:pPr>
            <a:r>
              <a:rPr lang="en-US" sz="3200" b="1" dirty="0">
                <a:solidFill>
                  <a:srgbClr val="111827"/>
                </a:solidFill>
                <a:latin typeface="Segoe UI" pitchFamily="34" charset="0"/>
                <a:ea typeface="Segoe UI" pitchFamily="34" charset="-122"/>
                <a:cs typeface="Segoe UI" pitchFamily="34" charset="-120"/>
              </a:rPr>
              <a:t>24 % nopeammin</a:t>
            </a:r>
            <a:endParaRPr lang="en-US" sz="3200" dirty="0"/>
          </a:p>
        </p:txBody>
      </p:sp>
      <p:sp>
        <p:nvSpPr>
          <p:cNvPr id="8" name="Text 6"/>
          <p:cNvSpPr txBox="1"/>
          <p:nvPr/>
        </p:nvSpPr>
        <p:spPr>
          <a:xfrm>
            <a:off x="1143000" y="2834640"/>
            <a:ext cx="2651760" cy="822960"/>
          </a:xfrm>
          <a:prstGeom prst="rect">
            <a:avLst/>
          </a:prstGeom>
          <a:noFill/>
          <a:ln/>
        </p:spPr>
        <p:txBody>
          <a:bodyPr wrap="square" lIns="0" tIns="0" rIns="0" bIns="0" rtlCol="0" anchor="ctr"/>
          <a:lstStyle/>
          <a:p>
            <a:pPr algn="l" indent="0" marL="0">
              <a:buNone/>
            </a:pPr>
            <a:r>
              <a:rPr lang="en-US" sz="2000" dirty="0">
                <a:solidFill>
                  <a:srgbClr val="6B7280"/>
                </a:solidFill>
                <a:latin typeface="Segoe UI" pitchFamily="34" charset="0"/>
                <a:ea typeface="Segoe UI" pitchFamily="34" charset="-122"/>
                <a:cs typeface="Segoe UI" pitchFamily="34" charset="-120"/>
              </a:rPr>
              <a:t>Jälkikäteen tuntui</a:t>
            </a:r>
            <a:endParaRPr lang="en-US" sz="2000" dirty="0"/>
          </a:p>
        </p:txBody>
      </p:sp>
      <p:sp>
        <p:nvSpPr>
          <p:cNvPr id="9" name="Text 7"/>
          <p:cNvSpPr txBox="1"/>
          <p:nvPr/>
        </p:nvSpPr>
        <p:spPr>
          <a:xfrm>
            <a:off x="3749040" y="2834640"/>
            <a:ext cx="4297680" cy="822960"/>
          </a:xfrm>
          <a:prstGeom prst="rect">
            <a:avLst/>
          </a:prstGeom>
          <a:noFill/>
          <a:ln/>
        </p:spPr>
        <p:txBody>
          <a:bodyPr wrap="square" lIns="0" tIns="0" rIns="0" bIns="0" rtlCol="0" anchor="ctr"/>
          <a:lstStyle/>
          <a:p>
            <a:pPr algn="l" indent="0" marL="0">
              <a:buNone/>
            </a:pPr>
            <a:r>
              <a:rPr lang="en-US" sz="3200" b="1" dirty="0">
                <a:solidFill>
                  <a:srgbClr val="111827"/>
                </a:solidFill>
                <a:latin typeface="Segoe UI" pitchFamily="34" charset="0"/>
                <a:ea typeface="Segoe UI" pitchFamily="34" charset="-122"/>
                <a:cs typeface="Segoe UI" pitchFamily="34" charset="-120"/>
              </a:rPr>
              <a:t>20 % nopeammin</a:t>
            </a:r>
            <a:endParaRPr lang="en-US" sz="3200" dirty="0"/>
          </a:p>
        </p:txBody>
      </p:sp>
      <p:sp>
        <p:nvSpPr>
          <p:cNvPr id="10" name="Shape 8"/>
          <p:cNvSpPr/>
          <p:nvPr/>
        </p:nvSpPr>
        <p:spPr>
          <a:xfrm>
            <a:off x="548640" y="3794760"/>
            <a:ext cx="7589520" cy="822960"/>
          </a:xfrm>
          <a:prstGeom prst="rect">
            <a:avLst/>
          </a:prstGeom>
          <a:solidFill>
            <a:srgbClr val="FFEBE9"/>
          </a:solidFill>
          <a:ln w="12700">
            <a:solidFill>
              <a:srgbClr val="FFEBE9"/>
            </a:solidFill>
            <a:prstDash val="solid"/>
          </a:ln>
        </p:spPr>
      </p:sp>
      <p:sp>
        <p:nvSpPr>
          <p:cNvPr id="11" name="Text 9"/>
          <p:cNvSpPr txBox="1"/>
          <p:nvPr/>
        </p:nvSpPr>
        <p:spPr>
          <a:xfrm>
            <a:off x="685800" y="3794760"/>
            <a:ext cx="365760" cy="822960"/>
          </a:xfrm>
          <a:prstGeom prst="rect">
            <a:avLst/>
          </a:prstGeom>
          <a:noFill/>
          <a:ln/>
        </p:spPr>
        <p:txBody>
          <a:bodyPr wrap="square" lIns="0" tIns="0" rIns="0" bIns="0" rtlCol="0" anchor="ctr"/>
          <a:lstStyle/>
          <a:p>
            <a:pPr algn="l" indent="0" marL="0">
              <a:buNone/>
            </a:pPr>
            <a:r>
              <a:rPr lang="en-US" sz="2600" b="1" dirty="0">
                <a:solidFill>
                  <a:srgbClr val="CF222E"/>
                </a:solidFill>
                <a:latin typeface="Consolas" pitchFamily="34" charset="0"/>
                <a:ea typeface="Consolas" pitchFamily="34" charset="-122"/>
                <a:cs typeface="Consolas" pitchFamily="34" charset="-120"/>
              </a:rPr>
              <a:t>−</a:t>
            </a:r>
            <a:endParaRPr lang="en-US" sz="2600" dirty="0"/>
          </a:p>
        </p:txBody>
      </p:sp>
      <p:sp>
        <p:nvSpPr>
          <p:cNvPr id="12" name="Text 10"/>
          <p:cNvSpPr txBox="1"/>
          <p:nvPr/>
        </p:nvSpPr>
        <p:spPr>
          <a:xfrm>
            <a:off x="1143000" y="3794760"/>
            <a:ext cx="2651760" cy="82296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Mitattu</a:t>
            </a:r>
            <a:endParaRPr lang="en-US" sz="2000" dirty="0"/>
          </a:p>
        </p:txBody>
      </p:sp>
      <p:sp>
        <p:nvSpPr>
          <p:cNvPr id="13" name="Text 11"/>
          <p:cNvSpPr txBox="1"/>
          <p:nvPr/>
        </p:nvSpPr>
        <p:spPr>
          <a:xfrm>
            <a:off x="3749040" y="3794760"/>
            <a:ext cx="4297680" cy="822960"/>
          </a:xfrm>
          <a:prstGeom prst="rect">
            <a:avLst/>
          </a:prstGeom>
          <a:noFill/>
          <a:ln/>
        </p:spPr>
        <p:txBody>
          <a:bodyPr wrap="square" lIns="0" tIns="0" rIns="0" bIns="0" rtlCol="0" anchor="ctr"/>
          <a:lstStyle/>
          <a:p>
            <a:pPr algn="l" indent="0" marL="0">
              <a:buNone/>
            </a:pPr>
            <a:r>
              <a:rPr lang="en-US" sz="3200" b="1" dirty="0">
                <a:solidFill>
                  <a:srgbClr val="CF222E"/>
                </a:solidFill>
                <a:latin typeface="Segoe UI" pitchFamily="34" charset="0"/>
                <a:ea typeface="Segoe UI" pitchFamily="34" charset="-122"/>
                <a:cs typeface="Segoe UI" pitchFamily="34" charset="-120"/>
              </a:rPr>
              <a:t>19 % enemmän aikaa</a:t>
            </a:r>
            <a:endParaRPr lang="en-US" sz="3200" dirty="0"/>
          </a:p>
        </p:txBody>
      </p:sp>
      <p:sp>
        <p:nvSpPr>
          <p:cNvPr id="14"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METR 7/2025 ja päivitys 2/2026 · Microsoft Research 2025 · eri mittarit – ei samalle akselille.</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02 · nopeus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Paljonko AI nopeuttaa kokeneita kehittäjiä?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16 kokenutta kehittäjää, 246 tehtävää omissa repoissaan (alkuvuosi 2025)</a:t>
            </a:r>
            <a:endParaRPr lang="en-US" sz="1800" dirty="0"/>
          </a:p>
        </p:txBody>
      </p:sp>
      <p:sp>
        <p:nvSpPr>
          <p:cNvPr id="5" name="Gallup-viittaus"/>
          <p:cNvSpPr/>
          <p:nvPr/>
        </p:nvSpPr>
        <p:spPr>
          <a:xfrm>
            <a:off x="7406640" y="155448"/>
            <a:ext cx="3611880" cy="329184"/>
          </a:xfrm>
          <a:prstGeom prst="roundRect">
            <a:avLst>
              <a:gd name="adj" fmla="val 41667"/>
            </a:avLst>
          </a:prstGeom>
          <a:solidFill>
            <a:srgbClr val="EFF6FF"/>
          </a:solidFill>
          <a:ln>
            <a:solidFill>
              <a:srgbClr val="BFDBFE"/>
            </a:solidFill>
          </a:ln>
        </p:spPr>
        <p:txBody>
          <a:bodyPr wrap="square" lIns="25400" tIns="25400" rIns="25400" bIns="25400" rtlCol="0" anchor="ctr"/>
          <a:lstStyle/>
          <a:p>
            <a:pPr algn="ctr" indent="0" marL="0">
              <a:buNone/>
            </a:pPr>
            <a:r>
              <a:rPr lang="en-US" sz="1100" dirty="0">
                <a:solidFill>
                  <a:srgbClr val="2563EB"/>
                </a:solidFill>
                <a:latin typeface="Consolas" pitchFamily="34" charset="0"/>
                <a:ea typeface="Consolas" pitchFamily="34" charset="-122"/>
                <a:cs typeface="Consolas" pitchFamily="34" charset="-120"/>
              </a:rPr>
              <a:t>↩ gallup: Nopeuttaako AI sinua?</a:t>
            </a:r>
            <a:endParaRPr lang="en-US" sz="1100" dirty="0"/>
          </a:p>
        </p:txBody>
      </p:sp>
      <p:sp>
        <p:nvSpPr>
          <p:cNvPr id="6" name="Text 4"/>
          <p:cNvSpPr txBox="1"/>
          <p:nvPr/>
        </p:nvSpPr>
        <p:spPr>
          <a:xfrm>
            <a:off x="1143000" y="1874520"/>
            <a:ext cx="2651760" cy="822960"/>
          </a:xfrm>
          <a:prstGeom prst="rect">
            <a:avLst/>
          </a:prstGeom>
          <a:noFill/>
          <a:ln/>
        </p:spPr>
        <p:txBody>
          <a:bodyPr wrap="square" lIns="0" tIns="0" rIns="0" bIns="0" rtlCol="0" anchor="ctr"/>
          <a:lstStyle/>
          <a:p>
            <a:pPr algn="l" indent="0" marL="0">
              <a:buNone/>
            </a:pPr>
            <a:r>
              <a:rPr lang="en-US" sz="2000" dirty="0">
                <a:solidFill>
                  <a:srgbClr val="6B7280"/>
                </a:solidFill>
                <a:latin typeface="Segoe UI" pitchFamily="34" charset="0"/>
                <a:ea typeface="Segoe UI" pitchFamily="34" charset="-122"/>
                <a:cs typeface="Segoe UI" pitchFamily="34" charset="-120"/>
              </a:rPr>
              <a:t>Ennakkoarvio</a:t>
            </a:r>
            <a:endParaRPr lang="en-US" sz="2000" dirty="0"/>
          </a:p>
        </p:txBody>
      </p:sp>
      <p:sp>
        <p:nvSpPr>
          <p:cNvPr id="7" name="Text 5"/>
          <p:cNvSpPr txBox="1"/>
          <p:nvPr/>
        </p:nvSpPr>
        <p:spPr>
          <a:xfrm>
            <a:off x="3749040" y="1874520"/>
            <a:ext cx="4297680" cy="822960"/>
          </a:xfrm>
          <a:prstGeom prst="rect">
            <a:avLst/>
          </a:prstGeom>
          <a:noFill/>
          <a:ln/>
        </p:spPr>
        <p:txBody>
          <a:bodyPr wrap="square" lIns="0" tIns="0" rIns="0" bIns="0" rtlCol="0" anchor="ctr"/>
          <a:lstStyle/>
          <a:p>
            <a:pPr algn="l" indent="0" marL="0">
              <a:buNone/>
            </a:pPr>
            <a:r>
              <a:rPr lang="en-US" sz="3200" b="1" dirty="0">
                <a:solidFill>
                  <a:srgbClr val="111827"/>
                </a:solidFill>
                <a:latin typeface="Segoe UI" pitchFamily="34" charset="0"/>
                <a:ea typeface="Segoe UI" pitchFamily="34" charset="-122"/>
                <a:cs typeface="Segoe UI" pitchFamily="34" charset="-120"/>
              </a:rPr>
              <a:t>24 % nopeammin</a:t>
            </a:r>
            <a:endParaRPr lang="en-US" sz="3200" dirty="0"/>
          </a:p>
        </p:txBody>
      </p:sp>
      <p:sp>
        <p:nvSpPr>
          <p:cNvPr id="8" name="Text 6"/>
          <p:cNvSpPr txBox="1"/>
          <p:nvPr/>
        </p:nvSpPr>
        <p:spPr>
          <a:xfrm>
            <a:off x="1143000" y="2834640"/>
            <a:ext cx="2651760" cy="822960"/>
          </a:xfrm>
          <a:prstGeom prst="rect">
            <a:avLst/>
          </a:prstGeom>
          <a:noFill/>
          <a:ln/>
        </p:spPr>
        <p:txBody>
          <a:bodyPr wrap="square" lIns="0" tIns="0" rIns="0" bIns="0" rtlCol="0" anchor="ctr"/>
          <a:lstStyle/>
          <a:p>
            <a:pPr algn="l" indent="0" marL="0">
              <a:buNone/>
            </a:pPr>
            <a:r>
              <a:rPr lang="en-US" sz="2000" dirty="0">
                <a:solidFill>
                  <a:srgbClr val="6B7280"/>
                </a:solidFill>
                <a:latin typeface="Segoe UI" pitchFamily="34" charset="0"/>
                <a:ea typeface="Segoe UI" pitchFamily="34" charset="-122"/>
                <a:cs typeface="Segoe UI" pitchFamily="34" charset="-120"/>
              </a:rPr>
              <a:t>Jälkikäteen tuntui</a:t>
            </a:r>
            <a:endParaRPr lang="en-US" sz="2000" dirty="0"/>
          </a:p>
        </p:txBody>
      </p:sp>
      <p:sp>
        <p:nvSpPr>
          <p:cNvPr id="9" name="Text 7"/>
          <p:cNvSpPr txBox="1"/>
          <p:nvPr/>
        </p:nvSpPr>
        <p:spPr>
          <a:xfrm>
            <a:off x="3749040" y="2834640"/>
            <a:ext cx="4297680" cy="822960"/>
          </a:xfrm>
          <a:prstGeom prst="rect">
            <a:avLst/>
          </a:prstGeom>
          <a:noFill/>
          <a:ln/>
        </p:spPr>
        <p:txBody>
          <a:bodyPr wrap="square" lIns="0" tIns="0" rIns="0" bIns="0" rtlCol="0" anchor="ctr"/>
          <a:lstStyle/>
          <a:p>
            <a:pPr algn="l" indent="0" marL="0">
              <a:buNone/>
            </a:pPr>
            <a:r>
              <a:rPr lang="en-US" sz="3200" b="1" dirty="0">
                <a:solidFill>
                  <a:srgbClr val="111827"/>
                </a:solidFill>
                <a:latin typeface="Segoe UI" pitchFamily="34" charset="0"/>
                <a:ea typeface="Segoe UI" pitchFamily="34" charset="-122"/>
                <a:cs typeface="Segoe UI" pitchFamily="34" charset="-120"/>
              </a:rPr>
              <a:t>20 % nopeammin</a:t>
            </a:r>
            <a:endParaRPr lang="en-US" sz="3200" dirty="0"/>
          </a:p>
        </p:txBody>
      </p:sp>
      <p:sp>
        <p:nvSpPr>
          <p:cNvPr id="10" name="Shape 8"/>
          <p:cNvSpPr/>
          <p:nvPr/>
        </p:nvSpPr>
        <p:spPr>
          <a:xfrm>
            <a:off x="548640" y="3794760"/>
            <a:ext cx="7589520" cy="822960"/>
          </a:xfrm>
          <a:prstGeom prst="rect">
            <a:avLst/>
          </a:prstGeom>
          <a:solidFill>
            <a:srgbClr val="FFEBE9"/>
          </a:solidFill>
          <a:ln w="12700">
            <a:solidFill>
              <a:srgbClr val="FFEBE9"/>
            </a:solidFill>
            <a:prstDash val="solid"/>
          </a:ln>
        </p:spPr>
      </p:sp>
      <p:sp>
        <p:nvSpPr>
          <p:cNvPr id="11" name="Text 9"/>
          <p:cNvSpPr txBox="1"/>
          <p:nvPr/>
        </p:nvSpPr>
        <p:spPr>
          <a:xfrm>
            <a:off x="685800" y="3794760"/>
            <a:ext cx="365760" cy="822960"/>
          </a:xfrm>
          <a:prstGeom prst="rect">
            <a:avLst/>
          </a:prstGeom>
          <a:noFill/>
          <a:ln/>
        </p:spPr>
        <p:txBody>
          <a:bodyPr wrap="square" lIns="0" tIns="0" rIns="0" bIns="0" rtlCol="0" anchor="ctr"/>
          <a:lstStyle/>
          <a:p>
            <a:pPr algn="l" indent="0" marL="0">
              <a:buNone/>
            </a:pPr>
            <a:r>
              <a:rPr lang="en-US" sz="2600" b="1" dirty="0">
                <a:solidFill>
                  <a:srgbClr val="CF222E"/>
                </a:solidFill>
                <a:latin typeface="Consolas" pitchFamily="34" charset="0"/>
                <a:ea typeface="Consolas" pitchFamily="34" charset="-122"/>
                <a:cs typeface="Consolas" pitchFamily="34" charset="-120"/>
              </a:rPr>
              <a:t>−</a:t>
            </a:r>
            <a:endParaRPr lang="en-US" sz="2600" dirty="0"/>
          </a:p>
        </p:txBody>
      </p:sp>
      <p:sp>
        <p:nvSpPr>
          <p:cNvPr id="12" name="Text 10"/>
          <p:cNvSpPr txBox="1"/>
          <p:nvPr/>
        </p:nvSpPr>
        <p:spPr>
          <a:xfrm>
            <a:off x="1143000" y="3794760"/>
            <a:ext cx="2651760" cy="82296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Mitattu</a:t>
            </a:r>
            <a:endParaRPr lang="en-US" sz="2000" dirty="0"/>
          </a:p>
        </p:txBody>
      </p:sp>
      <p:sp>
        <p:nvSpPr>
          <p:cNvPr id="13" name="Text 11"/>
          <p:cNvSpPr txBox="1"/>
          <p:nvPr/>
        </p:nvSpPr>
        <p:spPr>
          <a:xfrm>
            <a:off x="3749040" y="3794760"/>
            <a:ext cx="4297680" cy="822960"/>
          </a:xfrm>
          <a:prstGeom prst="rect">
            <a:avLst/>
          </a:prstGeom>
          <a:noFill/>
          <a:ln/>
        </p:spPr>
        <p:txBody>
          <a:bodyPr wrap="square" lIns="0" tIns="0" rIns="0" bIns="0" rtlCol="0" anchor="ctr"/>
          <a:lstStyle/>
          <a:p>
            <a:pPr algn="l" indent="0" marL="0">
              <a:buNone/>
            </a:pPr>
            <a:r>
              <a:rPr lang="en-US" sz="3200" b="1" dirty="0">
                <a:solidFill>
                  <a:srgbClr val="CF222E"/>
                </a:solidFill>
                <a:latin typeface="Segoe UI" pitchFamily="34" charset="0"/>
                <a:ea typeface="Segoe UI" pitchFamily="34" charset="-122"/>
                <a:cs typeface="Segoe UI" pitchFamily="34" charset="-120"/>
              </a:rPr>
              <a:t>19 % enemmän aikaa</a:t>
            </a:r>
            <a:endParaRPr lang="en-US" sz="3200" dirty="0"/>
          </a:p>
        </p:txBody>
      </p:sp>
      <p:sp>
        <p:nvSpPr>
          <p:cNvPr id="14" name="Kortti"/>
          <p:cNvSpPr/>
          <p:nvPr/>
        </p:nvSpPr>
        <p:spPr>
          <a:xfrm>
            <a:off x="8412480" y="1874520"/>
            <a:ext cx="3200400" cy="2743200"/>
          </a:xfrm>
          <a:prstGeom prst="roundRect">
            <a:avLst>
              <a:gd name="adj" fmla="val 3333"/>
            </a:avLst>
          </a:prstGeom>
          <a:solidFill>
            <a:srgbClr val="FFFFFF"/>
          </a:solidFill>
          <a:ln w="12700">
            <a:solidFill>
              <a:srgbClr val="E5E7EB"/>
            </a:solidFill>
            <a:prstDash val="solid"/>
          </a:ln>
        </p:spPr>
      </p:sp>
      <p:sp>
        <p:nvSpPr>
          <p:cNvPr id="15" name="Text 13"/>
          <p:cNvSpPr txBox="1"/>
          <p:nvPr/>
        </p:nvSpPr>
        <p:spPr>
          <a:xfrm>
            <a:off x="8595360" y="2011680"/>
            <a:ext cx="2926080" cy="320040"/>
          </a:xfrm>
          <a:prstGeom prst="rect">
            <a:avLst/>
          </a:prstGeom>
          <a:noFill/>
          <a:ln/>
        </p:spPr>
        <p:txBody>
          <a:bodyPr wrap="square" lIns="0" tIns="0" rIns="0" bIns="0" rtlCol="0" anchor="t"/>
          <a:lstStyle/>
          <a:p>
            <a:pPr algn="l" indent="0" marL="0">
              <a:buNone/>
            </a:pPr>
            <a:r>
              <a:rPr lang="en-US" sz="1100" dirty="0">
                <a:solidFill>
                  <a:srgbClr val="6B7280"/>
                </a:solidFill>
                <a:latin typeface="Consolas" pitchFamily="34" charset="0"/>
                <a:ea typeface="Consolas" pitchFamily="34" charset="-122"/>
                <a:cs typeface="Consolas" pitchFamily="34" charset="-120"/>
              </a:rPr>
              <a:t>// toinen tutkimus, eri mittari</a:t>
            </a:r>
            <a:endParaRPr lang="en-US" sz="1100" dirty="0"/>
          </a:p>
        </p:txBody>
      </p:sp>
      <p:sp>
        <p:nvSpPr>
          <p:cNvPr id="16" name="Text 14"/>
          <p:cNvSpPr txBox="1"/>
          <p:nvPr/>
        </p:nvSpPr>
        <p:spPr>
          <a:xfrm>
            <a:off x="8595360" y="2377440"/>
            <a:ext cx="2834640" cy="777240"/>
          </a:xfrm>
          <a:prstGeom prst="rect">
            <a:avLst/>
          </a:prstGeom>
          <a:noFill/>
          <a:ln/>
        </p:spPr>
        <p:txBody>
          <a:bodyPr wrap="square" lIns="0" tIns="0" rIns="0" bIns="0" rtlCol="0" anchor="t"/>
          <a:lstStyle/>
          <a:p>
            <a:pPr algn="l" indent="0" marL="0">
              <a:buNone/>
            </a:pPr>
            <a:r>
              <a:rPr lang="en-US" sz="4400" b="1" dirty="0">
                <a:solidFill>
                  <a:srgbClr val="2563EB"/>
                </a:solidFill>
                <a:latin typeface="Segoe UI" pitchFamily="34" charset="0"/>
                <a:ea typeface="Segoe UI" pitchFamily="34" charset="-122"/>
                <a:cs typeface="Segoe UI" pitchFamily="34" charset="-120"/>
              </a:rPr>
              <a:t>+26 %</a:t>
            </a:r>
            <a:endParaRPr lang="en-US" sz="4400" dirty="0"/>
          </a:p>
        </p:txBody>
      </p:sp>
      <p:sp>
        <p:nvSpPr>
          <p:cNvPr id="17" name="Text 15"/>
          <p:cNvSpPr txBox="1"/>
          <p:nvPr/>
        </p:nvSpPr>
        <p:spPr>
          <a:xfrm>
            <a:off x="8595360" y="3154680"/>
            <a:ext cx="2834640" cy="411480"/>
          </a:xfrm>
          <a:prstGeom prst="rect">
            <a:avLst/>
          </a:prstGeom>
          <a:noFill/>
          <a:ln/>
        </p:spPr>
        <p:txBody>
          <a:bodyPr wrap="square" lIns="0" tIns="0" rIns="0" bIns="0" rtlCol="0" anchor="t"/>
          <a:lstStyle/>
          <a:p>
            <a:pPr algn="l" indent="0" marL="0">
              <a:buNone/>
            </a:pPr>
            <a:r>
              <a:rPr lang="en-US" sz="1700" b="1" dirty="0">
                <a:solidFill>
                  <a:srgbClr val="111827"/>
                </a:solidFill>
                <a:latin typeface="Segoe UI" pitchFamily="34" charset="0"/>
                <a:ea typeface="Segoe UI" pitchFamily="34" charset="-122"/>
                <a:cs typeface="Segoe UI" pitchFamily="34" charset="-120"/>
              </a:rPr>
              <a:t>valmistuneita tehtäviä</a:t>
            </a:r>
            <a:endParaRPr lang="en-US" sz="1700" dirty="0"/>
          </a:p>
        </p:txBody>
      </p:sp>
      <p:sp>
        <p:nvSpPr>
          <p:cNvPr id="18" name="Text 16"/>
          <p:cNvSpPr txBox="1"/>
          <p:nvPr/>
        </p:nvSpPr>
        <p:spPr>
          <a:xfrm>
            <a:off x="8595360" y="3611880"/>
            <a:ext cx="2834640" cy="822960"/>
          </a:xfrm>
          <a:prstGeom prst="rect">
            <a:avLst/>
          </a:prstGeom>
          <a:noFill/>
          <a:ln/>
        </p:spPr>
        <p:txBody>
          <a:bodyPr wrap="square" lIns="0" tIns="0" rIns="0" bIns="0" rtlCol="0" anchor="t"/>
          <a:lstStyle/>
          <a:p>
            <a:pPr algn="l" indent="0" marL="0">
              <a:buNone/>
            </a:pPr>
            <a:r>
              <a:rPr lang="en-US" sz="1300" dirty="0">
                <a:solidFill>
                  <a:srgbClr val="6B7280"/>
                </a:solidFill>
                <a:latin typeface="Segoe UI" pitchFamily="34" charset="0"/>
                <a:ea typeface="Segoe UI" pitchFamily="34" charset="-122"/>
                <a:cs typeface="Segoe UI" pitchFamily="34" charset="-120"/>
              </a:rPr>
              <a:t>4 867 kehittäjää · 3 kenttäkoetta · koodiavustin</a:t>
            </a:r>
            <a:endParaRPr lang="en-US" sz="1300" dirty="0"/>
          </a:p>
        </p:txBody>
      </p:sp>
      <p:sp>
        <p:nvSpPr>
          <p:cNvPr id="19"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Nopeampi kenelle – ja missä tehtävässä?</a:t>
            </a:r>
            <a:endParaRPr lang="en-US" sz="2000" dirty="0"/>
          </a:p>
        </p:txBody>
      </p:sp>
      <p:sp>
        <p:nvSpPr>
          <p:cNvPr id="20"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METR 7/2025 ja päivitys 2/2026 · Microsoft Research 2025 · eri mittarit – ei samalle akselille.</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2651760" y="1097280"/>
            <a:ext cx="6858000" cy="4572000"/>
          </a:xfrm>
          <a:prstGeom prst="roundRect">
            <a:avLst>
              <a:gd name="adj" fmla="val 2000"/>
            </a:avLst>
          </a:prstGeom>
          <a:solidFill>
            <a:srgbClr val="F3F4F6"/>
          </a:solidFill>
          <a:ln w="19050">
            <a:solidFill>
              <a:srgbClr val="9CA3AF"/>
            </a:solidFill>
            <a:prstDash val="dash"/>
          </a:ln>
        </p:spPr>
      </p:sp>
      <p:sp>
        <p:nvSpPr>
          <p:cNvPr id="3" name="Text 1"/>
          <p:cNvSpPr txBox="1"/>
          <p:nvPr/>
        </p:nvSpPr>
        <p:spPr>
          <a:xfrm>
            <a:off x="2651760" y="1097280"/>
            <a:ext cx="6858000" cy="4572000"/>
          </a:xfrm>
          <a:prstGeom prst="rect">
            <a:avLst/>
          </a:prstGeom>
          <a:noFill/>
          <a:ln/>
        </p:spPr>
        <p:txBody>
          <a:bodyPr wrap="square" lIns="0" tIns="0" rIns="0" bIns="0" rtlCol="0" anchor="ctr"/>
          <a:lstStyle/>
          <a:p>
            <a:pPr algn="ctr" indent="0" marL="0">
              <a:buNone/>
            </a:pPr>
            <a:r>
              <a:rPr lang="en-US" sz="2400" dirty="0">
                <a:solidFill>
                  <a:srgbClr val="6B7280"/>
                </a:solidFill>
                <a:latin typeface="Consolas" pitchFamily="34" charset="0"/>
                <a:ea typeface="Consolas" pitchFamily="34" charset="-122"/>
                <a:cs typeface="Consolas" pitchFamily="34" charset="-120"/>
              </a:rPr>
              <a:t>[lisää GIF: Homer Simpson – ”D'oh!”]</a:t>
            </a:r>
            <a:endParaRPr lang="en-US" sz="24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02 · nopeus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Uusin koe ei saanut luotettavaa tulosta</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…koska moni ei enää halunnut tehdä töitä ilman AI:ta.</a:t>
            </a:r>
            <a:endParaRPr lang="en-US" sz="1800" dirty="0"/>
          </a:p>
        </p:txBody>
      </p:sp>
      <p:sp>
        <p:nvSpPr>
          <p:cNvPr id="5" name="Kortti"/>
          <p:cNvSpPr/>
          <p:nvPr/>
        </p:nvSpPr>
        <p:spPr>
          <a:xfrm>
            <a:off x="548640" y="1965960"/>
            <a:ext cx="3474720" cy="2651760"/>
          </a:xfrm>
          <a:prstGeom prst="roundRect">
            <a:avLst>
              <a:gd name="adj" fmla="val 3448"/>
            </a:avLst>
          </a:prstGeom>
          <a:solidFill>
            <a:srgbClr val="FFFFFF"/>
          </a:solidFill>
          <a:ln w="12700">
            <a:solidFill>
              <a:srgbClr val="E5E7EB"/>
            </a:solidFill>
            <a:prstDash val="solid"/>
          </a:ln>
        </p:spPr>
      </p:sp>
      <p:sp>
        <p:nvSpPr>
          <p:cNvPr id="6" name="Shape 4"/>
          <p:cNvSpPr/>
          <p:nvPr/>
        </p:nvSpPr>
        <p:spPr>
          <a:xfrm>
            <a:off x="1920240" y="2240280"/>
            <a:ext cx="731520" cy="731520"/>
          </a:xfrm>
          <a:prstGeom prst="ellipse">
            <a:avLst/>
          </a:prstGeom>
          <a:solidFill>
            <a:srgbClr val="EFF6FF"/>
          </a:solidFill>
          <a:ln w="12700">
            <a:solidFill>
              <a:srgbClr val="EFF6FF"/>
            </a:solidFill>
            <a:prstDash val="solid"/>
          </a:ln>
        </p:spPr>
      </p:sp>
      <p:pic>
        <p:nvPicPr>
          <p:cNvPr id="7" name="Image 0" descr="preencoded.png">    </p:cNvPr>
          <p:cNvPicPr>
            <a:picLocks noChangeAspect="1"/>
          </p:cNvPicPr>
          <p:nvPr/>
        </p:nvPicPr>
        <p:blipFill>
          <a:blip r:embed="rId1"/>
          <a:stretch>
            <a:fillRect/>
          </a:stretch>
        </p:blipFill>
        <p:spPr>
          <a:xfrm>
            <a:off x="2095805" y="2415845"/>
            <a:ext cx="380390" cy="380390"/>
          </a:xfrm>
          <a:prstGeom prst="rect">
            <a:avLst/>
          </a:prstGeom>
        </p:spPr>
      </p:pic>
      <p:sp>
        <p:nvSpPr>
          <p:cNvPr id="8" name="Text 5"/>
          <p:cNvSpPr txBox="1"/>
          <p:nvPr/>
        </p:nvSpPr>
        <p:spPr>
          <a:xfrm>
            <a:off x="822960" y="3154680"/>
            <a:ext cx="2926080" cy="1188720"/>
          </a:xfrm>
          <a:prstGeom prst="rect">
            <a:avLst/>
          </a:prstGeom>
          <a:noFill/>
          <a:ln/>
        </p:spPr>
        <p:txBody>
          <a:bodyPr wrap="square" lIns="0" tIns="0" rIns="0" bIns="0" rtlCol="0" anchor="ctr"/>
          <a:lstStyle/>
          <a:p>
            <a:pPr algn="ctr" indent="0" marL="0">
              <a:buNone/>
            </a:pPr>
            <a:r>
              <a:rPr lang="en-US" sz="2000" b="1" dirty="0">
                <a:solidFill>
                  <a:srgbClr val="111827"/>
                </a:solidFill>
                <a:latin typeface="Segoe UI" pitchFamily="34" charset="0"/>
                <a:ea typeface="Segoe UI" pitchFamily="34" charset="-122"/>
                <a:cs typeface="Segoe UI" pitchFamily="34" charset="-120"/>
              </a:rPr>
              <a:t>Osallistujat ja tehtävät valikoituivat</a:t>
            </a:r>
            <a:endParaRPr lang="en-US" sz="2000" dirty="0"/>
          </a:p>
        </p:txBody>
      </p:sp>
      <p:sp>
        <p:nvSpPr>
          <p:cNvPr id="9" name="Kortti"/>
          <p:cNvSpPr/>
          <p:nvPr/>
        </p:nvSpPr>
        <p:spPr>
          <a:xfrm>
            <a:off x="4297680" y="1965960"/>
            <a:ext cx="3474720" cy="2651760"/>
          </a:xfrm>
          <a:prstGeom prst="roundRect">
            <a:avLst>
              <a:gd name="adj" fmla="val 3448"/>
            </a:avLst>
          </a:prstGeom>
          <a:solidFill>
            <a:srgbClr val="FFFFFF"/>
          </a:solidFill>
          <a:ln w="12700">
            <a:solidFill>
              <a:srgbClr val="E5E7EB"/>
            </a:solidFill>
            <a:prstDash val="solid"/>
          </a:ln>
        </p:spPr>
      </p:sp>
      <p:sp>
        <p:nvSpPr>
          <p:cNvPr id="10" name="Shape 7"/>
          <p:cNvSpPr/>
          <p:nvPr/>
        </p:nvSpPr>
        <p:spPr>
          <a:xfrm>
            <a:off x="5669280" y="2240280"/>
            <a:ext cx="731520" cy="731520"/>
          </a:xfrm>
          <a:prstGeom prst="ellipse">
            <a:avLst/>
          </a:prstGeom>
          <a:solidFill>
            <a:srgbClr val="EFF6FF"/>
          </a:solidFill>
          <a:ln w="12700">
            <a:solidFill>
              <a:srgbClr val="EFF6FF"/>
            </a:solidFill>
            <a:prstDash val="solid"/>
          </a:ln>
        </p:spPr>
      </p:sp>
      <p:pic>
        <p:nvPicPr>
          <p:cNvPr id="11" name="Image 1" descr="preencoded.png">    </p:cNvPr>
          <p:cNvPicPr>
            <a:picLocks noChangeAspect="1"/>
          </p:cNvPicPr>
          <p:nvPr/>
        </p:nvPicPr>
        <p:blipFill>
          <a:blip r:embed="rId2"/>
          <a:stretch>
            <a:fillRect/>
          </a:stretch>
        </p:blipFill>
        <p:spPr>
          <a:xfrm>
            <a:off x="5844845" y="2415845"/>
            <a:ext cx="380390" cy="380390"/>
          </a:xfrm>
          <a:prstGeom prst="rect">
            <a:avLst/>
          </a:prstGeom>
        </p:spPr>
      </p:pic>
      <p:sp>
        <p:nvSpPr>
          <p:cNvPr id="12" name="Text 8"/>
          <p:cNvSpPr txBox="1"/>
          <p:nvPr/>
        </p:nvSpPr>
        <p:spPr>
          <a:xfrm>
            <a:off x="4572000" y="3154680"/>
            <a:ext cx="2926080" cy="1188720"/>
          </a:xfrm>
          <a:prstGeom prst="rect">
            <a:avLst/>
          </a:prstGeom>
          <a:noFill/>
          <a:ln/>
        </p:spPr>
        <p:txBody>
          <a:bodyPr wrap="square" lIns="0" tIns="0" rIns="0" bIns="0" rtlCol="0" anchor="ctr"/>
          <a:lstStyle/>
          <a:p>
            <a:pPr algn="ctr" indent="0" marL="0">
              <a:buNone/>
            </a:pPr>
            <a:r>
              <a:rPr lang="en-US" sz="2000" b="1" dirty="0">
                <a:solidFill>
                  <a:srgbClr val="111827"/>
                </a:solidFill>
                <a:latin typeface="Segoe UI" pitchFamily="34" charset="0"/>
                <a:ea typeface="Segoe UI" pitchFamily="34" charset="-122"/>
                <a:cs typeface="Segoe UI" pitchFamily="34" charset="-120"/>
              </a:rPr>
              <a:t>Pienempi palkkio</a:t>
            </a:r>
            <a:endParaRPr lang="en-US" sz="2000" dirty="0"/>
          </a:p>
        </p:txBody>
      </p:sp>
      <p:sp>
        <p:nvSpPr>
          <p:cNvPr id="13" name="Kortti"/>
          <p:cNvSpPr/>
          <p:nvPr/>
        </p:nvSpPr>
        <p:spPr>
          <a:xfrm>
            <a:off x="8046720" y="1965960"/>
            <a:ext cx="3474720" cy="2651760"/>
          </a:xfrm>
          <a:prstGeom prst="roundRect">
            <a:avLst>
              <a:gd name="adj" fmla="val 3448"/>
            </a:avLst>
          </a:prstGeom>
          <a:solidFill>
            <a:srgbClr val="FFFFFF"/>
          </a:solidFill>
          <a:ln w="12700">
            <a:solidFill>
              <a:srgbClr val="E5E7EB"/>
            </a:solidFill>
            <a:prstDash val="solid"/>
          </a:ln>
        </p:spPr>
      </p:sp>
      <p:sp>
        <p:nvSpPr>
          <p:cNvPr id="14" name="Shape 10"/>
          <p:cNvSpPr/>
          <p:nvPr/>
        </p:nvSpPr>
        <p:spPr>
          <a:xfrm>
            <a:off x="9418320" y="2240280"/>
            <a:ext cx="731520" cy="731520"/>
          </a:xfrm>
          <a:prstGeom prst="ellipse">
            <a:avLst/>
          </a:prstGeom>
          <a:solidFill>
            <a:srgbClr val="EFF6FF"/>
          </a:solidFill>
          <a:ln w="12700">
            <a:solidFill>
              <a:srgbClr val="EFF6FF"/>
            </a:solidFill>
            <a:prstDash val="solid"/>
          </a:ln>
        </p:spPr>
      </p:sp>
      <p:pic>
        <p:nvPicPr>
          <p:cNvPr id="15" name="Image 2" descr="preencoded.png">    </p:cNvPr>
          <p:cNvPicPr>
            <a:picLocks noChangeAspect="1"/>
          </p:cNvPicPr>
          <p:nvPr/>
        </p:nvPicPr>
        <p:blipFill>
          <a:blip r:embed="rId3"/>
          <a:stretch>
            <a:fillRect/>
          </a:stretch>
        </p:blipFill>
        <p:spPr>
          <a:xfrm>
            <a:off x="9593885" y="2415845"/>
            <a:ext cx="380390" cy="380390"/>
          </a:xfrm>
          <a:prstGeom prst="rect">
            <a:avLst/>
          </a:prstGeom>
        </p:spPr>
      </p:pic>
      <p:sp>
        <p:nvSpPr>
          <p:cNvPr id="16" name="Text 11"/>
          <p:cNvSpPr txBox="1"/>
          <p:nvPr/>
        </p:nvSpPr>
        <p:spPr>
          <a:xfrm>
            <a:off x="8321040" y="3154680"/>
            <a:ext cx="2926080" cy="1188720"/>
          </a:xfrm>
          <a:prstGeom prst="rect">
            <a:avLst/>
          </a:prstGeom>
          <a:noFill/>
          <a:ln/>
        </p:spPr>
        <p:txBody>
          <a:bodyPr wrap="square" lIns="0" tIns="0" rIns="0" bIns="0" rtlCol="0" anchor="ctr"/>
          <a:lstStyle/>
          <a:p>
            <a:pPr algn="ctr" indent="0" marL="0">
              <a:buNone/>
            </a:pPr>
            <a:r>
              <a:rPr lang="en-US" sz="2000" b="1" dirty="0">
                <a:solidFill>
                  <a:srgbClr val="111827"/>
                </a:solidFill>
                <a:latin typeface="Segoe UI" pitchFamily="34" charset="0"/>
                <a:ea typeface="Segoe UI" pitchFamily="34" charset="-122"/>
                <a:cs typeface="Segoe UI" pitchFamily="34" charset="-120"/>
              </a:rPr>
              <a:t>Rinnakkaista agenttityötä vaikea mitata</a:t>
            </a:r>
            <a:endParaRPr lang="en-US" sz="2000" dirty="0"/>
          </a:p>
        </p:txBody>
      </p:sp>
      <p:sp>
        <p:nvSpPr>
          <p:cNvPr id="17"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Sekin kertoo jotain.</a:t>
            </a:r>
            <a:endParaRPr lang="en-US" sz="2000" dirty="0"/>
          </a:p>
        </p:txBody>
      </p:sp>
      <p:sp>
        <p:nvSpPr>
          <p:cNvPr id="18"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METR, Uplift update 24.2.2026.</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02 · nopeus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000" b="1" dirty="0">
                <a:solidFill>
                  <a:srgbClr val="111827"/>
                </a:solidFill>
                <a:latin typeface="Segoe UI" pitchFamily="34" charset="0"/>
                <a:ea typeface="Segoe UI" pitchFamily="34" charset="-122"/>
                <a:cs typeface="Segoe UI" pitchFamily="34" charset="-120"/>
              </a:rPr>
              <a:t>Koodi valmistuu nopeammin. Valmistuuko ominaisuus?</a:t>
            </a:r>
            <a:endParaRPr lang="en-US" sz="30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Toimitusketju tarpeesta käyttöön</a:t>
            </a:r>
            <a:endParaRPr lang="en-US" sz="1800" dirty="0"/>
          </a:p>
        </p:txBody>
      </p:sp>
      <p:sp>
        <p:nvSpPr>
          <p:cNvPr id="5" name="Text 3"/>
          <p:cNvSpPr/>
          <p:nvPr/>
        </p:nvSpPr>
        <p:spPr>
          <a:xfrm>
            <a:off x="548640"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Tarve</a:t>
            </a:r>
            <a:endParaRPr lang="en-US" sz="1700" dirty="0"/>
          </a:p>
        </p:txBody>
      </p:sp>
      <p:sp>
        <p:nvSpPr>
          <p:cNvPr id="6" name="Shape 4"/>
          <p:cNvSpPr/>
          <p:nvPr/>
        </p:nvSpPr>
        <p:spPr>
          <a:xfrm>
            <a:off x="2185416" y="3634740"/>
            <a:ext cx="237744" cy="0"/>
          </a:xfrm>
          <a:prstGeom prst="line">
            <a:avLst/>
          </a:prstGeom>
          <a:noFill/>
          <a:ln w="25400">
            <a:solidFill>
              <a:srgbClr val="9CA3AF"/>
            </a:solidFill>
            <a:prstDash val="solid"/>
            <a:tailEnd type="triangle"/>
          </a:ln>
        </p:spPr>
      </p:sp>
      <p:sp>
        <p:nvSpPr>
          <p:cNvPr id="7" name="Text 5"/>
          <p:cNvSpPr/>
          <p:nvPr/>
        </p:nvSpPr>
        <p:spPr>
          <a:xfrm>
            <a:off x="2459736"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Toteutus</a:t>
            </a:r>
            <a:endParaRPr lang="en-US" sz="1700" dirty="0"/>
          </a:p>
        </p:txBody>
      </p:sp>
      <p:sp>
        <p:nvSpPr>
          <p:cNvPr id="8" name="Shape 6"/>
          <p:cNvSpPr/>
          <p:nvPr/>
        </p:nvSpPr>
        <p:spPr>
          <a:xfrm>
            <a:off x="4096512" y="3634740"/>
            <a:ext cx="237744" cy="0"/>
          </a:xfrm>
          <a:prstGeom prst="line">
            <a:avLst/>
          </a:prstGeom>
          <a:noFill/>
          <a:ln w="25400">
            <a:solidFill>
              <a:srgbClr val="9CA3AF"/>
            </a:solidFill>
            <a:prstDash val="solid"/>
            <a:tailEnd type="triangle"/>
          </a:ln>
        </p:spPr>
      </p:sp>
      <p:sp>
        <p:nvSpPr>
          <p:cNvPr id="9" name="Text 7"/>
          <p:cNvSpPr/>
          <p:nvPr/>
        </p:nvSpPr>
        <p:spPr>
          <a:xfrm>
            <a:off x="4370832"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Katselmointi</a:t>
            </a:r>
            <a:endParaRPr lang="en-US" sz="1700" dirty="0"/>
          </a:p>
        </p:txBody>
      </p:sp>
      <p:sp>
        <p:nvSpPr>
          <p:cNvPr id="10" name="Shape 8"/>
          <p:cNvSpPr/>
          <p:nvPr/>
        </p:nvSpPr>
        <p:spPr>
          <a:xfrm>
            <a:off x="6007608" y="3634740"/>
            <a:ext cx="237744" cy="0"/>
          </a:xfrm>
          <a:prstGeom prst="line">
            <a:avLst/>
          </a:prstGeom>
          <a:noFill/>
          <a:ln w="25400">
            <a:solidFill>
              <a:srgbClr val="9CA3AF"/>
            </a:solidFill>
            <a:prstDash val="solid"/>
            <a:tailEnd type="triangle"/>
          </a:ln>
        </p:spPr>
      </p:sp>
      <p:sp>
        <p:nvSpPr>
          <p:cNvPr id="11" name="Text 9"/>
          <p:cNvSpPr/>
          <p:nvPr/>
        </p:nvSpPr>
        <p:spPr>
          <a:xfrm>
            <a:off x="6281928"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Integrointi</a:t>
            </a:r>
            <a:endParaRPr lang="en-US" sz="1700" dirty="0"/>
          </a:p>
        </p:txBody>
      </p:sp>
      <p:sp>
        <p:nvSpPr>
          <p:cNvPr id="12" name="Shape 10"/>
          <p:cNvSpPr/>
          <p:nvPr/>
        </p:nvSpPr>
        <p:spPr>
          <a:xfrm>
            <a:off x="7918704" y="3634740"/>
            <a:ext cx="237744" cy="0"/>
          </a:xfrm>
          <a:prstGeom prst="line">
            <a:avLst/>
          </a:prstGeom>
          <a:noFill/>
          <a:ln w="25400">
            <a:solidFill>
              <a:srgbClr val="9CA3AF"/>
            </a:solidFill>
            <a:prstDash val="solid"/>
            <a:tailEnd type="triangle"/>
          </a:ln>
        </p:spPr>
      </p:sp>
      <p:sp>
        <p:nvSpPr>
          <p:cNvPr id="13" name="Text 11"/>
          <p:cNvSpPr/>
          <p:nvPr/>
        </p:nvSpPr>
        <p:spPr>
          <a:xfrm>
            <a:off x="8193024"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Julkaisu</a:t>
            </a:r>
            <a:endParaRPr lang="en-US" sz="1700" dirty="0"/>
          </a:p>
        </p:txBody>
      </p:sp>
      <p:sp>
        <p:nvSpPr>
          <p:cNvPr id="14" name="Shape 12"/>
          <p:cNvSpPr/>
          <p:nvPr/>
        </p:nvSpPr>
        <p:spPr>
          <a:xfrm>
            <a:off x="9829800" y="3634740"/>
            <a:ext cx="237744" cy="0"/>
          </a:xfrm>
          <a:prstGeom prst="line">
            <a:avLst/>
          </a:prstGeom>
          <a:noFill/>
          <a:ln w="25400">
            <a:solidFill>
              <a:srgbClr val="9CA3AF"/>
            </a:solidFill>
            <a:prstDash val="solid"/>
            <a:tailEnd type="triangle"/>
          </a:ln>
        </p:spPr>
      </p:sp>
      <p:sp>
        <p:nvSpPr>
          <p:cNvPr id="15" name="Text 13"/>
          <p:cNvSpPr/>
          <p:nvPr/>
        </p:nvSpPr>
        <p:spPr>
          <a:xfrm>
            <a:off x="10104120"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Käyttö</a:t>
            </a:r>
            <a:endParaRPr lang="en-US" sz="1700" dirty="0"/>
          </a:p>
        </p:txBody>
      </p:sp>
      <p:sp>
        <p:nvSpPr>
          <p:cNvPr id="16"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Missä teillä työ odottaa?</a:t>
            </a:r>
            <a:endParaRPr lang="en-US" sz="2000" dirty="0"/>
          </a:p>
        </p:txBody>
      </p:sp>
      <p:sp>
        <p:nvSpPr>
          <p:cNvPr id="17"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esityksen tulkinta · DORA, Balancing AI tensions 3/2026 (vuoden 2025 aineisto) · havainnollistus – leveydet eivät ole mitattuja.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02 · nopeus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000" b="1" dirty="0">
                <a:solidFill>
                  <a:srgbClr val="111827"/>
                </a:solidFill>
                <a:latin typeface="Segoe UI" pitchFamily="34" charset="0"/>
                <a:ea typeface="Segoe UI" pitchFamily="34" charset="-122"/>
                <a:cs typeface="Segoe UI" pitchFamily="34" charset="-120"/>
              </a:rPr>
              <a:t>Koodi valmistuu nopeammin. Valmistuuko ominaisuus?</a:t>
            </a:r>
            <a:endParaRPr lang="en-US" sz="30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Toimitusketju tarpeesta käyttöön</a:t>
            </a:r>
            <a:endParaRPr lang="en-US" sz="1800" dirty="0"/>
          </a:p>
        </p:txBody>
      </p:sp>
      <p:sp>
        <p:nvSpPr>
          <p:cNvPr id="5" name="Text 3"/>
          <p:cNvSpPr/>
          <p:nvPr/>
        </p:nvSpPr>
        <p:spPr>
          <a:xfrm>
            <a:off x="548640"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Tarve</a:t>
            </a:r>
            <a:endParaRPr lang="en-US" sz="1700" dirty="0"/>
          </a:p>
        </p:txBody>
      </p:sp>
      <p:sp>
        <p:nvSpPr>
          <p:cNvPr id="6" name="Shape 4"/>
          <p:cNvSpPr/>
          <p:nvPr/>
        </p:nvSpPr>
        <p:spPr>
          <a:xfrm>
            <a:off x="2185416" y="3634740"/>
            <a:ext cx="237744" cy="0"/>
          </a:xfrm>
          <a:prstGeom prst="line">
            <a:avLst/>
          </a:prstGeom>
          <a:noFill/>
          <a:ln w="25400">
            <a:solidFill>
              <a:srgbClr val="9CA3AF"/>
            </a:solidFill>
            <a:prstDash val="solid"/>
            <a:tailEnd type="triangle"/>
          </a:ln>
        </p:spPr>
      </p:sp>
      <p:sp>
        <p:nvSpPr>
          <p:cNvPr id="7" name="Text 5"/>
          <p:cNvSpPr/>
          <p:nvPr/>
        </p:nvSpPr>
        <p:spPr>
          <a:xfrm>
            <a:off x="2459736" y="3154680"/>
            <a:ext cx="960120" cy="960120"/>
          </a:xfrm>
          <a:prstGeom prst="roundRect">
            <a:avLst>
              <a:gd name="adj" fmla="val 7619"/>
            </a:avLst>
          </a:prstGeom>
          <a:solidFill>
            <a:srgbClr val="EFF6FF"/>
          </a:solidFill>
          <a:ln w="12700">
            <a:solidFill>
              <a:srgbClr val="2563EB"/>
            </a:solidFill>
          </a:ln>
        </p:spPr>
        <p:txBody>
          <a:bodyPr wrap="square" lIns="25400" tIns="25400" rIns="25400" bIns="25400" rtlCol="0" anchor="ctr"/>
          <a:lstStyle/>
          <a:p>
            <a:pPr algn="ctr" indent="0" marL="0">
              <a:buNone/>
            </a:pPr>
            <a:r>
              <a:rPr lang="en-US" sz="1400" b="1" dirty="0">
                <a:solidFill>
                  <a:srgbClr val="111827"/>
                </a:solidFill>
                <a:latin typeface="Segoe UI" pitchFamily="34" charset="0"/>
                <a:ea typeface="Segoe UI" pitchFamily="34" charset="-122"/>
                <a:cs typeface="Segoe UI" pitchFamily="34" charset="-120"/>
              </a:rPr>
              <a:t>Toteutus</a:t>
            </a:r>
            <a:endParaRPr lang="en-US" sz="1400" dirty="0"/>
          </a:p>
        </p:txBody>
      </p:sp>
      <p:sp>
        <p:nvSpPr>
          <p:cNvPr id="8" name="Shape 6"/>
          <p:cNvSpPr/>
          <p:nvPr/>
        </p:nvSpPr>
        <p:spPr>
          <a:xfrm>
            <a:off x="3456432" y="3634740"/>
            <a:ext cx="237744" cy="0"/>
          </a:xfrm>
          <a:prstGeom prst="line">
            <a:avLst/>
          </a:prstGeom>
          <a:noFill/>
          <a:ln w="25400">
            <a:solidFill>
              <a:srgbClr val="9CA3AF"/>
            </a:solidFill>
            <a:prstDash val="solid"/>
            <a:tailEnd type="triangle"/>
          </a:ln>
        </p:spPr>
      </p:sp>
      <p:sp>
        <p:nvSpPr>
          <p:cNvPr id="9" name="Text 7"/>
          <p:cNvSpPr/>
          <p:nvPr/>
        </p:nvSpPr>
        <p:spPr>
          <a:xfrm>
            <a:off x="3730752"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Katselmointi</a:t>
            </a:r>
            <a:endParaRPr lang="en-US" sz="1700" dirty="0"/>
          </a:p>
        </p:txBody>
      </p:sp>
      <p:sp>
        <p:nvSpPr>
          <p:cNvPr id="10" name="Shape 8"/>
          <p:cNvSpPr/>
          <p:nvPr/>
        </p:nvSpPr>
        <p:spPr>
          <a:xfrm>
            <a:off x="5367528" y="3634740"/>
            <a:ext cx="237744" cy="0"/>
          </a:xfrm>
          <a:prstGeom prst="line">
            <a:avLst/>
          </a:prstGeom>
          <a:noFill/>
          <a:ln w="25400">
            <a:solidFill>
              <a:srgbClr val="9CA3AF"/>
            </a:solidFill>
            <a:prstDash val="solid"/>
            <a:tailEnd type="triangle"/>
          </a:ln>
        </p:spPr>
      </p:sp>
      <p:sp>
        <p:nvSpPr>
          <p:cNvPr id="11" name="Text 9"/>
          <p:cNvSpPr/>
          <p:nvPr/>
        </p:nvSpPr>
        <p:spPr>
          <a:xfrm>
            <a:off x="5641848"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Integrointi</a:t>
            </a:r>
            <a:endParaRPr lang="en-US" sz="1700" dirty="0"/>
          </a:p>
        </p:txBody>
      </p:sp>
      <p:sp>
        <p:nvSpPr>
          <p:cNvPr id="12" name="Shape 10"/>
          <p:cNvSpPr/>
          <p:nvPr/>
        </p:nvSpPr>
        <p:spPr>
          <a:xfrm>
            <a:off x="7278624" y="3634740"/>
            <a:ext cx="237744" cy="0"/>
          </a:xfrm>
          <a:prstGeom prst="line">
            <a:avLst/>
          </a:prstGeom>
          <a:noFill/>
          <a:ln w="25400">
            <a:solidFill>
              <a:srgbClr val="9CA3AF"/>
            </a:solidFill>
            <a:prstDash val="solid"/>
            <a:tailEnd type="triangle"/>
          </a:ln>
        </p:spPr>
      </p:sp>
      <p:sp>
        <p:nvSpPr>
          <p:cNvPr id="13" name="Text 11"/>
          <p:cNvSpPr/>
          <p:nvPr/>
        </p:nvSpPr>
        <p:spPr>
          <a:xfrm>
            <a:off x="7552944"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Julkaisu</a:t>
            </a:r>
            <a:endParaRPr lang="en-US" sz="1700" dirty="0"/>
          </a:p>
        </p:txBody>
      </p:sp>
      <p:sp>
        <p:nvSpPr>
          <p:cNvPr id="14" name="Shape 12"/>
          <p:cNvSpPr/>
          <p:nvPr/>
        </p:nvSpPr>
        <p:spPr>
          <a:xfrm>
            <a:off x="9189720" y="3634740"/>
            <a:ext cx="237744" cy="0"/>
          </a:xfrm>
          <a:prstGeom prst="line">
            <a:avLst/>
          </a:prstGeom>
          <a:noFill/>
          <a:ln w="25400">
            <a:solidFill>
              <a:srgbClr val="9CA3AF"/>
            </a:solidFill>
            <a:prstDash val="solid"/>
            <a:tailEnd type="triangle"/>
          </a:ln>
        </p:spPr>
      </p:sp>
      <p:sp>
        <p:nvSpPr>
          <p:cNvPr id="15" name="Text 13"/>
          <p:cNvSpPr/>
          <p:nvPr/>
        </p:nvSpPr>
        <p:spPr>
          <a:xfrm>
            <a:off x="9464040"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Käyttö</a:t>
            </a:r>
            <a:endParaRPr lang="en-US" sz="1700" dirty="0"/>
          </a:p>
        </p:txBody>
      </p:sp>
      <p:sp>
        <p:nvSpPr>
          <p:cNvPr id="16" name="Text 14"/>
          <p:cNvSpPr txBox="1"/>
          <p:nvPr/>
        </p:nvSpPr>
        <p:spPr>
          <a:xfrm>
            <a:off x="2286000" y="4206240"/>
            <a:ext cx="1645920" cy="365760"/>
          </a:xfrm>
          <a:prstGeom prst="rect">
            <a:avLst/>
          </a:prstGeom>
          <a:noFill/>
          <a:ln/>
        </p:spPr>
        <p:txBody>
          <a:bodyPr wrap="square" lIns="0" tIns="0" rIns="0" bIns="0" rtlCol="0" anchor="t"/>
          <a:lstStyle/>
          <a:p>
            <a:pPr algn="ctr" indent="0" marL="0">
              <a:buNone/>
            </a:pPr>
            <a:r>
              <a:rPr lang="en-US" sz="1400" b="1" dirty="0">
                <a:solidFill>
                  <a:srgbClr val="2563EB"/>
                </a:solidFill>
                <a:latin typeface="Consolas" pitchFamily="34" charset="0"/>
                <a:ea typeface="Consolas" pitchFamily="34" charset="-122"/>
                <a:cs typeface="Consolas" pitchFamily="34" charset="-120"/>
              </a:rPr>
              <a:t>nopeutui</a:t>
            </a:r>
            <a:endParaRPr lang="en-US" sz="1400" dirty="0"/>
          </a:p>
        </p:txBody>
      </p:sp>
      <p:sp>
        <p:nvSpPr>
          <p:cNvPr id="17"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Missä teillä työ odottaa?</a:t>
            </a:r>
            <a:endParaRPr lang="en-US" sz="2000" dirty="0"/>
          </a:p>
        </p:txBody>
      </p:sp>
      <p:sp>
        <p:nvSpPr>
          <p:cNvPr id="18"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esityksen tulkinta · DORA, Balancing AI tensions 3/2026 (vuoden 2025 aineisto) · havainnollistus – leveydet eivät ole mitattuja.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02 · nopeus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000" b="1" dirty="0">
                <a:solidFill>
                  <a:srgbClr val="111827"/>
                </a:solidFill>
                <a:latin typeface="Segoe UI" pitchFamily="34" charset="0"/>
                <a:ea typeface="Segoe UI" pitchFamily="34" charset="-122"/>
                <a:cs typeface="Segoe UI" pitchFamily="34" charset="-120"/>
              </a:rPr>
              <a:t>Koodi valmistuu nopeammin. Valmistuuko ominaisuus?</a:t>
            </a:r>
            <a:endParaRPr lang="en-US" sz="30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Toimitusketju tarpeesta käyttöön</a:t>
            </a:r>
            <a:endParaRPr lang="en-US" sz="1800" dirty="0"/>
          </a:p>
        </p:txBody>
      </p:sp>
      <p:sp>
        <p:nvSpPr>
          <p:cNvPr id="5" name="Text 3"/>
          <p:cNvSpPr/>
          <p:nvPr/>
        </p:nvSpPr>
        <p:spPr>
          <a:xfrm>
            <a:off x="548640"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Tarve</a:t>
            </a:r>
            <a:endParaRPr lang="en-US" sz="1700" dirty="0"/>
          </a:p>
        </p:txBody>
      </p:sp>
      <p:sp>
        <p:nvSpPr>
          <p:cNvPr id="6" name="Shape 4"/>
          <p:cNvSpPr/>
          <p:nvPr/>
        </p:nvSpPr>
        <p:spPr>
          <a:xfrm>
            <a:off x="2185416" y="3634740"/>
            <a:ext cx="237744" cy="0"/>
          </a:xfrm>
          <a:prstGeom prst="line">
            <a:avLst/>
          </a:prstGeom>
          <a:noFill/>
          <a:ln w="25400">
            <a:solidFill>
              <a:srgbClr val="9CA3AF"/>
            </a:solidFill>
            <a:prstDash val="solid"/>
            <a:tailEnd type="triangle"/>
          </a:ln>
        </p:spPr>
      </p:sp>
      <p:sp>
        <p:nvSpPr>
          <p:cNvPr id="7" name="Text 5"/>
          <p:cNvSpPr/>
          <p:nvPr/>
        </p:nvSpPr>
        <p:spPr>
          <a:xfrm>
            <a:off x="2459736" y="3154680"/>
            <a:ext cx="960120" cy="960120"/>
          </a:xfrm>
          <a:prstGeom prst="roundRect">
            <a:avLst>
              <a:gd name="adj" fmla="val 7619"/>
            </a:avLst>
          </a:prstGeom>
          <a:solidFill>
            <a:srgbClr val="EFF6FF"/>
          </a:solidFill>
          <a:ln w="12700">
            <a:solidFill>
              <a:srgbClr val="2563EB"/>
            </a:solidFill>
          </a:ln>
        </p:spPr>
        <p:txBody>
          <a:bodyPr wrap="square" lIns="25400" tIns="25400" rIns="25400" bIns="25400" rtlCol="0" anchor="ctr"/>
          <a:lstStyle/>
          <a:p>
            <a:pPr algn="ctr" indent="0" marL="0">
              <a:buNone/>
            </a:pPr>
            <a:r>
              <a:rPr lang="en-US" sz="1400" b="1" dirty="0">
                <a:solidFill>
                  <a:srgbClr val="111827"/>
                </a:solidFill>
                <a:latin typeface="Segoe UI" pitchFamily="34" charset="0"/>
                <a:ea typeface="Segoe UI" pitchFamily="34" charset="-122"/>
                <a:cs typeface="Segoe UI" pitchFamily="34" charset="-120"/>
              </a:rPr>
              <a:t>Toteutus</a:t>
            </a:r>
            <a:endParaRPr lang="en-US" sz="1400" dirty="0"/>
          </a:p>
        </p:txBody>
      </p:sp>
      <p:sp>
        <p:nvSpPr>
          <p:cNvPr id="8" name="Shape 6"/>
          <p:cNvSpPr/>
          <p:nvPr/>
        </p:nvSpPr>
        <p:spPr>
          <a:xfrm>
            <a:off x="3456432" y="3634740"/>
            <a:ext cx="237744" cy="0"/>
          </a:xfrm>
          <a:prstGeom prst="line">
            <a:avLst/>
          </a:prstGeom>
          <a:noFill/>
          <a:ln w="25400">
            <a:solidFill>
              <a:srgbClr val="9CA3AF"/>
            </a:solidFill>
            <a:prstDash val="solid"/>
            <a:tailEnd type="triangle"/>
          </a:ln>
        </p:spPr>
      </p:sp>
      <p:sp>
        <p:nvSpPr>
          <p:cNvPr id="9" name="Text 7"/>
          <p:cNvSpPr/>
          <p:nvPr/>
        </p:nvSpPr>
        <p:spPr>
          <a:xfrm>
            <a:off x="3730752" y="3154680"/>
            <a:ext cx="1600200" cy="960120"/>
          </a:xfrm>
          <a:prstGeom prst="roundRect">
            <a:avLst>
              <a:gd name="adj" fmla="val 7619"/>
            </a:avLst>
          </a:prstGeom>
          <a:solidFill>
            <a:srgbClr val="FFEBE9"/>
          </a:solidFill>
          <a:ln w="25400">
            <a:solidFill>
              <a:srgbClr val="CF222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Katselmointi</a:t>
            </a:r>
            <a:endParaRPr lang="en-US" sz="1700" dirty="0"/>
          </a:p>
        </p:txBody>
      </p:sp>
      <p:sp>
        <p:nvSpPr>
          <p:cNvPr id="10" name="Shape 8"/>
          <p:cNvSpPr/>
          <p:nvPr/>
        </p:nvSpPr>
        <p:spPr>
          <a:xfrm>
            <a:off x="5367528" y="3634740"/>
            <a:ext cx="237744" cy="0"/>
          </a:xfrm>
          <a:prstGeom prst="line">
            <a:avLst/>
          </a:prstGeom>
          <a:noFill/>
          <a:ln w="25400">
            <a:solidFill>
              <a:srgbClr val="9CA3AF"/>
            </a:solidFill>
            <a:prstDash val="solid"/>
            <a:tailEnd type="triangle"/>
          </a:ln>
        </p:spPr>
      </p:sp>
      <p:sp>
        <p:nvSpPr>
          <p:cNvPr id="11" name="Text 9"/>
          <p:cNvSpPr/>
          <p:nvPr/>
        </p:nvSpPr>
        <p:spPr>
          <a:xfrm>
            <a:off x="5641848"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Integrointi</a:t>
            </a:r>
            <a:endParaRPr lang="en-US" sz="1700" dirty="0"/>
          </a:p>
        </p:txBody>
      </p:sp>
      <p:sp>
        <p:nvSpPr>
          <p:cNvPr id="12" name="Shape 10"/>
          <p:cNvSpPr/>
          <p:nvPr/>
        </p:nvSpPr>
        <p:spPr>
          <a:xfrm>
            <a:off x="7278624" y="3634740"/>
            <a:ext cx="237744" cy="0"/>
          </a:xfrm>
          <a:prstGeom prst="line">
            <a:avLst/>
          </a:prstGeom>
          <a:noFill/>
          <a:ln w="25400">
            <a:solidFill>
              <a:srgbClr val="9CA3AF"/>
            </a:solidFill>
            <a:prstDash val="solid"/>
            <a:tailEnd type="triangle"/>
          </a:ln>
        </p:spPr>
      </p:sp>
      <p:sp>
        <p:nvSpPr>
          <p:cNvPr id="13" name="Text 11"/>
          <p:cNvSpPr/>
          <p:nvPr/>
        </p:nvSpPr>
        <p:spPr>
          <a:xfrm>
            <a:off x="7552944"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Julkaisu</a:t>
            </a:r>
            <a:endParaRPr lang="en-US" sz="1700" dirty="0"/>
          </a:p>
        </p:txBody>
      </p:sp>
      <p:sp>
        <p:nvSpPr>
          <p:cNvPr id="14" name="Shape 12"/>
          <p:cNvSpPr/>
          <p:nvPr/>
        </p:nvSpPr>
        <p:spPr>
          <a:xfrm>
            <a:off x="9189720" y="3634740"/>
            <a:ext cx="237744" cy="0"/>
          </a:xfrm>
          <a:prstGeom prst="line">
            <a:avLst/>
          </a:prstGeom>
          <a:noFill/>
          <a:ln w="25400">
            <a:solidFill>
              <a:srgbClr val="9CA3AF"/>
            </a:solidFill>
            <a:prstDash val="solid"/>
            <a:tailEnd type="triangle"/>
          </a:ln>
        </p:spPr>
      </p:sp>
      <p:sp>
        <p:nvSpPr>
          <p:cNvPr id="15" name="Text 13"/>
          <p:cNvSpPr/>
          <p:nvPr/>
        </p:nvSpPr>
        <p:spPr>
          <a:xfrm>
            <a:off x="9464040" y="3154680"/>
            <a:ext cx="1600200" cy="960120"/>
          </a:xfrm>
          <a:prstGeom prst="roundRect">
            <a:avLst>
              <a:gd name="adj" fmla="val 7619"/>
            </a:avLst>
          </a:prstGeom>
          <a:solidFill>
            <a:srgbClr val="FFFFFF"/>
          </a:solidFill>
          <a:ln w="12700">
            <a:solidFill>
              <a:srgbClr val="D0D7DE"/>
            </a:solidFill>
          </a:ln>
        </p:spPr>
        <p:txBody>
          <a:bodyPr wrap="square" lIns="25400" tIns="25400" rIns="25400" bIns="25400" rtlCol="0" anchor="ctr"/>
          <a:lstStyle/>
          <a:p>
            <a:pPr algn="ctr" indent="0" marL="0">
              <a:buNone/>
            </a:pPr>
            <a:r>
              <a:rPr lang="en-US" sz="1700" b="1" dirty="0">
                <a:solidFill>
                  <a:srgbClr val="111827"/>
                </a:solidFill>
                <a:latin typeface="Segoe UI" pitchFamily="34" charset="0"/>
                <a:ea typeface="Segoe UI" pitchFamily="34" charset="-122"/>
                <a:cs typeface="Segoe UI" pitchFamily="34" charset="-120"/>
              </a:rPr>
              <a:t>Käyttö</a:t>
            </a:r>
            <a:endParaRPr lang="en-US" sz="1700" dirty="0"/>
          </a:p>
        </p:txBody>
      </p:sp>
      <p:sp>
        <p:nvSpPr>
          <p:cNvPr id="16" name="Text 14"/>
          <p:cNvSpPr txBox="1"/>
          <p:nvPr/>
        </p:nvSpPr>
        <p:spPr>
          <a:xfrm>
            <a:off x="2286000" y="4206240"/>
            <a:ext cx="1645920" cy="365760"/>
          </a:xfrm>
          <a:prstGeom prst="rect">
            <a:avLst/>
          </a:prstGeom>
          <a:noFill/>
          <a:ln/>
        </p:spPr>
        <p:txBody>
          <a:bodyPr wrap="square" lIns="0" tIns="0" rIns="0" bIns="0" rtlCol="0" anchor="t"/>
          <a:lstStyle/>
          <a:p>
            <a:pPr algn="ctr" indent="0" marL="0">
              <a:buNone/>
            </a:pPr>
            <a:r>
              <a:rPr lang="en-US" sz="1400" b="1" dirty="0">
                <a:solidFill>
                  <a:srgbClr val="2563EB"/>
                </a:solidFill>
                <a:latin typeface="Consolas" pitchFamily="34" charset="0"/>
                <a:ea typeface="Consolas" pitchFamily="34" charset="-122"/>
                <a:cs typeface="Consolas" pitchFamily="34" charset="-120"/>
              </a:rPr>
              <a:t>nopeutui</a:t>
            </a:r>
            <a:endParaRPr lang="en-US" sz="1400" dirty="0"/>
          </a:p>
        </p:txBody>
      </p:sp>
      <p:sp>
        <p:nvSpPr>
          <p:cNvPr id="17" name="Shape 15"/>
          <p:cNvSpPr/>
          <p:nvPr/>
        </p:nvSpPr>
        <p:spPr>
          <a:xfrm>
            <a:off x="3749040" y="2816352"/>
            <a:ext cx="1188720" cy="201168"/>
          </a:xfrm>
          <a:prstGeom prst="roundRect">
            <a:avLst>
              <a:gd name="adj" fmla="val 18182"/>
            </a:avLst>
          </a:prstGeom>
          <a:solidFill>
            <a:srgbClr val="F3F4F6"/>
          </a:solidFill>
          <a:ln w="9525">
            <a:solidFill>
              <a:srgbClr val="9CA3AF"/>
            </a:solidFill>
            <a:prstDash val="solid"/>
          </a:ln>
        </p:spPr>
      </p:sp>
      <p:sp>
        <p:nvSpPr>
          <p:cNvPr id="18" name="Shape 16"/>
          <p:cNvSpPr/>
          <p:nvPr/>
        </p:nvSpPr>
        <p:spPr>
          <a:xfrm>
            <a:off x="3840480" y="2569464"/>
            <a:ext cx="1188720" cy="201168"/>
          </a:xfrm>
          <a:prstGeom prst="roundRect">
            <a:avLst>
              <a:gd name="adj" fmla="val 18182"/>
            </a:avLst>
          </a:prstGeom>
          <a:solidFill>
            <a:srgbClr val="F3F4F6"/>
          </a:solidFill>
          <a:ln w="9525">
            <a:solidFill>
              <a:srgbClr val="9CA3AF"/>
            </a:solidFill>
            <a:prstDash val="solid"/>
          </a:ln>
        </p:spPr>
      </p:sp>
      <p:sp>
        <p:nvSpPr>
          <p:cNvPr id="19" name="Shape 17"/>
          <p:cNvSpPr/>
          <p:nvPr/>
        </p:nvSpPr>
        <p:spPr>
          <a:xfrm>
            <a:off x="3749040" y="2322576"/>
            <a:ext cx="1188720" cy="201168"/>
          </a:xfrm>
          <a:prstGeom prst="roundRect">
            <a:avLst>
              <a:gd name="adj" fmla="val 18182"/>
            </a:avLst>
          </a:prstGeom>
          <a:solidFill>
            <a:srgbClr val="F3F4F6"/>
          </a:solidFill>
          <a:ln w="9525">
            <a:solidFill>
              <a:srgbClr val="9CA3AF"/>
            </a:solidFill>
            <a:prstDash val="solid"/>
          </a:ln>
        </p:spPr>
      </p:sp>
      <p:sp>
        <p:nvSpPr>
          <p:cNvPr id="20" name="Shape 18"/>
          <p:cNvSpPr/>
          <p:nvPr/>
        </p:nvSpPr>
        <p:spPr>
          <a:xfrm>
            <a:off x="3840480" y="2075688"/>
            <a:ext cx="1188720" cy="201168"/>
          </a:xfrm>
          <a:prstGeom prst="roundRect">
            <a:avLst>
              <a:gd name="adj" fmla="val 18182"/>
            </a:avLst>
          </a:prstGeom>
          <a:solidFill>
            <a:srgbClr val="F3F4F6"/>
          </a:solidFill>
          <a:ln w="9525">
            <a:solidFill>
              <a:srgbClr val="9CA3AF"/>
            </a:solidFill>
            <a:prstDash val="solid"/>
          </a:ln>
        </p:spPr>
      </p:sp>
      <p:sp>
        <p:nvSpPr>
          <p:cNvPr id="21" name="Shape 19"/>
          <p:cNvSpPr/>
          <p:nvPr/>
        </p:nvSpPr>
        <p:spPr>
          <a:xfrm>
            <a:off x="3749040" y="1828800"/>
            <a:ext cx="1188720" cy="201168"/>
          </a:xfrm>
          <a:prstGeom prst="roundRect">
            <a:avLst>
              <a:gd name="adj" fmla="val 18182"/>
            </a:avLst>
          </a:prstGeom>
          <a:solidFill>
            <a:srgbClr val="F3F4F6"/>
          </a:solidFill>
          <a:ln w="9525">
            <a:solidFill>
              <a:srgbClr val="9CA3AF"/>
            </a:solidFill>
            <a:prstDash val="solid"/>
          </a:ln>
        </p:spPr>
      </p:sp>
      <p:sp>
        <p:nvSpPr>
          <p:cNvPr id="22" name="Text 20"/>
          <p:cNvSpPr txBox="1"/>
          <p:nvPr/>
        </p:nvSpPr>
        <p:spPr>
          <a:xfrm>
            <a:off x="5166360" y="2057400"/>
            <a:ext cx="2194560" cy="365760"/>
          </a:xfrm>
          <a:prstGeom prst="rect">
            <a:avLst/>
          </a:prstGeom>
          <a:noFill/>
          <a:ln/>
        </p:spPr>
        <p:txBody>
          <a:bodyPr wrap="square" lIns="0" tIns="0" rIns="0" bIns="0" rtlCol="0" anchor="t"/>
          <a:lstStyle/>
          <a:p>
            <a:pPr algn="l" indent="0" marL="0">
              <a:buNone/>
            </a:pPr>
            <a:r>
              <a:rPr lang="en-US" sz="1500" b="1" dirty="0">
                <a:solidFill>
                  <a:srgbClr val="CF222E"/>
                </a:solidFill>
                <a:latin typeface="Consolas" pitchFamily="34" charset="0"/>
                <a:ea typeface="Consolas" pitchFamily="34" charset="-122"/>
                <a:cs typeface="Consolas" pitchFamily="34" charset="-120"/>
              </a:rPr>
              <a:t>jono kasvaa</a:t>
            </a:r>
            <a:endParaRPr lang="en-US" sz="1500" dirty="0"/>
          </a:p>
        </p:txBody>
      </p:sp>
      <p:sp>
        <p:nvSpPr>
          <p:cNvPr id="23"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Missä teillä työ odottaa?</a:t>
            </a:r>
            <a:endParaRPr lang="en-US" sz="2000" dirty="0"/>
          </a:p>
        </p:txBody>
      </p:sp>
      <p:sp>
        <p:nvSpPr>
          <p:cNvPr id="24"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esityksen tulkinta · DORA, Balancing AI tensions 3/2026 (vuoden 2025 aineisto) · havainnollistus – leveydet eivät ole mitattuja.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02 · nopeus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Enemmän koodia vai vähemmän?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Kaksi tekoälyfirmaa, kaksi suuntaa</a:t>
            </a:r>
            <a:endParaRPr lang="en-US" sz="1800" dirty="0"/>
          </a:p>
        </p:txBody>
      </p:sp>
      <p:sp>
        <p:nvSpPr>
          <p:cNvPr id="5" name="Gallup-viittaus"/>
          <p:cNvSpPr/>
          <p:nvPr/>
        </p:nvSpPr>
        <p:spPr>
          <a:xfrm>
            <a:off x="7406640" y="155448"/>
            <a:ext cx="3611880" cy="329184"/>
          </a:xfrm>
          <a:prstGeom prst="roundRect">
            <a:avLst>
              <a:gd name="adj" fmla="val 41667"/>
            </a:avLst>
          </a:prstGeom>
          <a:solidFill>
            <a:srgbClr val="EFF6FF"/>
          </a:solidFill>
          <a:ln>
            <a:solidFill>
              <a:srgbClr val="BFDBFE"/>
            </a:solidFill>
          </a:ln>
        </p:spPr>
        <p:txBody>
          <a:bodyPr wrap="square" lIns="25400" tIns="25400" rIns="25400" bIns="25400" rtlCol="0" anchor="ctr"/>
          <a:lstStyle/>
          <a:p>
            <a:pPr algn="ctr" indent="0" marL="0">
              <a:buNone/>
            </a:pPr>
            <a:r>
              <a:rPr lang="en-US" sz="1100" dirty="0">
                <a:solidFill>
                  <a:srgbClr val="2563EB"/>
                </a:solidFill>
                <a:latin typeface="Consolas" pitchFamily="34" charset="0"/>
                <a:ea typeface="Consolas" pitchFamily="34" charset="-122"/>
                <a:cs typeface="Consolas" pitchFamily="34" charset="-120"/>
              </a:rPr>
              <a:t>↩ gallup: Enemmän vai parempaa koodia?</a:t>
            </a:r>
            <a:endParaRPr lang="en-US" sz="1100" dirty="0"/>
          </a:p>
        </p:txBody>
      </p:sp>
      <p:sp>
        <p:nvSpPr>
          <p:cNvPr id="6" name="Kortti"/>
          <p:cNvSpPr/>
          <p:nvPr/>
        </p:nvSpPr>
        <p:spPr>
          <a:xfrm>
            <a:off x="548640" y="1783080"/>
            <a:ext cx="5349240" cy="3383280"/>
          </a:xfrm>
          <a:prstGeom prst="roundRect">
            <a:avLst>
              <a:gd name="adj" fmla="val 2703"/>
            </a:avLst>
          </a:prstGeom>
          <a:solidFill>
            <a:srgbClr val="FFFFFF"/>
          </a:solidFill>
          <a:ln w="12700">
            <a:solidFill>
              <a:srgbClr val="E5E7EB"/>
            </a:solidFill>
            <a:prstDash val="solid"/>
          </a:ln>
        </p:spPr>
      </p:sp>
      <p:sp>
        <p:nvSpPr>
          <p:cNvPr id="7" name="Shape 5"/>
          <p:cNvSpPr/>
          <p:nvPr/>
        </p:nvSpPr>
        <p:spPr>
          <a:xfrm>
            <a:off x="576072" y="1810512"/>
            <a:ext cx="5294376" cy="502920"/>
          </a:xfrm>
          <a:prstGeom prst="rect">
            <a:avLst/>
          </a:prstGeom>
          <a:solidFill>
            <a:srgbClr val="DAFBE1"/>
          </a:solidFill>
          <a:ln w="12700">
            <a:solidFill>
              <a:srgbClr val="DAFBE1"/>
            </a:solidFill>
            <a:prstDash val="solid"/>
          </a:ln>
        </p:spPr>
      </p:sp>
      <p:sp>
        <p:nvSpPr>
          <p:cNvPr id="8" name="Text 6"/>
          <p:cNvSpPr txBox="1"/>
          <p:nvPr/>
        </p:nvSpPr>
        <p:spPr>
          <a:xfrm>
            <a:off x="822960" y="1810512"/>
            <a:ext cx="4572000" cy="502920"/>
          </a:xfrm>
          <a:prstGeom prst="rect">
            <a:avLst/>
          </a:prstGeom>
          <a:noFill/>
          <a:ln/>
        </p:spPr>
        <p:txBody>
          <a:bodyPr wrap="square" lIns="0" tIns="0" rIns="0" bIns="0" rtlCol="0" anchor="ctr"/>
          <a:lstStyle/>
          <a:p>
            <a:pPr algn="l" indent="0" marL="0">
              <a:buNone/>
            </a:pPr>
            <a:r>
              <a:rPr lang="en-US" sz="1600" b="1" dirty="0">
                <a:solidFill>
                  <a:srgbClr val="1A7F37"/>
                </a:solidFill>
                <a:latin typeface="Consolas" pitchFamily="34" charset="0"/>
                <a:ea typeface="Consolas" pitchFamily="34" charset="-122"/>
                <a:cs typeface="Consolas" pitchFamily="34" charset="-120"/>
              </a:rPr>
              <a:t>+ anthropic</a:t>
            </a:r>
            <a:endParaRPr lang="en-US" sz="1600" dirty="0"/>
          </a:p>
        </p:txBody>
      </p:sp>
      <p:sp>
        <p:nvSpPr>
          <p:cNvPr id="9" name="Text 7"/>
          <p:cNvSpPr txBox="1"/>
          <p:nvPr/>
        </p:nvSpPr>
        <p:spPr>
          <a:xfrm>
            <a:off x="822960" y="2514600"/>
            <a:ext cx="4937760" cy="914400"/>
          </a:xfrm>
          <a:prstGeom prst="rect">
            <a:avLst/>
          </a:prstGeom>
          <a:noFill/>
          <a:ln/>
        </p:spPr>
        <p:txBody>
          <a:bodyPr wrap="square" lIns="0" tIns="0" rIns="0" bIns="0" rtlCol="0" anchor="ctr"/>
          <a:lstStyle/>
          <a:p>
            <a:pPr algn="l" indent="0" marL="0">
              <a:buNone/>
            </a:pPr>
            <a:r>
              <a:rPr lang="en-US" sz="5200" b="1" dirty="0">
                <a:solidFill>
                  <a:srgbClr val="1A7F37"/>
                </a:solidFill>
                <a:latin typeface="Segoe UI" pitchFamily="34" charset="0"/>
                <a:ea typeface="Segoe UI" pitchFamily="34" charset="-122"/>
                <a:cs typeface="Segoe UI" pitchFamily="34" charset="-120"/>
              </a:rPr>
              <a:t>yli 30 000</a:t>
            </a:r>
            <a:endParaRPr lang="en-US" sz="5200" dirty="0"/>
          </a:p>
        </p:txBody>
      </p:sp>
      <p:sp>
        <p:nvSpPr>
          <p:cNvPr id="10" name="Text 8"/>
          <p:cNvSpPr txBox="1"/>
          <p:nvPr/>
        </p:nvSpPr>
        <p:spPr>
          <a:xfrm>
            <a:off x="822960" y="3474720"/>
            <a:ext cx="4846320" cy="502920"/>
          </a:xfrm>
          <a:prstGeom prst="rect">
            <a:avLst/>
          </a:prstGeom>
          <a:noFill/>
          <a:ln/>
        </p:spPr>
        <p:txBody>
          <a:bodyPr wrap="square" lIns="0" tIns="0" rIns="0" bIns="0" rtlCol="0" anchor="t"/>
          <a:lstStyle/>
          <a:p>
            <a:pPr algn="l" indent="0" marL="0">
              <a:buNone/>
            </a:pPr>
            <a:r>
              <a:rPr lang="en-US" sz="2200" b="1" dirty="0">
                <a:solidFill>
                  <a:srgbClr val="111827"/>
                </a:solidFill>
                <a:latin typeface="Segoe UI" pitchFamily="34" charset="0"/>
                <a:ea typeface="Segoe UI" pitchFamily="34" charset="-122"/>
                <a:cs typeface="Segoe UI" pitchFamily="34" charset="-120"/>
              </a:rPr>
              <a:t>yhdistettyä muutosta päivässä</a:t>
            </a:r>
            <a:endParaRPr lang="en-US" sz="2200" dirty="0"/>
          </a:p>
        </p:txBody>
      </p:sp>
      <p:sp>
        <p:nvSpPr>
          <p:cNvPr id="11" name="Text 9"/>
          <p:cNvSpPr txBox="1"/>
          <p:nvPr/>
        </p:nvSpPr>
        <p:spPr>
          <a:xfrm>
            <a:off x="822960" y="4160520"/>
            <a:ext cx="4846320" cy="731520"/>
          </a:xfrm>
          <a:prstGeom prst="rect">
            <a:avLst/>
          </a:prstGeom>
          <a:noFill/>
          <a:ln/>
        </p:spPr>
        <p:txBody>
          <a:bodyPr wrap="square" lIns="0" tIns="0" rIns="0" bIns="0" rtlCol="0" anchor="t"/>
          <a:lstStyle/>
          <a:p>
            <a:pPr algn="l" indent="0" marL="0">
              <a:buNone/>
            </a:pPr>
            <a:r>
              <a:rPr lang="en-US" sz="1300" dirty="0">
                <a:solidFill>
                  <a:srgbClr val="6B7280"/>
                </a:solidFill>
                <a:latin typeface="Consolas" pitchFamily="34" charset="0"/>
                <a:ea typeface="Consolas" pitchFamily="34" charset="-122"/>
                <a:cs typeface="Consolas" pitchFamily="34" charset="-120"/>
              </a:rPr>
              <a:t>noin 2 500 toukokuussa → syyskuu 2026</a:t>
            </a:r>
            <a:endParaRPr lang="en-US" sz="1300" dirty="0"/>
          </a:p>
        </p:txBody>
      </p:sp>
      <p:sp>
        <p:nvSpPr>
          <p:cNvPr id="12" name="Kortti"/>
          <p:cNvSpPr/>
          <p:nvPr/>
        </p:nvSpPr>
        <p:spPr>
          <a:xfrm>
            <a:off x="6263640" y="1783080"/>
            <a:ext cx="5349240" cy="3383280"/>
          </a:xfrm>
          <a:prstGeom prst="roundRect">
            <a:avLst>
              <a:gd name="adj" fmla="val 2703"/>
            </a:avLst>
          </a:prstGeom>
          <a:solidFill>
            <a:srgbClr val="FFFFFF"/>
          </a:solidFill>
          <a:ln w="12700">
            <a:solidFill>
              <a:srgbClr val="E5E7EB"/>
            </a:solidFill>
            <a:prstDash val="solid"/>
          </a:ln>
        </p:spPr>
      </p:sp>
      <p:sp>
        <p:nvSpPr>
          <p:cNvPr id="13" name="Shape 11"/>
          <p:cNvSpPr/>
          <p:nvPr/>
        </p:nvSpPr>
        <p:spPr>
          <a:xfrm>
            <a:off x="6291072" y="1810512"/>
            <a:ext cx="5294376" cy="502920"/>
          </a:xfrm>
          <a:prstGeom prst="rect">
            <a:avLst/>
          </a:prstGeom>
          <a:solidFill>
            <a:srgbClr val="FFEBE9"/>
          </a:solidFill>
          <a:ln w="12700">
            <a:solidFill>
              <a:srgbClr val="FFEBE9"/>
            </a:solidFill>
            <a:prstDash val="solid"/>
          </a:ln>
        </p:spPr>
      </p:sp>
      <p:sp>
        <p:nvSpPr>
          <p:cNvPr id="14" name="Text 12"/>
          <p:cNvSpPr txBox="1"/>
          <p:nvPr/>
        </p:nvSpPr>
        <p:spPr>
          <a:xfrm>
            <a:off x="6537960" y="1810512"/>
            <a:ext cx="4572000" cy="502920"/>
          </a:xfrm>
          <a:prstGeom prst="rect">
            <a:avLst/>
          </a:prstGeom>
          <a:noFill/>
          <a:ln/>
        </p:spPr>
        <p:txBody>
          <a:bodyPr wrap="square" lIns="0" tIns="0" rIns="0" bIns="0" rtlCol="0" anchor="ctr"/>
          <a:lstStyle/>
          <a:p>
            <a:pPr algn="l" indent="0" marL="0">
              <a:buNone/>
            </a:pPr>
            <a:r>
              <a:rPr lang="en-US" sz="1600" b="1" dirty="0">
                <a:solidFill>
                  <a:srgbClr val="CF222E"/>
                </a:solidFill>
                <a:latin typeface="Consolas" pitchFamily="34" charset="0"/>
                <a:ea typeface="Consolas" pitchFamily="34" charset="-122"/>
                <a:cs typeface="Consolas" pitchFamily="34" charset="-120"/>
              </a:rPr>
              <a:t>− openai</a:t>
            </a:r>
            <a:endParaRPr lang="en-US" sz="1600" dirty="0"/>
          </a:p>
        </p:txBody>
      </p:sp>
      <p:sp>
        <p:nvSpPr>
          <p:cNvPr id="15" name="Text 13"/>
          <p:cNvSpPr txBox="1"/>
          <p:nvPr/>
        </p:nvSpPr>
        <p:spPr>
          <a:xfrm>
            <a:off x="6537960" y="2514600"/>
            <a:ext cx="4937760" cy="914400"/>
          </a:xfrm>
          <a:prstGeom prst="rect">
            <a:avLst/>
          </a:prstGeom>
          <a:noFill/>
          <a:ln/>
        </p:spPr>
        <p:txBody>
          <a:bodyPr wrap="square" lIns="0" tIns="0" rIns="0" bIns="0" rtlCol="0" anchor="ctr"/>
          <a:lstStyle/>
          <a:p>
            <a:pPr algn="l" indent="0" marL="0">
              <a:buNone/>
            </a:pPr>
            <a:r>
              <a:rPr lang="en-US" sz="5200" b="1" dirty="0">
                <a:solidFill>
                  <a:srgbClr val="CF222E"/>
                </a:solidFill>
                <a:latin typeface="Segoe UI" pitchFamily="34" charset="0"/>
                <a:ea typeface="Segoe UI" pitchFamily="34" charset="-122"/>
                <a:cs typeface="Segoe UI" pitchFamily="34" charset="-120"/>
              </a:rPr>
              <a:t>yli 800 000</a:t>
            </a:r>
            <a:endParaRPr lang="en-US" sz="5200" dirty="0"/>
          </a:p>
        </p:txBody>
      </p:sp>
      <p:sp>
        <p:nvSpPr>
          <p:cNvPr id="16" name="Text 14"/>
          <p:cNvSpPr txBox="1"/>
          <p:nvPr/>
        </p:nvSpPr>
        <p:spPr>
          <a:xfrm>
            <a:off x="6537960" y="3474720"/>
            <a:ext cx="4846320" cy="502920"/>
          </a:xfrm>
          <a:prstGeom prst="rect">
            <a:avLst/>
          </a:prstGeom>
          <a:noFill/>
          <a:ln/>
        </p:spPr>
        <p:txBody>
          <a:bodyPr wrap="square" lIns="0" tIns="0" rIns="0" bIns="0" rtlCol="0" anchor="t"/>
          <a:lstStyle/>
          <a:p>
            <a:pPr algn="l" indent="0" marL="0">
              <a:buNone/>
            </a:pPr>
            <a:r>
              <a:rPr lang="en-US" sz="2200" b="1" dirty="0">
                <a:solidFill>
                  <a:srgbClr val="111827"/>
                </a:solidFill>
                <a:latin typeface="Segoe UI" pitchFamily="34" charset="0"/>
                <a:ea typeface="Segoe UI" pitchFamily="34" charset="-122"/>
                <a:cs typeface="Segoe UI" pitchFamily="34" charset="-120"/>
              </a:rPr>
              <a:t>riviä poistettu</a:t>
            </a:r>
            <a:endParaRPr lang="en-US" sz="2200" dirty="0"/>
          </a:p>
        </p:txBody>
      </p:sp>
      <p:sp>
        <p:nvSpPr>
          <p:cNvPr id="17" name="Text 15"/>
          <p:cNvSpPr txBox="1"/>
          <p:nvPr/>
        </p:nvSpPr>
        <p:spPr>
          <a:xfrm>
            <a:off x="6537960" y="4160520"/>
            <a:ext cx="4846320" cy="731520"/>
          </a:xfrm>
          <a:prstGeom prst="rect">
            <a:avLst/>
          </a:prstGeom>
          <a:noFill/>
          <a:ln/>
        </p:spPr>
        <p:txBody>
          <a:bodyPr wrap="square" lIns="0" tIns="0" rIns="0" bIns="0" rtlCol="0" anchor="t"/>
          <a:lstStyle/>
          <a:p>
            <a:pPr algn="l" indent="0" marL="0">
              <a:buNone/>
            </a:pPr>
            <a:r>
              <a:rPr lang="en-US" sz="1300" dirty="0">
                <a:solidFill>
                  <a:srgbClr val="6B7280"/>
                </a:solidFill>
                <a:latin typeface="Consolas" pitchFamily="34" charset="0"/>
                <a:ea typeface="Consolas" pitchFamily="34" charset="-122"/>
                <a:cs typeface="Consolas" pitchFamily="34" charset="-120"/>
              </a:rPr>
              <a:t>yli 1 400 PR:ää · 5 insinööriä · 2 viikkoa</a:t>
            </a:r>
            <a:endParaRPr lang="en-US" sz="1300" dirty="0"/>
          </a:p>
        </p:txBody>
      </p:sp>
      <p:sp>
        <p:nvSpPr>
          <p:cNvPr id="18"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Kumpaa teillä juhlitaan?</a:t>
            </a:r>
            <a:endParaRPr lang="en-US" sz="2000" dirty="0"/>
          </a:p>
        </p:txBody>
      </p:sp>
      <p:sp>
        <p:nvSpPr>
          <p:cNvPr id="19"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Anthropic Engineering 13.10.2026 · OpenAI developer blog 14.10.2026 · yritysten omia kertomuksia · määrä ≠ arvo, poisto ≠ turvallisuus.</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02 · nopeus</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2800" b="1" dirty="0">
                <a:solidFill>
                  <a:srgbClr val="111827"/>
                </a:solidFill>
                <a:latin typeface="Segoe UI" pitchFamily="34" charset="0"/>
                <a:ea typeface="Segoe UI" pitchFamily="34" charset="-122"/>
                <a:cs typeface="Segoe UI" pitchFamily="34" charset="-120"/>
              </a:rPr>
              <a:t>Mitä kannattaa nyt kokeilla, mitä ei ennen kannattanut?</a:t>
            </a:r>
            <a:endParaRPr lang="en-US" sz="28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Esimerkki: huoltomuistiinpanosta luonnos huoltokirjaukseen</a:t>
            </a:r>
            <a:endParaRPr lang="en-US" sz="1800" dirty="0"/>
          </a:p>
        </p:txBody>
      </p:sp>
      <p:pic>
        <p:nvPicPr>
          <p:cNvPr id="5" name="Image 0" descr="Kuvitteellinen huoltotilanne">    </p:cNvPr>
          <p:cNvPicPr>
            <a:picLocks noChangeAspect="1"/>
          </p:cNvPicPr>
          <p:nvPr/>
        </p:nvPicPr>
        <p:blipFill>
          <a:blip r:embed="rId1"/>
          <a:stretch>
            <a:fillRect/>
          </a:stretch>
        </p:blipFill>
        <p:spPr>
          <a:xfrm>
            <a:off x="548640" y="1783080"/>
            <a:ext cx="3429000" cy="3429000"/>
          </a:xfrm>
          <a:prstGeom prst="rect">
            <a:avLst/>
          </a:prstGeom>
        </p:spPr>
      </p:pic>
      <p:sp>
        <p:nvSpPr>
          <p:cNvPr id="6" name="Shape 3"/>
          <p:cNvSpPr/>
          <p:nvPr/>
        </p:nvSpPr>
        <p:spPr>
          <a:xfrm>
            <a:off x="4206240" y="3474720"/>
            <a:ext cx="914400" cy="0"/>
          </a:xfrm>
          <a:prstGeom prst="line">
            <a:avLst/>
          </a:prstGeom>
          <a:noFill/>
          <a:ln w="31750">
            <a:solidFill>
              <a:srgbClr val="9CA3AF"/>
            </a:solidFill>
            <a:prstDash val="solid"/>
            <a:tailEnd type="triangle"/>
          </a:ln>
        </p:spPr>
      </p:sp>
      <p:sp>
        <p:nvSpPr>
          <p:cNvPr id="7" name="Kortti"/>
          <p:cNvSpPr/>
          <p:nvPr/>
        </p:nvSpPr>
        <p:spPr>
          <a:xfrm>
            <a:off x="5394960" y="1965960"/>
            <a:ext cx="6217920" cy="2743200"/>
          </a:xfrm>
          <a:prstGeom prst="roundRect">
            <a:avLst>
              <a:gd name="adj" fmla="val 3333"/>
            </a:avLst>
          </a:prstGeom>
          <a:solidFill>
            <a:srgbClr val="FFFFFF"/>
          </a:solidFill>
          <a:ln w="12700">
            <a:solidFill>
              <a:srgbClr val="E5E7EB"/>
            </a:solidFill>
            <a:prstDash val="solid"/>
          </a:ln>
        </p:spPr>
      </p:sp>
      <p:sp>
        <p:nvSpPr>
          <p:cNvPr id="8" name="Text 5"/>
          <p:cNvSpPr txBox="1"/>
          <p:nvPr/>
        </p:nvSpPr>
        <p:spPr>
          <a:xfrm>
            <a:off x="5669280" y="2130552"/>
            <a:ext cx="5669280" cy="320040"/>
          </a:xfrm>
          <a:prstGeom prst="rect">
            <a:avLst/>
          </a:prstGeom>
          <a:noFill/>
          <a:ln/>
        </p:spPr>
        <p:txBody>
          <a:bodyPr wrap="square" lIns="0" tIns="0" rIns="0" bIns="0" rtlCol="0" anchor="t"/>
          <a:lstStyle/>
          <a:p>
            <a:pPr algn="l" indent="0" marL="0">
              <a:buNone/>
            </a:pPr>
            <a:r>
              <a:rPr lang="en-US" sz="1200" dirty="0">
                <a:solidFill>
                  <a:srgbClr val="6B7280"/>
                </a:solidFill>
                <a:latin typeface="Consolas" pitchFamily="34" charset="0"/>
                <a:ea typeface="Consolas" pitchFamily="34" charset="-122"/>
                <a:cs typeface="Consolas" pitchFamily="34" charset="-120"/>
              </a:rPr>
              <a:t>// luonnos · huoltokirjaus</a:t>
            </a:r>
            <a:endParaRPr lang="en-US" sz="1200" dirty="0"/>
          </a:p>
        </p:txBody>
      </p:sp>
      <p:sp>
        <p:nvSpPr>
          <p:cNvPr id="9" name="Text 6"/>
          <p:cNvSpPr txBox="1"/>
          <p:nvPr/>
        </p:nvSpPr>
        <p:spPr>
          <a:xfrm>
            <a:off x="5669280" y="2606040"/>
            <a:ext cx="1463040" cy="502920"/>
          </a:xfrm>
          <a:prstGeom prst="rect">
            <a:avLst/>
          </a:prstGeom>
          <a:noFill/>
          <a:ln/>
        </p:spPr>
        <p:txBody>
          <a:bodyPr wrap="square" lIns="0" tIns="0" rIns="0" bIns="0" rtlCol="0" anchor="ctr"/>
          <a:lstStyle/>
          <a:p>
            <a:pPr algn="l" indent="0" marL="0">
              <a:buNone/>
            </a:pPr>
            <a:r>
              <a:rPr lang="en-US" sz="1500" dirty="0">
                <a:solidFill>
                  <a:srgbClr val="6B7280"/>
                </a:solidFill>
                <a:latin typeface="Segoe UI" pitchFamily="34" charset="0"/>
                <a:ea typeface="Segoe UI" pitchFamily="34" charset="-122"/>
                <a:cs typeface="Segoe UI" pitchFamily="34" charset="-120"/>
              </a:rPr>
              <a:t>Laite</a:t>
            </a:r>
            <a:endParaRPr lang="en-US" sz="1500" dirty="0"/>
          </a:p>
        </p:txBody>
      </p:sp>
      <p:sp>
        <p:nvSpPr>
          <p:cNvPr id="10" name="Shape 7"/>
          <p:cNvSpPr/>
          <p:nvPr/>
        </p:nvSpPr>
        <p:spPr>
          <a:xfrm>
            <a:off x="7132320" y="2606040"/>
            <a:ext cx="4206240" cy="502920"/>
          </a:xfrm>
          <a:prstGeom prst="roundRect">
            <a:avLst>
              <a:gd name="adj" fmla="val 9091"/>
            </a:avLst>
          </a:prstGeom>
          <a:solidFill>
            <a:srgbClr val="F6F8FA"/>
          </a:solidFill>
          <a:ln w="12700">
            <a:solidFill>
              <a:srgbClr val="D0D7DE"/>
            </a:solidFill>
            <a:prstDash val="solid"/>
          </a:ln>
        </p:spPr>
      </p:sp>
      <p:sp>
        <p:nvSpPr>
          <p:cNvPr id="11" name="Text 8"/>
          <p:cNvSpPr txBox="1"/>
          <p:nvPr/>
        </p:nvSpPr>
        <p:spPr>
          <a:xfrm>
            <a:off x="7242048" y="2606040"/>
            <a:ext cx="4023360" cy="502920"/>
          </a:xfrm>
          <a:prstGeom prst="rect">
            <a:avLst/>
          </a:prstGeom>
          <a:noFill/>
          <a:ln/>
        </p:spPr>
        <p:txBody>
          <a:bodyPr wrap="square" lIns="0" tIns="0" rIns="0" bIns="0" rtlCol="0" anchor="ctr"/>
          <a:lstStyle/>
          <a:p>
            <a:pPr indent="0" marL="0">
              <a:buNone/>
            </a:pPr>
            <a:r>
              <a:rPr lang="en-US" sz="1700" b="1" dirty="0">
                <a:solidFill>
                  <a:srgbClr val="111827"/>
                </a:solidFill>
                <a:latin typeface="Segoe UI" pitchFamily="34" charset="0"/>
                <a:ea typeface="Segoe UI" pitchFamily="34" charset="-122"/>
                <a:cs typeface="Segoe UI" pitchFamily="34" charset="-120"/>
              </a:rPr>
              <a:t>Pumppu A</a:t>
            </a:r>
            <a:endParaRPr lang="en-US" sz="1700" dirty="0"/>
          </a:p>
        </p:txBody>
      </p:sp>
      <p:sp>
        <p:nvSpPr>
          <p:cNvPr id="12" name="Text 9"/>
          <p:cNvSpPr txBox="1"/>
          <p:nvPr/>
        </p:nvSpPr>
        <p:spPr>
          <a:xfrm>
            <a:off x="5669280" y="3291840"/>
            <a:ext cx="1463040" cy="502920"/>
          </a:xfrm>
          <a:prstGeom prst="rect">
            <a:avLst/>
          </a:prstGeom>
          <a:noFill/>
          <a:ln/>
        </p:spPr>
        <p:txBody>
          <a:bodyPr wrap="square" lIns="0" tIns="0" rIns="0" bIns="0" rtlCol="0" anchor="ctr"/>
          <a:lstStyle/>
          <a:p>
            <a:pPr algn="l" indent="0" marL="0">
              <a:buNone/>
            </a:pPr>
            <a:r>
              <a:rPr lang="en-US" sz="1500" dirty="0">
                <a:solidFill>
                  <a:srgbClr val="6B7280"/>
                </a:solidFill>
                <a:latin typeface="Segoe UI" pitchFamily="34" charset="0"/>
                <a:ea typeface="Segoe UI" pitchFamily="34" charset="-122"/>
                <a:cs typeface="Segoe UI" pitchFamily="34" charset="-120"/>
              </a:rPr>
              <a:t>Havainto</a:t>
            </a:r>
            <a:endParaRPr lang="en-US" sz="1500" dirty="0"/>
          </a:p>
        </p:txBody>
      </p:sp>
      <p:sp>
        <p:nvSpPr>
          <p:cNvPr id="13" name="Shape 10"/>
          <p:cNvSpPr/>
          <p:nvPr/>
        </p:nvSpPr>
        <p:spPr>
          <a:xfrm>
            <a:off x="7132320" y="3291840"/>
            <a:ext cx="4206240" cy="502920"/>
          </a:xfrm>
          <a:prstGeom prst="roundRect">
            <a:avLst>
              <a:gd name="adj" fmla="val 9091"/>
            </a:avLst>
          </a:prstGeom>
          <a:solidFill>
            <a:srgbClr val="F6F8FA"/>
          </a:solidFill>
          <a:ln w="12700">
            <a:solidFill>
              <a:srgbClr val="D0D7DE"/>
            </a:solidFill>
            <a:prstDash val="solid"/>
          </a:ln>
        </p:spPr>
      </p:sp>
      <p:sp>
        <p:nvSpPr>
          <p:cNvPr id="14" name="Text 11"/>
          <p:cNvSpPr txBox="1"/>
          <p:nvPr/>
        </p:nvSpPr>
        <p:spPr>
          <a:xfrm>
            <a:off x="7242048" y="3291840"/>
            <a:ext cx="4023360" cy="502920"/>
          </a:xfrm>
          <a:prstGeom prst="rect">
            <a:avLst/>
          </a:prstGeom>
          <a:noFill/>
          <a:ln/>
        </p:spPr>
        <p:txBody>
          <a:bodyPr wrap="square" lIns="0" tIns="0" rIns="0" bIns="0" rtlCol="0" anchor="ctr"/>
          <a:lstStyle/>
          <a:p>
            <a:pPr indent="0" marL="0">
              <a:buNone/>
            </a:pPr>
            <a:r>
              <a:rPr lang="en-US" sz="1700" b="1" dirty="0">
                <a:solidFill>
                  <a:srgbClr val="111827"/>
                </a:solidFill>
                <a:latin typeface="Segoe UI" pitchFamily="34" charset="0"/>
                <a:ea typeface="Segoe UI" pitchFamily="34" charset="-122"/>
                <a:cs typeface="Segoe UI" pitchFamily="34" charset="-120"/>
              </a:rPr>
              <a:t>Epätavallinen ääni</a:t>
            </a:r>
            <a:endParaRPr lang="en-US" sz="1700" dirty="0"/>
          </a:p>
        </p:txBody>
      </p:sp>
      <p:sp>
        <p:nvSpPr>
          <p:cNvPr id="15" name="Text 12"/>
          <p:cNvSpPr txBox="1"/>
          <p:nvPr/>
        </p:nvSpPr>
        <p:spPr>
          <a:xfrm>
            <a:off x="5669280" y="3977640"/>
            <a:ext cx="1463040" cy="502920"/>
          </a:xfrm>
          <a:prstGeom prst="rect">
            <a:avLst/>
          </a:prstGeom>
          <a:noFill/>
          <a:ln/>
        </p:spPr>
        <p:txBody>
          <a:bodyPr wrap="square" lIns="0" tIns="0" rIns="0" bIns="0" rtlCol="0" anchor="ctr"/>
          <a:lstStyle/>
          <a:p>
            <a:pPr algn="l" indent="0" marL="0">
              <a:buNone/>
            </a:pPr>
            <a:r>
              <a:rPr lang="en-US" sz="1500" dirty="0">
                <a:solidFill>
                  <a:srgbClr val="6B7280"/>
                </a:solidFill>
                <a:latin typeface="Segoe UI" pitchFamily="34" charset="0"/>
                <a:ea typeface="Segoe UI" pitchFamily="34" charset="-122"/>
                <a:cs typeface="Segoe UI" pitchFamily="34" charset="-120"/>
              </a:rPr>
              <a:t>Toimi</a:t>
            </a:r>
            <a:endParaRPr lang="en-US" sz="1500" dirty="0"/>
          </a:p>
        </p:txBody>
      </p:sp>
      <p:sp>
        <p:nvSpPr>
          <p:cNvPr id="16" name="Shape 13"/>
          <p:cNvSpPr/>
          <p:nvPr/>
        </p:nvSpPr>
        <p:spPr>
          <a:xfrm>
            <a:off x="7132320" y="3977640"/>
            <a:ext cx="4206240" cy="502920"/>
          </a:xfrm>
          <a:prstGeom prst="roundRect">
            <a:avLst>
              <a:gd name="adj" fmla="val 9091"/>
            </a:avLst>
          </a:prstGeom>
          <a:solidFill>
            <a:srgbClr val="F6F8FA"/>
          </a:solidFill>
          <a:ln w="12700">
            <a:solidFill>
              <a:srgbClr val="D0D7DE"/>
            </a:solidFill>
            <a:prstDash val="solid"/>
          </a:ln>
        </p:spPr>
      </p:sp>
      <p:sp>
        <p:nvSpPr>
          <p:cNvPr id="17" name="Text 14"/>
          <p:cNvSpPr txBox="1"/>
          <p:nvPr/>
        </p:nvSpPr>
        <p:spPr>
          <a:xfrm>
            <a:off x="7242048" y="3977640"/>
            <a:ext cx="4023360" cy="502920"/>
          </a:xfrm>
          <a:prstGeom prst="rect">
            <a:avLst/>
          </a:prstGeom>
          <a:noFill/>
          <a:ln/>
        </p:spPr>
        <p:txBody>
          <a:bodyPr wrap="square" lIns="0" tIns="0" rIns="0" bIns="0" rtlCol="0" anchor="ctr"/>
          <a:lstStyle/>
          <a:p>
            <a:pPr indent="0" marL="0">
              <a:buNone/>
            </a:pPr>
            <a:r>
              <a:rPr lang="en-US" sz="1700" b="1" dirty="0">
                <a:solidFill>
                  <a:srgbClr val="111827"/>
                </a:solidFill>
                <a:latin typeface="Segoe UI" pitchFamily="34" charset="0"/>
                <a:ea typeface="Segoe UI" pitchFamily="34" charset="-122"/>
                <a:cs typeface="Segoe UI" pitchFamily="34" charset="-120"/>
              </a:rPr>
              <a:t>Tarkista laakeri</a:t>
            </a:r>
            <a:endParaRPr lang="en-US" sz="1700" dirty="0"/>
          </a:p>
        </p:txBody>
      </p:sp>
      <p:sp>
        <p:nvSpPr>
          <p:cNvPr id="18" name="Text 15"/>
          <p:cNvSpPr txBox="1"/>
          <p:nvPr/>
        </p:nvSpPr>
        <p:spPr>
          <a:xfrm>
            <a:off x="5669280" y="4800600"/>
            <a:ext cx="5760720" cy="365760"/>
          </a:xfrm>
          <a:prstGeom prst="rect">
            <a:avLst/>
          </a:prstGeom>
          <a:noFill/>
          <a:ln/>
        </p:spPr>
        <p:txBody>
          <a:bodyPr wrap="square" lIns="0" tIns="0" rIns="0" bIns="0" rtlCol="0" anchor="t"/>
          <a:lstStyle/>
          <a:p>
            <a:pPr algn="l" indent="0" marL="0">
              <a:buNone/>
            </a:pPr>
            <a:r>
              <a:rPr lang="en-US" sz="1300" dirty="0">
                <a:solidFill>
                  <a:srgbClr val="6B7280"/>
                </a:solidFill>
                <a:latin typeface="Consolas" pitchFamily="34" charset="0"/>
                <a:ea typeface="Consolas" pitchFamily="34" charset="-122"/>
                <a:cs typeface="Consolas" pitchFamily="34" charset="-120"/>
              </a:rPr>
              <a:t>asentaja tarkistaa ennen tallennusta</a:t>
            </a:r>
            <a:endParaRPr lang="en-US" sz="1300" dirty="0"/>
          </a:p>
        </p:txBody>
      </p:sp>
      <p:sp>
        <p:nvSpPr>
          <p:cNvPr id="19"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Kokeilu on halpa. Hyöty pitää silti selvittää.</a:t>
            </a:r>
            <a:endParaRPr lang="en-US" sz="2000" dirty="0"/>
          </a:p>
        </p:txBody>
      </p:sp>
      <p:sp>
        <p:nvSpPr>
          <p:cNvPr id="20"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kuvitteellinen esimerkki · METR, Task substitution and uplift 5/2026 · kuvitus luotu tekoälyllä.</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03 · tarkistus ja oppiminen</a:t>
            </a:r>
            <a:endParaRPr lang="en-US" sz="1200" dirty="0"/>
          </a:p>
        </p:txBody>
      </p:sp>
      <p:sp>
        <p:nvSpPr>
          <p:cNvPr id="3" name="Kortti"/>
          <p:cNvSpPr/>
          <p:nvPr/>
        </p:nvSpPr>
        <p:spPr>
          <a:xfrm>
            <a:off x="1280160" y="1234440"/>
            <a:ext cx="9601200" cy="4206240"/>
          </a:xfrm>
          <a:prstGeom prst="roundRect">
            <a:avLst>
              <a:gd name="adj" fmla="val 2174"/>
            </a:avLst>
          </a:prstGeom>
          <a:solidFill>
            <a:srgbClr val="FFFFFF"/>
          </a:solidFill>
          <a:ln w="12700">
            <a:solidFill>
              <a:srgbClr val="E5E7EB"/>
            </a:solidFill>
            <a:prstDash val="solid"/>
          </a:ln>
        </p:spPr>
      </p:sp>
      <p:sp>
        <p:nvSpPr>
          <p:cNvPr id="4" name="Text 2"/>
          <p:cNvSpPr txBox="1"/>
          <p:nvPr/>
        </p:nvSpPr>
        <p:spPr>
          <a:xfrm>
            <a:off x="1737360" y="1554480"/>
            <a:ext cx="8686800" cy="457200"/>
          </a:xfrm>
          <a:prstGeom prst="rect">
            <a:avLst/>
          </a:prstGeom>
          <a:noFill/>
          <a:ln/>
        </p:spPr>
        <p:txBody>
          <a:bodyPr wrap="square" lIns="0" tIns="0" rIns="0" bIns="0" rtlCol="0" anchor="t"/>
          <a:lstStyle/>
          <a:p>
            <a:pPr algn="l" indent="0" marL="0">
              <a:buNone/>
            </a:pPr>
            <a:r>
              <a:rPr lang="en-US" sz="1600" dirty="0">
                <a:solidFill>
                  <a:srgbClr val="6B7280"/>
                </a:solidFill>
                <a:latin typeface="Consolas" pitchFamily="34" charset="0"/>
                <a:ea typeface="Consolas" pitchFamily="34" charset="-122"/>
                <a:cs typeface="Consolas" pitchFamily="34" charset="-120"/>
              </a:rPr>
              <a:t>daniel.haxx.se</a:t>
            </a:r>
            <a:endParaRPr lang="en-US" sz="1600" dirty="0"/>
          </a:p>
        </p:txBody>
      </p:sp>
      <p:sp>
        <p:nvSpPr>
          <p:cNvPr id="5" name="Text 3"/>
          <p:cNvSpPr txBox="1"/>
          <p:nvPr/>
        </p:nvSpPr>
        <p:spPr>
          <a:xfrm>
            <a:off x="1737360" y="2240280"/>
            <a:ext cx="8961120" cy="1645920"/>
          </a:xfrm>
          <a:prstGeom prst="rect">
            <a:avLst/>
          </a:prstGeom>
          <a:noFill/>
          <a:ln/>
        </p:spPr>
        <p:txBody>
          <a:bodyPr wrap="square" lIns="0" tIns="0" rIns="0" bIns="0" rtlCol="0" anchor="ctr"/>
          <a:lstStyle/>
          <a:p>
            <a:pPr algn="l" indent="0" marL="0">
              <a:buNone/>
            </a:pPr>
            <a:r>
              <a:rPr lang="en-US" sz="3800" b="1" dirty="0">
                <a:solidFill>
                  <a:srgbClr val="111827"/>
                </a:solidFill>
                <a:latin typeface="Georgia" pitchFamily="34" charset="0"/>
                <a:ea typeface="Georgia" pitchFamily="34" charset="-122"/>
                <a:cs typeface="Georgia" pitchFamily="34" charset="-120"/>
              </a:rPr>
              <a:t>The end of the curl bug-bounty</a:t>
            </a:r>
            <a:endParaRPr lang="en-US" sz="3800" dirty="0"/>
          </a:p>
        </p:txBody>
      </p:sp>
      <p:sp>
        <p:nvSpPr>
          <p:cNvPr id="6" name="Text 4"/>
          <p:cNvSpPr txBox="1"/>
          <p:nvPr/>
        </p:nvSpPr>
        <p:spPr>
          <a:xfrm>
            <a:off x="1737360" y="4160520"/>
            <a:ext cx="8686800" cy="457200"/>
          </a:xfrm>
          <a:prstGeom prst="rect">
            <a:avLst/>
          </a:prstGeom>
          <a:noFill/>
          <a:ln/>
        </p:spPr>
        <p:txBody>
          <a:bodyPr wrap="square" lIns="0" tIns="0" rIns="0" bIns="0" rtlCol="0" anchor="t"/>
          <a:lstStyle/>
          <a:p>
            <a:pPr algn="l" indent="0" marL="0">
              <a:buNone/>
            </a:pPr>
            <a:r>
              <a:rPr lang="en-US" sz="2000" dirty="0">
                <a:solidFill>
                  <a:srgbClr val="6B7280"/>
                </a:solidFill>
                <a:latin typeface="Segoe UI" pitchFamily="34" charset="0"/>
                <a:ea typeface="Segoe UI" pitchFamily="34" charset="-122"/>
                <a:cs typeface="Segoe UI" pitchFamily="34" charset="-120"/>
              </a:rPr>
              <a:t>Daniel Stenberg · 26.1.2026</a:t>
            </a:r>
            <a:endParaRPr lang="en-US" sz="2000" dirty="0"/>
          </a:p>
        </p:txBody>
      </p:sp>
      <p:sp>
        <p:nvSpPr>
          <p:cNvPr id="7"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daniel.haxx.se.</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03 · tarkistus ja oppiminen</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curl lopetti bugipalkkiot</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Ylläpitäjät hukkuivat heikkoihin raportteihin</a:t>
            </a:r>
            <a:endParaRPr lang="en-US" sz="1800" dirty="0"/>
          </a:p>
        </p:txBody>
      </p:sp>
      <p:sp>
        <p:nvSpPr>
          <p:cNvPr id="5" name="Shape 3"/>
          <p:cNvSpPr/>
          <p:nvPr/>
        </p:nvSpPr>
        <p:spPr>
          <a:xfrm>
            <a:off x="640080" y="2286000"/>
            <a:ext cx="6949440" cy="0"/>
          </a:xfrm>
          <a:prstGeom prst="line">
            <a:avLst/>
          </a:prstGeom>
          <a:noFill/>
          <a:ln w="25400">
            <a:solidFill>
              <a:srgbClr val="E5E7EB"/>
            </a:solidFill>
            <a:prstDash val="solid"/>
          </a:ln>
        </p:spPr>
      </p:sp>
      <p:sp>
        <p:nvSpPr>
          <p:cNvPr id="6" name="Shape 4"/>
          <p:cNvSpPr/>
          <p:nvPr/>
        </p:nvSpPr>
        <p:spPr>
          <a:xfrm>
            <a:off x="548640" y="2167128"/>
            <a:ext cx="237744" cy="237744"/>
          </a:xfrm>
          <a:prstGeom prst="ellipse">
            <a:avLst/>
          </a:prstGeom>
          <a:solidFill>
            <a:srgbClr val="FFFFFF"/>
          </a:solidFill>
          <a:ln w="25400">
            <a:solidFill>
              <a:srgbClr val="2563EB"/>
            </a:solidFill>
            <a:prstDash val="solid"/>
          </a:ln>
        </p:spPr>
      </p:sp>
      <p:sp>
        <p:nvSpPr>
          <p:cNvPr id="7" name="Text 5"/>
          <p:cNvSpPr txBox="1"/>
          <p:nvPr/>
        </p:nvSpPr>
        <p:spPr>
          <a:xfrm>
            <a:off x="548640" y="1691640"/>
            <a:ext cx="2377440" cy="365760"/>
          </a:xfrm>
          <a:prstGeom prst="rect">
            <a:avLst/>
          </a:prstGeom>
          <a:noFill/>
          <a:ln/>
        </p:spPr>
        <p:txBody>
          <a:bodyPr wrap="square" lIns="0" tIns="0" rIns="0" bIns="0" rtlCol="0" anchor="t"/>
          <a:lstStyle/>
          <a:p>
            <a:pPr algn="l" indent="0" marL="0">
              <a:buNone/>
            </a:pPr>
            <a:r>
              <a:rPr lang="en-US" sz="1600" b="1" dirty="0">
                <a:solidFill>
                  <a:srgbClr val="2563EB"/>
                </a:solidFill>
                <a:latin typeface="Consolas" pitchFamily="34" charset="0"/>
                <a:ea typeface="Consolas" pitchFamily="34" charset="-122"/>
                <a:cs typeface="Consolas" pitchFamily="34" charset="-120"/>
              </a:rPr>
              <a:t>ennen</a:t>
            </a:r>
            <a:endParaRPr lang="en-US" sz="1600" dirty="0"/>
          </a:p>
        </p:txBody>
      </p:sp>
      <p:sp>
        <p:nvSpPr>
          <p:cNvPr id="8" name="Text 6"/>
          <p:cNvSpPr txBox="1"/>
          <p:nvPr/>
        </p:nvSpPr>
        <p:spPr>
          <a:xfrm>
            <a:off x="548640" y="2606040"/>
            <a:ext cx="2286000" cy="12801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Palkkio löydetystä haavoittuvuudesta</a:t>
            </a:r>
            <a:endParaRPr lang="en-US" sz="1800" dirty="0"/>
          </a:p>
        </p:txBody>
      </p:sp>
      <p:sp>
        <p:nvSpPr>
          <p:cNvPr id="9" name="Shape 7"/>
          <p:cNvSpPr/>
          <p:nvPr/>
        </p:nvSpPr>
        <p:spPr>
          <a:xfrm>
            <a:off x="3063240" y="2167128"/>
            <a:ext cx="237744" cy="237744"/>
          </a:xfrm>
          <a:prstGeom prst="ellipse">
            <a:avLst/>
          </a:prstGeom>
          <a:solidFill>
            <a:srgbClr val="FFFFFF"/>
          </a:solidFill>
          <a:ln w="25400">
            <a:solidFill>
              <a:srgbClr val="2563EB"/>
            </a:solidFill>
            <a:prstDash val="solid"/>
          </a:ln>
        </p:spPr>
      </p:sp>
      <p:sp>
        <p:nvSpPr>
          <p:cNvPr id="10" name="Text 8"/>
          <p:cNvSpPr txBox="1"/>
          <p:nvPr/>
        </p:nvSpPr>
        <p:spPr>
          <a:xfrm>
            <a:off x="3063240" y="1691640"/>
            <a:ext cx="2377440" cy="365760"/>
          </a:xfrm>
          <a:prstGeom prst="rect">
            <a:avLst/>
          </a:prstGeom>
          <a:noFill/>
          <a:ln/>
        </p:spPr>
        <p:txBody>
          <a:bodyPr wrap="square" lIns="0" tIns="0" rIns="0" bIns="0" rtlCol="0" anchor="t"/>
          <a:lstStyle/>
          <a:p>
            <a:pPr algn="l" indent="0" marL="0">
              <a:buNone/>
            </a:pPr>
            <a:r>
              <a:rPr lang="en-US" sz="1600" b="1" dirty="0">
                <a:solidFill>
                  <a:srgbClr val="2563EB"/>
                </a:solidFill>
                <a:latin typeface="Consolas" pitchFamily="34" charset="0"/>
                <a:ea typeface="Consolas" pitchFamily="34" charset="-122"/>
                <a:cs typeface="Consolas" pitchFamily="34" charset="-120"/>
              </a:rPr>
              <a:t>sitten</a:t>
            </a:r>
            <a:endParaRPr lang="en-US" sz="1600" dirty="0"/>
          </a:p>
        </p:txBody>
      </p:sp>
      <p:sp>
        <p:nvSpPr>
          <p:cNvPr id="11" name="Text 9"/>
          <p:cNvSpPr txBox="1"/>
          <p:nvPr/>
        </p:nvSpPr>
        <p:spPr>
          <a:xfrm>
            <a:off x="3063240" y="2606040"/>
            <a:ext cx="2286000" cy="12801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Paljon heikkoja ja vilpillisiä raportteja</a:t>
            </a:r>
            <a:endParaRPr lang="en-US" sz="1800" dirty="0"/>
          </a:p>
        </p:txBody>
      </p:sp>
      <p:sp>
        <p:nvSpPr>
          <p:cNvPr id="12" name="Shape 10"/>
          <p:cNvSpPr/>
          <p:nvPr/>
        </p:nvSpPr>
        <p:spPr>
          <a:xfrm>
            <a:off x="5577840" y="2167128"/>
            <a:ext cx="237744" cy="237744"/>
          </a:xfrm>
          <a:prstGeom prst="ellipse">
            <a:avLst/>
          </a:prstGeom>
          <a:solidFill>
            <a:srgbClr val="CF222E"/>
          </a:solidFill>
          <a:ln w="25400">
            <a:solidFill>
              <a:srgbClr val="CF222E"/>
            </a:solidFill>
            <a:prstDash val="solid"/>
          </a:ln>
        </p:spPr>
      </p:sp>
      <p:sp>
        <p:nvSpPr>
          <p:cNvPr id="13" name="Text 11"/>
          <p:cNvSpPr txBox="1"/>
          <p:nvPr/>
        </p:nvSpPr>
        <p:spPr>
          <a:xfrm>
            <a:off x="5577840" y="1691640"/>
            <a:ext cx="2377440" cy="365760"/>
          </a:xfrm>
          <a:prstGeom prst="rect">
            <a:avLst/>
          </a:prstGeom>
          <a:noFill/>
          <a:ln/>
        </p:spPr>
        <p:txBody>
          <a:bodyPr wrap="square" lIns="0" tIns="0" rIns="0" bIns="0" rtlCol="0" anchor="t"/>
          <a:lstStyle/>
          <a:p>
            <a:pPr algn="l" indent="0" marL="0">
              <a:buNone/>
            </a:pPr>
            <a:r>
              <a:rPr lang="en-US" sz="1600" b="1" dirty="0">
                <a:solidFill>
                  <a:srgbClr val="CF222E"/>
                </a:solidFill>
                <a:latin typeface="Consolas" pitchFamily="34" charset="0"/>
                <a:ea typeface="Consolas" pitchFamily="34" charset="-122"/>
                <a:cs typeface="Consolas" pitchFamily="34" charset="-120"/>
              </a:rPr>
              <a:t>31.1.2026</a:t>
            </a:r>
            <a:endParaRPr lang="en-US" sz="1600" dirty="0"/>
          </a:p>
        </p:txBody>
      </p:sp>
      <p:sp>
        <p:nvSpPr>
          <p:cNvPr id="14" name="Text 12"/>
          <p:cNvSpPr txBox="1"/>
          <p:nvPr/>
        </p:nvSpPr>
        <p:spPr>
          <a:xfrm>
            <a:off x="5577840" y="2606040"/>
            <a:ext cx="2286000" cy="12801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Palkkiot loppuvat – aidot raportit yhä tervetulleita</a:t>
            </a:r>
            <a:endParaRPr lang="en-US" sz="1800" dirty="0"/>
          </a:p>
        </p:txBody>
      </p:sp>
      <p:sp>
        <p:nvSpPr>
          <p:cNvPr id="15" name="Kortti"/>
          <p:cNvSpPr/>
          <p:nvPr/>
        </p:nvSpPr>
        <p:spPr>
          <a:xfrm>
            <a:off x="8229600" y="1691640"/>
            <a:ext cx="3383280" cy="2377440"/>
          </a:xfrm>
          <a:prstGeom prst="roundRect">
            <a:avLst>
              <a:gd name="adj" fmla="val 3846"/>
            </a:avLst>
          </a:prstGeom>
          <a:solidFill>
            <a:srgbClr val="F6F8FA"/>
          </a:solidFill>
          <a:ln w="12700">
            <a:solidFill>
              <a:srgbClr val="D0D7DE"/>
            </a:solidFill>
            <a:prstDash val="solid"/>
          </a:ln>
        </p:spPr>
      </p:sp>
      <p:sp>
        <p:nvSpPr>
          <p:cNvPr id="16" name="Text 14"/>
          <p:cNvSpPr txBox="1"/>
          <p:nvPr/>
        </p:nvSpPr>
        <p:spPr>
          <a:xfrm>
            <a:off x="8458200" y="1828800"/>
            <a:ext cx="2926080" cy="320040"/>
          </a:xfrm>
          <a:prstGeom prst="rect">
            <a:avLst/>
          </a:prstGeom>
          <a:noFill/>
          <a:ln/>
        </p:spPr>
        <p:txBody>
          <a:bodyPr wrap="square" lIns="0" tIns="0" rIns="0" bIns="0" rtlCol="0" anchor="t"/>
          <a:lstStyle/>
          <a:p>
            <a:pPr algn="l" indent="0" marL="0">
              <a:buNone/>
            </a:pPr>
            <a:r>
              <a:rPr lang="en-US" sz="1200" dirty="0">
                <a:solidFill>
                  <a:srgbClr val="57606A"/>
                </a:solidFill>
                <a:latin typeface="Consolas" pitchFamily="34" charset="0"/>
                <a:ea typeface="Consolas" pitchFamily="34" charset="-122"/>
                <a:cs typeface="Consolas" pitchFamily="34" charset="-120"/>
              </a:rPr>
              <a:t>// esityksen määritelmä</a:t>
            </a:r>
            <a:endParaRPr lang="en-US" sz="1200" dirty="0"/>
          </a:p>
        </p:txBody>
      </p:sp>
      <p:sp>
        <p:nvSpPr>
          <p:cNvPr id="17" name="Text 15"/>
          <p:cNvSpPr txBox="1"/>
          <p:nvPr/>
        </p:nvSpPr>
        <p:spPr>
          <a:xfrm>
            <a:off x="8458200" y="2240280"/>
            <a:ext cx="2926080" cy="1645920"/>
          </a:xfrm>
          <a:prstGeom prst="rect">
            <a:avLst/>
          </a:prstGeom>
          <a:noFill/>
          <a:ln/>
        </p:spPr>
        <p:txBody>
          <a:bodyPr wrap="square" lIns="0" tIns="0" rIns="0" bIns="0" rtlCol="0" anchor="t"/>
          <a:lstStyle/>
          <a:p>
            <a:pPr algn="l" indent="0" marL="0">
              <a:buNone/>
            </a:pPr>
            <a:r>
              <a:rPr lang="en-US" sz="1900" b="1" dirty="0">
                <a:solidFill>
                  <a:srgbClr val="111827"/>
                </a:solidFill>
                <a:latin typeface="Segoe UI" pitchFamily="34" charset="0"/>
                <a:ea typeface="Segoe UI" pitchFamily="34" charset="-122"/>
                <a:cs typeface="Segoe UI" pitchFamily="34" charset="-120"/>
              </a:rPr>
              <a:t>AI-slop siirtää kohtuuttoman arviointityön jollekulle toiselle.</a:t>
            </a:r>
            <a:endParaRPr lang="en-US" sz="1900" dirty="0"/>
          </a:p>
        </p:txBody>
      </p:sp>
      <p:sp>
        <p:nvSpPr>
          <p:cNvPr id="18" name="Alarivi"/>
          <p:cNvSpPr txBox="1"/>
          <p:nvPr/>
        </p:nvSpPr>
        <p:spPr>
          <a:xfrm>
            <a:off x="548640" y="4480560"/>
            <a:ext cx="11064240" cy="548640"/>
          </a:xfrm>
          <a:prstGeom prst="rect">
            <a:avLst/>
          </a:prstGeom>
          <a:noFill/>
          <a:ln/>
        </p:spPr>
        <p:txBody>
          <a:bodyPr wrap="square" lIns="0" tIns="0" rIns="0" bIns="0" rtlCol="0" anchor="ctr"/>
          <a:lstStyle/>
          <a:p>
            <a:pPr algn="l" indent="0" marL="0">
              <a:buNone/>
            </a:pPr>
            <a:r>
              <a:rPr lang="en-US" sz="2800" b="1" dirty="0">
                <a:solidFill>
                  <a:srgbClr val="111827"/>
                </a:solidFill>
                <a:latin typeface="Segoe UI" pitchFamily="34" charset="0"/>
                <a:ea typeface="Segoe UI" pitchFamily="34" charset="-122"/>
                <a:cs typeface="Segoe UI" pitchFamily="34" charset="-120"/>
              </a:rPr>
              <a:t>Lähettäminen on ilmaista. Tarkistaminen ei.</a:t>
            </a:r>
            <a:endParaRPr lang="en-US" sz="2800" dirty="0"/>
          </a:p>
        </p:txBody>
      </p:sp>
      <p:sp>
        <p:nvSpPr>
          <p:cNvPr id="19"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Daniel Stenberg, daniel.haxx.se 26.1.2026 · kaikki heikot raportit eivät olleet AI:n tekemiä.</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03 · tarkistus ja oppiminen</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Oppiiko AI:n kanssa yhtä hyvin?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52 osallistujaa opetteli uuden Python-kirjaston – heti perään osaamiskoe</a:t>
            </a:r>
            <a:endParaRPr lang="en-US" sz="1800" dirty="0"/>
          </a:p>
        </p:txBody>
      </p:sp>
      <p:graphicFrame>
        <p:nvGraphicFramePr>
          <p:cNvPr id="5" name="Chart 0" descr=""/>
          <p:cNvGraphicFramePr/>
          <p:nvPr/>
        </p:nvGraphicFramePr>
        <p:xfrm>
          <a:off x="2194560" y="1691640"/>
          <a:ext cx="7772400" cy="3749040"/>
        </p:xfrm>
        <a:graphic xmlns:a="http://schemas.openxmlformats.org/drawingml/2006/main">
          <a:graphicData uri="http://schemas.openxmlformats.org/drawingml/2006/chart">
            <c:chart xmlns:c="http://schemas.openxmlformats.org/drawingml/2006/chart" r:id="rId1"/>
          </a:graphicData>
        </a:graphic>
      </p:graphicFrame>
      <p:sp>
        <p:nvSpPr>
          <p:cNvPr id="6"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Shen &amp; Tamkin 2026 (arXiv 2601.20245) · pyöristetyt keskiarvot · välitön koe, ei pitkäaikainen · ei nykyagenttien testi.</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03 · tarkistus ja oppiminen</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Oppiiko AI:n kanssa yhtä hyvin?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52 osallistujaa opetteli uuden Python-kirjaston – heti perään osaamiskoe</a:t>
            </a:r>
            <a:endParaRPr lang="en-US" sz="1800" dirty="0"/>
          </a:p>
        </p:txBody>
      </p:sp>
      <p:graphicFrame>
        <p:nvGraphicFramePr>
          <p:cNvPr id="5" name="Chart 0" descr=""/>
          <p:cNvGraphicFramePr/>
          <p:nvPr/>
        </p:nvGraphicFramePr>
        <p:xfrm>
          <a:off x="2194560" y="1691640"/>
          <a:ext cx="7772400" cy="3749040"/>
        </p:xfrm>
        <a:graphic xmlns:a="http://schemas.openxmlformats.org/drawingml/2006/main">
          <a:graphicData uri="http://schemas.openxmlformats.org/drawingml/2006/chart">
            <c:chart xmlns:c="http://schemas.openxmlformats.org/drawingml/2006/chart" r:id="rId1"/>
          </a:graphicData>
        </a:graphic>
      </p:graphicFrame>
      <p:sp>
        <p:nvSpPr>
          <p:cNvPr id="6"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Tehtävä valmistui. Ymmärrys ei välttämättä.</a:t>
            </a:r>
            <a:endParaRPr lang="en-US" sz="2000" dirty="0"/>
          </a:p>
        </p:txBody>
      </p:sp>
      <p:sp>
        <p:nvSpPr>
          <p:cNvPr id="7"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Shen &amp; Tamkin 2026 (arXiv 2601.20245) · pyöristetyt keskiarvot · välitön koe, ei pitkäaikainen · ei nykyagenttien testi.</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03 · tarkistus ja oppiminen</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AI muuttaa työtä kahdesti</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Sen kautta, mitä se osaa – ja mitä uskomme sen kohta osaavan</a:t>
            </a:r>
            <a:endParaRPr lang="en-US" sz="1800" dirty="0"/>
          </a:p>
        </p:txBody>
      </p:sp>
      <p:sp>
        <p:nvSpPr>
          <p:cNvPr id="5" name="Kortti"/>
          <p:cNvSpPr/>
          <p:nvPr/>
        </p:nvSpPr>
        <p:spPr>
          <a:xfrm>
            <a:off x="548640" y="1783080"/>
            <a:ext cx="3474720" cy="3246120"/>
          </a:xfrm>
          <a:prstGeom prst="roundRect">
            <a:avLst>
              <a:gd name="adj" fmla="val 2817"/>
            </a:avLst>
          </a:prstGeom>
          <a:solidFill>
            <a:srgbClr val="FFFFFF"/>
          </a:solidFill>
          <a:ln w="12700">
            <a:solidFill>
              <a:srgbClr val="E5E7EB"/>
            </a:solidFill>
            <a:prstDash val="solid"/>
          </a:ln>
        </p:spPr>
      </p:sp>
      <p:sp>
        <p:nvSpPr>
          <p:cNvPr id="6" name="Shape 4"/>
          <p:cNvSpPr/>
          <p:nvPr/>
        </p:nvSpPr>
        <p:spPr>
          <a:xfrm>
            <a:off x="822960" y="2011680"/>
            <a:ext cx="640080" cy="640080"/>
          </a:xfrm>
          <a:prstGeom prst="ellipse">
            <a:avLst/>
          </a:prstGeom>
          <a:solidFill>
            <a:srgbClr val="EFF6FF"/>
          </a:solidFill>
          <a:ln w="12700">
            <a:solidFill>
              <a:srgbClr val="EFF6FF"/>
            </a:solidFill>
            <a:prstDash val="solid"/>
          </a:ln>
        </p:spPr>
      </p:sp>
      <p:pic>
        <p:nvPicPr>
          <p:cNvPr id="7" name="Image 0" descr="preencoded.png">    </p:cNvPr>
          <p:cNvPicPr>
            <a:picLocks noChangeAspect="1"/>
          </p:cNvPicPr>
          <p:nvPr/>
        </p:nvPicPr>
        <p:blipFill>
          <a:blip r:embed="rId1"/>
          <a:stretch>
            <a:fillRect/>
          </a:stretch>
        </p:blipFill>
        <p:spPr>
          <a:xfrm>
            <a:off x="976579" y="2165299"/>
            <a:ext cx="332842" cy="332842"/>
          </a:xfrm>
          <a:prstGeom prst="rect">
            <a:avLst/>
          </a:prstGeom>
        </p:spPr>
      </p:pic>
      <p:sp>
        <p:nvSpPr>
          <p:cNvPr id="8" name="Text 5"/>
          <p:cNvSpPr txBox="1"/>
          <p:nvPr/>
        </p:nvSpPr>
        <p:spPr>
          <a:xfrm>
            <a:off x="1600200" y="2011680"/>
            <a:ext cx="2377440" cy="640080"/>
          </a:xfrm>
          <a:prstGeom prst="rect">
            <a:avLst/>
          </a:prstGeom>
          <a:noFill/>
          <a:ln/>
        </p:spPr>
        <p:txBody>
          <a:bodyPr wrap="square" lIns="0" tIns="0" rIns="0" bIns="0" rtlCol="0" anchor="ctr"/>
          <a:lstStyle/>
          <a:p>
            <a:pPr algn="l" indent="0" marL="0">
              <a:buNone/>
            </a:pPr>
            <a:r>
              <a:rPr lang="en-US" sz="2200" b="1" dirty="0">
                <a:solidFill>
                  <a:srgbClr val="111827"/>
                </a:solidFill>
                <a:latin typeface="Segoe UI" pitchFamily="34" charset="0"/>
                <a:ea typeface="Segoe UI" pitchFamily="34" charset="-122"/>
                <a:cs typeface="Segoe UI" pitchFamily="34" charset="-120"/>
              </a:rPr>
              <a:t>Mitä se tekee</a:t>
            </a:r>
            <a:endParaRPr lang="en-US" sz="2200" dirty="0"/>
          </a:p>
        </p:txBody>
      </p:sp>
      <p:sp>
        <p:nvSpPr>
          <p:cNvPr id="9" name="Text 6"/>
          <p:cNvSpPr txBox="1"/>
          <p:nvPr/>
        </p:nvSpPr>
        <p:spPr>
          <a:xfrm>
            <a:off x="868680" y="2880360"/>
            <a:ext cx="2926080" cy="1828800"/>
          </a:xfrm>
          <a:prstGeom prst="rect">
            <a:avLst/>
          </a:prstGeom>
          <a:noFill/>
          <a:ln/>
        </p:spPr>
        <p:txBody>
          <a:bodyPr wrap="square" lIns="0" tIns="0" rIns="0" bIns="0" rtlCol="0" anchor="t"/>
          <a:lstStyle/>
          <a:p>
            <a:pPr algn="l" indent="0" marL="0">
              <a:spcAft>
                <a:spcPts val="600"/>
              </a:spcAft>
              <a:buNone/>
            </a:pPr>
            <a:r>
              <a:rPr lang="en-US" sz="1700" dirty="0">
                <a:solidFill>
                  <a:srgbClr val="111827"/>
                </a:solidFill>
                <a:latin typeface="Consolas" pitchFamily="34" charset="0"/>
                <a:ea typeface="Consolas" pitchFamily="34" charset="-122"/>
                <a:cs typeface="Consolas" pitchFamily="34" charset="-120"/>
              </a:rPr>
              <a:t>· tehtävät</a:t>
            </a:r>
            <a:endParaRPr lang="en-US" sz="1700" dirty="0"/>
          </a:p>
          <a:p>
            <a:pPr algn="l" indent="0" marL="0">
              <a:spcAft>
                <a:spcPts val="600"/>
              </a:spcAft>
              <a:buNone/>
            </a:pPr>
            <a:r>
              <a:rPr lang="en-US" sz="1700" dirty="0">
                <a:solidFill>
                  <a:srgbClr val="111827"/>
                </a:solidFill>
                <a:latin typeface="Consolas" pitchFamily="34" charset="0"/>
                <a:ea typeface="Consolas" pitchFamily="34" charset="-122"/>
                <a:cs typeface="Consolas" pitchFamily="34" charset="-120"/>
              </a:rPr>
              <a:t>· työkalut</a:t>
            </a:r>
            <a:endParaRPr lang="en-US" sz="1700" dirty="0"/>
          </a:p>
          <a:p>
            <a:pPr algn="l" indent="0" marL="0">
              <a:spcAft>
                <a:spcPts val="600"/>
              </a:spcAft>
              <a:buNone/>
            </a:pPr>
            <a:r>
              <a:rPr lang="en-US" sz="1700" dirty="0">
                <a:solidFill>
                  <a:srgbClr val="111827"/>
                </a:solidFill>
                <a:latin typeface="Consolas" pitchFamily="34" charset="0"/>
                <a:ea typeface="Consolas" pitchFamily="34" charset="-122"/>
                <a:cs typeface="Consolas" pitchFamily="34" charset="-120"/>
              </a:rPr>
              <a:t>· tahti</a:t>
            </a:r>
            <a:endParaRPr lang="en-US" sz="1700" dirty="0"/>
          </a:p>
        </p:txBody>
      </p:sp>
      <p:sp>
        <p:nvSpPr>
          <p:cNvPr id="10" name="Kortti"/>
          <p:cNvSpPr/>
          <p:nvPr/>
        </p:nvSpPr>
        <p:spPr>
          <a:xfrm>
            <a:off x="4251960" y="1783080"/>
            <a:ext cx="3474720" cy="3246120"/>
          </a:xfrm>
          <a:prstGeom prst="roundRect">
            <a:avLst>
              <a:gd name="adj" fmla="val 2817"/>
            </a:avLst>
          </a:prstGeom>
          <a:solidFill>
            <a:srgbClr val="FFFFFF"/>
          </a:solidFill>
          <a:ln w="12700">
            <a:solidFill>
              <a:srgbClr val="E5E7EB"/>
            </a:solidFill>
            <a:prstDash val="solid"/>
          </a:ln>
        </p:spPr>
      </p:sp>
      <p:sp>
        <p:nvSpPr>
          <p:cNvPr id="11" name="Shape 8"/>
          <p:cNvSpPr/>
          <p:nvPr/>
        </p:nvSpPr>
        <p:spPr>
          <a:xfrm>
            <a:off x="4526280" y="2011680"/>
            <a:ext cx="640080" cy="640080"/>
          </a:xfrm>
          <a:prstGeom prst="ellipse">
            <a:avLst/>
          </a:prstGeom>
          <a:solidFill>
            <a:srgbClr val="EFF6FF"/>
          </a:solidFill>
          <a:ln w="12700">
            <a:solidFill>
              <a:srgbClr val="EFF6FF"/>
            </a:solidFill>
            <a:prstDash val="solid"/>
          </a:ln>
        </p:spPr>
      </p:sp>
      <p:pic>
        <p:nvPicPr>
          <p:cNvPr id="12" name="Image 1" descr="preencoded.png">    </p:cNvPr>
          <p:cNvPicPr>
            <a:picLocks noChangeAspect="1"/>
          </p:cNvPicPr>
          <p:nvPr/>
        </p:nvPicPr>
        <p:blipFill>
          <a:blip r:embed="rId2"/>
          <a:stretch>
            <a:fillRect/>
          </a:stretch>
        </p:blipFill>
        <p:spPr>
          <a:xfrm>
            <a:off x="4679899" y="2165299"/>
            <a:ext cx="332842" cy="332842"/>
          </a:xfrm>
          <a:prstGeom prst="rect">
            <a:avLst/>
          </a:prstGeom>
        </p:spPr>
      </p:pic>
      <p:sp>
        <p:nvSpPr>
          <p:cNvPr id="13" name="Text 9"/>
          <p:cNvSpPr txBox="1"/>
          <p:nvPr/>
        </p:nvSpPr>
        <p:spPr>
          <a:xfrm>
            <a:off x="5303520" y="2011680"/>
            <a:ext cx="2377440" cy="640080"/>
          </a:xfrm>
          <a:prstGeom prst="rect">
            <a:avLst/>
          </a:prstGeom>
          <a:noFill/>
          <a:ln/>
        </p:spPr>
        <p:txBody>
          <a:bodyPr wrap="square" lIns="0" tIns="0" rIns="0" bIns="0" rtlCol="0" anchor="ctr"/>
          <a:lstStyle/>
          <a:p>
            <a:pPr algn="l" indent="0" marL="0">
              <a:buNone/>
            </a:pPr>
            <a:r>
              <a:rPr lang="en-US" sz="2200" b="1" dirty="0">
                <a:solidFill>
                  <a:srgbClr val="111827"/>
                </a:solidFill>
                <a:latin typeface="Segoe UI" pitchFamily="34" charset="0"/>
                <a:ea typeface="Segoe UI" pitchFamily="34" charset="-122"/>
                <a:cs typeface="Segoe UI" pitchFamily="34" charset="-120"/>
              </a:rPr>
              <a:t>Mitä odotetaan</a:t>
            </a:r>
            <a:endParaRPr lang="en-US" sz="2200" dirty="0"/>
          </a:p>
        </p:txBody>
      </p:sp>
      <p:sp>
        <p:nvSpPr>
          <p:cNvPr id="14" name="Text 10"/>
          <p:cNvSpPr txBox="1"/>
          <p:nvPr/>
        </p:nvSpPr>
        <p:spPr>
          <a:xfrm>
            <a:off x="4572000" y="2880360"/>
            <a:ext cx="2926080" cy="1828800"/>
          </a:xfrm>
          <a:prstGeom prst="rect">
            <a:avLst/>
          </a:prstGeom>
          <a:noFill/>
          <a:ln/>
        </p:spPr>
        <p:txBody>
          <a:bodyPr wrap="square" lIns="0" tIns="0" rIns="0" bIns="0" rtlCol="0" anchor="t"/>
          <a:lstStyle/>
          <a:p>
            <a:pPr algn="l" indent="0" marL="0">
              <a:spcAft>
                <a:spcPts val="600"/>
              </a:spcAft>
              <a:buNone/>
            </a:pPr>
            <a:r>
              <a:rPr lang="en-US" sz="1700" dirty="0">
                <a:solidFill>
                  <a:srgbClr val="111827"/>
                </a:solidFill>
                <a:latin typeface="Consolas" pitchFamily="34" charset="0"/>
                <a:ea typeface="Consolas" pitchFamily="34" charset="-122"/>
                <a:cs typeface="Consolas" pitchFamily="34" charset="-120"/>
              </a:rPr>
              <a:t>· ketä palkataan</a:t>
            </a:r>
            <a:endParaRPr lang="en-US" sz="1700" dirty="0"/>
          </a:p>
          <a:p>
            <a:pPr algn="l" indent="0" marL="0">
              <a:spcAft>
                <a:spcPts val="600"/>
              </a:spcAft>
              <a:buNone/>
            </a:pPr>
            <a:r>
              <a:rPr lang="en-US" sz="1700" dirty="0">
                <a:solidFill>
                  <a:srgbClr val="111827"/>
                </a:solidFill>
                <a:latin typeface="Consolas" pitchFamily="34" charset="0"/>
                <a:ea typeface="Consolas" pitchFamily="34" charset="-122"/>
                <a:cs typeface="Consolas" pitchFamily="34" charset="-120"/>
              </a:rPr>
              <a:t>· mitä opetellaan</a:t>
            </a:r>
            <a:endParaRPr lang="en-US" sz="1700" dirty="0"/>
          </a:p>
          <a:p>
            <a:pPr algn="l" indent="0" marL="0">
              <a:spcAft>
                <a:spcPts val="600"/>
              </a:spcAft>
              <a:buNone/>
            </a:pPr>
            <a:r>
              <a:rPr lang="en-US" sz="1700" dirty="0">
                <a:solidFill>
                  <a:srgbClr val="111827"/>
                </a:solidFill>
                <a:latin typeface="Consolas" pitchFamily="34" charset="0"/>
                <a:ea typeface="Consolas" pitchFamily="34" charset="-122"/>
                <a:cs typeface="Consolas" pitchFamily="34" charset="-120"/>
              </a:rPr>
              <a:t>· kuka mentoroi</a:t>
            </a:r>
            <a:endParaRPr lang="en-US" sz="1700" dirty="0"/>
          </a:p>
        </p:txBody>
      </p:sp>
      <p:sp>
        <p:nvSpPr>
          <p:cNvPr id="15" name="Kortti"/>
          <p:cNvSpPr/>
          <p:nvPr/>
        </p:nvSpPr>
        <p:spPr>
          <a:xfrm>
            <a:off x="8138160" y="1783080"/>
            <a:ext cx="3474720" cy="3246120"/>
          </a:xfrm>
          <a:prstGeom prst="roundRect">
            <a:avLst>
              <a:gd name="adj" fmla="val 2817"/>
            </a:avLst>
          </a:prstGeom>
          <a:solidFill>
            <a:srgbClr val="FFFFFF"/>
          </a:solidFill>
          <a:ln w="12700">
            <a:solidFill>
              <a:srgbClr val="E5E7EB"/>
            </a:solidFill>
            <a:prstDash val="solid"/>
          </a:ln>
        </p:spPr>
      </p:sp>
      <p:sp>
        <p:nvSpPr>
          <p:cNvPr id="16" name="Text 12"/>
          <p:cNvSpPr txBox="1"/>
          <p:nvPr/>
        </p:nvSpPr>
        <p:spPr>
          <a:xfrm>
            <a:off x="8366760" y="1965960"/>
            <a:ext cx="3108960" cy="320040"/>
          </a:xfrm>
          <a:prstGeom prst="rect">
            <a:avLst/>
          </a:prstGeom>
          <a:noFill/>
          <a:ln/>
        </p:spPr>
        <p:txBody>
          <a:bodyPr wrap="square" lIns="0" tIns="0" rIns="0" bIns="0" rtlCol="0" anchor="t"/>
          <a:lstStyle/>
          <a:p>
            <a:pPr algn="l" indent="0" marL="0">
              <a:buNone/>
            </a:pPr>
            <a:r>
              <a:rPr lang="en-US" sz="1100" dirty="0">
                <a:solidFill>
                  <a:srgbClr val="6B7280"/>
                </a:solidFill>
                <a:latin typeface="Consolas" pitchFamily="34" charset="0"/>
                <a:ea typeface="Consolas" pitchFamily="34" charset="-122"/>
                <a:cs typeface="Consolas" pitchFamily="34" charset="-120"/>
              </a:rPr>
              <a:t>// yksi poikkeuksellinen työpaikka</a:t>
            </a:r>
            <a:endParaRPr lang="en-US" sz="1100" dirty="0"/>
          </a:p>
        </p:txBody>
      </p:sp>
      <p:sp>
        <p:nvSpPr>
          <p:cNvPr id="17" name="Text 13"/>
          <p:cNvSpPr txBox="1"/>
          <p:nvPr/>
        </p:nvSpPr>
        <p:spPr>
          <a:xfrm>
            <a:off x="8366760" y="2377440"/>
            <a:ext cx="3108960" cy="822960"/>
          </a:xfrm>
          <a:prstGeom prst="rect">
            <a:avLst/>
          </a:prstGeom>
          <a:noFill/>
          <a:ln/>
        </p:spPr>
        <p:txBody>
          <a:bodyPr wrap="square" lIns="0" tIns="0" rIns="0" bIns="0" rtlCol="0" anchor="t"/>
          <a:lstStyle/>
          <a:p>
            <a:pPr algn="l" indent="0" marL="0">
              <a:buNone/>
            </a:pPr>
            <a:r>
              <a:rPr lang="en-US" sz="3800" b="1" dirty="0">
                <a:solidFill>
                  <a:srgbClr val="2563EB"/>
                </a:solidFill>
                <a:latin typeface="Segoe UI" pitchFamily="34" charset="0"/>
                <a:ea typeface="Segoe UI" pitchFamily="34" charset="-122"/>
                <a:cs typeface="Segoe UI" pitchFamily="34" charset="-120"/>
              </a:rPr>
              <a:t>27 % → 9 %</a:t>
            </a:r>
            <a:endParaRPr lang="en-US" sz="3800" dirty="0"/>
          </a:p>
        </p:txBody>
      </p:sp>
      <p:sp>
        <p:nvSpPr>
          <p:cNvPr id="18" name="Text 14"/>
          <p:cNvSpPr txBox="1"/>
          <p:nvPr/>
        </p:nvSpPr>
        <p:spPr>
          <a:xfrm>
            <a:off x="8366760" y="3246120"/>
            <a:ext cx="3108960" cy="1463040"/>
          </a:xfrm>
          <a:prstGeom prst="rect">
            <a:avLst/>
          </a:prstGeom>
          <a:noFill/>
          <a:ln/>
        </p:spPr>
        <p:txBody>
          <a:bodyPr wrap="square" lIns="0" tIns="0" rIns="0" bIns="0" rtlCol="0" anchor="t"/>
          <a:lstStyle/>
          <a:p>
            <a:pPr algn="l" indent="0" marL="0">
              <a:buNone/>
            </a:pPr>
            <a:r>
              <a:rPr lang="en-US" sz="1600" dirty="0">
                <a:solidFill>
                  <a:srgbClr val="111827"/>
                </a:solidFill>
                <a:latin typeface="Segoe UI" pitchFamily="34" charset="0"/>
                <a:ea typeface="Segoe UI" pitchFamily="34" charset="-122"/>
                <a:cs typeface="Segoe UI" pitchFamily="34" charset="-120"/>
              </a:rPr>
              <a:t>juniorien osuus teknisistä rekrytoinneista – vaikka rekrytointi kasvoi</a:t>
            </a:r>
            <a:endParaRPr lang="en-US" sz="1600" dirty="0"/>
          </a:p>
        </p:txBody>
      </p:sp>
      <p:sp>
        <p:nvSpPr>
          <p:cNvPr id="19"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Jos ensimmäinen porras kapenee, mistä tulevat seuraavat seniorit?</a:t>
            </a:r>
            <a:endParaRPr lang="en-US" sz="2000" dirty="0"/>
          </a:p>
        </p:txBody>
      </p:sp>
      <p:sp>
        <p:nvSpPr>
          <p:cNvPr id="20"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Anthropic, Employment at Anthropic 16.10.2026 (tekoälyfirman omat luvut).</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502920"/>
            <a:ext cx="11064240" cy="731520"/>
          </a:xfrm>
          <a:prstGeom prst="rect">
            <a:avLst/>
          </a:prstGeom>
          <a:noFill/>
          <a:ln/>
        </p:spPr>
        <p:txBody>
          <a:bodyPr wrap="square" lIns="0" tIns="0" rIns="0" bIns="0" rtlCol="0" anchor="ctr"/>
          <a:lstStyle/>
          <a:p>
            <a:pPr algn="ctr" indent="0" marL="0">
              <a:buNone/>
            </a:pPr>
            <a:r>
              <a:rPr lang="en-US" sz="2800" b="1" dirty="0">
                <a:solidFill>
                  <a:srgbClr val="111827"/>
                </a:solidFill>
                <a:latin typeface="Segoe UI" pitchFamily="34" charset="0"/>
                <a:ea typeface="Segoe UI" pitchFamily="34" charset="-122"/>
                <a:cs typeface="Segoe UI" pitchFamily="34" charset="-120"/>
              </a:rPr>
              <a:t>Firma haluaa, että etsit erot näistä kahdesta PR:stä.</a:t>
            </a:r>
            <a:endParaRPr lang="en-US" sz="2800" dirty="0"/>
          </a:p>
        </p:txBody>
      </p:sp>
      <p:sp>
        <p:nvSpPr>
          <p:cNvPr id="3" name="Text 1"/>
          <p:cNvSpPr txBox="1"/>
          <p:nvPr/>
        </p:nvSpPr>
        <p:spPr>
          <a:xfrm>
            <a:off x="548640" y="1463040"/>
            <a:ext cx="5349240" cy="411480"/>
          </a:xfrm>
          <a:prstGeom prst="rect">
            <a:avLst/>
          </a:prstGeom>
          <a:noFill/>
          <a:ln/>
        </p:spPr>
        <p:txBody>
          <a:bodyPr wrap="square" lIns="0" tIns="0" rIns="0" bIns="0" rtlCol="0" anchor="t"/>
          <a:lstStyle/>
          <a:p>
            <a:pPr algn="ctr" indent="0" marL="0">
              <a:buNone/>
            </a:pPr>
            <a:r>
              <a:rPr lang="en-US" sz="1800" b="1" dirty="0">
                <a:solidFill>
                  <a:srgbClr val="111827"/>
                </a:solidFill>
                <a:latin typeface="Consolas" pitchFamily="34" charset="0"/>
                <a:ea typeface="Consolas" pitchFamily="34" charset="-122"/>
                <a:cs typeface="Consolas" pitchFamily="34" charset="-120"/>
              </a:rPr>
              <a:t>AI kirjoitti</a:t>
            </a:r>
            <a:endParaRPr lang="en-US" sz="1800" dirty="0"/>
          </a:p>
        </p:txBody>
      </p:sp>
      <p:sp>
        <p:nvSpPr>
          <p:cNvPr id="4" name="Koodikortti"/>
          <p:cNvSpPr/>
          <p:nvPr/>
        </p:nvSpPr>
        <p:spPr>
          <a:xfrm>
            <a:off x="548640" y="1965960"/>
            <a:ext cx="5349240" cy="2011680"/>
          </a:xfrm>
          <a:prstGeom prst="roundRect">
            <a:avLst>
              <a:gd name="adj" fmla="val 4545"/>
            </a:avLst>
          </a:prstGeom>
          <a:solidFill>
            <a:srgbClr val="F6F8FA"/>
          </a:solidFill>
          <a:ln w="12700">
            <a:solidFill>
              <a:srgbClr val="D0D7DE"/>
            </a:solidFill>
            <a:prstDash val="solid"/>
          </a:ln>
        </p:spPr>
      </p:sp>
      <p:sp>
        <p:nvSpPr>
          <p:cNvPr id="5" name="Text 3"/>
          <p:cNvSpPr txBox="1"/>
          <p:nvPr/>
        </p:nvSpPr>
        <p:spPr>
          <a:xfrm>
            <a:off x="685800" y="2167128"/>
            <a:ext cx="274320" cy="384048"/>
          </a:xfrm>
          <a:prstGeom prst="rect">
            <a:avLst/>
          </a:prstGeom>
          <a:noFill/>
          <a:ln/>
        </p:spPr>
        <p:txBody>
          <a:bodyPr wrap="square" lIns="0" tIns="0" rIns="0" bIns="0" rtlCol="0" anchor="ctr"/>
          <a:lstStyle/>
          <a:p>
            <a:pPr algn="l" indent="0" marL="0">
              <a:buNone/>
            </a:pPr>
            <a:endParaRPr lang="en-US" sz="1700" dirty="0"/>
          </a:p>
        </p:txBody>
      </p:sp>
      <p:sp>
        <p:nvSpPr>
          <p:cNvPr id="6" name="Text 4"/>
          <p:cNvSpPr txBox="1"/>
          <p:nvPr/>
        </p:nvSpPr>
        <p:spPr>
          <a:xfrm>
            <a:off x="960120" y="2167128"/>
            <a:ext cx="4800600" cy="384048"/>
          </a:xfrm>
          <a:prstGeom prst="rect">
            <a:avLst/>
          </a:prstGeom>
          <a:noFill/>
          <a:ln/>
        </p:spPr>
        <p:txBody>
          <a:bodyPr wrap="square" lIns="0" tIns="0" rIns="0" bIns="0" rtlCol="0" anchor="ctr"/>
          <a:lstStyle/>
          <a:p>
            <a:pPr algn="l" indent="0" marL="0">
              <a:buNone/>
            </a:pPr>
            <a:r>
              <a:rPr lang="en-US" sz="1700" dirty="0">
                <a:solidFill>
                  <a:srgbClr val="111827"/>
                </a:solidFill>
                <a:latin typeface="Consolas" pitchFamily="34" charset="0"/>
                <a:ea typeface="Consolas" pitchFamily="34" charset="-122"/>
                <a:cs typeface="Consolas" pitchFamily="34" charset="-120"/>
              </a:rPr>
              <a:t>const payload = {</a:t>
            </a:r>
            <a:endParaRPr lang="en-US" sz="1700" dirty="0"/>
          </a:p>
        </p:txBody>
      </p:sp>
      <p:sp>
        <p:nvSpPr>
          <p:cNvPr id="7" name="Text 5"/>
          <p:cNvSpPr txBox="1"/>
          <p:nvPr/>
        </p:nvSpPr>
        <p:spPr>
          <a:xfrm>
            <a:off x="685800" y="2551176"/>
            <a:ext cx="274320" cy="384048"/>
          </a:xfrm>
          <a:prstGeom prst="rect">
            <a:avLst/>
          </a:prstGeom>
          <a:noFill/>
          <a:ln/>
        </p:spPr>
        <p:txBody>
          <a:bodyPr wrap="square" lIns="0" tIns="0" rIns="0" bIns="0" rtlCol="0" anchor="ctr"/>
          <a:lstStyle/>
          <a:p>
            <a:pPr algn="l" indent="0" marL="0">
              <a:buNone/>
            </a:pPr>
            <a:endParaRPr lang="en-US" sz="1700" dirty="0"/>
          </a:p>
        </p:txBody>
      </p:sp>
      <p:sp>
        <p:nvSpPr>
          <p:cNvPr id="8" name="Text 6"/>
          <p:cNvSpPr txBox="1"/>
          <p:nvPr/>
        </p:nvSpPr>
        <p:spPr>
          <a:xfrm>
            <a:off x="960120" y="2551176"/>
            <a:ext cx="4800600" cy="384048"/>
          </a:xfrm>
          <a:prstGeom prst="rect">
            <a:avLst/>
          </a:prstGeom>
          <a:noFill/>
          <a:ln/>
        </p:spPr>
        <p:txBody>
          <a:bodyPr wrap="square" lIns="0" tIns="0" rIns="0" bIns="0" rtlCol="0" anchor="ctr"/>
          <a:lstStyle/>
          <a:p>
            <a:pPr algn="l" indent="0" marL="0">
              <a:buNone/>
            </a:pPr>
            <a:r>
              <a:rPr lang="en-US" sz="1700" dirty="0">
                <a:solidFill>
                  <a:srgbClr val="111827"/>
                </a:solidFill>
                <a:latin typeface="Consolas" pitchFamily="34" charset="0"/>
                <a:ea typeface="Consolas" pitchFamily="34" charset="-122"/>
                <a:cs typeface="Consolas" pitchFamily="34" charset="-120"/>
              </a:rPr>
              <a:t>  street: form.street,</a:t>
            </a:r>
            <a:endParaRPr lang="en-US" sz="1700" dirty="0"/>
          </a:p>
        </p:txBody>
      </p:sp>
      <p:sp>
        <p:nvSpPr>
          <p:cNvPr id="9" name="Shape 7"/>
          <p:cNvSpPr/>
          <p:nvPr/>
        </p:nvSpPr>
        <p:spPr>
          <a:xfrm>
            <a:off x="594360" y="2935224"/>
            <a:ext cx="5257800" cy="384048"/>
          </a:xfrm>
          <a:prstGeom prst="rect">
            <a:avLst/>
          </a:prstGeom>
          <a:solidFill>
            <a:srgbClr val="DAFBE1"/>
          </a:solidFill>
          <a:ln w="12700">
            <a:solidFill>
              <a:srgbClr val="DAFBE1"/>
            </a:solidFill>
            <a:prstDash val="solid"/>
          </a:ln>
        </p:spPr>
      </p:sp>
      <p:sp>
        <p:nvSpPr>
          <p:cNvPr id="10" name="Text 8"/>
          <p:cNvSpPr txBox="1"/>
          <p:nvPr/>
        </p:nvSpPr>
        <p:spPr>
          <a:xfrm>
            <a:off x="685800" y="2935224"/>
            <a:ext cx="274320" cy="384048"/>
          </a:xfrm>
          <a:prstGeom prst="rect">
            <a:avLst/>
          </a:prstGeom>
          <a:noFill/>
          <a:ln/>
        </p:spPr>
        <p:txBody>
          <a:bodyPr wrap="square" lIns="0" tIns="0" rIns="0" bIns="0" rtlCol="0" anchor="ctr"/>
          <a:lstStyle/>
          <a:p>
            <a:pPr algn="l" indent="0" marL="0">
              <a:buNone/>
            </a:pPr>
            <a:r>
              <a:rPr lang="en-US" sz="1700" b="1" dirty="0">
                <a:solidFill>
                  <a:srgbClr val="1A7F37"/>
                </a:solidFill>
                <a:latin typeface="Consolas" pitchFamily="34" charset="0"/>
                <a:ea typeface="Consolas" pitchFamily="34" charset="-122"/>
                <a:cs typeface="Consolas" pitchFamily="34" charset="-120"/>
              </a:rPr>
              <a:t>+</a:t>
            </a:r>
            <a:endParaRPr lang="en-US" sz="1700" dirty="0"/>
          </a:p>
        </p:txBody>
      </p:sp>
      <p:sp>
        <p:nvSpPr>
          <p:cNvPr id="11" name="Text 9"/>
          <p:cNvSpPr txBox="1"/>
          <p:nvPr/>
        </p:nvSpPr>
        <p:spPr>
          <a:xfrm>
            <a:off x="960120" y="2935224"/>
            <a:ext cx="4800600" cy="384048"/>
          </a:xfrm>
          <a:prstGeom prst="rect">
            <a:avLst/>
          </a:prstGeom>
          <a:noFill/>
          <a:ln/>
        </p:spPr>
        <p:txBody>
          <a:bodyPr wrap="square" lIns="0" tIns="0" rIns="0" bIns="0" rtlCol="0" anchor="ctr"/>
          <a:lstStyle/>
          <a:p>
            <a:pPr algn="l" indent="0" marL="0">
              <a:buNone/>
            </a:pPr>
            <a:r>
              <a:rPr lang="en-US" sz="1700" dirty="0">
                <a:solidFill>
                  <a:srgbClr val="111827"/>
                </a:solidFill>
                <a:latin typeface="Consolas" pitchFamily="34" charset="0"/>
                <a:ea typeface="Consolas" pitchFamily="34" charset="-122"/>
                <a:cs typeface="Consolas" pitchFamily="34" charset="-120"/>
              </a:rPr>
              <a:t>  apartment: form.apartment,</a:t>
            </a:r>
            <a:endParaRPr lang="en-US" sz="1700" dirty="0"/>
          </a:p>
        </p:txBody>
      </p:sp>
      <p:sp>
        <p:nvSpPr>
          <p:cNvPr id="12" name="Text 10"/>
          <p:cNvSpPr txBox="1"/>
          <p:nvPr/>
        </p:nvSpPr>
        <p:spPr>
          <a:xfrm>
            <a:off x="685800" y="3319272"/>
            <a:ext cx="274320" cy="384048"/>
          </a:xfrm>
          <a:prstGeom prst="rect">
            <a:avLst/>
          </a:prstGeom>
          <a:noFill/>
          <a:ln/>
        </p:spPr>
        <p:txBody>
          <a:bodyPr wrap="square" lIns="0" tIns="0" rIns="0" bIns="0" rtlCol="0" anchor="ctr"/>
          <a:lstStyle/>
          <a:p>
            <a:pPr algn="l" indent="0" marL="0">
              <a:buNone/>
            </a:pPr>
            <a:endParaRPr lang="en-US" sz="1700" dirty="0"/>
          </a:p>
        </p:txBody>
      </p:sp>
      <p:sp>
        <p:nvSpPr>
          <p:cNvPr id="13" name="Text 11"/>
          <p:cNvSpPr txBox="1"/>
          <p:nvPr/>
        </p:nvSpPr>
        <p:spPr>
          <a:xfrm>
            <a:off x="960120" y="3319272"/>
            <a:ext cx="4800600" cy="384048"/>
          </a:xfrm>
          <a:prstGeom prst="rect">
            <a:avLst/>
          </a:prstGeom>
          <a:noFill/>
          <a:ln/>
        </p:spPr>
        <p:txBody>
          <a:bodyPr wrap="square" lIns="0" tIns="0" rIns="0" bIns="0" rtlCol="0" anchor="ctr"/>
          <a:lstStyle/>
          <a:p>
            <a:pPr algn="l" indent="0" marL="0">
              <a:buNone/>
            </a:pPr>
            <a:r>
              <a:rPr lang="en-US" sz="1700" dirty="0">
                <a:solidFill>
                  <a:srgbClr val="111827"/>
                </a:solidFill>
                <a:latin typeface="Consolas" pitchFamily="34" charset="0"/>
                <a:ea typeface="Consolas" pitchFamily="34" charset="-122"/>
                <a:cs typeface="Consolas" pitchFamily="34" charset="-120"/>
              </a:rPr>
              <a:t>};</a:t>
            </a:r>
            <a:endParaRPr lang="en-US" sz="1700" dirty="0"/>
          </a:p>
        </p:txBody>
      </p:sp>
      <p:sp>
        <p:nvSpPr>
          <p:cNvPr id="14" name="Text 12"/>
          <p:cNvSpPr txBox="1"/>
          <p:nvPr/>
        </p:nvSpPr>
        <p:spPr>
          <a:xfrm>
            <a:off x="6263640" y="1463040"/>
            <a:ext cx="5349240" cy="411480"/>
          </a:xfrm>
          <a:prstGeom prst="rect">
            <a:avLst/>
          </a:prstGeom>
          <a:noFill/>
          <a:ln/>
        </p:spPr>
        <p:txBody>
          <a:bodyPr wrap="square" lIns="0" tIns="0" rIns="0" bIns="0" rtlCol="0" anchor="t"/>
          <a:lstStyle/>
          <a:p>
            <a:pPr algn="ctr" indent="0" marL="0">
              <a:buNone/>
            </a:pPr>
            <a:r>
              <a:rPr lang="en-US" sz="1800" b="1" dirty="0">
                <a:solidFill>
                  <a:srgbClr val="111827"/>
                </a:solidFill>
                <a:latin typeface="Consolas" pitchFamily="34" charset="0"/>
                <a:ea typeface="Consolas" pitchFamily="34" charset="-122"/>
                <a:cs typeface="Consolas" pitchFamily="34" charset="-120"/>
              </a:rPr>
              <a:t>Ihminen kirjoitti</a:t>
            </a:r>
            <a:endParaRPr lang="en-US" sz="1800" dirty="0"/>
          </a:p>
        </p:txBody>
      </p:sp>
      <p:sp>
        <p:nvSpPr>
          <p:cNvPr id="15" name="Koodikortti"/>
          <p:cNvSpPr/>
          <p:nvPr/>
        </p:nvSpPr>
        <p:spPr>
          <a:xfrm>
            <a:off x="6263640" y="1965960"/>
            <a:ext cx="5349240" cy="2011680"/>
          </a:xfrm>
          <a:prstGeom prst="roundRect">
            <a:avLst>
              <a:gd name="adj" fmla="val 4545"/>
            </a:avLst>
          </a:prstGeom>
          <a:solidFill>
            <a:srgbClr val="F6F8FA"/>
          </a:solidFill>
          <a:ln w="12700">
            <a:solidFill>
              <a:srgbClr val="D0D7DE"/>
            </a:solidFill>
            <a:prstDash val="solid"/>
          </a:ln>
        </p:spPr>
      </p:sp>
      <p:sp>
        <p:nvSpPr>
          <p:cNvPr id="16" name="Text 14"/>
          <p:cNvSpPr txBox="1"/>
          <p:nvPr/>
        </p:nvSpPr>
        <p:spPr>
          <a:xfrm>
            <a:off x="6400800" y="2167128"/>
            <a:ext cx="274320" cy="384048"/>
          </a:xfrm>
          <a:prstGeom prst="rect">
            <a:avLst/>
          </a:prstGeom>
          <a:noFill/>
          <a:ln/>
        </p:spPr>
        <p:txBody>
          <a:bodyPr wrap="square" lIns="0" tIns="0" rIns="0" bIns="0" rtlCol="0" anchor="ctr"/>
          <a:lstStyle/>
          <a:p>
            <a:pPr algn="l" indent="0" marL="0">
              <a:buNone/>
            </a:pPr>
            <a:endParaRPr lang="en-US" sz="1700" dirty="0"/>
          </a:p>
        </p:txBody>
      </p:sp>
      <p:sp>
        <p:nvSpPr>
          <p:cNvPr id="17" name="Text 15"/>
          <p:cNvSpPr txBox="1"/>
          <p:nvPr/>
        </p:nvSpPr>
        <p:spPr>
          <a:xfrm>
            <a:off x="6675120" y="2167128"/>
            <a:ext cx="4800600" cy="384048"/>
          </a:xfrm>
          <a:prstGeom prst="rect">
            <a:avLst/>
          </a:prstGeom>
          <a:noFill/>
          <a:ln/>
        </p:spPr>
        <p:txBody>
          <a:bodyPr wrap="square" lIns="0" tIns="0" rIns="0" bIns="0" rtlCol="0" anchor="ctr"/>
          <a:lstStyle/>
          <a:p>
            <a:pPr algn="l" indent="0" marL="0">
              <a:buNone/>
            </a:pPr>
            <a:r>
              <a:rPr lang="en-US" sz="1700" dirty="0">
                <a:solidFill>
                  <a:srgbClr val="111827"/>
                </a:solidFill>
                <a:latin typeface="Consolas" pitchFamily="34" charset="0"/>
                <a:ea typeface="Consolas" pitchFamily="34" charset="-122"/>
                <a:cs typeface="Consolas" pitchFamily="34" charset="-120"/>
              </a:rPr>
              <a:t>const payload = {</a:t>
            </a:r>
            <a:endParaRPr lang="en-US" sz="1700" dirty="0"/>
          </a:p>
        </p:txBody>
      </p:sp>
      <p:sp>
        <p:nvSpPr>
          <p:cNvPr id="18" name="Text 16"/>
          <p:cNvSpPr txBox="1"/>
          <p:nvPr/>
        </p:nvSpPr>
        <p:spPr>
          <a:xfrm>
            <a:off x="6400800" y="2551176"/>
            <a:ext cx="274320" cy="384048"/>
          </a:xfrm>
          <a:prstGeom prst="rect">
            <a:avLst/>
          </a:prstGeom>
          <a:noFill/>
          <a:ln/>
        </p:spPr>
        <p:txBody>
          <a:bodyPr wrap="square" lIns="0" tIns="0" rIns="0" bIns="0" rtlCol="0" anchor="ctr"/>
          <a:lstStyle/>
          <a:p>
            <a:pPr algn="l" indent="0" marL="0">
              <a:buNone/>
            </a:pPr>
            <a:endParaRPr lang="en-US" sz="1700" dirty="0"/>
          </a:p>
        </p:txBody>
      </p:sp>
      <p:sp>
        <p:nvSpPr>
          <p:cNvPr id="19" name="Text 17"/>
          <p:cNvSpPr txBox="1"/>
          <p:nvPr/>
        </p:nvSpPr>
        <p:spPr>
          <a:xfrm>
            <a:off x="6675120" y="2551176"/>
            <a:ext cx="4800600" cy="384048"/>
          </a:xfrm>
          <a:prstGeom prst="rect">
            <a:avLst/>
          </a:prstGeom>
          <a:noFill/>
          <a:ln/>
        </p:spPr>
        <p:txBody>
          <a:bodyPr wrap="square" lIns="0" tIns="0" rIns="0" bIns="0" rtlCol="0" anchor="ctr"/>
          <a:lstStyle/>
          <a:p>
            <a:pPr algn="l" indent="0" marL="0">
              <a:buNone/>
            </a:pPr>
            <a:r>
              <a:rPr lang="en-US" sz="1700" dirty="0">
                <a:solidFill>
                  <a:srgbClr val="111827"/>
                </a:solidFill>
                <a:latin typeface="Consolas" pitchFamily="34" charset="0"/>
                <a:ea typeface="Consolas" pitchFamily="34" charset="-122"/>
                <a:cs typeface="Consolas" pitchFamily="34" charset="-120"/>
              </a:rPr>
              <a:t>  street: form.street,</a:t>
            </a:r>
            <a:endParaRPr lang="en-US" sz="1700" dirty="0"/>
          </a:p>
        </p:txBody>
      </p:sp>
      <p:sp>
        <p:nvSpPr>
          <p:cNvPr id="20" name="Shape 18"/>
          <p:cNvSpPr/>
          <p:nvPr/>
        </p:nvSpPr>
        <p:spPr>
          <a:xfrm>
            <a:off x="6309360" y="2935224"/>
            <a:ext cx="5257800" cy="384048"/>
          </a:xfrm>
          <a:prstGeom prst="rect">
            <a:avLst/>
          </a:prstGeom>
          <a:solidFill>
            <a:srgbClr val="DAFBE1"/>
          </a:solidFill>
          <a:ln w="12700">
            <a:solidFill>
              <a:srgbClr val="DAFBE1"/>
            </a:solidFill>
            <a:prstDash val="solid"/>
          </a:ln>
        </p:spPr>
      </p:sp>
      <p:sp>
        <p:nvSpPr>
          <p:cNvPr id="21" name="Text 19"/>
          <p:cNvSpPr txBox="1"/>
          <p:nvPr/>
        </p:nvSpPr>
        <p:spPr>
          <a:xfrm>
            <a:off x="6400800" y="2935224"/>
            <a:ext cx="274320" cy="384048"/>
          </a:xfrm>
          <a:prstGeom prst="rect">
            <a:avLst/>
          </a:prstGeom>
          <a:noFill/>
          <a:ln/>
        </p:spPr>
        <p:txBody>
          <a:bodyPr wrap="square" lIns="0" tIns="0" rIns="0" bIns="0" rtlCol="0" anchor="ctr"/>
          <a:lstStyle/>
          <a:p>
            <a:pPr algn="l" indent="0" marL="0">
              <a:buNone/>
            </a:pPr>
            <a:r>
              <a:rPr lang="en-US" sz="1700" b="1" dirty="0">
                <a:solidFill>
                  <a:srgbClr val="1A7F37"/>
                </a:solidFill>
                <a:latin typeface="Consolas" pitchFamily="34" charset="0"/>
                <a:ea typeface="Consolas" pitchFamily="34" charset="-122"/>
                <a:cs typeface="Consolas" pitchFamily="34" charset="-120"/>
              </a:rPr>
              <a:t>+</a:t>
            </a:r>
            <a:endParaRPr lang="en-US" sz="1700" dirty="0"/>
          </a:p>
        </p:txBody>
      </p:sp>
      <p:sp>
        <p:nvSpPr>
          <p:cNvPr id="22" name="Text 20"/>
          <p:cNvSpPr txBox="1"/>
          <p:nvPr/>
        </p:nvSpPr>
        <p:spPr>
          <a:xfrm>
            <a:off x="6675120" y="2935224"/>
            <a:ext cx="4800600" cy="384048"/>
          </a:xfrm>
          <a:prstGeom prst="rect">
            <a:avLst/>
          </a:prstGeom>
          <a:noFill/>
          <a:ln/>
        </p:spPr>
        <p:txBody>
          <a:bodyPr wrap="square" lIns="0" tIns="0" rIns="0" bIns="0" rtlCol="0" anchor="ctr"/>
          <a:lstStyle/>
          <a:p>
            <a:pPr algn="l" indent="0" marL="0">
              <a:buNone/>
            </a:pPr>
            <a:r>
              <a:rPr lang="en-US" sz="1700" dirty="0">
                <a:solidFill>
                  <a:srgbClr val="111827"/>
                </a:solidFill>
                <a:latin typeface="Consolas" pitchFamily="34" charset="0"/>
                <a:ea typeface="Consolas" pitchFamily="34" charset="-122"/>
                <a:cs typeface="Consolas" pitchFamily="34" charset="-120"/>
              </a:rPr>
              <a:t>  apartment: form.apartment,</a:t>
            </a:r>
            <a:endParaRPr lang="en-US" sz="1700" dirty="0"/>
          </a:p>
        </p:txBody>
      </p:sp>
      <p:sp>
        <p:nvSpPr>
          <p:cNvPr id="23" name="Text 21"/>
          <p:cNvSpPr txBox="1"/>
          <p:nvPr/>
        </p:nvSpPr>
        <p:spPr>
          <a:xfrm>
            <a:off x="6400800" y="3319272"/>
            <a:ext cx="274320" cy="384048"/>
          </a:xfrm>
          <a:prstGeom prst="rect">
            <a:avLst/>
          </a:prstGeom>
          <a:noFill/>
          <a:ln/>
        </p:spPr>
        <p:txBody>
          <a:bodyPr wrap="square" lIns="0" tIns="0" rIns="0" bIns="0" rtlCol="0" anchor="ctr"/>
          <a:lstStyle/>
          <a:p>
            <a:pPr algn="l" indent="0" marL="0">
              <a:buNone/>
            </a:pPr>
            <a:endParaRPr lang="en-US" sz="1700" dirty="0"/>
          </a:p>
        </p:txBody>
      </p:sp>
      <p:sp>
        <p:nvSpPr>
          <p:cNvPr id="24" name="Text 22"/>
          <p:cNvSpPr txBox="1"/>
          <p:nvPr/>
        </p:nvSpPr>
        <p:spPr>
          <a:xfrm>
            <a:off x="6675120" y="3319272"/>
            <a:ext cx="4800600" cy="384048"/>
          </a:xfrm>
          <a:prstGeom prst="rect">
            <a:avLst/>
          </a:prstGeom>
          <a:noFill/>
          <a:ln/>
        </p:spPr>
        <p:txBody>
          <a:bodyPr wrap="square" lIns="0" tIns="0" rIns="0" bIns="0" rtlCol="0" anchor="ctr"/>
          <a:lstStyle/>
          <a:p>
            <a:pPr algn="l" indent="0" marL="0">
              <a:buNone/>
            </a:pPr>
            <a:r>
              <a:rPr lang="en-US" sz="1700" dirty="0">
                <a:solidFill>
                  <a:srgbClr val="111827"/>
                </a:solidFill>
                <a:latin typeface="Consolas" pitchFamily="34" charset="0"/>
                <a:ea typeface="Consolas" pitchFamily="34" charset="-122"/>
                <a:cs typeface="Consolas" pitchFamily="34" charset="-120"/>
              </a:rPr>
              <a:t>};</a:t>
            </a:r>
            <a:endParaRPr lang="en-US" sz="1700" dirty="0"/>
          </a:p>
        </p:txBody>
      </p:sp>
      <p:sp>
        <p:nvSpPr>
          <p:cNvPr id="25" name="Text 23"/>
          <p:cNvSpPr txBox="1"/>
          <p:nvPr/>
        </p:nvSpPr>
        <p:spPr>
          <a:xfrm>
            <a:off x="548640" y="4480560"/>
            <a:ext cx="11064240" cy="914400"/>
          </a:xfrm>
          <a:prstGeom prst="rect">
            <a:avLst/>
          </a:prstGeom>
          <a:noFill/>
          <a:ln/>
        </p:spPr>
        <p:txBody>
          <a:bodyPr wrap="square" lIns="0" tIns="0" rIns="0" bIns="0" rtlCol="0" anchor="ctr"/>
          <a:lstStyle/>
          <a:p>
            <a:pPr algn="ctr" indent="0" marL="0">
              <a:buNone/>
            </a:pPr>
            <a:r>
              <a:rPr lang="en-US" sz="4400" b="1" dirty="0">
                <a:solidFill>
                  <a:srgbClr val="111827"/>
                </a:solidFill>
                <a:latin typeface="Segoe UI" pitchFamily="34" charset="0"/>
                <a:ea typeface="Segoe UI" pitchFamily="34" charset="-122"/>
                <a:cs typeface="Segoe UI" pitchFamily="34" charset="-120"/>
              </a:rPr>
              <a:t>”Ne ovat sama PR.”</a:t>
            </a:r>
            <a:endParaRPr lang="en-US" sz="44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04 · täällä</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Suomen IT-ala ei mahdu yhteen käyrään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Toimialan tilannekuva, elokuu 2026</a:t>
            </a:r>
            <a:endParaRPr lang="en-US" sz="1800" dirty="0"/>
          </a:p>
        </p:txBody>
      </p:sp>
      <p:sp>
        <p:nvSpPr>
          <p:cNvPr id="5" name="Kortti"/>
          <p:cNvSpPr/>
          <p:nvPr/>
        </p:nvSpPr>
        <p:spPr>
          <a:xfrm>
            <a:off x="548640" y="1783080"/>
            <a:ext cx="347472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3108960" cy="1005840"/>
          </a:xfrm>
          <a:prstGeom prst="rect">
            <a:avLst/>
          </a:prstGeom>
          <a:noFill/>
          <a:ln/>
        </p:spPr>
        <p:txBody>
          <a:bodyPr wrap="square" lIns="0" tIns="0" rIns="0" bIns="0" rtlCol="0" anchor="ctr"/>
          <a:lstStyle/>
          <a:p>
            <a:pPr algn="l" indent="0" marL="0">
              <a:buNone/>
            </a:pPr>
            <a:r>
              <a:rPr lang="en-US" sz="4800" b="1" dirty="0">
                <a:solidFill>
                  <a:srgbClr val="2563EB"/>
                </a:solidFill>
                <a:latin typeface="Segoe UI" pitchFamily="34" charset="0"/>
                <a:ea typeface="Segoe UI" pitchFamily="34" charset="-122"/>
                <a:cs typeface="Segoe UI" pitchFamily="34" charset="-120"/>
              </a:rPr>
              <a:t>19 mrd €</a:t>
            </a:r>
            <a:endParaRPr lang="en-US" sz="4800" dirty="0"/>
          </a:p>
        </p:txBody>
      </p:sp>
      <p:sp>
        <p:nvSpPr>
          <p:cNvPr id="7" name="Text 5"/>
          <p:cNvSpPr txBox="1"/>
          <p:nvPr/>
        </p:nvSpPr>
        <p:spPr>
          <a:xfrm>
            <a:off x="822960" y="3063240"/>
            <a:ext cx="3017520" cy="822960"/>
          </a:xfrm>
          <a:prstGeom prst="rect">
            <a:avLst/>
          </a:prstGeom>
          <a:noFill/>
          <a:ln/>
        </p:spPr>
        <p:txBody>
          <a:bodyPr wrap="square" lIns="0" tIns="0" rIns="0" bIns="0" rtlCol="0" anchor="t"/>
          <a:lstStyle/>
          <a:p>
            <a:pPr algn="l" indent="0" marL="0">
              <a:buNone/>
            </a:pPr>
            <a:r>
              <a:rPr lang="en-US" sz="1900" b="1" dirty="0">
                <a:solidFill>
                  <a:srgbClr val="111827"/>
                </a:solidFill>
                <a:latin typeface="Segoe UI" pitchFamily="34" charset="0"/>
                <a:ea typeface="Segoe UI" pitchFamily="34" charset="-122"/>
                <a:cs typeface="Segoe UI" pitchFamily="34" charset="-120"/>
              </a:rPr>
              <a:t>liikevaihto 2025</a:t>
            </a:r>
            <a:endParaRPr lang="en-US" sz="1900" dirty="0"/>
          </a:p>
        </p:txBody>
      </p:sp>
      <p:sp>
        <p:nvSpPr>
          <p:cNvPr id="8" name="Text 6"/>
          <p:cNvSpPr txBox="1"/>
          <p:nvPr/>
        </p:nvSpPr>
        <p:spPr>
          <a:xfrm>
            <a:off x="822960" y="3977640"/>
            <a:ext cx="3017520" cy="548640"/>
          </a:xfrm>
          <a:prstGeom prst="rect">
            <a:avLst/>
          </a:prstGeom>
          <a:noFill/>
          <a:ln/>
        </p:spPr>
        <p:txBody>
          <a:bodyPr wrap="square" lIns="0" tIns="0" rIns="0" bIns="0" rtlCol="0" anchor="t"/>
          <a:lstStyle/>
          <a:p>
            <a:pPr algn="l" indent="0" marL="0">
              <a:buNone/>
            </a:pPr>
            <a:r>
              <a:rPr lang="en-US" sz="1300" dirty="0">
                <a:solidFill>
                  <a:srgbClr val="6B7280"/>
                </a:solidFill>
                <a:latin typeface="Consolas" pitchFamily="34" charset="0"/>
                <a:ea typeface="Consolas" pitchFamily="34" charset="-122"/>
                <a:cs typeface="Consolas" pitchFamily="34" charset="-120"/>
              </a:rPr>
              <a:t>+5 % vuodesta 2024</a:t>
            </a:r>
            <a:endParaRPr lang="en-US" sz="1300" dirty="0"/>
          </a:p>
        </p:txBody>
      </p:sp>
      <p:sp>
        <p:nvSpPr>
          <p:cNvPr id="9" name="Kortti"/>
          <p:cNvSpPr/>
          <p:nvPr/>
        </p:nvSpPr>
        <p:spPr>
          <a:xfrm>
            <a:off x="4297680" y="1783080"/>
            <a:ext cx="3474720" cy="3108960"/>
          </a:xfrm>
          <a:prstGeom prst="roundRect">
            <a:avLst>
              <a:gd name="adj" fmla="val 2941"/>
            </a:avLst>
          </a:prstGeom>
          <a:solidFill>
            <a:srgbClr val="FFFFFF"/>
          </a:solidFill>
          <a:ln w="12700">
            <a:solidFill>
              <a:srgbClr val="E5E7EB"/>
            </a:solidFill>
            <a:prstDash val="solid"/>
          </a:ln>
        </p:spPr>
      </p:sp>
      <p:sp>
        <p:nvSpPr>
          <p:cNvPr id="10" name="Text 8"/>
          <p:cNvSpPr txBox="1"/>
          <p:nvPr/>
        </p:nvSpPr>
        <p:spPr>
          <a:xfrm>
            <a:off x="4572000" y="2011680"/>
            <a:ext cx="3108960" cy="1005840"/>
          </a:xfrm>
          <a:prstGeom prst="rect">
            <a:avLst/>
          </a:prstGeom>
          <a:noFill/>
          <a:ln/>
        </p:spPr>
        <p:txBody>
          <a:bodyPr wrap="square" lIns="0" tIns="0" rIns="0" bIns="0" rtlCol="0" anchor="ctr"/>
          <a:lstStyle/>
          <a:p>
            <a:pPr algn="l" indent="0" marL="0">
              <a:buNone/>
            </a:pPr>
            <a:r>
              <a:rPr lang="en-US" sz="4800" b="1" dirty="0">
                <a:solidFill>
                  <a:srgbClr val="CF222E"/>
                </a:solidFill>
                <a:latin typeface="Segoe UI" pitchFamily="34" charset="0"/>
                <a:ea typeface="Segoe UI" pitchFamily="34" charset="-122"/>
                <a:cs typeface="Segoe UI" pitchFamily="34" charset="-120"/>
              </a:rPr>
              <a:t>−12 %</a:t>
            </a:r>
            <a:endParaRPr lang="en-US" sz="4800" dirty="0"/>
          </a:p>
        </p:txBody>
      </p:sp>
      <p:sp>
        <p:nvSpPr>
          <p:cNvPr id="11" name="Text 9"/>
          <p:cNvSpPr txBox="1"/>
          <p:nvPr/>
        </p:nvSpPr>
        <p:spPr>
          <a:xfrm>
            <a:off x="4572000" y="3063240"/>
            <a:ext cx="3017520" cy="822960"/>
          </a:xfrm>
          <a:prstGeom prst="rect">
            <a:avLst/>
          </a:prstGeom>
          <a:noFill/>
          <a:ln/>
        </p:spPr>
        <p:txBody>
          <a:bodyPr wrap="square" lIns="0" tIns="0" rIns="0" bIns="0" rtlCol="0" anchor="t"/>
          <a:lstStyle/>
          <a:p>
            <a:pPr algn="l" indent="0" marL="0">
              <a:buNone/>
            </a:pPr>
            <a:r>
              <a:rPr lang="en-US" sz="1900" b="1" dirty="0">
                <a:solidFill>
                  <a:srgbClr val="111827"/>
                </a:solidFill>
                <a:latin typeface="Segoe UI" pitchFamily="34" charset="0"/>
                <a:ea typeface="Segoe UI" pitchFamily="34" charset="-122"/>
                <a:cs typeface="Segoe UI" pitchFamily="34" charset="-120"/>
              </a:rPr>
              <a:t>uudet tilaukset Q2 vs. Q1</a:t>
            </a:r>
            <a:endParaRPr lang="en-US" sz="1900" dirty="0"/>
          </a:p>
        </p:txBody>
      </p:sp>
      <p:sp>
        <p:nvSpPr>
          <p:cNvPr id="12" name="Text 10"/>
          <p:cNvSpPr txBox="1"/>
          <p:nvPr/>
        </p:nvSpPr>
        <p:spPr>
          <a:xfrm>
            <a:off x="4572000" y="3977640"/>
            <a:ext cx="3017520" cy="548640"/>
          </a:xfrm>
          <a:prstGeom prst="rect">
            <a:avLst/>
          </a:prstGeom>
          <a:noFill/>
          <a:ln/>
        </p:spPr>
        <p:txBody>
          <a:bodyPr wrap="square" lIns="0" tIns="0" rIns="0" bIns="0" rtlCol="0" anchor="t"/>
          <a:lstStyle/>
          <a:p>
            <a:pPr algn="l" indent="0" marL="0">
              <a:buNone/>
            </a:pPr>
            <a:r>
              <a:rPr lang="en-US" sz="1300" dirty="0">
                <a:solidFill>
                  <a:srgbClr val="6B7280"/>
                </a:solidFill>
                <a:latin typeface="Consolas" pitchFamily="34" charset="0"/>
                <a:ea typeface="Consolas" pitchFamily="34" charset="-122"/>
                <a:cs typeface="Consolas" pitchFamily="34" charset="-120"/>
              </a:rPr>
              <a:t>+6 % vuoden takaiseen</a:t>
            </a:r>
            <a:endParaRPr lang="en-US" sz="1300" dirty="0"/>
          </a:p>
        </p:txBody>
      </p:sp>
      <p:sp>
        <p:nvSpPr>
          <p:cNvPr id="13" name="Kortti"/>
          <p:cNvSpPr/>
          <p:nvPr/>
        </p:nvSpPr>
        <p:spPr>
          <a:xfrm>
            <a:off x="8046720" y="1783080"/>
            <a:ext cx="3474720" cy="3108960"/>
          </a:xfrm>
          <a:prstGeom prst="roundRect">
            <a:avLst>
              <a:gd name="adj" fmla="val 2941"/>
            </a:avLst>
          </a:prstGeom>
          <a:solidFill>
            <a:srgbClr val="FFFFFF"/>
          </a:solidFill>
          <a:ln w="12700">
            <a:solidFill>
              <a:srgbClr val="E5E7EB"/>
            </a:solidFill>
            <a:prstDash val="solid"/>
          </a:ln>
        </p:spPr>
      </p:sp>
      <p:sp>
        <p:nvSpPr>
          <p:cNvPr id="14" name="Text 12"/>
          <p:cNvSpPr txBox="1"/>
          <p:nvPr/>
        </p:nvSpPr>
        <p:spPr>
          <a:xfrm>
            <a:off x="8321040" y="2011680"/>
            <a:ext cx="3108960" cy="1005840"/>
          </a:xfrm>
          <a:prstGeom prst="rect">
            <a:avLst/>
          </a:prstGeom>
          <a:noFill/>
          <a:ln/>
        </p:spPr>
        <p:txBody>
          <a:bodyPr wrap="square" lIns="0" tIns="0" rIns="0" bIns="0" rtlCol="0" anchor="ctr"/>
          <a:lstStyle/>
          <a:p>
            <a:pPr algn="l" indent="0" marL="0">
              <a:buNone/>
            </a:pPr>
            <a:r>
              <a:rPr lang="en-US" sz="4800" b="1" dirty="0">
                <a:solidFill>
                  <a:srgbClr val="2563EB"/>
                </a:solidFill>
                <a:latin typeface="Segoe UI" pitchFamily="34" charset="0"/>
                <a:ea typeface="Segoe UI" pitchFamily="34" charset="-122"/>
                <a:cs typeface="Segoe UI" pitchFamily="34" charset="-120"/>
              </a:rPr>
              <a:t>~80 200</a:t>
            </a:r>
            <a:endParaRPr lang="en-US" sz="4800" dirty="0"/>
          </a:p>
        </p:txBody>
      </p:sp>
      <p:sp>
        <p:nvSpPr>
          <p:cNvPr id="15" name="Text 13"/>
          <p:cNvSpPr txBox="1"/>
          <p:nvPr/>
        </p:nvSpPr>
        <p:spPr>
          <a:xfrm>
            <a:off x="8321040" y="3063240"/>
            <a:ext cx="3017520" cy="822960"/>
          </a:xfrm>
          <a:prstGeom prst="rect">
            <a:avLst/>
          </a:prstGeom>
          <a:noFill/>
          <a:ln/>
        </p:spPr>
        <p:txBody>
          <a:bodyPr wrap="square" lIns="0" tIns="0" rIns="0" bIns="0" rtlCol="0" anchor="t"/>
          <a:lstStyle/>
          <a:p>
            <a:pPr algn="l" indent="0" marL="0">
              <a:buNone/>
            </a:pPr>
            <a:r>
              <a:rPr lang="en-US" sz="1900" b="1" dirty="0">
                <a:solidFill>
                  <a:srgbClr val="111827"/>
                </a:solidFill>
                <a:latin typeface="Segoe UI" pitchFamily="34" charset="0"/>
                <a:ea typeface="Segoe UI" pitchFamily="34" charset="-122"/>
                <a:cs typeface="Segoe UI" pitchFamily="34" charset="-120"/>
              </a:rPr>
              <a:t>työntekijää kesäkuun lopussa</a:t>
            </a:r>
            <a:endParaRPr lang="en-US" sz="1900" dirty="0"/>
          </a:p>
        </p:txBody>
      </p:sp>
      <p:sp>
        <p:nvSpPr>
          <p:cNvPr id="16" name="Text 14"/>
          <p:cNvSpPr txBox="1"/>
          <p:nvPr/>
        </p:nvSpPr>
        <p:spPr>
          <a:xfrm>
            <a:off x="8321040" y="3977640"/>
            <a:ext cx="3017520" cy="548640"/>
          </a:xfrm>
          <a:prstGeom prst="rect">
            <a:avLst/>
          </a:prstGeom>
          <a:noFill/>
          <a:ln/>
        </p:spPr>
        <p:txBody>
          <a:bodyPr wrap="square" lIns="0" tIns="0" rIns="0" bIns="0" rtlCol="0" anchor="t"/>
          <a:lstStyle/>
          <a:p>
            <a:pPr algn="l" indent="0" marL="0">
              <a:buNone/>
            </a:pPr>
            <a:r>
              <a:rPr lang="en-US" sz="1300" dirty="0">
                <a:solidFill>
                  <a:srgbClr val="6B7280"/>
                </a:solidFill>
                <a:latin typeface="Consolas" pitchFamily="34" charset="0"/>
                <a:ea typeface="Consolas" pitchFamily="34" charset="-122"/>
                <a:cs typeface="Consolas" pitchFamily="34" charset="-120"/>
              </a:rPr>
              <a:t>−1 % maaliskuun lopusta</a:t>
            </a:r>
            <a:endParaRPr lang="en-US" sz="1300" dirty="0"/>
          </a:p>
        </p:txBody>
      </p:sp>
      <p:sp>
        <p:nvSpPr>
          <p:cNvPr id="17"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Paine on todellinen. Syy ei ole yksi.</a:t>
            </a:r>
            <a:endParaRPr lang="en-US" sz="2000" dirty="0"/>
          </a:p>
        </p:txBody>
      </p:sp>
      <p:sp>
        <p:nvSpPr>
          <p:cNvPr id="18"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Teknologiateollisuus, tietotekniikka-ala, elokuun 2026 katsaus · tilauskysely ei sisällä peli- ja datakeskusyrityksiä · PÄIVITÄ ennen tilaisuutta.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04 · täällä</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Monessako yrityksessä AI on käytössä?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Vähintään 10 hengen yritykset Suomessa, kevät 2025</a:t>
            </a:r>
            <a:endParaRPr lang="en-US" sz="1800" dirty="0"/>
          </a:p>
        </p:txBody>
      </p:sp>
      <p:graphicFrame>
        <p:nvGraphicFramePr>
          <p:cNvPr id="5" name="Chart 0" descr=""/>
          <p:cNvGraphicFramePr/>
          <p:nvPr/>
        </p:nvGraphicFramePr>
        <p:xfrm>
          <a:off x="457200" y="1737360"/>
          <a:ext cx="8229600" cy="3657600"/>
        </p:xfrm>
        <a:graphic xmlns:a="http://schemas.openxmlformats.org/drawingml/2006/main">
          <a:graphicData uri="http://schemas.openxmlformats.org/drawingml/2006/chart">
            <c:chart xmlns:c="http://schemas.openxmlformats.org/drawingml/2006/chart" r:id="rId1"/>
          </a:graphicData>
        </a:graphic>
      </p:graphicFrame>
      <p:sp>
        <p:nvSpPr>
          <p:cNvPr id="6" name="Kortti"/>
          <p:cNvSpPr/>
          <p:nvPr/>
        </p:nvSpPr>
        <p:spPr>
          <a:xfrm>
            <a:off x="8869680" y="2103120"/>
            <a:ext cx="2743200" cy="1554480"/>
          </a:xfrm>
          <a:prstGeom prst="roundRect">
            <a:avLst>
              <a:gd name="adj" fmla="val 5882"/>
            </a:avLst>
          </a:prstGeom>
          <a:solidFill>
            <a:srgbClr val="EFF6FF"/>
          </a:solidFill>
          <a:ln w="12700">
            <a:solidFill>
              <a:srgbClr val="BFDBFE"/>
            </a:solidFill>
            <a:prstDash val="solid"/>
          </a:ln>
        </p:spPr>
      </p:sp>
      <p:sp>
        <p:nvSpPr>
          <p:cNvPr id="7" name="Text 4"/>
          <p:cNvSpPr txBox="1"/>
          <p:nvPr/>
        </p:nvSpPr>
        <p:spPr>
          <a:xfrm>
            <a:off x="9098280" y="2249424"/>
            <a:ext cx="22860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arvaa</a:t>
            </a:r>
            <a:endParaRPr lang="en-US" sz="1200" dirty="0"/>
          </a:p>
        </p:txBody>
      </p:sp>
      <p:sp>
        <p:nvSpPr>
          <p:cNvPr id="8" name="Text 5"/>
          <p:cNvSpPr txBox="1"/>
          <p:nvPr/>
        </p:nvSpPr>
        <p:spPr>
          <a:xfrm>
            <a:off x="9098280" y="2542032"/>
            <a:ext cx="2286000" cy="1005840"/>
          </a:xfrm>
          <a:prstGeom prst="rect">
            <a:avLst/>
          </a:prstGeom>
          <a:noFill/>
          <a:ln/>
        </p:spPr>
        <p:txBody>
          <a:bodyPr wrap="square" lIns="0" tIns="0" rIns="0" bIns="0" rtlCol="0" anchor="ctr"/>
          <a:lstStyle/>
          <a:p>
            <a:pPr algn="l" indent="0" marL="0">
              <a:buNone/>
            </a:pPr>
            <a:r>
              <a:rPr lang="en-US" sz="2400" b="1" dirty="0">
                <a:solidFill>
                  <a:srgbClr val="111827"/>
                </a:solidFill>
                <a:latin typeface="Segoe UI" pitchFamily="34" charset="0"/>
                <a:ea typeface="Segoe UI" pitchFamily="34" charset="-122"/>
                <a:cs typeface="Segoe UI" pitchFamily="34" charset="-120"/>
              </a:rPr>
              <a:t>Rakentaminen?</a:t>
            </a:r>
            <a:endParaRPr lang="en-US" sz="2400" dirty="0"/>
          </a:p>
        </p:txBody>
      </p:sp>
      <p:sp>
        <p:nvSpPr>
          <p:cNvPr id="9"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Tilastokeskus 27.11.2025 · laaja AI-määritelmä · itse ilmoitettu · koko maa, ei Etelä-Pohjanmaa.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04 · täällä</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Monessako yrityksessä AI on käytössä?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Vähintään 10 hengen yritykset Suomessa, kevät 2025</a:t>
            </a:r>
            <a:endParaRPr lang="en-US" sz="1800" dirty="0"/>
          </a:p>
        </p:txBody>
      </p:sp>
      <p:graphicFrame>
        <p:nvGraphicFramePr>
          <p:cNvPr id="5" name="Chart 0" descr=""/>
          <p:cNvGraphicFramePr/>
          <p:nvPr/>
        </p:nvGraphicFramePr>
        <p:xfrm>
          <a:off x="457200" y="1737360"/>
          <a:ext cx="8229600" cy="3657600"/>
        </p:xfrm>
        <a:graphic xmlns:a="http://schemas.openxmlformats.org/drawingml/2006/main">
          <a:graphicData uri="http://schemas.openxmlformats.org/drawingml/2006/chart">
            <c:chart xmlns:c="http://schemas.openxmlformats.org/drawingml/2006/chart" r:id="rId1"/>
          </a:graphicData>
        </a:graphic>
      </p:graphicFrame>
      <p:sp>
        <p:nvSpPr>
          <p:cNvPr id="6" name="Kortti"/>
          <p:cNvSpPr/>
          <p:nvPr/>
        </p:nvSpPr>
        <p:spPr>
          <a:xfrm>
            <a:off x="8869680" y="2103120"/>
            <a:ext cx="2743200" cy="2194560"/>
          </a:xfrm>
          <a:prstGeom prst="roundRect">
            <a:avLst>
              <a:gd name="adj" fmla="val 4167"/>
            </a:avLst>
          </a:prstGeom>
          <a:solidFill>
            <a:srgbClr val="FFFFFF"/>
          </a:solidFill>
          <a:ln w="12700">
            <a:solidFill>
              <a:srgbClr val="E5E7EB"/>
            </a:solidFill>
            <a:prstDash val="solid"/>
          </a:ln>
        </p:spPr>
      </p:sp>
      <p:sp>
        <p:nvSpPr>
          <p:cNvPr id="7" name="Text 4"/>
          <p:cNvSpPr txBox="1"/>
          <p:nvPr/>
        </p:nvSpPr>
        <p:spPr>
          <a:xfrm>
            <a:off x="9098280" y="2240280"/>
            <a:ext cx="2377440" cy="777240"/>
          </a:xfrm>
          <a:prstGeom prst="rect">
            <a:avLst/>
          </a:prstGeom>
          <a:noFill/>
          <a:ln/>
        </p:spPr>
        <p:txBody>
          <a:bodyPr wrap="square" lIns="0" tIns="0" rIns="0" bIns="0" rtlCol="0" anchor="t"/>
          <a:lstStyle/>
          <a:p>
            <a:pPr algn="l" indent="0" marL="0">
              <a:buNone/>
            </a:pPr>
            <a:r>
              <a:rPr lang="en-US" sz="4000" b="1" dirty="0">
                <a:solidFill>
                  <a:srgbClr val="2563EB"/>
                </a:solidFill>
                <a:latin typeface="Segoe UI" pitchFamily="34" charset="0"/>
                <a:ea typeface="Segoe UI" pitchFamily="34" charset="-122"/>
                <a:cs typeface="Segoe UI" pitchFamily="34" charset="-120"/>
              </a:rPr>
              <a:t>15 %</a:t>
            </a:r>
            <a:endParaRPr lang="en-US" sz="4000" dirty="0"/>
          </a:p>
        </p:txBody>
      </p:sp>
      <p:sp>
        <p:nvSpPr>
          <p:cNvPr id="8" name="Text 5"/>
          <p:cNvSpPr txBox="1"/>
          <p:nvPr/>
        </p:nvSpPr>
        <p:spPr>
          <a:xfrm>
            <a:off x="9098280" y="3017520"/>
            <a:ext cx="2377440" cy="1097280"/>
          </a:xfrm>
          <a:prstGeom prst="rect">
            <a:avLst/>
          </a:prstGeom>
          <a:noFill/>
          <a:ln/>
        </p:spPr>
        <p:txBody>
          <a:bodyPr wrap="square" lIns="0" tIns="0" rIns="0" bIns="0" rtlCol="0" anchor="t"/>
          <a:lstStyle/>
          <a:p>
            <a:pPr algn="l" indent="0" marL="0">
              <a:buNone/>
            </a:pPr>
            <a:r>
              <a:rPr lang="en-US" sz="1600" dirty="0">
                <a:solidFill>
                  <a:srgbClr val="111827"/>
                </a:solidFill>
                <a:latin typeface="Segoe UI" pitchFamily="34" charset="0"/>
                <a:ea typeface="Segoe UI" pitchFamily="34" charset="-122"/>
                <a:cs typeface="Segoe UI" pitchFamily="34" charset="-120"/>
              </a:rPr>
              <a:t>yrityksistä on dokumentoidut AI-ohjeet</a:t>
            </a:r>
            <a:endParaRPr lang="en-US" sz="1600" dirty="0"/>
          </a:p>
        </p:txBody>
      </p:sp>
      <p:sp>
        <p:nvSpPr>
          <p:cNvPr id="9"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Asiakkaan pullonkaula ei välttämättä ole mallin älykkyys.</a:t>
            </a:r>
            <a:endParaRPr lang="en-US" sz="2000" dirty="0"/>
          </a:p>
        </p:txBody>
      </p:sp>
      <p:sp>
        <p:nvSpPr>
          <p:cNvPr id="10"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Tilastokeskus 27.11.2025 · laaja AI-määritelmä · itse ilmoitettu · koko maa, ei Etelä-Pohjanmaa.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04 · täällä</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Mitä täällä kannattaa nyt rakentaa?</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Kun koodi halpenee, mikä lähellä on arvokasta?</a:t>
            </a:r>
            <a:endParaRPr lang="en-US" sz="1800" dirty="0"/>
          </a:p>
        </p:txBody>
      </p:sp>
      <p:sp>
        <p:nvSpPr>
          <p:cNvPr id="5" name="Shape 3"/>
          <p:cNvSpPr/>
          <p:nvPr/>
        </p:nvSpPr>
        <p:spPr>
          <a:xfrm>
            <a:off x="548640" y="1783080"/>
            <a:ext cx="658368" cy="658368"/>
          </a:xfrm>
          <a:prstGeom prst="ellipse">
            <a:avLst/>
          </a:prstGeom>
          <a:solidFill>
            <a:srgbClr val="EFF6FF"/>
          </a:solidFill>
          <a:ln w="12700">
            <a:solidFill>
              <a:srgbClr val="EFF6FF"/>
            </a:solidFill>
            <a:prstDash val="solid"/>
          </a:ln>
        </p:spPr>
      </p:sp>
      <p:pic>
        <p:nvPicPr>
          <p:cNvPr id="6" name="Image 0" descr="preencoded.png">    </p:cNvPr>
          <p:cNvPicPr>
            <a:picLocks noChangeAspect="1"/>
          </p:cNvPicPr>
          <p:nvPr/>
        </p:nvPicPr>
        <p:blipFill>
          <a:blip r:embed="rId1"/>
          <a:stretch>
            <a:fillRect/>
          </a:stretch>
        </p:blipFill>
        <p:spPr>
          <a:xfrm>
            <a:off x="706648" y="1941088"/>
            <a:ext cx="342351" cy="342351"/>
          </a:xfrm>
          <a:prstGeom prst="rect">
            <a:avLst/>
          </a:prstGeom>
        </p:spPr>
      </p:pic>
      <p:sp>
        <p:nvSpPr>
          <p:cNvPr id="7" name="Text 4"/>
          <p:cNvSpPr txBox="1"/>
          <p:nvPr/>
        </p:nvSpPr>
        <p:spPr>
          <a:xfrm>
            <a:off x="1417320" y="1783080"/>
            <a:ext cx="4389120" cy="658368"/>
          </a:xfrm>
          <a:prstGeom prst="rect">
            <a:avLst/>
          </a:prstGeom>
          <a:noFill/>
          <a:ln/>
        </p:spPr>
        <p:txBody>
          <a:bodyPr wrap="square" lIns="0" tIns="0" rIns="0" bIns="0" rtlCol="0" anchor="ctr"/>
          <a:lstStyle/>
          <a:p>
            <a:pPr algn="l" indent="0" marL="0">
              <a:buNone/>
            </a:pPr>
            <a:r>
              <a:rPr lang="en-US" sz="2200" b="1" dirty="0">
                <a:solidFill>
                  <a:srgbClr val="111827"/>
                </a:solidFill>
                <a:latin typeface="Segoe UI" pitchFamily="34" charset="0"/>
                <a:ea typeface="Segoe UI" pitchFamily="34" charset="-122"/>
                <a:cs typeface="Segoe UI" pitchFamily="34" charset="-120"/>
              </a:rPr>
              <a:t>Tunne oikea työ</a:t>
            </a:r>
            <a:endParaRPr lang="en-US" sz="2200" dirty="0"/>
          </a:p>
        </p:txBody>
      </p:sp>
      <p:sp>
        <p:nvSpPr>
          <p:cNvPr id="8" name="Shape 5"/>
          <p:cNvSpPr/>
          <p:nvPr/>
        </p:nvSpPr>
        <p:spPr>
          <a:xfrm>
            <a:off x="548640" y="2651760"/>
            <a:ext cx="658368" cy="658368"/>
          </a:xfrm>
          <a:prstGeom prst="ellipse">
            <a:avLst/>
          </a:prstGeom>
          <a:solidFill>
            <a:srgbClr val="EFF6FF"/>
          </a:solidFill>
          <a:ln w="12700">
            <a:solidFill>
              <a:srgbClr val="EFF6FF"/>
            </a:solidFill>
            <a:prstDash val="solid"/>
          </a:ln>
        </p:spPr>
      </p:sp>
      <p:pic>
        <p:nvPicPr>
          <p:cNvPr id="9" name="Image 1" descr="preencoded.png">    </p:cNvPr>
          <p:cNvPicPr>
            <a:picLocks noChangeAspect="1"/>
          </p:cNvPicPr>
          <p:nvPr/>
        </p:nvPicPr>
        <p:blipFill>
          <a:blip r:embed="rId2"/>
          <a:stretch>
            <a:fillRect/>
          </a:stretch>
        </p:blipFill>
        <p:spPr>
          <a:xfrm>
            <a:off x="706648" y="2809768"/>
            <a:ext cx="342351" cy="342351"/>
          </a:xfrm>
          <a:prstGeom prst="rect">
            <a:avLst/>
          </a:prstGeom>
        </p:spPr>
      </p:pic>
      <p:sp>
        <p:nvSpPr>
          <p:cNvPr id="10" name="Text 6"/>
          <p:cNvSpPr txBox="1"/>
          <p:nvPr/>
        </p:nvSpPr>
        <p:spPr>
          <a:xfrm>
            <a:off x="1417320" y="2651760"/>
            <a:ext cx="4389120" cy="658368"/>
          </a:xfrm>
          <a:prstGeom prst="rect">
            <a:avLst/>
          </a:prstGeom>
          <a:noFill/>
          <a:ln/>
        </p:spPr>
        <p:txBody>
          <a:bodyPr wrap="square" lIns="0" tIns="0" rIns="0" bIns="0" rtlCol="0" anchor="ctr"/>
          <a:lstStyle/>
          <a:p>
            <a:pPr algn="l" indent="0" marL="0">
              <a:buNone/>
            </a:pPr>
            <a:r>
              <a:rPr lang="en-US" sz="2200" b="1" dirty="0">
                <a:solidFill>
                  <a:srgbClr val="111827"/>
                </a:solidFill>
                <a:latin typeface="Segoe UI" pitchFamily="34" charset="0"/>
                <a:ea typeface="Segoe UI" pitchFamily="34" charset="-122"/>
                <a:cs typeface="Segoe UI" pitchFamily="34" charset="-120"/>
              </a:rPr>
              <a:t>Pääse käyttäjien luo</a:t>
            </a:r>
            <a:endParaRPr lang="en-US" sz="2200" dirty="0"/>
          </a:p>
        </p:txBody>
      </p:sp>
      <p:sp>
        <p:nvSpPr>
          <p:cNvPr id="11" name="Shape 7"/>
          <p:cNvSpPr/>
          <p:nvPr/>
        </p:nvSpPr>
        <p:spPr>
          <a:xfrm>
            <a:off x="548640" y="3520440"/>
            <a:ext cx="658368" cy="658368"/>
          </a:xfrm>
          <a:prstGeom prst="ellipse">
            <a:avLst/>
          </a:prstGeom>
          <a:solidFill>
            <a:srgbClr val="EFF6FF"/>
          </a:solidFill>
          <a:ln w="12700">
            <a:solidFill>
              <a:srgbClr val="EFF6FF"/>
            </a:solidFill>
            <a:prstDash val="solid"/>
          </a:ln>
        </p:spPr>
      </p:sp>
      <p:pic>
        <p:nvPicPr>
          <p:cNvPr id="12" name="Image 2" descr="preencoded.png">    </p:cNvPr>
          <p:cNvPicPr>
            <a:picLocks noChangeAspect="1"/>
          </p:cNvPicPr>
          <p:nvPr/>
        </p:nvPicPr>
        <p:blipFill>
          <a:blip r:embed="rId3"/>
          <a:stretch>
            <a:fillRect/>
          </a:stretch>
        </p:blipFill>
        <p:spPr>
          <a:xfrm>
            <a:off x="706648" y="3678448"/>
            <a:ext cx="342351" cy="342351"/>
          </a:xfrm>
          <a:prstGeom prst="rect">
            <a:avLst/>
          </a:prstGeom>
        </p:spPr>
      </p:pic>
      <p:sp>
        <p:nvSpPr>
          <p:cNvPr id="13" name="Text 8"/>
          <p:cNvSpPr txBox="1"/>
          <p:nvPr/>
        </p:nvSpPr>
        <p:spPr>
          <a:xfrm>
            <a:off x="1417320" y="3520440"/>
            <a:ext cx="4389120" cy="658368"/>
          </a:xfrm>
          <a:prstGeom prst="rect">
            <a:avLst/>
          </a:prstGeom>
          <a:noFill/>
          <a:ln/>
        </p:spPr>
        <p:txBody>
          <a:bodyPr wrap="square" lIns="0" tIns="0" rIns="0" bIns="0" rtlCol="0" anchor="ctr"/>
          <a:lstStyle/>
          <a:p>
            <a:pPr algn="l" indent="0" marL="0">
              <a:buNone/>
            </a:pPr>
            <a:r>
              <a:rPr lang="en-US" sz="2200" b="1" dirty="0">
                <a:solidFill>
                  <a:srgbClr val="111827"/>
                </a:solidFill>
                <a:latin typeface="Segoe UI" pitchFamily="34" charset="0"/>
                <a:ea typeface="Segoe UI" pitchFamily="34" charset="-122"/>
                <a:cs typeface="Segoe UI" pitchFamily="34" charset="-120"/>
              </a:rPr>
              <a:t>Liitä nykyisiin järjestelmiin</a:t>
            </a:r>
            <a:endParaRPr lang="en-US" sz="2200" dirty="0"/>
          </a:p>
        </p:txBody>
      </p:sp>
      <p:sp>
        <p:nvSpPr>
          <p:cNvPr id="14" name="Shape 9"/>
          <p:cNvSpPr/>
          <p:nvPr/>
        </p:nvSpPr>
        <p:spPr>
          <a:xfrm>
            <a:off x="548640" y="4389120"/>
            <a:ext cx="658368" cy="658368"/>
          </a:xfrm>
          <a:prstGeom prst="ellipse">
            <a:avLst/>
          </a:prstGeom>
          <a:solidFill>
            <a:srgbClr val="EFF6FF"/>
          </a:solidFill>
          <a:ln w="12700">
            <a:solidFill>
              <a:srgbClr val="EFF6FF"/>
            </a:solidFill>
            <a:prstDash val="solid"/>
          </a:ln>
        </p:spPr>
      </p:sp>
      <p:pic>
        <p:nvPicPr>
          <p:cNvPr id="15" name="Image 3" descr="preencoded.png">    </p:cNvPr>
          <p:cNvPicPr>
            <a:picLocks noChangeAspect="1"/>
          </p:cNvPicPr>
          <p:nvPr/>
        </p:nvPicPr>
        <p:blipFill>
          <a:blip r:embed="rId4"/>
          <a:stretch>
            <a:fillRect/>
          </a:stretch>
        </p:blipFill>
        <p:spPr>
          <a:xfrm>
            <a:off x="706648" y="4547128"/>
            <a:ext cx="342351" cy="342351"/>
          </a:xfrm>
          <a:prstGeom prst="rect">
            <a:avLst/>
          </a:prstGeom>
        </p:spPr>
      </p:pic>
      <p:sp>
        <p:nvSpPr>
          <p:cNvPr id="16" name="Text 10"/>
          <p:cNvSpPr txBox="1"/>
          <p:nvPr/>
        </p:nvSpPr>
        <p:spPr>
          <a:xfrm>
            <a:off x="1417320" y="4389120"/>
            <a:ext cx="4389120" cy="658368"/>
          </a:xfrm>
          <a:prstGeom prst="rect">
            <a:avLst/>
          </a:prstGeom>
          <a:noFill/>
          <a:ln/>
        </p:spPr>
        <p:txBody>
          <a:bodyPr wrap="square" lIns="0" tIns="0" rIns="0" bIns="0" rtlCol="0" anchor="ctr"/>
          <a:lstStyle/>
          <a:p>
            <a:pPr algn="l" indent="0" marL="0">
              <a:buNone/>
            </a:pPr>
            <a:r>
              <a:rPr lang="en-US" sz="2200" b="1" dirty="0">
                <a:solidFill>
                  <a:srgbClr val="111827"/>
                </a:solidFill>
                <a:latin typeface="Segoe UI" pitchFamily="34" charset="0"/>
                <a:ea typeface="Segoe UI" pitchFamily="34" charset="-122"/>
                <a:cs typeface="Segoe UI" pitchFamily="34" charset="-120"/>
              </a:rPr>
              <a:t>Tue käytössä</a:t>
            </a:r>
            <a:endParaRPr lang="en-US" sz="2200" dirty="0"/>
          </a:p>
        </p:txBody>
      </p:sp>
      <p:sp>
        <p:nvSpPr>
          <p:cNvPr id="17" name="Kortti"/>
          <p:cNvSpPr/>
          <p:nvPr/>
        </p:nvSpPr>
        <p:spPr>
          <a:xfrm>
            <a:off x="6309360" y="1783080"/>
            <a:ext cx="5303520" cy="1828800"/>
          </a:xfrm>
          <a:prstGeom prst="roundRect">
            <a:avLst>
              <a:gd name="adj" fmla="val 5000"/>
            </a:avLst>
          </a:prstGeom>
          <a:solidFill>
            <a:srgbClr val="FFFFFF"/>
          </a:solidFill>
          <a:ln w="12700">
            <a:solidFill>
              <a:srgbClr val="E5E7EB"/>
            </a:solidFill>
            <a:prstDash val="solid"/>
          </a:ln>
        </p:spPr>
      </p:sp>
      <p:sp>
        <p:nvSpPr>
          <p:cNvPr id="18" name="Text 12"/>
          <p:cNvSpPr txBox="1"/>
          <p:nvPr/>
        </p:nvSpPr>
        <p:spPr>
          <a:xfrm>
            <a:off x="6537960" y="1920240"/>
            <a:ext cx="4846320" cy="914400"/>
          </a:xfrm>
          <a:prstGeom prst="rect">
            <a:avLst/>
          </a:prstGeom>
          <a:noFill/>
          <a:ln/>
        </p:spPr>
        <p:txBody>
          <a:bodyPr wrap="square" lIns="0" tIns="0" rIns="0" bIns="0" rtlCol="0" anchor="t"/>
          <a:lstStyle/>
          <a:p>
            <a:pPr algn="l" indent="0" marL="0">
              <a:buNone/>
            </a:pPr>
            <a:r>
              <a:rPr lang="en-US" sz="1900" b="1" dirty="0">
                <a:solidFill>
                  <a:srgbClr val="111827"/>
                </a:solidFill>
                <a:latin typeface="Segoe UI" pitchFamily="34" charset="0"/>
                <a:ea typeface="Segoe UI" pitchFamily="34" charset="-122"/>
                <a:cs typeface="Segoe UI" pitchFamily="34" charset="-120"/>
              </a:rPr>
              <a:t>Asiakas ostaa myös käyttöönoton, hallinnan ja jatkuvuuden.</a:t>
            </a:r>
            <a:endParaRPr lang="en-US" sz="1900" dirty="0"/>
          </a:p>
        </p:txBody>
      </p:sp>
      <p:sp>
        <p:nvSpPr>
          <p:cNvPr id="19" name="Text 13"/>
          <p:cNvSpPr txBox="1"/>
          <p:nvPr/>
        </p:nvSpPr>
        <p:spPr>
          <a:xfrm>
            <a:off x="6537960" y="2788920"/>
            <a:ext cx="4846320" cy="731520"/>
          </a:xfrm>
          <a:prstGeom prst="rect">
            <a:avLst/>
          </a:prstGeom>
          <a:noFill/>
          <a:ln/>
        </p:spPr>
        <p:txBody>
          <a:bodyPr wrap="square" lIns="0" tIns="0" rIns="0" bIns="0" rtlCol="0" anchor="t"/>
          <a:lstStyle/>
          <a:p>
            <a:pPr algn="l" indent="0" marL="0">
              <a:buNone/>
            </a:pPr>
            <a:r>
              <a:rPr lang="en-US" sz="1200" dirty="0">
                <a:solidFill>
                  <a:srgbClr val="6B7280"/>
                </a:solidFill>
                <a:latin typeface="Consolas" pitchFamily="34" charset="0"/>
                <a:ea typeface="Consolas" pitchFamily="34" charset="-122"/>
                <a:cs typeface="Consolas" pitchFamily="34" charset="-120"/>
              </a:rPr>
              <a:t>esim. Gofore × Tampereen yliopisto: AI-alusta – arkkitehtuuri, toteutus, hallinta, ylläpito</a:t>
            </a:r>
            <a:endParaRPr lang="en-US" sz="1200" dirty="0"/>
          </a:p>
        </p:txBody>
      </p:sp>
      <p:pic>
        <p:nvPicPr>
          <p:cNvPr id="20" name="Image 4" descr="/Users/koodattu/Documents/GitHub/lakeus-devaus-2026/output/v3/assets/maintenance-illustration.png">    </p:cNvPr>
          <p:cNvPicPr>
            <a:picLocks noChangeAspect="1"/>
          </p:cNvPicPr>
          <p:nvPr/>
        </p:nvPicPr>
        <p:blipFill>
          <a:blip r:embed="rId5"/>
          <a:stretch>
            <a:fillRect/>
          </a:stretch>
        </p:blipFill>
        <p:spPr>
          <a:xfrm>
            <a:off x="6309360" y="3794760"/>
            <a:ext cx="1417320" cy="1417320"/>
          </a:xfrm>
          <a:prstGeom prst="rect">
            <a:avLst/>
          </a:prstGeom>
        </p:spPr>
      </p:pic>
      <p:sp>
        <p:nvSpPr>
          <p:cNvPr id="21" name="Text 14"/>
          <p:cNvSpPr txBox="1"/>
          <p:nvPr/>
        </p:nvSpPr>
        <p:spPr>
          <a:xfrm>
            <a:off x="7909560" y="3840480"/>
            <a:ext cx="3703320" cy="1325880"/>
          </a:xfrm>
          <a:prstGeom prst="rect">
            <a:avLst/>
          </a:prstGeom>
          <a:noFill/>
          <a:ln/>
        </p:spPr>
        <p:txBody>
          <a:bodyPr wrap="square" lIns="0" tIns="0" rIns="0" bIns="0" rtlCol="0" anchor="ctr"/>
          <a:lstStyle/>
          <a:p>
            <a:pPr algn="l" indent="0" marL="0">
              <a:buNone/>
            </a:pPr>
            <a:r>
              <a:rPr lang="en-US" sz="1500" i="1" dirty="0">
                <a:solidFill>
                  <a:srgbClr val="6B7280"/>
                </a:solidFill>
                <a:latin typeface="Segoe UI" pitchFamily="34" charset="0"/>
                <a:ea typeface="Segoe UI" pitchFamily="34" charset="-122"/>
                <a:cs typeface="Segoe UI" pitchFamily="34" charset="-120"/>
              </a:rPr>
              <a:t>Huoltokirjaus-kokeilu: kuka tietää, miten merkinnät tehdään ja minne ne päätyvät?</a:t>
            </a:r>
            <a:endParaRPr lang="en-US" sz="1500" dirty="0"/>
          </a:p>
        </p:txBody>
      </p:sp>
      <p:sp>
        <p:nvSpPr>
          <p:cNvPr id="22"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Mikä asiakkaan ongelma jää ratkaisematta, vaikka koodi olisi ilmaista?</a:t>
            </a:r>
            <a:endParaRPr lang="en-US" sz="2000" dirty="0"/>
          </a:p>
        </p:txBody>
      </p:sp>
      <p:sp>
        <p:nvSpPr>
          <p:cNvPr id="23"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esityksen tulkinta · Gofore, elokuun liiketoimintakatsaus 11.9.2026 · Lakeus-Devaus · SEAMK Testauspaja: River IT 9/2026 · kuvitteellinen esimerkki.</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731520" y="1097280"/>
            <a:ext cx="5486400" cy="457200"/>
          </a:xfrm>
          <a:prstGeom prst="rect">
            <a:avLst/>
          </a:prstGeom>
          <a:noFill/>
          <a:ln/>
        </p:spPr>
        <p:txBody>
          <a:bodyPr wrap="square" lIns="0" tIns="0" rIns="0" bIns="0" rtlCol="0" anchor="t"/>
          <a:lstStyle/>
          <a:p>
            <a:pPr algn="l" indent="0" marL="0">
              <a:buNone/>
            </a:pPr>
            <a:r>
              <a:rPr lang="en-US" sz="2000" b="1" dirty="0">
                <a:solidFill>
                  <a:srgbClr val="58A6FF"/>
                </a:solidFill>
                <a:latin typeface="Consolas" pitchFamily="34" charset="0"/>
                <a:ea typeface="Consolas" pitchFamily="34" charset="-122"/>
                <a:cs typeface="Consolas" pitchFamily="34" charset="-120"/>
              </a:rPr>
              <a:t>// 05 / 05</a:t>
            </a:r>
            <a:endParaRPr lang="en-US" sz="2000" dirty="0"/>
          </a:p>
        </p:txBody>
      </p:sp>
      <p:sp>
        <p:nvSpPr>
          <p:cNvPr id="3" name="Text 1"/>
          <p:cNvSpPr txBox="1"/>
          <p:nvPr/>
        </p:nvSpPr>
        <p:spPr>
          <a:xfrm>
            <a:off x="731520" y="1645920"/>
            <a:ext cx="10515600" cy="1645920"/>
          </a:xfrm>
          <a:prstGeom prst="rect">
            <a:avLst/>
          </a:prstGeom>
          <a:noFill/>
          <a:ln/>
        </p:spPr>
        <p:txBody>
          <a:bodyPr wrap="square" lIns="0" tIns="0" rIns="0" bIns="0" rtlCol="0" anchor="t"/>
          <a:lstStyle/>
          <a:p>
            <a:pPr algn="l" indent="0" marL="0">
              <a:buNone/>
            </a:pPr>
            <a:r>
              <a:rPr lang="en-US" sz="4400" b="1" dirty="0">
                <a:solidFill>
                  <a:srgbClr val="FFFFFF"/>
                </a:solidFill>
                <a:latin typeface="Segoe UI" pitchFamily="34" charset="0"/>
                <a:ea typeface="Segoe UI" pitchFamily="34" charset="-122"/>
                <a:cs typeface="Segoe UI" pitchFamily="34" charset="-120"/>
              </a:rPr>
              <a:t>Miten agentin kanssa tehdään oikeasti töitä?</a:t>
            </a:r>
            <a:endParaRPr lang="en-US" sz="4400" dirty="0"/>
          </a:p>
        </p:txBody>
      </p:sp>
      <p:sp>
        <p:nvSpPr>
          <p:cNvPr id="4" name="Text 2"/>
          <p:cNvSpPr txBox="1"/>
          <p:nvPr/>
        </p:nvSpPr>
        <p:spPr>
          <a:xfrm>
            <a:off x="731520" y="3794760"/>
            <a:ext cx="10515600" cy="365760"/>
          </a:xfrm>
          <a:prstGeom prst="rect">
            <a:avLst/>
          </a:prstGeom>
          <a:noFill/>
          <a:ln/>
        </p:spPr>
        <p:txBody>
          <a:bodyPr wrap="square" lIns="0" tIns="0" rIns="0" bIns="0" rtlCol="0" anchor="t"/>
          <a:lstStyle/>
          <a:p>
            <a:pPr algn="l" indent="0" marL="0">
              <a:buNone/>
            </a:pPr>
            <a:r>
              <a:rPr lang="en-US" sz="1500" dirty="0">
                <a:solidFill>
                  <a:srgbClr val="6E7681"/>
                </a:solidFill>
                <a:latin typeface="Consolas" pitchFamily="34" charset="0"/>
                <a:ea typeface="Consolas" pitchFamily="34" charset="-122"/>
                <a:cs typeface="Consolas" pitchFamily="34" charset="-120"/>
              </a:rPr>
              <a:t>01  Mikä ohjelmistokehityksessä oikeasti muuttui?</a:t>
            </a:r>
            <a:endParaRPr lang="en-US" sz="1500" dirty="0"/>
          </a:p>
        </p:txBody>
      </p:sp>
      <p:sp>
        <p:nvSpPr>
          <p:cNvPr id="5" name="Text 3"/>
          <p:cNvSpPr txBox="1"/>
          <p:nvPr/>
        </p:nvSpPr>
        <p:spPr>
          <a:xfrm>
            <a:off x="731520" y="4206240"/>
            <a:ext cx="10515600" cy="365760"/>
          </a:xfrm>
          <a:prstGeom prst="rect">
            <a:avLst/>
          </a:prstGeom>
          <a:noFill/>
          <a:ln/>
        </p:spPr>
        <p:txBody>
          <a:bodyPr wrap="square" lIns="0" tIns="0" rIns="0" bIns="0" rtlCol="0" anchor="t"/>
          <a:lstStyle/>
          <a:p>
            <a:pPr algn="l" indent="0" marL="0">
              <a:buNone/>
            </a:pPr>
            <a:r>
              <a:rPr lang="en-US" sz="1500" dirty="0">
                <a:solidFill>
                  <a:srgbClr val="6E7681"/>
                </a:solidFill>
                <a:latin typeface="Consolas" pitchFamily="34" charset="0"/>
                <a:ea typeface="Consolas" pitchFamily="34" charset="-122"/>
                <a:cs typeface="Consolas" pitchFamily="34" charset="-120"/>
              </a:rPr>
              <a:t>02  Tuleeko meistä nopeampia?</a:t>
            </a:r>
            <a:endParaRPr lang="en-US" sz="1500" dirty="0"/>
          </a:p>
        </p:txBody>
      </p:sp>
      <p:sp>
        <p:nvSpPr>
          <p:cNvPr id="6" name="Text 4"/>
          <p:cNvSpPr txBox="1"/>
          <p:nvPr/>
        </p:nvSpPr>
        <p:spPr>
          <a:xfrm>
            <a:off x="731520" y="4617720"/>
            <a:ext cx="10515600" cy="365760"/>
          </a:xfrm>
          <a:prstGeom prst="rect">
            <a:avLst/>
          </a:prstGeom>
          <a:noFill/>
          <a:ln/>
        </p:spPr>
        <p:txBody>
          <a:bodyPr wrap="square" lIns="0" tIns="0" rIns="0" bIns="0" rtlCol="0" anchor="t"/>
          <a:lstStyle/>
          <a:p>
            <a:pPr algn="l" indent="0" marL="0">
              <a:buNone/>
            </a:pPr>
            <a:r>
              <a:rPr lang="en-US" sz="1500" dirty="0">
                <a:solidFill>
                  <a:srgbClr val="6E7681"/>
                </a:solidFill>
                <a:latin typeface="Consolas" pitchFamily="34" charset="0"/>
                <a:ea typeface="Consolas" pitchFamily="34" charset="-122"/>
                <a:cs typeface="Consolas" pitchFamily="34" charset="-120"/>
              </a:rPr>
              <a:t>03  Kuka tarkistaa – ja kuka oppii?</a:t>
            </a:r>
            <a:endParaRPr lang="en-US" sz="1500" dirty="0"/>
          </a:p>
        </p:txBody>
      </p:sp>
      <p:sp>
        <p:nvSpPr>
          <p:cNvPr id="7" name="Text 5"/>
          <p:cNvSpPr txBox="1"/>
          <p:nvPr/>
        </p:nvSpPr>
        <p:spPr>
          <a:xfrm>
            <a:off x="731520" y="5029200"/>
            <a:ext cx="10515600" cy="365760"/>
          </a:xfrm>
          <a:prstGeom prst="rect">
            <a:avLst/>
          </a:prstGeom>
          <a:noFill/>
          <a:ln/>
        </p:spPr>
        <p:txBody>
          <a:bodyPr wrap="square" lIns="0" tIns="0" rIns="0" bIns="0" rtlCol="0" anchor="t"/>
          <a:lstStyle/>
          <a:p>
            <a:pPr algn="l" indent="0" marL="0">
              <a:buNone/>
            </a:pPr>
            <a:r>
              <a:rPr lang="en-US" sz="1500" dirty="0">
                <a:solidFill>
                  <a:srgbClr val="6E7681"/>
                </a:solidFill>
                <a:latin typeface="Consolas" pitchFamily="34" charset="0"/>
                <a:ea typeface="Consolas" pitchFamily="34" charset="-122"/>
                <a:cs typeface="Consolas" pitchFamily="34" charset="-120"/>
              </a:rPr>
              <a:t>04  Mitä tämä tarkoittaa täällä Lakeudella?</a:t>
            </a:r>
            <a:endParaRPr lang="en-US" sz="1500" dirty="0"/>
          </a:p>
        </p:txBody>
      </p:sp>
      <p:sp>
        <p:nvSpPr>
          <p:cNvPr id="8" name="Text 6"/>
          <p:cNvSpPr txBox="1"/>
          <p:nvPr/>
        </p:nvSpPr>
        <p:spPr>
          <a:xfrm>
            <a:off x="731520" y="5440680"/>
            <a:ext cx="10515600" cy="365760"/>
          </a:xfrm>
          <a:prstGeom prst="rect">
            <a:avLst/>
          </a:prstGeom>
          <a:noFill/>
          <a:ln/>
        </p:spPr>
        <p:txBody>
          <a:bodyPr wrap="square" lIns="0" tIns="0" rIns="0" bIns="0" rtlCol="0" anchor="t"/>
          <a:lstStyle/>
          <a:p>
            <a:pPr algn="l" indent="0" marL="0">
              <a:buNone/>
            </a:pPr>
            <a:r>
              <a:rPr lang="en-US" sz="1500" b="1" dirty="0">
                <a:solidFill>
                  <a:srgbClr val="E6EDF3"/>
                </a:solidFill>
                <a:latin typeface="Consolas" pitchFamily="34" charset="0"/>
                <a:ea typeface="Consolas" pitchFamily="34" charset="-122"/>
                <a:cs typeface="Consolas" pitchFamily="34" charset="-120"/>
              </a:rPr>
              <a:t>05  Miten agentin kanssa tehdään oikeasti töitä?</a:t>
            </a:r>
            <a:endParaRPr lang="en-US" sz="15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B949E"/>
                </a:solidFill>
                <a:latin typeface="Consolas"/>
                <a:ea typeface="Consolas"/>
                <a:cs typeface="Consola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Asiakas: huoneiston numero katoaa</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Osoite tallentuu – B 7 ei</a:t>
            </a:r>
            <a:endParaRPr lang="en-US" sz="1800" dirty="0"/>
          </a:p>
        </p:txBody>
      </p:sp>
      <p:sp>
        <p:nvSpPr>
          <p:cNvPr id="5" name="Selainikkuna"/>
          <p:cNvSpPr/>
          <p:nvPr/>
        </p:nvSpPr>
        <p:spPr>
          <a:xfrm>
            <a:off x="548640" y="1737360"/>
            <a:ext cx="5303520" cy="3017520"/>
          </a:xfrm>
          <a:prstGeom prst="roundRect">
            <a:avLst>
              <a:gd name="adj" fmla="val 3030"/>
            </a:avLst>
          </a:prstGeom>
          <a:solidFill>
            <a:srgbClr val="FFFFFF"/>
          </a:solidFill>
          <a:ln w="12700">
            <a:solidFill>
              <a:srgbClr val="E5E7EB"/>
            </a:solidFill>
            <a:prstDash val="solid"/>
          </a:ln>
        </p:spPr>
      </p:sp>
      <p:sp>
        <p:nvSpPr>
          <p:cNvPr id="6" name="Shape 4"/>
          <p:cNvSpPr/>
          <p:nvPr/>
        </p:nvSpPr>
        <p:spPr>
          <a:xfrm>
            <a:off x="566928" y="1755648"/>
            <a:ext cx="5266944" cy="384048"/>
          </a:xfrm>
          <a:prstGeom prst="rect">
            <a:avLst/>
          </a:prstGeom>
          <a:solidFill>
            <a:srgbClr val="F3F4F6"/>
          </a:solidFill>
          <a:ln w="12700">
            <a:solidFill>
              <a:srgbClr val="F3F4F6"/>
            </a:solidFill>
            <a:prstDash val="solid"/>
          </a:ln>
        </p:spPr>
      </p:sp>
      <p:sp>
        <p:nvSpPr>
          <p:cNvPr id="7" name="Shape 5"/>
          <p:cNvSpPr/>
          <p:nvPr/>
        </p:nvSpPr>
        <p:spPr>
          <a:xfrm>
            <a:off x="685800" y="1865376"/>
            <a:ext cx="128016" cy="128016"/>
          </a:xfrm>
          <a:prstGeom prst="ellipse">
            <a:avLst/>
          </a:prstGeom>
          <a:solidFill>
            <a:srgbClr val="D0D7DE"/>
          </a:solidFill>
          <a:ln w="12700">
            <a:solidFill>
              <a:srgbClr val="D0D7DE"/>
            </a:solidFill>
            <a:prstDash val="solid"/>
          </a:ln>
        </p:spPr>
      </p:sp>
      <p:sp>
        <p:nvSpPr>
          <p:cNvPr id="8" name="Shape 6"/>
          <p:cNvSpPr/>
          <p:nvPr/>
        </p:nvSpPr>
        <p:spPr>
          <a:xfrm>
            <a:off x="886968" y="1865376"/>
            <a:ext cx="128016" cy="128016"/>
          </a:xfrm>
          <a:prstGeom prst="ellipse">
            <a:avLst/>
          </a:prstGeom>
          <a:solidFill>
            <a:srgbClr val="D0D7DE"/>
          </a:solidFill>
          <a:ln w="12700">
            <a:solidFill>
              <a:srgbClr val="D0D7DE"/>
            </a:solidFill>
            <a:prstDash val="solid"/>
          </a:ln>
        </p:spPr>
      </p:sp>
      <p:sp>
        <p:nvSpPr>
          <p:cNvPr id="9" name="Shape 7"/>
          <p:cNvSpPr/>
          <p:nvPr/>
        </p:nvSpPr>
        <p:spPr>
          <a:xfrm>
            <a:off x="1088136" y="1865376"/>
            <a:ext cx="128016" cy="128016"/>
          </a:xfrm>
          <a:prstGeom prst="ellipse">
            <a:avLst/>
          </a:prstGeom>
          <a:solidFill>
            <a:srgbClr val="D0D7DE"/>
          </a:solidFill>
          <a:ln w="12700">
            <a:solidFill>
              <a:srgbClr val="D0D7DE"/>
            </a:solidFill>
            <a:prstDash val="solid"/>
          </a:ln>
        </p:spPr>
      </p:sp>
      <p:sp>
        <p:nvSpPr>
          <p:cNvPr id="10" name="Text 8"/>
          <p:cNvSpPr txBox="1"/>
          <p:nvPr/>
        </p:nvSpPr>
        <p:spPr>
          <a:xfrm>
            <a:off x="1417320" y="1801368"/>
            <a:ext cx="4297680" cy="274320"/>
          </a:xfrm>
          <a:prstGeom prst="rect">
            <a:avLst/>
          </a:prstGeom>
          <a:noFill/>
          <a:ln/>
        </p:spPr>
        <p:txBody>
          <a:bodyPr wrap="square" lIns="0" tIns="0" rIns="0" bIns="0" rtlCol="0" anchor="ctr"/>
          <a:lstStyle/>
          <a:p>
            <a:pPr algn="l" indent="0" marL="0">
              <a:buNone/>
            </a:pPr>
            <a:r>
              <a:rPr lang="en-US" sz="1100" dirty="0">
                <a:solidFill>
                  <a:srgbClr val="6B7280"/>
                </a:solidFill>
                <a:latin typeface="Consolas" pitchFamily="34" charset="0"/>
                <a:ea typeface="Consolas" pitchFamily="34" charset="-122"/>
                <a:cs typeface="Consolas" pitchFamily="34" charset="-120"/>
              </a:rPr>
              <a:t>esimerkki.fi/omat-tiedot</a:t>
            </a:r>
            <a:endParaRPr lang="en-US" sz="1100" dirty="0"/>
          </a:p>
        </p:txBody>
      </p:sp>
      <p:sp>
        <p:nvSpPr>
          <p:cNvPr id="11" name="Text 9"/>
          <p:cNvSpPr txBox="1"/>
          <p:nvPr/>
        </p:nvSpPr>
        <p:spPr>
          <a:xfrm>
            <a:off x="822960" y="2240280"/>
            <a:ext cx="4754880" cy="365760"/>
          </a:xfrm>
          <a:prstGeom prst="rect">
            <a:avLst/>
          </a:prstGeom>
          <a:noFill/>
          <a:ln/>
        </p:spPr>
        <p:txBody>
          <a:bodyPr wrap="square" lIns="0" tIns="0" rIns="0" bIns="0" rtlCol="0" anchor="t"/>
          <a:lstStyle/>
          <a:p>
            <a:pPr algn="l" indent="0" marL="0">
              <a:buNone/>
            </a:pPr>
            <a:r>
              <a:rPr lang="en-US" sz="1600" b="1" dirty="0">
                <a:solidFill>
                  <a:srgbClr val="111827"/>
                </a:solidFill>
                <a:latin typeface="Segoe UI" pitchFamily="34" charset="0"/>
                <a:ea typeface="Segoe UI" pitchFamily="34" charset="-122"/>
                <a:cs typeface="Segoe UI" pitchFamily="34" charset="-120"/>
              </a:rPr>
              <a:t>Ennen tallennusta</a:t>
            </a:r>
            <a:endParaRPr lang="en-US" sz="1600" dirty="0"/>
          </a:p>
        </p:txBody>
      </p:sp>
      <p:sp>
        <p:nvSpPr>
          <p:cNvPr id="12" name="Text 10"/>
          <p:cNvSpPr txBox="1"/>
          <p:nvPr/>
        </p:nvSpPr>
        <p:spPr>
          <a:xfrm>
            <a:off x="822960" y="2651760"/>
            <a:ext cx="1463040" cy="411480"/>
          </a:xfrm>
          <a:prstGeom prst="rect">
            <a:avLst/>
          </a:prstGeom>
          <a:noFill/>
          <a:ln/>
        </p:spPr>
        <p:txBody>
          <a:bodyPr wrap="square" lIns="0" tIns="0" rIns="0" bIns="0" rtlCol="0" anchor="ctr"/>
          <a:lstStyle/>
          <a:p>
            <a:pPr algn="l" indent="0" marL="0">
              <a:buNone/>
            </a:pPr>
            <a:r>
              <a:rPr lang="en-US" sz="1400" dirty="0">
                <a:solidFill>
                  <a:srgbClr val="6B7280"/>
                </a:solidFill>
                <a:latin typeface="Segoe UI" pitchFamily="34" charset="0"/>
                <a:ea typeface="Segoe UI" pitchFamily="34" charset="-122"/>
                <a:cs typeface="Segoe UI" pitchFamily="34" charset="-120"/>
              </a:rPr>
              <a:t>Katuosoite</a:t>
            </a:r>
            <a:endParaRPr lang="en-US" sz="1400" dirty="0"/>
          </a:p>
        </p:txBody>
      </p:sp>
      <p:sp>
        <p:nvSpPr>
          <p:cNvPr id="13" name="Shape 11"/>
          <p:cNvSpPr/>
          <p:nvPr/>
        </p:nvSpPr>
        <p:spPr>
          <a:xfrm>
            <a:off x="2286000" y="2688336"/>
            <a:ext cx="3291840" cy="338328"/>
          </a:xfrm>
          <a:prstGeom prst="roundRect">
            <a:avLst>
              <a:gd name="adj" fmla="val 13514"/>
            </a:avLst>
          </a:prstGeom>
          <a:solidFill>
            <a:srgbClr val="FFFFFF"/>
          </a:solidFill>
          <a:ln w="12700">
            <a:solidFill>
              <a:srgbClr val="D0D7DE"/>
            </a:solidFill>
            <a:prstDash val="solid"/>
          </a:ln>
        </p:spPr>
      </p:sp>
      <p:sp>
        <p:nvSpPr>
          <p:cNvPr id="14" name="Text 12"/>
          <p:cNvSpPr txBox="1"/>
          <p:nvPr/>
        </p:nvSpPr>
        <p:spPr>
          <a:xfrm>
            <a:off x="2395728" y="2688336"/>
            <a:ext cx="3108960" cy="338328"/>
          </a:xfrm>
          <a:prstGeom prst="rect">
            <a:avLst/>
          </a:prstGeom>
          <a:noFill/>
          <a:ln/>
        </p:spPr>
        <p:txBody>
          <a:bodyPr wrap="square" lIns="0" tIns="0" rIns="0" bIns="0" rtlCol="0" anchor="ctr"/>
          <a:lstStyle/>
          <a:p>
            <a:pPr algn="l" indent="0" marL="0">
              <a:buNone/>
            </a:pPr>
            <a:r>
              <a:rPr lang="en-US" sz="1700" dirty="0">
                <a:solidFill>
                  <a:srgbClr val="111827"/>
                </a:solidFill>
                <a:latin typeface="Segoe UI" pitchFamily="34" charset="0"/>
                <a:ea typeface="Segoe UI" pitchFamily="34" charset="-122"/>
                <a:cs typeface="Segoe UI" pitchFamily="34" charset="-120"/>
              </a:rPr>
              <a:t>Esimerkkikatu 12</a:t>
            </a:r>
            <a:endParaRPr lang="en-US" sz="1700" dirty="0"/>
          </a:p>
        </p:txBody>
      </p:sp>
      <p:sp>
        <p:nvSpPr>
          <p:cNvPr id="15" name="Text 13"/>
          <p:cNvSpPr txBox="1"/>
          <p:nvPr/>
        </p:nvSpPr>
        <p:spPr>
          <a:xfrm>
            <a:off x="822960" y="3154680"/>
            <a:ext cx="1463040" cy="411480"/>
          </a:xfrm>
          <a:prstGeom prst="rect">
            <a:avLst/>
          </a:prstGeom>
          <a:noFill/>
          <a:ln/>
        </p:spPr>
        <p:txBody>
          <a:bodyPr wrap="square" lIns="0" tIns="0" rIns="0" bIns="0" rtlCol="0" anchor="ctr"/>
          <a:lstStyle/>
          <a:p>
            <a:pPr algn="l" indent="0" marL="0">
              <a:buNone/>
            </a:pPr>
            <a:r>
              <a:rPr lang="en-US" sz="1400" dirty="0">
                <a:solidFill>
                  <a:srgbClr val="6B7280"/>
                </a:solidFill>
                <a:latin typeface="Segoe UI" pitchFamily="34" charset="0"/>
                <a:ea typeface="Segoe UI" pitchFamily="34" charset="-122"/>
                <a:cs typeface="Segoe UI" pitchFamily="34" charset="-120"/>
              </a:rPr>
              <a:t>Huoneisto</a:t>
            </a:r>
            <a:endParaRPr lang="en-US" sz="1400" dirty="0"/>
          </a:p>
        </p:txBody>
      </p:sp>
      <p:sp>
        <p:nvSpPr>
          <p:cNvPr id="16" name="Shape 14"/>
          <p:cNvSpPr/>
          <p:nvPr/>
        </p:nvSpPr>
        <p:spPr>
          <a:xfrm>
            <a:off x="2286000" y="3191256"/>
            <a:ext cx="3291840" cy="338328"/>
          </a:xfrm>
          <a:prstGeom prst="roundRect">
            <a:avLst>
              <a:gd name="adj" fmla="val 13514"/>
            </a:avLst>
          </a:prstGeom>
          <a:solidFill>
            <a:srgbClr val="FFFFFF"/>
          </a:solidFill>
          <a:ln w="12700">
            <a:solidFill>
              <a:srgbClr val="D0D7DE"/>
            </a:solidFill>
            <a:prstDash val="solid"/>
          </a:ln>
        </p:spPr>
      </p:sp>
      <p:sp>
        <p:nvSpPr>
          <p:cNvPr id="17" name="Text 15"/>
          <p:cNvSpPr txBox="1"/>
          <p:nvPr/>
        </p:nvSpPr>
        <p:spPr>
          <a:xfrm>
            <a:off x="2395728" y="3191256"/>
            <a:ext cx="3108960" cy="338328"/>
          </a:xfrm>
          <a:prstGeom prst="rect">
            <a:avLst/>
          </a:prstGeom>
          <a:noFill/>
          <a:ln/>
        </p:spPr>
        <p:txBody>
          <a:bodyPr wrap="square" lIns="0" tIns="0" rIns="0" bIns="0" rtlCol="0" anchor="ctr"/>
          <a:lstStyle/>
          <a:p>
            <a:pPr algn="l" indent="0" marL="0">
              <a:buNone/>
            </a:pPr>
            <a:r>
              <a:rPr lang="en-US" sz="1700" dirty="0">
                <a:solidFill>
                  <a:srgbClr val="111827"/>
                </a:solidFill>
                <a:latin typeface="Segoe UI" pitchFamily="34" charset="0"/>
                <a:ea typeface="Segoe UI" pitchFamily="34" charset="-122"/>
                <a:cs typeface="Segoe UI" pitchFamily="34" charset="-120"/>
              </a:rPr>
              <a:t>B 7</a:t>
            </a:r>
            <a:endParaRPr lang="en-US" sz="1700" dirty="0"/>
          </a:p>
        </p:txBody>
      </p:sp>
      <p:sp>
        <p:nvSpPr>
          <p:cNvPr id="18" name="Text 16"/>
          <p:cNvSpPr txBox="1"/>
          <p:nvPr/>
        </p:nvSpPr>
        <p:spPr>
          <a:xfrm>
            <a:off x="822960" y="3657600"/>
            <a:ext cx="1463040" cy="411480"/>
          </a:xfrm>
          <a:prstGeom prst="rect">
            <a:avLst/>
          </a:prstGeom>
          <a:noFill/>
          <a:ln/>
        </p:spPr>
        <p:txBody>
          <a:bodyPr wrap="square" lIns="0" tIns="0" rIns="0" bIns="0" rtlCol="0" anchor="ctr"/>
          <a:lstStyle/>
          <a:p>
            <a:pPr algn="l" indent="0" marL="0">
              <a:buNone/>
            </a:pPr>
            <a:r>
              <a:rPr lang="en-US" sz="1400" dirty="0">
                <a:solidFill>
                  <a:srgbClr val="6B7280"/>
                </a:solidFill>
                <a:latin typeface="Segoe UI" pitchFamily="34" charset="0"/>
                <a:ea typeface="Segoe UI" pitchFamily="34" charset="-122"/>
                <a:cs typeface="Segoe UI" pitchFamily="34" charset="-120"/>
              </a:rPr>
              <a:t>Postinumero</a:t>
            </a:r>
            <a:endParaRPr lang="en-US" sz="1400" dirty="0"/>
          </a:p>
        </p:txBody>
      </p:sp>
      <p:sp>
        <p:nvSpPr>
          <p:cNvPr id="19" name="Shape 17"/>
          <p:cNvSpPr/>
          <p:nvPr/>
        </p:nvSpPr>
        <p:spPr>
          <a:xfrm>
            <a:off x="2286000" y="3694176"/>
            <a:ext cx="3291840" cy="338328"/>
          </a:xfrm>
          <a:prstGeom prst="roundRect">
            <a:avLst>
              <a:gd name="adj" fmla="val 13514"/>
            </a:avLst>
          </a:prstGeom>
          <a:solidFill>
            <a:srgbClr val="FFFFFF"/>
          </a:solidFill>
          <a:ln w="12700">
            <a:solidFill>
              <a:srgbClr val="D0D7DE"/>
            </a:solidFill>
            <a:prstDash val="solid"/>
          </a:ln>
        </p:spPr>
      </p:sp>
      <p:sp>
        <p:nvSpPr>
          <p:cNvPr id="20" name="Text 18"/>
          <p:cNvSpPr txBox="1"/>
          <p:nvPr/>
        </p:nvSpPr>
        <p:spPr>
          <a:xfrm>
            <a:off x="2395728" y="3694176"/>
            <a:ext cx="3108960" cy="338328"/>
          </a:xfrm>
          <a:prstGeom prst="rect">
            <a:avLst/>
          </a:prstGeom>
          <a:noFill/>
          <a:ln/>
        </p:spPr>
        <p:txBody>
          <a:bodyPr wrap="square" lIns="0" tIns="0" rIns="0" bIns="0" rtlCol="0" anchor="ctr"/>
          <a:lstStyle/>
          <a:p>
            <a:pPr algn="l" indent="0" marL="0">
              <a:buNone/>
            </a:pPr>
            <a:r>
              <a:rPr lang="en-US" sz="1700" dirty="0">
                <a:solidFill>
                  <a:srgbClr val="111827"/>
                </a:solidFill>
                <a:latin typeface="Segoe UI" pitchFamily="34" charset="0"/>
                <a:ea typeface="Segoe UI" pitchFamily="34" charset="-122"/>
                <a:cs typeface="Segoe UI" pitchFamily="34" charset="-120"/>
              </a:rPr>
              <a:t>60100</a:t>
            </a:r>
            <a:endParaRPr lang="en-US" sz="1700" dirty="0"/>
          </a:p>
        </p:txBody>
      </p:sp>
      <p:sp>
        <p:nvSpPr>
          <p:cNvPr id="21" name="Text 19"/>
          <p:cNvSpPr txBox="1"/>
          <p:nvPr/>
        </p:nvSpPr>
        <p:spPr>
          <a:xfrm>
            <a:off x="822960" y="4160520"/>
            <a:ext cx="1463040" cy="411480"/>
          </a:xfrm>
          <a:prstGeom prst="rect">
            <a:avLst/>
          </a:prstGeom>
          <a:noFill/>
          <a:ln/>
        </p:spPr>
        <p:txBody>
          <a:bodyPr wrap="square" lIns="0" tIns="0" rIns="0" bIns="0" rtlCol="0" anchor="ctr"/>
          <a:lstStyle/>
          <a:p>
            <a:pPr algn="l" indent="0" marL="0">
              <a:buNone/>
            </a:pPr>
            <a:r>
              <a:rPr lang="en-US" sz="1400" dirty="0">
                <a:solidFill>
                  <a:srgbClr val="6B7280"/>
                </a:solidFill>
                <a:latin typeface="Segoe UI" pitchFamily="34" charset="0"/>
                <a:ea typeface="Segoe UI" pitchFamily="34" charset="-122"/>
                <a:cs typeface="Segoe UI" pitchFamily="34" charset="-120"/>
              </a:rPr>
              <a:t>Kaupunki</a:t>
            </a:r>
            <a:endParaRPr lang="en-US" sz="1400" dirty="0"/>
          </a:p>
        </p:txBody>
      </p:sp>
      <p:sp>
        <p:nvSpPr>
          <p:cNvPr id="22" name="Shape 20"/>
          <p:cNvSpPr/>
          <p:nvPr/>
        </p:nvSpPr>
        <p:spPr>
          <a:xfrm>
            <a:off x="2286000" y="4197096"/>
            <a:ext cx="3291840" cy="338328"/>
          </a:xfrm>
          <a:prstGeom prst="roundRect">
            <a:avLst>
              <a:gd name="adj" fmla="val 13514"/>
            </a:avLst>
          </a:prstGeom>
          <a:solidFill>
            <a:srgbClr val="FFFFFF"/>
          </a:solidFill>
          <a:ln w="12700">
            <a:solidFill>
              <a:srgbClr val="D0D7DE"/>
            </a:solidFill>
            <a:prstDash val="solid"/>
          </a:ln>
        </p:spPr>
      </p:sp>
      <p:sp>
        <p:nvSpPr>
          <p:cNvPr id="23" name="Text 21"/>
          <p:cNvSpPr txBox="1"/>
          <p:nvPr/>
        </p:nvSpPr>
        <p:spPr>
          <a:xfrm>
            <a:off x="2395728" y="4197096"/>
            <a:ext cx="3108960" cy="338328"/>
          </a:xfrm>
          <a:prstGeom prst="rect">
            <a:avLst/>
          </a:prstGeom>
          <a:noFill/>
          <a:ln/>
        </p:spPr>
        <p:txBody>
          <a:bodyPr wrap="square" lIns="0" tIns="0" rIns="0" bIns="0" rtlCol="0" anchor="ctr"/>
          <a:lstStyle/>
          <a:p>
            <a:pPr algn="l" indent="0" marL="0">
              <a:buNone/>
            </a:pPr>
            <a:r>
              <a:rPr lang="en-US" sz="1700" dirty="0">
                <a:solidFill>
                  <a:srgbClr val="111827"/>
                </a:solidFill>
                <a:latin typeface="Segoe UI" pitchFamily="34" charset="0"/>
                <a:ea typeface="Segoe UI" pitchFamily="34" charset="-122"/>
                <a:cs typeface="Segoe UI" pitchFamily="34" charset="-120"/>
              </a:rPr>
              <a:t>Seinäjoki</a:t>
            </a:r>
            <a:endParaRPr lang="en-US" sz="1700" dirty="0"/>
          </a:p>
        </p:txBody>
      </p:sp>
      <p:sp>
        <p:nvSpPr>
          <p:cNvPr id="24" name="Selainikkuna"/>
          <p:cNvSpPr/>
          <p:nvPr/>
        </p:nvSpPr>
        <p:spPr>
          <a:xfrm>
            <a:off x="6309360" y="1737360"/>
            <a:ext cx="5303520" cy="3017520"/>
          </a:xfrm>
          <a:prstGeom prst="roundRect">
            <a:avLst>
              <a:gd name="adj" fmla="val 3030"/>
            </a:avLst>
          </a:prstGeom>
          <a:solidFill>
            <a:srgbClr val="FFFFFF"/>
          </a:solidFill>
          <a:ln w="12700">
            <a:solidFill>
              <a:srgbClr val="E5E7EB"/>
            </a:solidFill>
            <a:prstDash val="solid"/>
          </a:ln>
        </p:spPr>
      </p:sp>
      <p:sp>
        <p:nvSpPr>
          <p:cNvPr id="25" name="Shape 23"/>
          <p:cNvSpPr/>
          <p:nvPr/>
        </p:nvSpPr>
        <p:spPr>
          <a:xfrm>
            <a:off x="6327648" y="1755648"/>
            <a:ext cx="5266944" cy="384048"/>
          </a:xfrm>
          <a:prstGeom prst="rect">
            <a:avLst/>
          </a:prstGeom>
          <a:solidFill>
            <a:srgbClr val="F3F4F6"/>
          </a:solidFill>
          <a:ln w="12700">
            <a:solidFill>
              <a:srgbClr val="F3F4F6"/>
            </a:solidFill>
            <a:prstDash val="solid"/>
          </a:ln>
        </p:spPr>
      </p:sp>
      <p:sp>
        <p:nvSpPr>
          <p:cNvPr id="26" name="Shape 24"/>
          <p:cNvSpPr/>
          <p:nvPr/>
        </p:nvSpPr>
        <p:spPr>
          <a:xfrm>
            <a:off x="6446520" y="1865376"/>
            <a:ext cx="128016" cy="128016"/>
          </a:xfrm>
          <a:prstGeom prst="ellipse">
            <a:avLst/>
          </a:prstGeom>
          <a:solidFill>
            <a:srgbClr val="D0D7DE"/>
          </a:solidFill>
          <a:ln w="12700">
            <a:solidFill>
              <a:srgbClr val="D0D7DE"/>
            </a:solidFill>
            <a:prstDash val="solid"/>
          </a:ln>
        </p:spPr>
      </p:sp>
      <p:sp>
        <p:nvSpPr>
          <p:cNvPr id="27" name="Shape 25"/>
          <p:cNvSpPr/>
          <p:nvPr/>
        </p:nvSpPr>
        <p:spPr>
          <a:xfrm>
            <a:off x="6647688" y="1865376"/>
            <a:ext cx="128016" cy="128016"/>
          </a:xfrm>
          <a:prstGeom prst="ellipse">
            <a:avLst/>
          </a:prstGeom>
          <a:solidFill>
            <a:srgbClr val="D0D7DE"/>
          </a:solidFill>
          <a:ln w="12700">
            <a:solidFill>
              <a:srgbClr val="D0D7DE"/>
            </a:solidFill>
            <a:prstDash val="solid"/>
          </a:ln>
        </p:spPr>
      </p:sp>
      <p:sp>
        <p:nvSpPr>
          <p:cNvPr id="28" name="Shape 26"/>
          <p:cNvSpPr/>
          <p:nvPr/>
        </p:nvSpPr>
        <p:spPr>
          <a:xfrm>
            <a:off x="6848856" y="1865376"/>
            <a:ext cx="128016" cy="128016"/>
          </a:xfrm>
          <a:prstGeom prst="ellipse">
            <a:avLst/>
          </a:prstGeom>
          <a:solidFill>
            <a:srgbClr val="D0D7DE"/>
          </a:solidFill>
          <a:ln w="12700">
            <a:solidFill>
              <a:srgbClr val="D0D7DE"/>
            </a:solidFill>
            <a:prstDash val="solid"/>
          </a:ln>
        </p:spPr>
      </p:sp>
      <p:sp>
        <p:nvSpPr>
          <p:cNvPr id="29" name="Text 27"/>
          <p:cNvSpPr txBox="1"/>
          <p:nvPr/>
        </p:nvSpPr>
        <p:spPr>
          <a:xfrm>
            <a:off x="7178040" y="1801368"/>
            <a:ext cx="4297680" cy="274320"/>
          </a:xfrm>
          <a:prstGeom prst="rect">
            <a:avLst/>
          </a:prstGeom>
          <a:noFill/>
          <a:ln/>
        </p:spPr>
        <p:txBody>
          <a:bodyPr wrap="square" lIns="0" tIns="0" rIns="0" bIns="0" rtlCol="0" anchor="ctr"/>
          <a:lstStyle/>
          <a:p>
            <a:pPr algn="l" indent="0" marL="0">
              <a:buNone/>
            </a:pPr>
            <a:r>
              <a:rPr lang="en-US" sz="1100" dirty="0">
                <a:solidFill>
                  <a:srgbClr val="6B7280"/>
                </a:solidFill>
                <a:latin typeface="Consolas" pitchFamily="34" charset="0"/>
                <a:ea typeface="Consolas" pitchFamily="34" charset="-122"/>
                <a:cs typeface="Consolas" pitchFamily="34" charset="-120"/>
              </a:rPr>
              <a:t>esimerkki.fi/omat-tiedot</a:t>
            </a:r>
            <a:endParaRPr lang="en-US" sz="1100" dirty="0"/>
          </a:p>
        </p:txBody>
      </p:sp>
      <p:sp>
        <p:nvSpPr>
          <p:cNvPr id="30" name="Text 28"/>
          <p:cNvSpPr txBox="1"/>
          <p:nvPr/>
        </p:nvSpPr>
        <p:spPr>
          <a:xfrm>
            <a:off x="6583680" y="2240280"/>
            <a:ext cx="4754880" cy="365760"/>
          </a:xfrm>
          <a:prstGeom prst="rect">
            <a:avLst/>
          </a:prstGeom>
          <a:noFill/>
          <a:ln/>
        </p:spPr>
        <p:txBody>
          <a:bodyPr wrap="square" lIns="0" tIns="0" rIns="0" bIns="0" rtlCol="0" anchor="t"/>
          <a:lstStyle/>
          <a:p>
            <a:pPr algn="l" indent="0" marL="0">
              <a:buNone/>
            </a:pPr>
            <a:r>
              <a:rPr lang="en-US" sz="1600" b="1" dirty="0">
                <a:solidFill>
                  <a:srgbClr val="CF222E"/>
                </a:solidFill>
                <a:latin typeface="Segoe UI" pitchFamily="34" charset="0"/>
                <a:ea typeface="Segoe UI" pitchFamily="34" charset="-122"/>
                <a:cs typeface="Segoe UI" pitchFamily="34" charset="-120"/>
              </a:rPr>
              <a:t>Uudelleenlatauksen jälkeen</a:t>
            </a:r>
            <a:endParaRPr lang="en-US" sz="1600" dirty="0"/>
          </a:p>
        </p:txBody>
      </p:sp>
      <p:sp>
        <p:nvSpPr>
          <p:cNvPr id="31" name="Text 29"/>
          <p:cNvSpPr txBox="1"/>
          <p:nvPr/>
        </p:nvSpPr>
        <p:spPr>
          <a:xfrm>
            <a:off x="6583680" y="2651760"/>
            <a:ext cx="1463040" cy="411480"/>
          </a:xfrm>
          <a:prstGeom prst="rect">
            <a:avLst/>
          </a:prstGeom>
          <a:noFill/>
          <a:ln/>
        </p:spPr>
        <p:txBody>
          <a:bodyPr wrap="square" lIns="0" tIns="0" rIns="0" bIns="0" rtlCol="0" anchor="ctr"/>
          <a:lstStyle/>
          <a:p>
            <a:pPr algn="l" indent="0" marL="0">
              <a:buNone/>
            </a:pPr>
            <a:r>
              <a:rPr lang="en-US" sz="1400" dirty="0">
                <a:solidFill>
                  <a:srgbClr val="6B7280"/>
                </a:solidFill>
                <a:latin typeface="Segoe UI" pitchFamily="34" charset="0"/>
                <a:ea typeface="Segoe UI" pitchFamily="34" charset="-122"/>
                <a:cs typeface="Segoe UI" pitchFamily="34" charset="-120"/>
              </a:rPr>
              <a:t>Katuosoite</a:t>
            </a:r>
            <a:endParaRPr lang="en-US" sz="1400" dirty="0"/>
          </a:p>
        </p:txBody>
      </p:sp>
      <p:sp>
        <p:nvSpPr>
          <p:cNvPr id="32" name="Shape 30"/>
          <p:cNvSpPr/>
          <p:nvPr/>
        </p:nvSpPr>
        <p:spPr>
          <a:xfrm>
            <a:off x="8046720" y="2688336"/>
            <a:ext cx="3291840" cy="338328"/>
          </a:xfrm>
          <a:prstGeom prst="roundRect">
            <a:avLst>
              <a:gd name="adj" fmla="val 13514"/>
            </a:avLst>
          </a:prstGeom>
          <a:solidFill>
            <a:srgbClr val="FFFFFF"/>
          </a:solidFill>
          <a:ln w="12700">
            <a:solidFill>
              <a:srgbClr val="D0D7DE"/>
            </a:solidFill>
            <a:prstDash val="solid"/>
          </a:ln>
        </p:spPr>
      </p:sp>
      <p:sp>
        <p:nvSpPr>
          <p:cNvPr id="33" name="Text 31"/>
          <p:cNvSpPr txBox="1"/>
          <p:nvPr/>
        </p:nvSpPr>
        <p:spPr>
          <a:xfrm>
            <a:off x="8156448" y="2688336"/>
            <a:ext cx="3108960" cy="338328"/>
          </a:xfrm>
          <a:prstGeom prst="rect">
            <a:avLst/>
          </a:prstGeom>
          <a:noFill/>
          <a:ln/>
        </p:spPr>
        <p:txBody>
          <a:bodyPr wrap="square" lIns="0" tIns="0" rIns="0" bIns="0" rtlCol="0" anchor="ctr"/>
          <a:lstStyle/>
          <a:p>
            <a:pPr algn="l" indent="0" marL="0">
              <a:buNone/>
            </a:pPr>
            <a:r>
              <a:rPr lang="en-US" sz="1700" dirty="0">
                <a:solidFill>
                  <a:srgbClr val="111827"/>
                </a:solidFill>
                <a:latin typeface="Segoe UI" pitchFamily="34" charset="0"/>
                <a:ea typeface="Segoe UI" pitchFamily="34" charset="-122"/>
                <a:cs typeface="Segoe UI" pitchFamily="34" charset="-120"/>
              </a:rPr>
              <a:t>Esimerkkikatu 12</a:t>
            </a:r>
            <a:endParaRPr lang="en-US" sz="1700" dirty="0"/>
          </a:p>
        </p:txBody>
      </p:sp>
      <p:sp>
        <p:nvSpPr>
          <p:cNvPr id="34" name="Text 32"/>
          <p:cNvSpPr txBox="1"/>
          <p:nvPr/>
        </p:nvSpPr>
        <p:spPr>
          <a:xfrm>
            <a:off x="6583680" y="3154680"/>
            <a:ext cx="1463040" cy="411480"/>
          </a:xfrm>
          <a:prstGeom prst="rect">
            <a:avLst/>
          </a:prstGeom>
          <a:noFill/>
          <a:ln/>
        </p:spPr>
        <p:txBody>
          <a:bodyPr wrap="square" lIns="0" tIns="0" rIns="0" bIns="0" rtlCol="0" anchor="ctr"/>
          <a:lstStyle/>
          <a:p>
            <a:pPr algn="l" indent="0" marL="0">
              <a:buNone/>
            </a:pPr>
            <a:r>
              <a:rPr lang="en-US" sz="1400" dirty="0">
                <a:solidFill>
                  <a:srgbClr val="6B7280"/>
                </a:solidFill>
                <a:latin typeface="Segoe UI" pitchFamily="34" charset="0"/>
                <a:ea typeface="Segoe UI" pitchFamily="34" charset="-122"/>
                <a:cs typeface="Segoe UI" pitchFamily="34" charset="-120"/>
              </a:rPr>
              <a:t>Huoneisto</a:t>
            </a:r>
            <a:endParaRPr lang="en-US" sz="1400" dirty="0"/>
          </a:p>
        </p:txBody>
      </p:sp>
      <p:sp>
        <p:nvSpPr>
          <p:cNvPr id="35" name="Shape 33"/>
          <p:cNvSpPr/>
          <p:nvPr/>
        </p:nvSpPr>
        <p:spPr>
          <a:xfrm>
            <a:off x="8046720" y="3191256"/>
            <a:ext cx="3291840" cy="338328"/>
          </a:xfrm>
          <a:prstGeom prst="roundRect">
            <a:avLst>
              <a:gd name="adj" fmla="val 13514"/>
            </a:avLst>
          </a:prstGeom>
          <a:solidFill>
            <a:srgbClr val="FFEBE9"/>
          </a:solidFill>
          <a:ln w="25400">
            <a:solidFill>
              <a:srgbClr val="CF222E"/>
            </a:solidFill>
            <a:prstDash val="solid"/>
          </a:ln>
        </p:spPr>
      </p:sp>
      <p:sp>
        <p:nvSpPr>
          <p:cNvPr id="36" name="Text 34"/>
          <p:cNvSpPr txBox="1"/>
          <p:nvPr/>
        </p:nvSpPr>
        <p:spPr>
          <a:xfrm>
            <a:off x="8156448" y="3191256"/>
            <a:ext cx="3108960" cy="338328"/>
          </a:xfrm>
          <a:prstGeom prst="rect">
            <a:avLst/>
          </a:prstGeom>
          <a:noFill/>
          <a:ln/>
        </p:spPr>
        <p:txBody>
          <a:bodyPr wrap="square" lIns="0" tIns="0" rIns="0" bIns="0" rtlCol="0" anchor="ctr"/>
          <a:lstStyle/>
          <a:p>
            <a:pPr algn="l" indent="0" marL="0">
              <a:buNone/>
            </a:pPr>
            <a:r>
              <a:rPr lang="en-US" sz="1700" b="1" dirty="0">
                <a:solidFill>
                  <a:srgbClr val="CF222E"/>
                </a:solidFill>
                <a:latin typeface="Segoe UI" pitchFamily="34" charset="0"/>
                <a:ea typeface="Segoe UI" pitchFamily="34" charset="-122"/>
                <a:cs typeface="Segoe UI" pitchFamily="34" charset="-120"/>
              </a:rPr>
              <a:t>—</a:t>
            </a:r>
            <a:endParaRPr lang="en-US" sz="1700" dirty="0"/>
          </a:p>
        </p:txBody>
      </p:sp>
      <p:sp>
        <p:nvSpPr>
          <p:cNvPr id="37" name="Text 35"/>
          <p:cNvSpPr txBox="1"/>
          <p:nvPr/>
        </p:nvSpPr>
        <p:spPr>
          <a:xfrm>
            <a:off x="6583680" y="3657600"/>
            <a:ext cx="1463040" cy="411480"/>
          </a:xfrm>
          <a:prstGeom prst="rect">
            <a:avLst/>
          </a:prstGeom>
          <a:noFill/>
          <a:ln/>
        </p:spPr>
        <p:txBody>
          <a:bodyPr wrap="square" lIns="0" tIns="0" rIns="0" bIns="0" rtlCol="0" anchor="ctr"/>
          <a:lstStyle/>
          <a:p>
            <a:pPr algn="l" indent="0" marL="0">
              <a:buNone/>
            </a:pPr>
            <a:r>
              <a:rPr lang="en-US" sz="1400" dirty="0">
                <a:solidFill>
                  <a:srgbClr val="6B7280"/>
                </a:solidFill>
                <a:latin typeface="Segoe UI" pitchFamily="34" charset="0"/>
                <a:ea typeface="Segoe UI" pitchFamily="34" charset="-122"/>
                <a:cs typeface="Segoe UI" pitchFamily="34" charset="-120"/>
              </a:rPr>
              <a:t>Postinumero</a:t>
            </a:r>
            <a:endParaRPr lang="en-US" sz="1400" dirty="0"/>
          </a:p>
        </p:txBody>
      </p:sp>
      <p:sp>
        <p:nvSpPr>
          <p:cNvPr id="38" name="Shape 36"/>
          <p:cNvSpPr/>
          <p:nvPr/>
        </p:nvSpPr>
        <p:spPr>
          <a:xfrm>
            <a:off x="8046720" y="3694176"/>
            <a:ext cx="3291840" cy="338328"/>
          </a:xfrm>
          <a:prstGeom prst="roundRect">
            <a:avLst>
              <a:gd name="adj" fmla="val 13514"/>
            </a:avLst>
          </a:prstGeom>
          <a:solidFill>
            <a:srgbClr val="FFFFFF"/>
          </a:solidFill>
          <a:ln w="12700">
            <a:solidFill>
              <a:srgbClr val="D0D7DE"/>
            </a:solidFill>
            <a:prstDash val="solid"/>
          </a:ln>
        </p:spPr>
      </p:sp>
      <p:sp>
        <p:nvSpPr>
          <p:cNvPr id="39" name="Text 37"/>
          <p:cNvSpPr txBox="1"/>
          <p:nvPr/>
        </p:nvSpPr>
        <p:spPr>
          <a:xfrm>
            <a:off x="8156448" y="3694176"/>
            <a:ext cx="3108960" cy="338328"/>
          </a:xfrm>
          <a:prstGeom prst="rect">
            <a:avLst/>
          </a:prstGeom>
          <a:noFill/>
          <a:ln/>
        </p:spPr>
        <p:txBody>
          <a:bodyPr wrap="square" lIns="0" tIns="0" rIns="0" bIns="0" rtlCol="0" anchor="ctr"/>
          <a:lstStyle/>
          <a:p>
            <a:pPr algn="l" indent="0" marL="0">
              <a:buNone/>
            </a:pPr>
            <a:r>
              <a:rPr lang="en-US" sz="1700" dirty="0">
                <a:solidFill>
                  <a:srgbClr val="111827"/>
                </a:solidFill>
                <a:latin typeface="Segoe UI" pitchFamily="34" charset="0"/>
                <a:ea typeface="Segoe UI" pitchFamily="34" charset="-122"/>
                <a:cs typeface="Segoe UI" pitchFamily="34" charset="-120"/>
              </a:rPr>
              <a:t>60100</a:t>
            </a:r>
            <a:endParaRPr lang="en-US" sz="1700" dirty="0"/>
          </a:p>
        </p:txBody>
      </p:sp>
      <p:sp>
        <p:nvSpPr>
          <p:cNvPr id="40" name="Text 38"/>
          <p:cNvSpPr txBox="1"/>
          <p:nvPr/>
        </p:nvSpPr>
        <p:spPr>
          <a:xfrm>
            <a:off x="6583680" y="4160520"/>
            <a:ext cx="1463040" cy="411480"/>
          </a:xfrm>
          <a:prstGeom prst="rect">
            <a:avLst/>
          </a:prstGeom>
          <a:noFill/>
          <a:ln/>
        </p:spPr>
        <p:txBody>
          <a:bodyPr wrap="square" lIns="0" tIns="0" rIns="0" bIns="0" rtlCol="0" anchor="ctr"/>
          <a:lstStyle/>
          <a:p>
            <a:pPr algn="l" indent="0" marL="0">
              <a:buNone/>
            </a:pPr>
            <a:r>
              <a:rPr lang="en-US" sz="1400" dirty="0">
                <a:solidFill>
                  <a:srgbClr val="6B7280"/>
                </a:solidFill>
                <a:latin typeface="Segoe UI" pitchFamily="34" charset="0"/>
                <a:ea typeface="Segoe UI" pitchFamily="34" charset="-122"/>
                <a:cs typeface="Segoe UI" pitchFamily="34" charset="-120"/>
              </a:rPr>
              <a:t>Kaupunki</a:t>
            </a:r>
            <a:endParaRPr lang="en-US" sz="1400" dirty="0"/>
          </a:p>
        </p:txBody>
      </p:sp>
      <p:sp>
        <p:nvSpPr>
          <p:cNvPr id="41" name="Shape 39"/>
          <p:cNvSpPr/>
          <p:nvPr/>
        </p:nvSpPr>
        <p:spPr>
          <a:xfrm>
            <a:off x="8046720" y="4197096"/>
            <a:ext cx="3291840" cy="338328"/>
          </a:xfrm>
          <a:prstGeom prst="roundRect">
            <a:avLst>
              <a:gd name="adj" fmla="val 13514"/>
            </a:avLst>
          </a:prstGeom>
          <a:solidFill>
            <a:srgbClr val="FFFFFF"/>
          </a:solidFill>
          <a:ln w="12700">
            <a:solidFill>
              <a:srgbClr val="D0D7DE"/>
            </a:solidFill>
            <a:prstDash val="solid"/>
          </a:ln>
        </p:spPr>
      </p:sp>
      <p:sp>
        <p:nvSpPr>
          <p:cNvPr id="42" name="Text 40"/>
          <p:cNvSpPr txBox="1"/>
          <p:nvPr/>
        </p:nvSpPr>
        <p:spPr>
          <a:xfrm>
            <a:off x="8156448" y="4197096"/>
            <a:ext cx="3108960" cy="338328"/>
          </a:xfrm>
          <a:prstGeom prst="rect">
            <a:avLst/>
          </a:prstGeom>
          <a:noFill/>
          <a:ln/>
        </p:spPr>
        <p:txBody>
          <a:bodyPr wrap="square" lIns="0" tIns="0" rIns="0" bIns="0" rtlCol="0" anchor="ctr"/>
          <a:lstStyle/>
          <a:p>
            <a:pPr algn="l" indent="0" marL="0">
              <a:buNone/>
            </a:pPr>
            <a:r>
              <a:rPr lang="en-US" sz="1700" dirty="0">
                <a:solidFill>
                  <a:srgbClr val="111827"/>
                </a:solidFill>
                <a:latin typeface="Segoe UI" pitchFamily="34" charset="0"/>
                <a:ea typeface="Segoe UI" pitchFamily="34" charset="-122"/>
                <a:cs typeface="Segoe UI" pitchFamily="34" charset="-120"/>
              </a:rPr>
              <a:t>Seinäjoki</a:t>
            </a:r>
            <a:endParaRPr lang="en-US" sz="1700" dirty="0"/>
          </a:p>
        </p:txBody>
      </p:sp>
      <p:sp>
        <p:nvSpPr>
          <p:cNvPr id="43" name="Shape 41"/>
          <p:cNvSpPr/>
          <p:nvPr/>
        </p:nvSpPr>
        <p:spPr>
          <a:xfrm>
            <a:off x="5879592" y="3246120"/>
            <a:ext cx="384048" cy="0"/>
          </a:xfrm>
          <a:prstGeom prst="line">
            <a:avLst/>
          </a:prstGeom>
          <a:noFill/>
          <a:ln w="31750">
            <a:solidFill>
              <a:srgbClr val="9CA3AF"/>
            </a:solidFill>
            <a:prstDash val="solid"/>
            <a:tailEnd type="triangle"/>
          </a:ln>
        </p:spPr>
      </p:sp>
      <p:sp>
        <p:nvSpPr>
          <p:cNvPr id="44" name="Text 42"/>
          <p:cNvSpPr/>
          <p:nvPr/>
        </p:nvSpPr>
        <p:spPr>
          <a:xfrm>
            <a:off x="731520" y="4937760"/>
            <a:ext cx="1280160" cy="384048"/>
          </a:xfrm>
          <a:prstGeom prst="roundRect">
            <a:avLst>
              <a:gd name="adj" fmla="val 14286"/>
            </a:avLst>
          </a:prstGeom>
          <a:solidFill>
            <a:srgbClr val="EFF6FF"/>
          </a:solidFill>
          <a:ln>
            <a:solidFill>
              <a:srgbClr val="BFDBFE"/>
            </a:solidFill>
          </a:ln>
        </p:spPr>
        <p:txBody>
          <a:bodyPr wrap="square" lIns="12700" tIns="12700" rIns="12700" bIns="12700" rtlCol="0" anchor="ctr"/>
          <a:lstStyle/>
          <a:p>
            <a:pPr algn="ctr" indent="0" marL="0">
              <a:buNone/>
            </a:pPr>
            <a:r>
              <a:rPr lang="en-US" sz="1200" dirty="0">
                <a:solidFill>
                  <a:srgbClr val="2563EB"/>
                </a:solidFill>
                <a:latin typeface="Consolas" pitchFamily="34" charset="0"/>
                <a:ea typeface="Consolas" pitchFamily="34" charset="-122"/>
                <a:cs typeface="Consolas" pitchFamily="34" charset="-120"/>
              </a:rPr>
              <a:t>rajaa</a:t>
            </a:r>
            <a:endParaRPr lang="en-US" sz="1200" dirty="0"/>
          </a:p>
        </p:txBody>
      </p:sp>
      <p:sp>
        <p:nvSpPr>
          <p:cNvPr id="45" name="Shape 43"/>
          <p:cNvSpPr/>
          <p:nvPr/>
        </p:nvSpPr>
        <p:spPr>
          <a:xfrm>
            <a:off x="2029968" y="5129784"/>
            <a:ext cx="182880" cy="0"/>
          </a:xfrm>
          <a:prstGeom prst="line">
            <a:avLst/>
          </a:prstGeom>
          <a:noFill/>
          <a:ln w="15875">
            <a:solidFill>
              <a:srgbClr val="2563EB"/>
            </a:solidFill>
            <a:prstDash val="solid"/>
            <a:tailEnd type="triangle"/>
          </a:ln>
        </p:spPr>
      </p:sp>
      <p:sp>
        <p:nvSpPr>
          <p:cNvPr id="46" name="Text 44"/>
          <p:cNvSpPr/>
          <p:nvPr/>
        </p:nvSpPr>
        <p:spPr>
          <a:xfrm>
            <a:off x="2240280" y="4937760"/>
            <a:ext cx="1280160" cy="384048"/>
          </a:xfrm>
          <a:prstGeom prst="roundRect">
            <a:avLst>
              <a:gd name="adj" fmla="val 14286"/>
            </a:avLst>
          </a:prstGeom>
          <a:solidFill>
            <a:srgbClr val="EFF6FF"/>
          </a:solidFill>
          <a:ln>
            <a:solidFill>
              <a:srgbClr val="BFDBFE"/>
            </a:solidFill>
          </a:ln>
        </p:spPr>
        <p:txBody>
          <a:bodyPr wrap="square" lIns="12700" tIns="12700" rIns="12700" bIns="12700" rtlCol="0" anchor="ctr"/>
          <a:lstStyle/>
          <a:p>
            <a:pPr algn="ctr" indent="0" marL="0">
              <a:buNone/>
            </a:pPr>
            <a:r>
              <a:rPr lang="en-US" sz="1200" dirty="0">
                <a:solidFill>
                  <a:srgbClr val="2563EB"/>
                </a:solidFill>
                <a:latin typeface="Consolas" pitchFamily="34" charset="0"/>
                <a:ea typeface="Consolas" pitchFamily="34" charset="-122"/>
                <a:cs typeface="Consolas" pitchFamily="34" charset="-120"/>
              </a:rPr>
              <a:t>konteksti</a:t>
            </a:r>
            <a:endParaRPr lang="en-US" sz="1200" dirty="0"/>
          </a:p>
        </p:txBody>
      </p:sp>
      <p:sp>
        <p:nvSpPr>
          <p:cNvPr id="47" name="Shape 45"/>
          <p:cNvSpPr/>
          <p:nvPr/>
        </p:nvSpPr>
        <p:spPr>
          <a:xfrm>
            <a:off x="3538728" y="5129784"/>
            <a:ext cx="182880" cy="0"/>
          </a:xfrm>
          <a:prstGeom prst="line">
            <a:avLst/>
          </a:prstGeom>
          <a:noFill/>
          <a:ln w="15875">
            <a:solidFill>
              <a:srgbClr val="2563EB"/>
            </a:solidFill>
            <a:prstDash val="solid"/>
            <a:tailEnd type="triangle"/>
          </a:ln>
        </p:spPr>
      </p:sp>
      <p:sp>
        <p:nvSpPr>
          <p:cNvPr id="48" name="Text 46"/>
          <p:cNvSpPr/>
          <p:nvPr/>
        </p:nvSpPr>
        <p:spPr>
          <a:xfrm>
            <a:off x="3749040" y="4937760"/>
            <a:ext cx="1280160" cy="384048"/>
          </a:xfrm>
          <a:prstGeom prst="roundRect">
            <a:avLst>
              <a:gd name="adj" fmla="val 14286"/>
            </a:avLst>
          </a:prstGeom>
          <a:solidFill>
            <a:srgbClr val="EFF6FF"/>
          </a:solidFill>
          <a:ln>
            <a:solidFill>
              <a:srgbClr val="BFDBFE"/>
            </a:solidFill>
          </a:ln>
        </p:spPr>
        <p:txBody>
          <a:bodyPr wrap="square" lIns="12700" tIns="12700" rIns="12700" bIns="12700" rtlCol="0" anchor="ctr"/>
          <a:lstStyle/>
          <a:p>
            <a:pPr algn="ctr" indent="0" marL="0">
              <a:buNone/>
            </a:pPr>
            <a:r>
              <a:rPr lang="en-US" sz="1200" dirty="0">
                <a:solidFill>
                  <a:srgbClr val="2563EB"/>
                </a:solidFill>
                <a:latin typeface="Consolas" pitchFamily="34" charset="0"/>
                <a:ea typeface="Consolas" pitchFamily="34" charset="-122"/>
                <a:cs typeface="Consolas" pitchFamily="34" charset="-120"/>
              </a:rPr>
              <a:t>toista</a:t>
            </a:r>
            <a:endParaRPr lang="en-US" sz="1200" dirty="0"/>
          </a:p>
        </p:txBody>
      </p:sp>
      <p:sp>
        <p:nvSpPr>
          <p:cNvPr id="49" name="Shape 47"/>
          <p:cNvSpPr/>
          <p:nvPr/>
        </p:nvSpPr>
        <p:spPr>
          <a:xfrm>
            <a:off x="5047488" y="5129784"/>
            <a:ext cx="182880" cy="0"/>
          </a:xfrm>
          <a:prstGeom prst="line">
            <a:avLst/>
          </a:prstGeom>
          <a:noFill/>
          <a:ln w="15875">
            <a:solidFill>
              <a:srgbClr val="2563EB"/>
            </a:solidFill>
            <a:prstDash val="solid"/>
            <a:tailEnd type="triangle"/>
          </a:ln>
        </p:spPr>
      </p:sp>
      <p:sp>
        <p:nvSpPr>
          <p:cNvPr id="50" name="Text 48"/>
          <p:cNvSpPr/>
          <p:nvPr/>
        </p:nvSpPr>
        <p:spPr>
          <a:xfrm>
            <a:off x="5257800" y="4937760"/>
            <a:ext cx="1280160" cy="384048"/>
          </a:xfrm>
          <a:prstGeom prst="roundRect">
            <a:avLst>
              <a:gd name="adj" fmla="val 14286"/>
            </a:avLst>
          </a:prstGeom>
          <a:solidFill>
            <a:srgbClr val="EFF6FF"/>
          </a:solidFill>
          <a:ln>
            <a:solidFill>
              <a:srgbClr val="BFDBFE"/>
            </a:solidFill>
          </a:ln>
        </p:spPr>
        <p:txBody>
          <a:bodyPr wrap="square" lIns="12700" tIns="12700" rIns="12700" bIns="12700" rtlCol="0" anchor="ctr"/>
          <a:lstStyle/>
          <a:p>
            <a:pPr algn="ctr" indent="0" marL="0">
              <a:buNone/>
            </a:pPr>
            <a:r>
              <a:rPr lang="en-US" sz="1200" dirty="0">
                <a:solidFill>
                  <a:srgbClr val="2563EB"/>
                </a:solidFill>
                <a:latin typeface="Consolas" pitchFamily="34" charset="0"/>
                <a:ea typeface="Consolas" pitchFamily="34" charset="-122"/>
                <a:cs typeface="Consolas" pitchFamily="34" charset="-120"/>
              </a:rPr>
              <a:t>korjaa</a:t>
            </a:r>
            <a:endParaRPr lang="en-US" sz="1200" dirty="0"/>
          </a:p>
        </p:txBody>
      </p:sp>
      <p:sp>
        <p:nvSpPr>
          <p:cNvPr id="51" name="Shape 49"/>
          <p:cNvSpPr/>
          <p:nvPr/>
        </p:nvSpPr>
        <p:spPr>
          <a:xfrm>
            <a:off x="6556248" y="5129784"/>
            <a:ext cx="182880" cy="0"/>
          </a:xfrm>
          <a:prstGeom prst="line">
            <a:avLst/>
          </a:prstGeom>
          <a:noFill/>
          <a:ln w="15875">
            <a:solidFill>
              <a:srgbClr val="2563EB"/>
            </a:solidFill>
            <a:prstDash val="solid"/>
            <a:tailEnd type="triangle"/>
          </a:ln>
        </p:spPr>
      </p:sp>
      <p:sp>
        <p:nvSpPr>
          <p:cNvPr id="52" name="Text 50"/>
          <p:cNvSpPr/>
          <p:nvPr/>
        </p:nvSpPr>
        <p:spPr>
          <a:xfrm>
            <a:off x="6766560" y="4937760"/>
            <a:ext cx="1280160" cy="384048"/>
          </a:xfrm>
          <a:prstGeom prst="roundRect">
            <a:avLst>
              <a:gd name="adj" fmla="val 14286"/>
            </a:avLst>
          </a:prstGeom>
          <a:solidFill>
            <a:srgbClr val="EFF6FF"/>
          </a:solidFill>
          <a:ln>
            <a:solidFill>
              <a:srgbClr val="BFDBFE"/>
            </a:solidFill>
          </a:ln>
        </p:spPr>
        <p:txBody>
          <a:bodyPr wrap="square" lIns="12700" tIns="12700" rIns="12700" bIns="12700" rtlCol="0" anchor="ctr"/>
          <a:lstStyle/>
          <a:p>
            <a:pPr algn="ctr" indent="0" marL="0">
              <a:buNone/>
            </a:pPr>
            <a:r>
              <a:rPr lang="en-US" sz="1200" dirty="0">
                <a:solidFill>
                  <a:srgbClr val="2563EB"/>
                </a:solidFill>
                <a:latin typeface="Consolas" pitchFamily="34" charset="0"/>
                <a:ea typeface="Consolas" pitchFamily="34" charset="-122"/>
                <a:cs typeface="Consolas" pitchFamily="34" charset="-120"/>
              </a:rPr>
              <a:t>tarkista</a:t>
            </a:r>
            <a:endParaRPr lang="en-US" sz="1200" dirty="0"/>
          </a:p>
        </p:txBody>
      </p:sp>
      <p:sp>
        <p:nvSpPr>
          <p:cNvPr id="53" name="Shape 51"/>
          <p:cNvSpPr/>
          <p:nvPr/>
        </p:nvSpPr>
        <p:spPr>
          <a:xfrm>
            <a:off x="8065008" y="5129784"/>
            <a:ext cx="182880" cy="0"/>
          </a:xfrm>
          <a:prstGeom prst="line">
            <a:avLst/>
          </a:prstGeom>
          <a:noFill/>
          <a:ln w="15875">
            <a:solidFill>
              <a:srgbClr val="2563EB"/>
            </a:solidFill>
            <a:prstDash val="solid"/>
            <a:tailEnd type="triangle"/>
          </a:ln>
        </p:spPr>
      </p:sp>
      <p:sp>
        <p:nvSpPr>
          <p:cNvPr id="54" name="Text 52"/>
          <p:cNvSpPr/>
          <p:nvPr/>
        </p:nvSpPr>
        <p:spPr>
          <a:xfrm>
            <a:off x="8275320" y="4937760"/>
            <a:ext cx="1280160" cy="384048"/>
          </a:xfrm>
          <a:prstGeom prst="roundRect">
            <a:avLst>
              <a:gd name="adj" fmla="val 14286"/>
            </a:avLst>
          </a:prstGeom>
          <a:solidFill>
            <a:srgbClr val="EFF6FF"/>
          </a:solidFill>
          <a:ln>
            <a:solidFill>
              <a:srgbClr val="BFDBFE"/>
            </a:solidFill>
          </a:ln>
        </p:spPr>
        <p:txBody>
          <a:bodyPr wrap="square" lIns="12700" tIns="12700" rIns="12700" bIns="12700" rtlCol="0" anchor="ctr"/>
          <a:lstStyle/>
          <a:p>
            <a:pPr algn="ctr" indent="0" marL="0">
              <a:buNone/>
            </a:pPr>
            <a:r>
              <a:rPr lang="en-US" sz="1200" dirty="0">
                <a:solidFill>
                  <a:srgbClr val="2563EB"/>
                </a:solidFill>
                <a:latin typeface="Consolas" pitchFamily="34" charset="0"/>
                <a:ea typeface="Consolas" pitchFamily="34" charset="-122"/>
                <a:cs typeface="Consolas" pitchFamily="34" charset="-120"/>
              </a:rPr>
              <a:t>luovuta</a:t>
            </a:r>
            <a:endParaRPr lang="en-US" sz="1200" dirty="0"/>
          </a:p>
        </p:txBody>
      </p:sp>
      <p:sp>
        <p:nvSpPr>
          <p:cNvPr id="55" name="Shape 53"/>
          <p:cNvSpPr/>
          <p:nvPr/>
        </p:nvSpPr>
        <p:spPr>
          <a:xfrm>
            <a:off x="9573768" y="5129784"/>
            <a:ext cx="182880" cy="0"/>
          </a:xfrm>
          <a:prstGeom prst="line">
            <a:avLst/>
          </a:prstGeom>
          <a:noFill/>
          <a:ln w="15875">
            <a:solidFill>
              <a:srgbClr val="2563EB"/>
            </a:solidFill>
            <a:prstDash val="solid"/>
            <a:tailEnd type="triangle"/>
          </a:ln>
        </p:spPr>
      </p:sp>
      <p:sp>
        <p:nvSpPr>
          <p:cNvPr id="56" name="Text 54"/>
          <p:cNvSpPr/>
          <p:nvPr/>
        </p:nvSpPr>
        <p:spPr>
          <a:xfrm>
            <a:off x="9784080" y="4937760"/>
            <a:ext cx="1280160" cy="384048"/>
          </a:xfrm>
          <a:prstGeom prst="roundRect">
            <a:avLst>
              <a:gd name="adj" fmla="val 14286"/>
            </a:avLst>
          </a:prstGeom>
          <a:solidFill>
            <a:srgbClr val="EFF6FF"/>
          </a:solidFill>
          <a:ln>
            <a:solidFill>
              <a:srgbClr val="BFDBFE"/>
            </a:solidFill>
          </a:ln>
        </p:spPr>
        <p:txBody>
          <a:bodyPr wrap="square" lIns="12700" tIns="12700" rIns="12700" bIns="12700" rtlCol="0" anchor="ctr"/>
          <a:lstStyle/>
          <a:p>
            <a:pPr algn="ctr" indent="0" marL="0">
              <a:buNone/>
            </a:pPr>
            <a:r>
              <a:rPr lang="en-US" sz="1200" dirty="0">
                <a:solidFill>
                  <a:srgbClr val="2563EB"/>
                </a:solidFill>
                <a:latin typeface="Consolas" pitchFamily="34" charset="0"/>
                <a:ea typeface="Consolas" pitchFamily="34" charset="-122"/>
                <a:cs typeface="Consolas" pitchFamily="34" charset="-120"/>
              </a:rPr>
              <a:t>seuraa</a:t>
            </a:r>
            <a:endParaRPr lang="en-US" sz="1200" dirty="0"/>
          </a:p>
        </p:txBody>
      </p:sp>
      <p:sp>
        <p:nvSpPr>
          <p:cNvPr id="57" name="Alarivi"/>
          <p:cNvSpPr txBox="1"/>
          <p:nvPr/>
        </p:nvSpPr>
        <p:spPr>
          <a:xfrm>
            <a:off x="548640" y="546811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Agentti saa tehdä tästä ison osan. Katsotaan, mitä sinulle jää.</a:t>
            </a:r>
            <a:endParaRPr lang="en-US" sz="2000" dirty="0"/>
          </a:p>
        </p:txBody>
      </p:sp>
      <p:sp>
        <p:nvSpPr>
          <p:cNvPr id="58"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kuvitteellinen esimerkki.</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Kerro, miltä valmis näyttää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Sama pyyntö kahdella tavalla</a:t>
            </a:r>
            <a:endParaRPr lang="en-US" sz="1800" dirty="0"/>
          </a:p>
        </p:txBody>
      </p:sp>
      <p:sp>
        <p:nvSpPr>
          <p:cNvPr id="5" name="Kortti"/>
          <p:cNvSpPr/>
          <p:nvPr/>
        </p:nvSpPr>
        <p:spPr>
          <a:xfrm>
            <a:off x="548640" y="1828800"/>
            <a:ext cx="3657600" cy="2194560"/>
          </a:xfrm>
          <a:prstGeom prst="roundRect">
            <a:avLst>
              <a:gd name="adj" fmla="val 4167"/>
            </a:avLst>
          </a:prstGeom>
          <a:solidFill>
            <a:srgbClr val="FFFFFF"/>
          </a:solidFill>
          <a:ln w="12700">
            <a:solidFill>
              <a:srgbClr val="E5E7EB"/>
            </a:solidFill>
            <a:prstDash val="solid"/>
          </a:ln>
        </p:spPr>
      </p:sp>
      <p:sp>
        <p:nvSpPr>
          <p:cNvPr id="6" name="Text 4"/>
          <p:cNvSpPr txBox="1"/>
          <p:nvPr/>
        </p:nvSpPr>
        <p:spPr>
          <a:xfrm>
            <a:off x="777240" y="1965960"/>
            <a:ext cx="3200400" cy="320040"/>
          </a:xfrm>
          <a:prstGeom prst="rect">
            <a:avLst/>
          </a:prstGeom>
          <a:noFill/>
          <a:ln/>
        </p:spPr>
        <p:txBody>
          <a:bodyPr wrap="square" lIns="0" tIns="0" rIns="0" bIns="0" rtlCol="0" anchor="t"/>
          <a:lstStyle/>
          <a:p>
            <a:pPr algn="l" indent="0" marL="0">
              <a:buNone/>
            </a:pPr>
            <a:r>
              <a:rPr lang="en-US" sz="1200" dirty="0">
                <a:solidFill>
                  <a:srgbClr val="6B7280"/>
                </a:solidFill>
                <a:latin typeface="Consolas" pitchFamily="34" charset="0"/>
                <a:ea typeface="Consolas" pitchFamily="34" charset="-122"/>
                <a:cs typeface="Consolas" pitchFamily="34" charset="-120"/>
              </a:rPr>
              <a:t>// epämääräinen</a:t>
            </a:r>
            <a:endParaRPr lang="en-US" sz="1200" dirty="0"/>
          </a:p>
        </p:txBody>
      </p:sp>
      <p:sp>
        <p:nvSpPr>
          <p:cNvPr id="7" name="Text 5"/>
          <p:cNvSpPr txBox="1"/>
          <p:nvPr/>
        </p:nvSpPr>
        <p:spPr>
          <a:xfrm>
            <a:off x="777240" y="2423160"/>
            <a:ext cx="3200400" cy="1280160"/>
          </a:xfrm>
          <a:prstGeom prst="rect">
            <a:avLst/>
          </a:prstGeom>
          <a:noFill/>
          <a:ln/>
        </p:spPr>
        <p:txBody>
          <a:bodyPr wrap="square" lIns="0" tIns="0" rIns="0" bIns="0" rtlCol="0" anchor="ctr"/>
          <a:lstStyle/>
          <a:p>
            <a:pPr algn="l" indent="0" marL="0">
              <a:buNone/>
            </a:pPr>
            <a:r>
              <a:rPr lang="en-US" sz="2400" b="1" dirty="0">
                <a:solidFill>
                  <a:srgbClr val="111827"/>
                </a:solidFill>
                <a:latin typeface="Segoe UI" pitchFamily="34" charset="0"/>
                <a:ea typeface="Segoe UI" pitchFamily="34" charset="-122"/>
                <a:cs typeface="Segoe UI" pitchFamily="34" charset="-120"/>
              </a:rPr>
              <a:t>”Korjaa osoitelomake.”</a:t>
            </a:r>
            <a:endParaRPr lang="en-US" sz="2400" dirty="0"/>
          </a:p>
        </p:txBody>
      </p:sp>
      <p:sp>
        <p:nvSpPr>
          <p:cNvPr id="8" name="Shape 6"/>
          <p:cNvSpPr/>
          <p:nvPr/>
        </p:nvSpPr>
        <p:spPr>
          <a:xfrm>
            <a:off x="4343400" y="2926080"/>
            <a:ext cx="502920" cy="0"/>
          </a:xfrm>
          <a:prstGeom prst="line">
            <a:avLst/>
          </a:prstGeom>
          <a:noFill/>
          <a:ln w="31750">
            <a:solidFill>
              <a:srgbClr val="9CA3AF"/>
            </a:solidFill>
            <a:prstDash val="solid"/>
            <a:tailEnd type="triangle"/>
          </a:ln>
        </p:spPr>
      </p:sp>
      <p:sp>
        <p:nvSpPr>
          <p:cNvPr id="9" name="Kortti"/>
          <p:cNvSpPr/>
          <p:nvPr/>
        </p:nvSpPr>
        <p:spPr>
          <a:xfrm>
            <a:off x="5029200" y="1737360"/>
            <a:ext cx="6583680" cy="3429000"/>
          </a:xfrm>
          <a:prstGeom prst="roundRect">
            <a:avLst>
              <a:gd name="adj" fmla="val 2667"/>
            </a:avLst>
          </a:prstGeom>
          <a:solidFill>
            <a:srgbClr val="FFFFFF"/>
          </a:solidFill>
          <a:ln w="12700">
            <a:solidFill>
              <a:srgbClr val="E5E7EB"/>
            </a:solidFill>
            <a:prstDash val="solid"/>
          </a:ln>
        </p:spPr>
      </p:sp>
      <p:sp>
        <p:nvSpPr>
          <p:cNvPr id="10" name="Text 8"/>
          <p:cNvSpPr txBox="1"/>
          <p:nvPr/>
        </p:nvSpPr>
        <p:spPr>
          <a:xfrm>
            <a:off x="5303520" y="1901952"/>
            <a:ext cx="1554480" cy="658368"/>
          </a:xfrm>
          <a:prstGeom prst="rect">
            <a:avLst/>
          </a:prstGeom>
          <a:noFill/>
          <a:ln/>
        </p:spPr>
        <p:txBody>
          <a:bodyPr wrap="square" lIns="0" tIns="0" rIns="0" bIns="0" rtlCol="0" anchor="ctr"/>
          <a:lstStyle/>
          <a:p>
            <a:pPr algn="l" indent="0" marL="0">
              <a:buNone/>
            </a:pPr>
            <a:r>
              <a:rPr lang="en-US" sz="1600" b="1" dirty="0">
                <a:solidFill>
                  <a:srgbClr val="6B7280"/>
                </a:solidFill>
                <a:latin typeface="Consolas" pitchFamily="34" charset="0"/>
                <a:ea typeface="Consolas" pitchFamily="34" charset="-122"/>
                <a:cs typeface="Consolas" pitchFamily="34" charset="-120"/>
              </a:rPr>
              <a:t>ongelma:</a:t>
            </a:r>
            <a:endParaRPr lang="en-US" sz="1600" dirty="0"/>
          </a:p>
        </p:txBody>
      </p:sp>
      <p:sp>
        <p:nvSpPr>
          <p:cNvPr id="11" name="Text 9"/>
          <p:cNvSpPr txBox="1"/>
          <p:nvPr/>
        </p:nvSpPr>
        <p:spPr>
          <a:xfrm>
            <a:off x="6858000" y="1901952"/>
            <a:ext cx="4663440" cy="658368"/>
          </a:xfrm>
          <a:prstGeom prst="rect">
            <a:avLst/>
          </a:prstGeom>
          <a:noFill/>
          <a:ln/>
        </p:spPr>
        <p:txBody>
          <a:bodyPr wrap="square" lIns="0" tIns="0" rIns="0" bIns="0" rtlCol="0" anchor="ctr"/>
          <a:lstStyle/>
          <a:p>
            <a:pPr algn="l" indent="0" marL="0">
              <a:buNone/>
            </a:pPr>
            <a:r>
              <a:rPr lang="en-US" sz="1800" dirty="0">
                <a:solidFill>
                  <a:srgbClr val="111827"/>
                </a:solidFill>
                <a:latin typeface="Segoe UI" pitchFamily="34" charset="0"/>
                <a:ea typeface="Segoe UI" pitchFamily="34" charset="-122"/>
                <a:cs typeface="Segoe UI" pitchFamily="34" charset="-120"/>
              </a:rPr>
              <a:t>Huoneiston numero katoaa tallennuksessa.</a:t>
            </a:r>
            <a:endParaRPr lang="en-US" sz="1800" dirty="0"/>
          </a:p>
        </p:txBody>
      </p:sp>
      <p:sp>
        <p:nvSpPr>
          <p:cNvPr id="12" name="Text 10"/>
          <p:cNvSpPr txBox="1"/>
          <p:nvPr/>
        </p:nvSpPr>
        <p:spPr>
          <a:xfrm>
            <a:off x="5303520" y="2688336"/>
            <a:ext cx="1554480" cy="658368"/>
          </a:xfrm>
          <a:prstGeom prst="rect">
            <a:avLst/>
          </a:prstGeom>
          <a:noFill/>
          <a:ln/>
        </p:spPr>
        <p:txBody>
          <a:bodyPr wrap="square" lIns="0" tIns="0" rIns="0" bIns="0" rtlCol="0" anchor="ctr"/>
          <a:lstStyle/>
          <a:p>
            <a:pPr algn="l" indent="0" marL="0">
              <a:buNone/>
            </a:pPr>
            <a:r>
              <a:rPr lang="en-US" sz="1600" b="1" dirty="0">
                <a:solidFill>
                  <a:srgbClr val="6B7280"/>
                </a:solidFill>
                <a:latin typeface="Consolas" pitchFamily="34" charset="0"/>
                <a:ea typeface="Consolas" pitchFamily="34" charset="-122"/>
                <a:cs typeface="Consolas" pitchFamily="34" charset="-120"/>
              </a:rPr>
              <a:t>tavoite:</a:t>
            </a:r>
            <a:endParaRPr lang="en-US" sz="1600" dirty="0"/>
          </a:p>
        </p:txBody>
      </p:sp>
      <p:sp>
        <p:nvSpPr>
          <p:cNvPr id="13" name="Text 11"/>
          <p:cNvSpPr txBox="1"/>
          <p:nvPr/>
        </p:nvSpPr>
        <p:spPr>
          <a:xfrm>
            <a:off x="6858000" y="2688336"/>
            <a:ext cx="4663440" cy="658368"/>
          </a:xfrm>
          <a:prstGeom prst="rect">
            <a:avLst/>
          </a:prstGeom>
          <a:noFill/>
          <a:ln/>
        </p:spPr>
        <p:txBody>
          <a:bodyPr wrap="square" lIns="0" tIns="0" rIns="0" bIns="0" rtlCol="0" anchor="ctr"/>
          <a:lstStyle/>
          <a:p>
            <a:pPr algn="l" indent="0" marL="0">
              <a:buNone/>
            </a:pPr>
            <a:r>
              <a:rPr lang="en-US" sz="1800" dirty="0">
                <a:solidFill>
                  <a:srgbClr val="111827"/>
                </a:solidFill>
                <a:latin typeface="Segoe UI" pitchFamily="34" charset="0"/>
                <a:ea typeface="Segoe UI" pitchFamily="34" charset="-122"/>
                <a:cs typeface="Segoe UI" pitchFamily="34" charset="-120"/>
              </a:rPr>
              <a:t>Osoite säilyy myös uudelleenlatauksessa.</a:t>
            </a:r>
            <a:endParaRPr lang="en-US" sz="1800" dirty="0"/>
          </a:p>
        </p:txBody>
      </p:sp>
      <p:sp>
        <p:nvSpPr>
          <p:cNvPr id="14" name="Text 12"/>
          <p:cNvSpPr txBox="1"/>
          <p:nvPr/>
        </p:nvSpPr>
        <p:spPr>
          <a:xfrm>
            <a:off x="5303520" y="3474720"/>
            <a:ext cx="1554480" cy="658368"/>
          </a:xfrm>
          <a:prstGeom prst="rect">
            <a:avLst/>
          </a:prstGeom>
          <a:noFill/>
          <a:ln/>
        </p:spPr>
        <p:txBody>
          <a:bodyPr wrap="square" lIns="0" tIns="0" rIns="0" bIns="0" rtlCol="0" anchor="ctr"/>
          <a:lstStyle/>
          <a:p>
            <a:pPr algn="l" indent="0" marL="0">
              <a:buNone/>
            </a:pPr>
            <a:r>
              <a:rPr lang="en-US" sz="1600" b="1" dirty="0">
                <a:solidFill>
                  <a:srgbClr val="6B7280"/>
                </a:solidFill>
                <a:latin typeface="Consolas" pitchFamily="34" charset="0"/>
                <a:ea typeface="Consolas" pitchFamily="34" charset="-122"/>
                <a:cs typeface="Consolas" pitchFamily="34" charset="-120"/>
              </a:rPr>
              <a:t>raja:</a:t>
            </a:r>
            <a:endParaRPr lang="en-US" sz="1600" dirty="0"/>
          </a:p>
        </p:txBody>
      </p:sp>
      <p:sp>
        <p:nvSpPr>
          <p:cNvPr id="15" name="Text 13"/>
          <p:cNvSpPr txBox="1"/>
          <p:nvPr/>
        </p:nvSpPr>
        <p:spPr>
          <a:xfrm>
            <a:off x="6858000" y="3474720"/>
            <a:ext cx="4663440" cy="658368"/>
          </a:xfrm>
          <a:prstGeom prst="rect">
            <a:avLst/>
          </a:prstGeom>
          <a:noFill/>
          <a:ln/>
        </p:spPr>
        <p:txBody>
          <a:bodyPr wrap="square" lIns="0" tIns="0" rIns="0" bIns="0" rtlCol="0" anchor="ctr"/>
          <a:lstStyle/>
          <a:p>
            <a:pPr algn="l" indent="0" marL="0">
              <a:buNone/>
            </a:pPr>
            <a:r>
              <a:rPr lang="en-US" sz="1800" dirty="0">
                <a:solidFill>
                  <a:srgbClr val="111827"/>
                </a:solidFill>
                <a:latin typeface="Segoe UI" pitchFamily="34" charset="0"/>
                <a:ea typeface="Segoe UI" pitchFamily="34" charset="-122"/>
                <a:cs typeface="Segoe UI" pitchFamily="34" charset="-120"/>
              </a:rPr>
              <a:t>Rajapinta ja muu osoitekäytös pysyvät ennallaan.</a:t>
            </a:r>
            <a:endParaRPr lang="en-US" sz="1800" dirty="0"/>
          </a:p>
        </p:txBody>
      </p:sp>
      <p:sp>
        <p:nvSpPr>
          <p:cNvPr id="16" name="Shape 14"/>
          <p:cNvSpPr/>
          <p:nvPr/>
        </p:nvSpPr>
        <p:spPr>
          <a:xfrm>
            <a:off x="5074920" y="4242816"/>
            <a:ext cx="6492240" cy="713232"/>
          </a:xfrm>
          <a:prstGeom prst="rect">
            <a:avLst/>
          </a:prstGeom>
          <a:solidFill>
            <a:srgbClr val="EFF6FF"/>
          </a:solidFill>
          <a:ln w="12700">
            <a:solidFill>
              <a:srgbClr val="EFF6FF"/>
            </a:solidFill>
            <a:prstDash val="solid"/>
          </a:ln>
        </p:spPr>
      </p:sp>
      <p:sp>
        <p:nvSpPr>
          <p:cNvPr id="17" name="Text 15"/>
          <p:cNvSpPr txBox="1"/>
          <p:nvPr/>
        </p:nvSpPr>
        <p:spPr>
          <a:xfrm>
            <a:off x="5303520" y="4261104"/>
            <a:ext cx="1554480" cy="658368"/>
          </a:xfrm>
          <a:prstGeom prst="rect">
            <a:avLst/>
          </a:prstGeom>
          <a:noFill/>
          <a:ln/>
        </p:spPr>
        <p:txBody>
          <a:bodyPr wrap="square" lIns="0" tIns="0" rIns="0" bIns="0" rtlCol="0" anchor="ctr"/>
          <a:lstStyle/>
          <a:p>
            <a:pPr algn="l" indent="0" marL="0">
              <a:buNone/>
            </a:pPr>
            <a:r>
              <a:rPr lang="en-US" sz="1600" b="1" dirty="0">
                <a:solidFill>
                  <a:srgbClr val="2563EB"/>
                </a:solidFill>
                <a:latin typeface="Consolas" pitchFamily="34" charset="0"/>
                <a:ea typeface="Consolas" pitchFamily="34" charset="-122"/>
                <a:cs typeface="Consolas" pitchFamily="34" charset="-120"/>
              </a:rPr>
              <a:t>näyttö:</a:t>
            </a:r>
            <a:endParaRPr lang="en-US" sz="1600" dirty="0"/>
          </a:p>
        </p:txBody>
      </p:sp>
      <p:sp>
        <p:nvSpPr>
          <p:cNvPr id="18" name="Text 16"/>
          <p:cNvSpPr txBox="1"/>
          <p:nvPr/>
        </p:nvSpPr>
        <p:spPr>
          <a:xfrm>
            <a:off x="6858000" y="4261104"/>
            <a:ext cx="4663440" cy="658368"/>
          </a:xfrm>
          <a:prstGeom prst="rect">
            <a:avLst/>
          </a:prstGeom>
          <a:noFill/>
          <a:ln/>
        </p:spPr>
        <p:txBody>
          <a:bodyPr wrap="square" lIns="0" tIns="0" rIns="0" bIns="0" rtlCol="0" anchor="ctr"/>
          <a:lstStyle/>
          <a:p>
            <a:pPr algn="l" indent="0" marL="0">
              <a:buNone/>
            </a:pPr>
            <a:r>
              <a:rPr lang="en-US" sz="1800" b="1" dirty="0">
                <a:solidFill>
                  <a:srgbClr val="2563EB"/>
                </a:solidFill>
                <a:latin typeface="Segoe UI" pitchFamily="34" charset="0"/>
                <a:ea typeface="Segoe UI" pitchFamily="34" charset="-122"/>
                <a:cs typeface="Segoe UI" pitchFamily="34" charset="-120"/>
              </a:rPr>
              <a:t>Toistettu virhe, regressiotesti, toimiva tallennus.</a:t>
            </a:r>
            <a:endParaRPr lang="en-US" sz="1800" dirty="0"/>
          </a:p>
        </p:txBody>
      </p:sp>
      <p:sp>
        <p:nvSpPr>
          <p:cNvPr id="19" name="Alarivi"/>
          <p:cNvSpPr txBox="1"/>
          <p:nvPr/>
        </p:nvSpPr>
        <p:spPr>
          <a:xfrm>
            <a:off x="548640" y="5559552"/>
            <a:ext cx="7680960" cy="548640"/>
          </a:xfrm>
          <a:prstGeom prst="rect">
            <a:avLst/>
          </a:prstGeom>
          <a:noFill/>
          <a:ln/>
        </p:spPr>
        <p:txBody>
          <a:bodyPr wrap="square" lIns="0" tIns="0" rIns="0" bIns="0" rtlCol="0" anchor="ctr"/>
          <a:lstStyle/>
          <a:p>
            <a:pPr algn="l" indent="0" marL="0">
              <a:buNone/>
            </a:pPr>
            <a:r>
              <a:rPr lang="en-US" sz="1800" b="1" dirty="0">
                <a:solidFill>
                  <a:srgbClr val="111827"/>
                </a:solidFill>
                <a:latin typeface="Segoe UI" pitchFamily="34" charset="0"/>
                <a:ea typeface="Segoe UI" pitchFamily="34" charset="-122"/>
                <a:cs typeface="Segoe UI" pitchFamily="34" charset="-120"/>
              </a:rPr>
              <a:t>Jos et osaa sanoa, mikä riittää näytöksi, et vielä tiedä, mitä pyydät.</a:t>
            </a:r>
            <a:endParaRPr lang="en-US" sz="1800" dirty="0"/>
          </a:p>
        </p:txBody>
      </p:sp>
      <p:sp>
        <p:nvSpPr>
          <p:cNvPr id="20" name="Shape 18"/>
          <p:cNvSpPr/>
          <p:nvPr/>
        </p:nvSpPr>
        <p:spPr>
          <a:xfrm>
            <a:off x="8412480" y="6455664"/>
            <a:ext cx="3291840" cy="0"/>
          </a:xfrm>
          <a:prstGeom prst="line">
            <a:avLst/>
          </a:prstGeom>
          <a:noFill/>
          <a:ln w="19050">
            <a:solidFill>
              <a:srgbClr val="E5E7EB"/>
            </a:solidFill>
            <a:prstDash val="solid"/>
          </a:ln>
        </p:spPr>
      </p:sp>
      <p:sp>
        <p:nvSpPr>
          <p:cNvPr id="21" name="Shape 19"/>
          <p:cNvSpPr/>
          <p:nvPr/>
        </p:nvSpPr>
        <p:spPr>
          <a:xfrm>
            <a:off x="8311896" y="6355080"/>
            <a:ext cx="201168" cy="201168"/>
          </a:xfrm>
          <a:prstGeom prst="ellipse">
            <a:avLst/>
          </a:prstGeom>
          <a:solidFill>
            <a:srgbClr val="2563EB"/>
          </a:solidFill>
          <a:ln w="9525">
            <a:solidFill>
              <a:srgbClr val="2563EB"/>
            </a:solidFill>
            <a:prstDash val="solid"/>
          </a:ln>
        </p:spPr>
      </p:sp>
      <p:sp>
        <p:nvSpPr>
          <p:cNvPr id="22" name="Shape 20"/>
          <p:cNvSpPr/>
          <p:nvPr/>
        </p:nvSpPr>
        <p:spPr>
          <a:xfrm>
            <a:off x="8901684" y="6396228"/>
            <a:ext cx="118872" cy="118872"/>
          </a:xfrm>
          <a:prstGeom prst="ellipse">
            <a:avLst/>
          </a:prstGeom>
          <a:solidFill>
            <a:srgbClr val="FFFFFF"/>
          </a:solidFill>
          <a:ln w="9525">
            <a:solidFill>
              <a:srgbClr val="9CA3AF"/>
            </a:solidFill>
            <a:prstDash val="solid"/>
          </a:ln>
        </p:spPr>
      </p:sp>
      <p:sp>
        <p:nvSpPr>
          <p:cNvPr id="23" name="Shape 21"/>
          <p:cNvSpPr/>
          <p:nvPr/>
        </p:nvSpPr>
        <p:spPr>
          <a:xfrm>
            <a:off x="9450324" y="6396228"/>
            <a:ext cx="118872" cy="118872"/>
          </a:xfrm>
          <a:prstGeom prst="ellipse">
            <a:avLst/>
          </a:prstGeom>
          <a:solidFill>
            <a:srgbClr val="FFFFFF"/>
          </a:solidFill>
          <a:ln w="9525">
            <a:solidFill>
              <a:srgbClr val="9CA3AF"/>
            </a:solidFill>
            <a:prstDash val="solid"/>
          </a:ln>
        </p:spPr>
      </p:sp>
      <p:sp>
        <p:nvSpPr>
          <p:cNvPr id="24" name="Shape 22"/>
          <p:cNvSpPr/>
          <p:nvPr/>
        </p:nvSpPr>
        <p:spPr>
          <a:xfrm>
            <a:off x="9998964" y="6396228"/>
            <a:ext cx="118872" cy="118872"/>
          </a:xfrm>
          <a:prstGeom prst="ellipse">
            <a:avLst/>
          </a:prstGeom>
          <a:solidFill>
            <a:srgbClr val="FFFFFF"/>
          </a:solidFill>
          <a:ln w="9525">
            <a:solidFill>
              <a:srgbClr val="9CA3AF"/>
            </a:solidFill>
            <a:prstDash val="solid"/>
          </a:ln>
        </p:spPr>
      </p:sp>
      <p:sp>
        <p:nvSpPr>
          <p:cNvPr id="25" name="Shape 23"/>
          <p:cNvSpPr/>
          <p:nvPr/>
        </p:nvSpPr>
        <p:spPr>
          <a:xfrm>
            <a:off x="10547604" y="6396228"/>
            <a:ext cx="118872" cy="118872"/>
          </a:xfrm>
          <a:prstGeom prst="ellipse">
            <a:avLst/>
          </a:prstGeom>
          <a:solidFill>
            <a:srgbClr val="FFFFFF"/>
          </a:solidFill>
          <a:ln w="9525">
            <a:solidFill>
              <a:srgbClr val="9CA3AF"/>
            </a:solidFill>
            <a:prstDash val="solid"/>
          </a:ln>
        </p:spPr>
      </p:sp>
      <p:sp>
        <p:nvSpPr>
          <p:cNvPr id="26" name="Shape 24"/>
          <p:cNvSpPr/>
          <p:nvPr/>
        </p:nvSpPr>
        <p:spPr>
          <a:xfrm>
            <a:off x="11096244" y="6396228"/>
            <a:ext cx="118872" cy="118872"/>
          </a:xfrm>
          <a:prstGeom prst="ellipse">
            <a:avLst/>
          </a:prstGeom>
          <a:solidFill>
            <a:srgbClr val="FFFFFF"/>
          </a:solidFill>
          <a:ln w="9525">
            <a:solidFill>
              <a:srgbClr val="9CA3AF"/>
            </a:solidFill>
            <a:prstDash val="solid"/>
          </a:ln>
        </p:spPr>
      </p:sp>
      <p:sp>
        <p:nvSpPr>
          <p:cNvPr id="27" name="Shape 25"/>
          <p:cNvSpPr/>
          <p:nvPr/>
        </p:nvSpPr>
        <p:spPr>
          <a:xfrm>
            <a:off x="11644884" y="6396228"/>
            <a:ext cx="118872" cy="118872"/>
          </a:xfrm>
          <a:prstGeom prst="ellipse">
            <a:avLst/>
          </a:prstGeom>
          <a:solidFill>
            <a:srgbClr val="FFFFFF"/>
          </a:solidFill>
          <a:ln w="9525">
            <a:solidFill>
              <a:srgbClr val="9CA3AF"/>
            </a:solidFill>
            <a:prstDash val="solid"/>
          </a:ln>
        </p:spPr>
      </p:sp>
      <p:sp>
        <p:nvSpPr>
          <p:cNvPr id="28" name="Text 26"/>
          <p:cNvSpPr txBox="1"/>
          <p:nvPr/>
        </p:nvSpPr>
        <p:spPr>
          <a:xfrm>
            <a:off x="768096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rajaa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Kerro agentille se, mitä koodi ei kerro</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AGENTS.md (Codex) · CLAUDE.md (Claude Code)</a:t>
            </a:r>
            <a:endParaRPr lang="en-US" sz="1800" dirty="0"/>
          </a:p>
        </p:txBody>
      </p:sp>
      <p:sp>
        <p:nvSpPr>
          <p:cNvPr id="5" name="Kortti"/>
          <p:cNvSpPr/>
          <p:nvPr/>
        </p:nvSpPr>
        <p:spPr>
          <a:xfrm>
            <a:off x="548640" y="1783080"/>
            <a:ext cx="3840480" cy="3291840"/>
          </a:xfrm>
          <a:prstGeom prst="roundRect">
            <a:avLst>
              <a:gd name="adj" fmla="val 2778"/>
            </a:avLst>
          </a:prstGeom>
          <a:solidFill>
            <a:srgbClr val="F6F8FA"/>
          </a:solidFill>
          <a:ln w="12700">
            <a:solidFill>
              <a:srgbClr val="D0D7DE"/>
            </a:solidFill>
            <a:prstDash val="solid"/>
          </a:ln>
        </p:spPr>
      </p:sp>
      <p:sp>
        <p:nvSpPr>
          <p:cNvPr id="6" name="Text 4"/>
          <p:cNvSpPr txBox="1"/>
          <p:nvPr/>
        </p:nvSpPr>
        <p:spPr>
          <a:xfrm>
            <a:off x="777240" y="1965960"/>
            <a:ext cx="3474720" cy="411480"/>
          </a:xfrm>
          <a:prstGeom prst="rect">
            <a:avLst/>
          </a:prstGeom>
          <a:noFill/>
          <a:ln/>
        </p:spPr>
        <p:txBody>
          <a:bodyPr wrap="square" lIns="0" tIns="0" rIns="0" bIns="0" rtlCol="0" anchor="ctr"/>
          <a:lstStyle/>
          <a:p>
            <a:pPr algn="l" indent="0" marL="0">
              <a:buNone/>
            </a:pPr>
            <a:r>
              <a:rPr lang="en-US" sz="1600" dirty="0">
                <a:solidFill>
                  <a:srgbClr val="111827"/>
                </a:solidFill>
                <a:latin typeface="Consolas" pitchFamily="34" charset="0"/>
                <a:ea typeface="Consolas" pitchFamily="34" charset="-122"/>
                <a:cs typeface="Consolas" pitchFamily="34" charset="-120"/>
              </a:rPr>
              <a:t>osoitepalvelu/</a:t>
            </a:r>
            <a:endParaRPr lang="en-US" sz="1600" dirty="0"/>
          </a:p>
        </p:txBody>
      </p:sp>
      <p:sp>
        <p:nvSpPr>
          <p:cNvPr id="7" name="Text 5"/>
          <p:cNvSpPr txBox="1"/>
          <p:nvPr/>
        </p:nvSpPr>
        <p:spPr>
          <a:xfrm>
            <a:off x="777240" y="2441448"/>
            <a:ext cx="3474720" cy="411480"/>
          </a:xfrm>
          <a:prstGeom prst="rect">
            <a:avLst/>
          </a:prstGeom>
          <a:noFill/>
          <a:ln/>
        </p:spPr>
        <p:txBody>
          <a:bodyPr wrap="square" lIns="0" tIns="0" rIns="0" bIns="0" rtlCol="0" anchor="ctr"/>
          <a:lstStyle/>
          <a:p>
            <a:pPr algn="l" indent="0" marL="0">
              <a:buNone/>
            </a:pPr>
            <a:r>
              <a:rPr lang="en-US" sz="1600" dirty="0">
                <a:solidFill>
                  <a:srgbClr val="111827"/>
                </a:solidFill>
                <a:latin typeface="Consolas" pitchFamily="34" charset="0"/>
                <a:ea typeface="Consolas" pitchFamily="34" charset="-122"/>
                <a:cs typeface="Consolas" pitchFamily="34" charset="-120"/>
              </a:rPr>
              <a:t>├─ src/address.ts</a:t>
            </a:r>
            <a:endParaRPr lang="en-US" sz="1600" dirty="0"/>
          </a:p>
        </p:txBody>
      </p:sp>
      <p:sp>
        <p:nvSpPr>
          <p:cNvPr id="8" name="Text 6"/>
          <p:cNvSpPr txBox="1"/>
          <p:nvPr/>
        </p:nvSpPr>
        <p:spPr>
          <a:xfrm>
            <a:off x="777240" y="2916936"/>
            <a:ext cx="3474720" cy="411480"/>
          </a:xfrm>
          <a:prstGeom prst="rect">
            <a:avLst/>
          </a:prstGeom>
          <a:noFill/>
          <a:ln/>
        </p:spPr>
        <p:txBody>
          <a:bodyPr wrap="square" lIns="0" tIns="0" rIns="0" bIns="0" rtlCol="0" anchor="ctr"/>
          <a:lstStyle/>
          <a:p>
            <a:pPr algn="l" indent="0" marL="0">
              <a:buNone/>
            </a:pPr>
            <a:r>
              <a:rPr lang="en-US" sz="1600" dirty="0">
                <a:solidFill>
                  <a:srgbClr val="111827"/>
                </a:solidFill>
                <a:latin typeface="Consolas" pitchFamily="34" charset="0"/>
                <a:ea typeface="Consolas" pitchFamily="34" charset="-122"/>
                <a:cs typeface="Consolas" pitchFamily="34" charset="-120"/>
              </a:rPr>
              <a:t>├─ tests/address.test.ts</a:t>
            </a:r>
            <a:endParaRPr lang="en-US" sz="1600" dirty="0"/>
          </a:p>
        </p:txBody>
      </p:sp>
      <p:sp>
        <p:nvSpPr>
          <p:cNvPr id="9" name="Text 7"/>
          <p:cNvSpPr txBox="1"/>
          <p:nvPr/>
        </p:nvSpPr>
        <p:spPr>
          <a:xfrm>
            <a:off x="777240" y="3392424"/>
            <a:ext cx="3474720" cy="411480"/>
          </a:xfrm>
          <a:prstGeom prst="rect">
            <a:avLst/>
          </a:prstGeom>
          <a:noFill/>
          <a:ln/>
        </p:spPr>
        <p:txBody>
          <a:bodyPr wrap="square" lIns="0" tIns="0" rIns="0" bIns="0" rtlCol="0" anchor="ctr"/>
          <a:lstStyle/>
          <a:p>
            <a:pPr algn="l" indent="0" marL="0">
              <a:buNone/>
            </a:pPr>
            <a:r>
              <a:rPr lang="en-US" sz="1600" dirty="0">
                <a:solidFill>
                  <a:srgbClr val="111827"/>
                </a:solidFill>
                <a:latin typeface="Consolas" pitchFamily="34" charset="0"/>
                <a:ea typeface="Consolas" pitchFamily="34" charset="-122"/>
                <a:cs typeface="Consolas" pitchFamily="34" charset="-120"/>
              </a:rPr>
              <a:t>├─ package.json</a:t>
            </a:r>
            <a:endParaRPr lang="en-US" sz="1600" dirty="0"/>
          </a:p>
        </p:txBody>
      </p:sp>
      <p:sp>
        <p:nvSpPr>
          <p:cNvPr id="10" name="Text 8"/>
          <p:cNvSpPr txBox="1"/>
          <p:nvPr/>
        </p:nvSpPr>
        <p:spPr>
          <a:xfrm>
            <a:off x="777240" y="3867912"/>
            <a:ext cx="3474720" cy="411480"/>
          </a:xfrm>
          <a:prstGeom prst="rect">
            <a:avLst/>
          </a:prstGeom>
          <a:noFill/>
          <a:ln/>
        </p:spPr>
        <p:txBody>
          <a:bodyPr wrap="square" lIns="0" tIns="0" rIns="0" bIns="0" rtlCol="0" anchor="ctr"/>
          <a:lstStyle/>
          <a:p>
            <a:pPr algn="l" indent="0" marL="0">
              <a:buNone/>
            </a:pPr>
            <a:r>
              <a:rPr lang="en-US" sz="1600" dirty="0">
                <a:solidFill>
                  <a:srgbClr val="111827"/>
                </a:solidFill>
                <a:latin typeface="Consolas" pitchFamily="34" charset="0"/>
                <a:ea typeface="Consolas" pitchFamily="34" charset="-122"/>
                <a:cs typeface="Consolas" pitchFamily="34" charset="-120"/>
              </a:rPr>
              <a:t>├─ README.md</a:t>
            </a:r>
            <a:endParaRPr lang="en-US" sz="1600" dirty="0"/>
          </a:p>
        </p:txBody>
      </p:sp>
      <p:sp>
        <p:nvSpPr>
          <p:cNvPr id="11" name="Text 9"/>
          <p:cNvSpPr txBox="1"/>
          <p:nvPr/>
        </p:nvSpPr>
        <p:spPr>
          <a:xfrm>
            <a:off x="777240" y="4343400"/>
            <a:ext cx="3474720" cy="411480"/>
          </a:xfrm>
          <a:prstGeom prst="rect">
            <a:avLst/>
          </a:prstGeom>
          <a:noFill/>
          <a:ln/>
        </p:spPr>
        <p:txBody>
          <a:bodyPr wrap="square" lIns="0" tIns="0" rIns="0" bIns="0" rtlCol="0" anchor="ctr"/>
          <a:lstStyle/>
          <a:p>
            <a:pPr algn="l" indent="0" marL="0">
              <a:buNone/>
            </a:pPr>
            <a:r>
              <a:rPr lang="en-US" sz="1600" b="1" dirty="0">
                <a:solidFill>
                  <a:srgbClr val="2563EB"/>
                </a:solidFill>
                <a:latin typeface="Consolas" pitchFamily="34" charset="0"/>
                <a:ea typeface="Consolas" pitchFamily="34" charset="-122"/>
                <a:cs typeface="Consolas" pitchFamily="34" charset="-120"/>
              </a:rPr>
              <a:t>└─ AGENTS.md</a:t>
            </a:r>
            <a:endParaRPr lang="en-US" sz="1600" dirty="0"/>
          </a:p>
        </p:txBody>
      </p:sp>
      <p:sp>
        <p:nvSpPr>
          <p:cNvPr id="12" name="Koodikortti"/>
          <p:cNvSpPr/>
          <p:nvPr/>
        </p:nvSpPr>
        <p:spPr>
          <a:xfrm>
            <a:off x="4754880" y="1783080"/>
            <a:ext cx="6858000" cy="2286000"/>
          </a:xfrm>
          <a:prstGeom prst="roundRect">
            <a:avLst>
              <a:gd name="adj" fmla="val 4000"/>
            </a:avLst>
          </a:prstGeom>
          <a:solidFill>
            <a:srgbClr val="F6F8FA"/>
          </a:solidFill>
          <a:ln w="12700">
            <a:solidFill>
              <a:srgbClr val="D0D7DE"/>
            </a:solidFill>
            <a:prstDash val="solid"/>
          </a:ln>
        </p:spPr>
      </p:sp>
      <p:sp>
        <p:nvSpPr>
          <p:cNvPr id="13" name="Shape 11"/>
          <p:cNvSpPr/>
          <p:nvPr/>
        </p:nvSpPr>
        <p:spPr>
          <a:xfrm>
            <a:off x="4754880" y="2194560"/>
            <a:ext cx="6858000" cy="0"/>
          </a:xfrm>
          <a:prstGeom prst="line">
            <a:avLst/>
          </a:prstGeom>
          <a:noFill/>
          <a:ln w="12700">
            <a:solidFill>
              <a:srgbClr val="D0D7DE"/>
            </a:solidFill>
            <a:prstDash val="solid"/>
          </a:ln>
        </p:spPr>
      </p:sp>
      <p:sp>
        <p:nvSpPr>
          <p:cNvPr id="14" name="Text 12"/>
          <p:cNvSpPr txBox="1"/>
          <p:nvPr/>
        </p:nvSpPr>
        <p:spPr>
          <a:xfrm>
            <a:off x="4983480" y="1856232"/>
            <a:ext cx="6400800" cy="274320"/>
          </a:xfrm>
          <a:prstGeom prst="rect">
            <a:avLst/>
          </a:prstGeom>
          <a:noFill/>
          <a:ln/>
        </p:spPr>
        <p:txBody>
          <a:bodyPr wrap="square" lIns="0" tIns="0" rIns="0" bIns="0" rtlCol="0" anchor="ctr"/>
          <a:lstStyle/>
          <a:p>
            <a:pPr algn="l" indent="0" marL="0">
              <a:buNone/>
            </a:pPr>
            <a:r>
              <a:rPr lang="en-US" sz="1200" dirty="0">
                <a:solidFill>
                  <a:srgbClr val="57606A"/>
                </a:solidFill>
                <a:latin typeface="Consolas" pitchFamily="34" charset="0"/>
                <a:ea typeface="Consolas" pitchFamily="34" charset="-122"/>
                <a:cs typeface="Consolas" pitchFamily="34" charset="-120"/>
              </a:rPr>
              <a:t>AGENTS.md</a:t>
            </a:r>
            <a:endParaRPr lang="en-US" sz="1200" dirty="0"/>
          </a:p>
        </p:txBody>
      </p:sp>
      <p:sp>
        <p:nvSpPr>
          <p:cNvPr id="15" name="Text 13"/>
          <p:cNvSpPr txBox="1"/>
          <p:nvPr/>
        </p:nvSpPr>
        <p:spPr>
          <a:xfrm>
            <a:off x="4983480" y="2331720"/>
            <a:ext cx="6309360" cy="402336"/>
          </a:xfrm>
          <a:prstGeom prst="rect">
            <a:avLst/>
          </a:prstGeom>
          <a:noFill/>
          <a:ln/>
        </p:spPr>
        <p:txBody>
          <a:bodyPr wrap="square" lIns="0" tIns="0" rIns="0" bIns="0" rtlCol="0" anchor="ctr"/>
          <a:lstStyle/>
          <a:p>
            <a:pPr algn="l" indent="0" marL="0">
              <a:buNone/>
            </a:pPr>
            <a:r>
              <a:rPr lang="en-US" sz="1800" dirty="0">
                <a:solidFill>
                  <a:srgbClr val="57606A"/>
                </a:solidFill>
                <a:latin typeface="Consolas" pitchFamily="34" charset="0"/>
                <a:ea typeface="Consolas" pitchFamily="34" charset="-122"/>
                <a:cs typeface="Consolas" pitchFamily="34" charset="-120"/>
              </a:rPr>
              <a:t># Osoitteet</a:t>
            </a:r>
            <a:endParaRPr lang="en-US" sz="1800" dirty="0"/>
          </a:p>
        </p:txBody>
      </p:sp>
      <p:sp>
        <p:nvSpPr>
          <p:cNvPr id="16" name="Text 14"/>
          <p:cNvSpPr txBox="1"/>
          <p:nvPr/>
        </p:nvSpPr>
        <p:spPr>
          <a:xfrm>
            <a:off x="4983480" y="2734056"/>
            <a:ext cx="630936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Testit: npm test -- address</a:t>
            </a:r>
            <a:endParaRPr lang="en-US" sz="1800" dirty="0"/>
          </a:p>
        </p:txBody>
      </p:sp>
      <p:sp>
        <p:nvSpPr>
          <p:cNvPr id="17" name="Text 15"/>
          <p:cNvSpPr txBox="1"/>
          <p:nvPr/>
        </p:nvSpPr>
        <p:spPr>
          <a:xfrm>
            <a:off x="4983480" y="3136392"/>
            <a:ext cx="630936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Huoneisto on vapaaehtoinen kenttä.</a:t>
            </a:r>
            <a:endParaRPr lang="en-US" sz="1800" dirty="0"/>
          </a:p>
        </p:txBody>
      </p:sp>
      <p:sp>
        <p:nvSpPr>
          <p:cNvPr id="18" name="Text 16"/>
          <p:cNvSpPr txBox="1"/>
          <p:nvPr/>
        </p:nvSpPr>
        <p:spPr>
          <a:xfrm>
            <a:off x="4983480" y="3538728"/>
            <a:ext cx="630936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Älä muuta /api/address-rajapintaa.</a:t>
            </a:r>
            <a:endParaRPr lang="en-US" sz="1800" dirty="0"/>
          </a:p>
        </p:txBody>
      </p:sp>
      <p:sp>
        <p:nvSpPr>
          <p:cNvPr id="19" name="Kortti"/>
          <p:cNvSpPr/>
          <p:nvPr/>
        </p:nvSpPr>
        <p:spPr>
          <a:xfrm>
            <a:off x="4754880" y="4206240"/>
            <a:ext cx="6858000" cy="1051560"/>
          </a:xfrm>
          <a:prstGeom prst="roundRect">
            <a:avLst>
              <a:gd name="adj" fmla="val 8696"/>
            </a:avLst>
          </a:prstGeom>
          <a:solidFill>
            <a:srgbClr val="FFF8C5"/>
          </a:solidFill>
          <a:ln w="12700">
            <a:solidFill>
              <a:srgbClr val="EAD58A"/>
            </a:solidFill>
            <a:prstDash val="solid"/>
          </a:ln>
        </p:spPr>
      </p:sp>
      <p:sp>
        <p:nvSpPr>
          <p:cNvPr id="20" name="Text 18"/>
          <p:cNvSpPr txBox="1"/>
          <p:nvPr/>
        </p:nvSpPr>
        <p:spPr>
          <a:xfrm>
            <a:off x="4983480" y="4352544"/>
            <a:ext cx="6400800" cy="274320"/>
          </a:xfrm>
          <a:prstGeom prst="rect">
            <a:avLst/>
          </a:prstGeom>
          <a:noFill/>
          <a:ln/>
        </p:spPr>
        <p:txBody>
          <a:bodyPr wrap="square" lIns="0" tIns="0" rIns="0" bIns="0" rtlCol="0" anchor="t"/>
          <a:lstStyle/>
          <a:p>
            <a:pPr algn="l" indent="0" marL="0">
              <a:buNone/>
            </a:pPr>
            <a:r>
              <a:rPr lang="en-US" sz="1200" dirty="0">
                <a:solidFill>
                  <a:srgbClr val="9A6700"/>
                </a:solidFill>
                <a:latin typeface="Consolas" pitchFamily="34" charset="0"/>
                <a:ea typeface="Consolas" pitchFamily="34" charset="-122"/>
                <a:cs typeface="Consolas" pitchFamily="34" charset="-120"/>
              </a:rPr>
              <a:t>// tutkimus</a:t>
            </a:r>
            <a:endParaRPr lang="en-US" sz="1200" dirty="0"/>
          </a:p>
        </p:txBody>
      </p:sp>
      <p:sp>
        <p:nvSpPr>
          <p:cNvPr id="21" name="Text 19"/>
          <p:cNvSpPr txBox="1"/>
          <p:nvPr/>
        </p:nvSpPr>
        <p:spPr>
          <a:xfrm>
            <a:off x="4983480" y="4645152"/>
            <a:ext cx="6400800" cy="502920"/>
          </a:xfrm>
          <a:prstGeom prst="rect">
            <a:avLst/>
          </a:prstGeom>
          <a:noFill/>
          <a:ln/>
        </p:spPr>
        <p:txBody>
          <a:bodyPr wrap="square" lIns="0" tIns="0" rIns="0" bIns="0" rtlCol="0" anchor="ctr"/>
          <a:lstStyle/>
          <a:p>
            <a:pPr algn="l" indent="0" marL="0">
              <a:buNone/>
            </a:pPr>
            <a:r>
              <a:rPr lang="en-US" sz="1600" b="1" dirty="0">
                <a:solidFill>
                  <a:srgbClr val="111827"/>
                </a:solidFill>
                <a:latin typeface="Segoe UI" pitchFamily="34" charset="0"/>
                <a:ea typeface="Segoe UI" pitchFamily="34" charset="-122"/>
                <a:cs typeface="Segoe UI" pitchFamily="34" charset="-120"/>
              </a:rPr>
              <a:t>Ohjetiedostot eivät yleisesti parantaneet onnistumista – kustannus nousi yli 20 %.</a:t>
            </a:r>
            <a:endParaRPr lang="en-US" sz="1600" dirty="0"/>
          </a:p>
        </p:txBody>
      </p:sp>
      <p:sp>
        <p:nvSpPr>
          <p:cNvPr id="22" name="Alarivi"/>
          <p:cNvSpPr txBox="1"/>
          <p:nvPr/>
        </p:nvSpPr>
        <p:spPr>
          <a:xfrm>
            <a:off x="548640" y="5559552"/>
            <a:ext cx="768096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Ohjeenkin pitää ansaita paikkansa.</a:t>
            </a:r>
            <a:endParaRPr lang="en-US" sz="2000" dirty="0"/>
          </a:p>
        </p:txBody>
      </p:sp>
      <p:sp>
        <p:nvSpPr>
          <p:cNvPr id="23"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Evaluating AGENTS.md, v3 29.9.2026 · Codex- ja Claude Code -dokumentaatio · kuvitteellinen esimerkki.</a:t>
            </a:r>
            <a:endParaRPr lang="en-US" sz="1100" dirty="0"/>
          </a:p>
        </p:txBody>
      </p:sp>
      <p:sp>
        <p:nvSpPr>
          <p:cNvPr id="24" name="Shape 22"/>
          <p:cNvSpPr/>
          <p:nvPr/>
        </p:nvSpPr>
        <p:spPr>
          <a:xfrm>
            <a:off x="8412480" y="6455664"/>
            <a:ext cx="3291840" cy="0"/>
          </a:xfrm>
          <a:prstGeom prst="line">
            <a:avLst/>
          </a:prstGeom>
          <a:noFill/>
          <a:ln w="19050">
            <a:solidFill>
              <a:srgbClr val="E5E7EB"/>
            </a:solidFill>
            <a:prstDash val="solid"/>
          </a:ln>
        </p:spPr>
      </p:sp>
      <p:sp>
        <p:nvSpPr>
          <p:cNvPr id="25" name="Shape 23"/>
          <p:cNvSpPr/>
          <p:nvPr/>
        </p:nvSpPr>
        <p:spPr>
          <a:xfrm>
            <a:off x="8353044" y="6396228"/>
            <a:ext cx="118872" cy="118872"/>
          </a:xfrm>
          <a:prstGeom prst="ellipse">
            <a:avLst/>
          </a:prstGeom>
          <a:solidFill>
            <a:srgbClr val="9CA3AF"/>
          </a:solidFill>
          <a:ln w="9525">
            <a:solidFill>
              <a:srgbClr val="9CA3AF"/>
            </a:solidFill>
            <a:prstDash val="solid"/>
          </a:ln>
        </p:spPr>
      </p:sp>
      <p:sp>
        <p:nvSpPr>
          <p:cNvPr id="26" name="Shape 24"/>
          <p:cNvSpPr/>
          <p:nvPr/>
        </p:nvSpPr>
        <p:spPr>
          <a:xfrm>
            <a:off x="8860536" y="6355080"/>
            <a:ext cx="201168" cy="201168"/>
          </a:xfrm>
          <a:prstGeom prst="ellipse">
            <a:avLst/>
          </a:prstGeom>
          <a:solidFill>
            <a:srgbClr val="2563EB"/>
          </a:solidFill>
          <a:ln w="9525">
            <a:solidFill>
              <a:srgbClr val="2563EB"/>
            </a:solidFill>
            <a:prstDash val="solid"/>
          </a:ln>
        </p:spPr>
      </p:sp>
      <p:sp>
        <p:nvSpPr>
          <p:cNvPr id="27" name="Shape 25"/>
          <p:cNvSpPr/>
          <p:nvPr/>
        </p:nvSpPr>
        <p:spPr>
          <a:xfrm>
            <a:off x="9450324" y="6396228"/>
            <a:ext cx="118872" cy="118872"/>
          </a:xfrm>
          <a:prstGeom prst="ellipse">
            <a:avLst/>
          </a:prstGeom>
          <a:solidFill>
            <a:srgbClr val="FFFFFF"/>
          </a:solidFill>
          <a:ln w="9525">
            <a:solidFill>
              <a:srgbClr val="9CA3AF"/>
            </a:solidFill>
            <a:prstDash val="solid"/>
          </a:ln>
        </p:spPr>
      </p:sp>
      <p:sp>
        <p:nvSpPr>
          <p:cNvPr id="28" name="Shape 26"/>
          <p:cNvSpPr/>
          <p:nvPr/>
        </p:nvSpPr>
        <p:spPr>
          <a:xfrm>
            <a:off x="9998964" y="6396228"/>
            <a:ext cx="118872" cy="118872"/>
          </a:xfrm>
          <a:prstGeom prst="ellipse">
            <a:avLst/>
          </a:prstGeom>
          <a:solidFill>
            <a:srgbClr val="FFFFFF"/>
          </a:solidFill>
          <a:ln w="9525">
            <a:solidFill>
              <a:srgbClr val="9CA3AF"/>
            </a:solidFill>
            <a:prstDash val="solid"/>
          </a:ln>
        </p:spPr>
      </p:sp>
      <p:sp>
        <p:nvSpPr>
          <p:cNvPr id="29" name="Shape 27"/>
          <p:cNvSpPr/>
          <p:nvPr/>
        </p:nvSpPr>
        <p:spPr>
          <a:xfrm>
            <a:off x="10547604" y="6396228"/>
            <a:ext cx="118872" cy="118872"/>
          </a:xfrm>
          <a:prstGeom prst="ellipse">
            <a:avLst/>
          </a:prstGeom>
          <a:solidFill>
            <a:srgbClr val="FFFFFF"/>
          </a:solidFill>
          <a:ln w="9525">
            <a:solidFill>
              <a:srgbClr val="9CA3AF"/>
            </a:solidFill>
            <a:prstDash val="solid"/>
          </a:ln>
        </p:spPr>
      </p:sp>
      <p:sp>
        <p:nvSpPr>
          <p:cNvPr id="30" name="Shape 28"/>
          <p:cNvSpPr/>
          <p:nvPr/>
        </p:nvSpPr>
        <p:spPr>
          <a:xfrm>
            <a:off x="11096244" y="6396228"/>
            <a:ext cx="118872" cy="118872"/>
          </a:xfrm>
          <a:prstGeom prst="ellipse">
            <a:avLst/>
          </a:prstGeom>
          <a:solidFill>
            <a:srgbClr val="FFFFFF"/>
          </a:solidFill>
          <a:ln w="9525">
            <a:solidFill>
              <a:srgbClr val="9CA3AF"/>
            </a:solidFill>
            <a:prstDash val="solid"/>
          </a:ln>
        </p:spPr>
      </p:sp>
      <p:sp>
        <p:nvSpPr>
          <p:cNvPr id="31" name="Shape 29"/>
          <p:cNvSpPr/>
          <p:nvPr/>
        </p:nvSpPr>
        <p:spPr>
          <a:xfrm>
            <a:off x="11644884" y="6396228"/>
            <a:ext cx="118872" cy="118872"/>
          </a:xfrm>
          <a:prstGeom prst="ellipse">
            <a:avLst/>
          </a:prstGeom>
          <a:solidFill>
            <a:srgbClr val="FFFFFF"/>
          </a:solidFill>
          <a:ln w="9525">
            <a:solidFill>
              <a:srgbClr val="9CA3AF"/>
            </a:solidFill>
            <a:prstDash val="solid"/>
          </a:ln>
        </p:spPr>
      </p:sp>
      <p:sp>
        <p:nvSpPr>
          <p:cNvPr id="32" name="Text 30"/>
          <p:cNvSpPr txBox="1"/>
          <p:nvPr/>
        </p:nvSpPr>
        <p:spPr>
          <a:xfrm>
            <a:off x="822960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konteksti</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Mitä agentti saa käyttää?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Vain sitä, mitä tehtävä tarvitsee</a:t>
            </a:r>
            <a:endParaRPr lang="en-US" sz="1800" dirty="0"/>
          </a:p>
        </p:txBody>
      </p:sp>
      <p:sp>
        <p:nvSpPr>
          <p:cNvPr id="5" name="Shape 3"/>
          <p:cNvSpPr/>
          <p:nvPr/>
        </p:nvSpPr>
        <p:spPr>
          <a:xfrm>
            <a:off x="3657600" y="2377440"/>
            <a:ext cx="1709928" cy="365760"/>
          </a:xfrm>
          <a:prstGeom prst="line">
            <a:avLst/>
          </a:prstGeom>
          <a:noFill/>
          <a:ln w="19050">
            <a:solidFill>
              <a:srgbClr val="9CA3AF"/>
            </a:solidFill>
            <a:prstDash val="solid"/>
          </a:ln>
        </p:spPr>
      </p:sp>
      <p:sp>
        <p:nvSpPr>
          <p:cNvPr id="6" name="Shape 4"/>
          <p:cNvSpPr/>
          <p:nvPr/>
        </p:nvSpPr>
        <p:spPr>
          <a:xfrm flipV="1">
            <a:off x="6830568" y="2377440"/>
            <a:ext cx="1673352" cy="365760"/>
          </a:xfrm>
          <a:prstGeom prst="line">
            <a:avLst/>
          </a:prstGeom>
          <a:noFill/>
          <a:ln w="19050">
            <a:solidFill>
              <a:srgbClr val="9CA3AF"/>
            </a:solidFill>
            <a:prstDash val="solid"/>
          </a:ln>
        </p:spPr>
      </p:sp>
      <p:sp>
        <p:nvSpPr>
          <p:cNvPr id="7" name="Shape 5"/>
          <p:cNvSpPr/>
          <p:nvPr/>
        </p:nvSpPr>
        <p:spPr>
          <a:xfrm flipV="1">
            <a:off x="3657600" y="4023360"/>
            <a:ext cx="1709928" cy="548640"/>
          </a:xfrm>
          <a:prstGeom prst="line">
            <a:avLst/>
          </a:prstGeom>
          <a:noFill/>
          <a:ln w="19050">
            <a:solidFill>
              <a:srgbClr val="9CA3AF"/>
            </a:solidFill>
            <a:prstDash val="solid"/>
          </a:ln>
        </p:spPr>
      </p:sp>
      <p:sp>
        <p:nvSpPr>
          <p:cNvPr id="8" name="Shape 6"/>
          <p:cNvSpPr/>
          <p:nvPr/>
        </p:nvSpPr>
        <p:spPr>
          <a:xfrm>
            <a:off x="6830568" y="4023360"/>
            <a:ext cx="1673352" cy="548640"/>
          </a:xfrm>
          <a:prstGeom prst="line">
            <a:avLst/>
          </a:prstGeom>
          <a:noFill/>
          <a:ln w="19050">
            <a:solidFill>
              <a:srgbClr val="9CA3AF"/>
            </a:solidFill>
            <a:prstDash val="solid"/>
          </a:ln>
        </p:spPr>
      </p:sp>
      <p:sp>
        <p:nvSpPr>
          <p:cNvPr id="9" name="Shape 7"/>
          <p:cNvSpPr/>
          <p:nvPr/>
        </p:nvSpPr>
        <p:spPr>
          <a:xfrm>
            <a:off x="5138928" y="2423160"/>
            <a:ext cx="1920240" cy="1920240"/>
          </a:xfrm>
          <a:prstGeom prst="ellipse">
            <a:avLst/>
          </a:prstGeom>
          <a:solidFill>
            <a:srgbClr val="EFF6FF"/>
          </a:solidFill>
          <a:ln w="25400">
            <a:solidFill>
              <a:srgbClr val="2563EB"/>
            </a:solidFill>
            <a:prstDash val="solid"/>
          </a:ln>
        </p:spPr>
      </p:sp>
      <p:pic>
        <p:nvPicPr>
          <p:cNvPr id="10" name="Image 0" descr="preencoded.png">    </p:cNvPr>
          <p:cNvPicPr>
            <a:picLocks noChangeAspect="1"/>
          </p:cNvPicPr>
          <p:nvPr/>
        </p:nvPicPr>
        <p:blipFill>
          <a:blip r:embed="rId1"/>
          <a:stretch>
            <a:fillRect/>
          </a:stretch>
        </p:blipFill>
        <p:spPr>
          <a:xfrm>
            <a:off x="5687568" y="2697480"/>
            <a:ext cx="822960" cy="822960"/>
          </a:xfrm>
          <a:prstGeom prst="rect">
            <a:avLst/>
          </a:prstGeom>
        </p:spPr>
      </p:pic>
      <p:sp>
        <p:nvSpPr>
          <p:cNvPr id="11" name="Text 8"/>
          <p:cNvSpPr txBox="1"/>
          <p:nvPr/>
        </p:nvSpPr>
        <p:spPr>
          <a:xfrm>
            <a:off x="5138928" y="3611880"/>
            <a:ext cx="1920240" cy="365760"/>
          </a:xfrm>
          <a:prstGeom prst="rect">
            <a:avLst/>
          </a:prstGeom>
          <a:noFill/>
          <a:ln/>
        </p:spPr>
        <p:txBody>
          <a:bodyPr wrap="square" lIns="0" tIns="0" rIns="0" bIns="0" rtlCol="0" anchor="t"/>
          <a:lstStyle/>
          <a:p>
            <a:pPr algn="ctr" indent="0" marL="0">
              <a:buNone/>
            </a:pPr>
            <a:r>
              <a:rPr lang="en-US" sz="1500" b="1" dirty="0">
                <a:solidFill>
                  <a:srgbClr val="2563EB"/>
                </a:solidFill>
                <a:latin typeface="Consolas" pitchFamily="34" charset="0"/>
                <a:ea typeface="Consolas" pitchFamily="34" charset="-122"/>
                <a:cs typeface="Consolas" pitchFamily="34" charset="-120"/>
              </a:rPr>
              <a:t>agentti</a:t>
            </a:r>
            <a:endParaRPr lang="en-US" sz="1500" dirty="0"/>
          </a:p>
        </p:txBody>
      </p:sp>
      <p:sp>
        <p:nvSpPr>
          <p:cNvPr id="12" name="Kortti"/>
          <p:cNvSpPr/>
          <p:nvPr/>
        </p:nvSpPr>
        <p:spPr>
          <a:xfrm>
            <a:off x="1188720" y="1828800"/>
            <a:ext cx="2468880" cy="1097280"/>
          </a:xfrm>
          <a:prstGeom prst="roundRect">
            <a:avLst>
              <a:gd name="adj" fmla="val 8333"/>
            </a:avLst>
          </a:prstGeom>
          <a:solidFill>
            <a:srgbClr val="FFFFFF"/>
          </a:solidFill>
          <a:ln w="12700">
            <a:solidFill>
              <a:srgbClr val="E5E7EB"/>
            </a:solidFill>
            <a:prstDash val="solid"/>
          </a:ln>
        </p:spPr>
      </p:sp>
      <p:pic>
        <p:nvPicPr>
          <p:cNvPr id="13" name="Image 1" descr="preencoded.png">    </p:cNvPr>
          <p:cNvPicPr>
            <a:picLocks noChangeAspect="1"/>
          </p:cNvPicPr>
          <p:nvPr/>
        </p:nvPicPr>
        <p:blipFill>
          <a:blip r:embed="rId2"/>
          <a:stretch>
            <a:fillRect/>
          </a:stretch>
        </p:blipFill>
        <p:spPr>
          <a:xfrm>
            <a:off x="1389888" y="2121408"/>
            <a:ext cx="502920" cy="502920"/>
          </a:xfrm>
          <a:prstGeom prst="rect">
            <a:avLst/>
          </a:prstGeom>
        </p:spPr>
      </p:pic>
      <p:sp>
        <p:nvSpPr>
          <p:cNvPr id="14" name="Text 10"/>
          <p:cNvSpPr txBox="1"/>
          <p:nvPr/>
        </p:nvSpPr>
        <p:spPr>
          <a:xfrm>
            <a:off x="2057400" y="1965960"/>
            <a:ext cx="1554480" cy="45720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Shell</a:t>
            </a:r>
            <a:endParaRPr lang="en-US" sz="2000" dirty="0"/>
          </a:p>
        </p:txBody>
      </p:sp>
      <p:sp>
        <p:nvSpPr>
          <p:cNvPr id="15" name="Text 11"/>
          <p:cNvSpPr txBox="1"/>
          <p:nvPr/>
        </p:nvSpPr>
        <p:spPr>
          <a:xfrm>
            <a:off x="2057400" y="2423160"/>
            <a:ext cx="1554480" cy="365760"/>
          </a:xfrm>
          <a:prstGeom prst="rect">
            <a:avLst/>
          </a:prstGeom>
          <a:noFill/>
          <a:ln/>
        </p:spPr>
        <p:txBody>
          <a:bodyPr wrap="square" lIns="0" tIns="0" rIns="0" bIns="0" rtlCol="0" anchor="ctr"/>
          <a:lstStyle/>
          <a:p>
            <a:pPr algn="l" indent="0" marL="0">
              <a:buNone/>
            </a:pPr>
            <a:r>
              <a:rPr lang="en-US" sz="1200" dirty="0">
                <a:solidFill>
                  <a:srgbClr val="6B7280"/>
                </a:solidFill>
                <a:latin typeface="Consolas" pitchFamily="34" charset="0"/>
                <a:ea typeface="Consolas" pitchFamily="34" charset="-122"/>
                <a:cs typeface="Consolas" pitchFamily="34" charset="-120"/>
              </a:rPr>
              <a:t>testikomento</a:t>
            </a:r>
            <a:endParaRPr lang="en-US" sz="1200" dirty="0"/>
          </a:p>
        </p:txBody>
      </p:sp>
      <p:sp>
        <p:nvSpPr>
          <p:cNvPr id="16" name="Kortti"/>
          <p:cNvSpPr/>
          <p:nvPr/>
        </p:nvSpPr>
        <p:spPr>
          <a:xfrm>
            <a:off x="8503920" y="1828800"/>
            <a:ext cx="2468880" cy="1097280"/>
          </a:xfrm>
          <a:prstGeom prst="roundRect">
            <a:avLst>
              <a:gd name="adj" fmla="val 8333"/>
            </a:avLst>
          </a:prstGeom>
          <a:solidFill>
            <a:srgbClr val="FFFFFF"/>
          </a:solidFill>
          <a:ln w="12700">
            <a:solidFill>
              <a:srgbClr val="E5E7EB"/>
            </a:solidFill>
            <a:prstDash val="solid"/>
          </a:ln>
        </p:spPr>
      </p:sp>
      <p:pic>
        <p:nvPicPr>
          <p:cNvPr id="17" name="Image 2" descr="preencoded.png">    </p:cNvPr>
          <p:cNvPicPr>
            <a:picLocks noChangeAspect="1"/>
          </p:cNvPicPr>
          <p:nvPr/>
        </p:nvPicPr>
        <p:blipFill>
          <a:blip r:embed="rId3"/>
          <a:stretch>
            <a:fillRect/>
          </a:stretch>
        </p:blipFill>
        <p:spPr>
          <a:xfrm>
            <a:off x="8705088" y="2121408"/>
            <a:ext cx="502920" cy="502920"/>
          </a:xfrm>
          <a:prstGeom prst="rect">
            <a:avLst/>
          </a:prstGeom>
        </p:spPr>
      </p:pic>
      <p:sp>
        <p:nvSpPr>
          <p:cNvPr id="18" name="Text 13"/>
          <p:cNvSpPr txBox="1"/>
          <p:nvPr/>
        </p:nvSpPr>
        <p:spPr>
          <a:xfrm>
            <a:off x="9372600" y="1965960"/>
            <a:ext cx="1554480" cy="45720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Selain</a:t>
            </a:r>
            <a:endParaRPr lang="en-US" sz="2000" dirty="0"/>
          </a:p>
        </p:txBody>
      </p:sp>
      <p:sp>
        <p:nvSpPr>
          <p:cNvPr id="19" name="Text 14"/>
          <p:cNvSpPr txBox="1"/>
          <p:nvPr/>
        </p:nvSpPr>
        <p:spPr>
          <a:xfrm>
            <a:off x="9372600" y="2423160"/>
            <a:ext cx="1554480" cy="365760"/>
          </a:xfrm>
          <a:prstGeom prst="rect">
            <a:avLst/>
          </a:prstGeom>
          <a:noFill/>
          <a:ln/>
        </p:spPr>
        <p:txBody>
          <a:bodyPr wrap="square" lIns="0" tIns="0" rIns="0" bIns="0" rtlCol="0" anchor="ctr"/>
          <a:lstStyle/>
          <a:p>
            <a:pPr algn="l" indent="0" marL="0">
              <a:buNone/>
            </a:pPr>
            <a:r>
              <a:rPr lang="en-US" sz="1200" dirty="0">
                <a:solidFill>
                  <a:srgbClr val="6B7280"/>
                </a:solidFill>
                <a:latin typeface="Consolas" pitchFamily="34" charset="0"/>
                <a:ea typeface="Consolas" pitchFamily="34" charset="-122"/>
                <a:cs typeface="Consolas" pitchFamily="34" charset="-120"/>
              </a:rPr>
              <a:t>näkyvä toiminta</a:t>
            </a:r>
            <a:endParaRPr lang="en-US" sz="1200" dirty="0"/>
          </a:p>
        </p:txBody>
      </p:sp>
      <p:sp>
        <p:nvSpPr>
          <p:cNvPr id="20" name="Kortti"/>
          <p:cNvSpPr/>
          <p:nvPr/>
        </p:nvSpPr>
        <p:spPr>
          <a:xfrm>
            <a:off x="1188720" y="4023360"/>
            <a:ext cx="2468880" cy="1097280"/>
          </a:xfrm>
          <a:prstGeom prst="roundRect">
            <a:avLst>
              <a:gd name="adj" fmla="val 8333"/>
            </a:avLst>
          </a:prstGeom>
          <a:solidFill>
            <a:srgbClr val="FFFFFF"/>
          </a:solidFill>
          <a:ln w="12700">
            <a:solidFill>
              <a:srgbClr val="E5E7EB"/>
            </a:solidFill>
            <a:prstDash val="solid"/>
          </a:ln>
        </p:spPr>
      </p:sp>
      <p:pic>
        <p:nvPicPr>
          <p:cNvPr id="21" name="Image 3" descr="preencoded.png">    </p:cNvPr>
          <p:cNvPicPr>
            <a:picLocks noChangeAspect="1"/>
          </p:cNvPicPr>
          <p:nvPr/>
        </p:nvPicPr>
        <p:blipFill>
          <a:blip r:embed="rId4"/>
          <a:stretch>
            <a:fillRect/>
          </a:stretch>
        </p:blipFill>
        <p:spPr>
          <a:xfrm>
            <a:off x="1389888" y="4315968"/>
            <a:ext cx="502920" cy="502920"/>
          </a:xfrm>
          <a:prstGeom prst="rect">
            <a:avLst/>
          </a:prstGeom>
        </p:spPr>
      </p:pic>
      <p:sp>
        <p:nvSpPr>
          <p:cNvPr id="22" name="Text 16"/>
          <p:cNvSpPr txBox="1"/>
          <p:nvPr/>
        </p:nvSpPr>
        <p:spPr>
          <a:xfrm>
            <a:off x="2057400" y="4160520"/>
            <a:ext cx="1554480" cy="45720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MCP</a:t>
            </a:r>
            <a:endParaRPr lang="en-US" sz="2000" dirty="0"/>
          </a:p>
        </p:txBody>
      </p:sp>
      <p:sp>
        <p:nvSpPr>
          <p:cNvPr id="23" name="Text 17"/>
          <p:cNvSpPr txBox="1"/>
          <p:nvPr/>
        </p:nvSpPr>
        <p:spPr>
          <a:xfrm>
            <a:off x="2057400" y="4617720"/>
            <a:ext cx="1554480" cy="365760"/>
          </a:xfrm>
          <a:prstGeom prst="rect">
            <a:avLst/>
          </a:prstGeom>
          <a:noFill/>
          <a:ln/>
        </p:spPr>
        <p:txBody>
          <a:bodyPr wrap="square" lIns="0" tIns="0" rIns="0" bIns="0" rtlCol="0" anchor="ctr"/>
          <a:lstStyle/>
          <a:p>
            <a:pPr algn="l" indent="0" marL="0">
              <a:buNone/>
            </a:pPr>
            <a:r>
              <a:rPr lang="en-US" sz="1200" dirty="0">
                <a:solidFill>
                  <a:srgbClr val="6B7280"/>
                </a:solidFill>
                <a:latin typeface="Consolas" pitchFamily="34" charset="0"/>
                <a:ea typeface="Consolas" pitchFamily="34" charset="-122"/>
                <a:cs typeface="Consolas" pitchFamily="34" charset="-120"/>
              </a:rPr>
              <a:t>tikettijärjestelmä</a:t>
            </a:r>
            <a:endParaRPr lang="en-US" sz="1200" dirty="0"/>
          </a:p>
        </p:txBody>
      </p:sp>
      <p:sp>
        <p:nvSpPr>
          <p:cNvPr id="24" name="Kortti"/>
          <p:cNvSpPr/>
          <p:nvPr/>
        </p:nvSpPr>
        <p:spPr>
          <a:xfrm>
            <a:off x="8503920" y="4023360"/>
            <a:ext cx="2468880" cy="1097280"/>
          </a:xfrm>
          <a:prstGeom prst="roundRect">
            <a:avLst>
              <a:gd name="adj" fmla="val 8333"/>
            </a:avLst>
          </a:prstGeom>
          <a:solidFill>
            <a:srgbClr val="FFFFFF"/>
          </a:solidFill>
          <a:ln w="12700">
            <a:solidFill>
              <a:srgbClr val="E5E7EB"/>
            </a:solidFill>
            <a:prstDash val="solid"/>
          </a:ln>
        </p:spPr>
      </p:sp>
      <p:pic>
        <p:nvPicPr>
          <p:cNvPr id="25" name="Image 4" descr="preencoded.png">    </p:cNvPr>
          <p:cNvPicPr>
            <a:picLocks noChangeAspect="1"/>
          </p:cNvPicPr>
          <p:nvPr/>
        </p:nvPicPr>
        <p:blipFill>
          <a:blip r:embed="rId5"/>
          <a:stretch>
            <a:fillRect/>
          </a:stretch>
        </p:blipFill>
        <p:spPr>
          <a:xfrm>
            <a:off x="8705088" y="4315968"/>
            <a:ext cx="502920" cy="502920"/>
          </a:xfrm>
          <a:prstGeom prst="rect">
            <a:avLst/>
          </a:prstGeom>
        </p:spPr>
      </p:pic>
      <p:sp>
        <p:nvSpPr>
          <p:cNvPr id="26" name="Text 19"/>
          <p:cNvSpPr txBox="1"/>
          <p:nvPr/>
        </p:nvSpPr>
        <p:spPr>
          <a:xfrm>
            <a:off x="9372600" y="4160520"/>
            <a:ext cx="1554480" cy="45720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Skill</a:t>
            </a:r>
            <a:endParaRPr lang="en-US" sz="2000" dirty="0"/>
          </a:p>
        </p:txBody>
      </p:sp>
      <p:sp>
        <p:nvSpPr>
          <p:cNvPr id="27" name="Text 20"/>
          <p:cNvSpPr txBox="1"/>
          <p:nvPr/>
        </p:nvSpPr>
        <p:spPr>
          <a:xfrm>
            <a:off x="9372600" y="4617720"/>
            <a:ext cx="1554480" cy="365760"/>
          </a:xfrm>
          <a:prstGeom prst="rect">
            <a:avLst/>
          </a:prstGeom>
          <a:noFill/>
          <a:ln/>
        </p:spPr>
        <p:txBody>
          <a:bodyPr wrap="square" lIns="0" tIns="0" rIns="0" bIns="0" rtlCol="0" anchor="ctr"/>
          <a:lstStyle/>
          <a:p>
            <a:pPr algn="l" indent="0" marL="0">
              <a:buNone/>
            </a:pPr>
            <a:r>
              <a:rPr lang="en-US" sz="1200" dirty="0">
                <a:solidFill>
                  <a:srgbClr val="6B7280"/>
                </a:solidFill>
                <a:latin typeface="Consolas" pitchFamily="34" charset="0"/>
                <a:ea typeface="Consolas" pitchFamily="34" charset="-122"/>
                <a:cs typeface="Consolas" pitchFamily="34" charset="-120"/>
              </a:rPr>
              <a:t>toistettava työtapa</a:t>
            </a:r>
            <a:endParaRPr lang="en-US" sz="1200" dirty="0"/>
          </a:p>
        </p:txBody>
      </p:sp>
      <p:sp>
        <p:nvSpPr>
          <p:cNvPr id="28" name="Alarivi"/>
          <p:cNvSpPr txBox="1"/>
          <p:nvPr/>
        </p:nvSpPr>
        <p:spPr>
          <a:xfrm>
            <a:off x="548640" y="5559552"/>
            <a:ext cx="768096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Enemmän työkaluja ei tarkoita parempaa agenttia.</a:t>
            </a:r>
            <a:endParaRPr lang="en-US" sz="2000" dirty="0"/>
          </a:p>
        </p:txBody>
      </p:sp>
      <p:sp>
        <p:nvSpPr>
          <p:cNvPr id="29"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MCP client best practices · Codex skills · Claude Code workflows.</a:t>
            </a:r>
            <a:endParaRPr lang="en-US" sz="1100" dirty="0"/>
          </a:p>
        </p:txBody>
      </p:sp>
      <p:sp>
        <p:nvSpPr>
          <p:cNvPr id="30" name="Shape 23"/>
          <p:cNvSpPr/>
          <p:nvPr/>
        </p:nvSpPr>
        <p:spPr>
          <a:xfrm>
            <a:off x="8412480" y="6455664"/>
            <a:ext cx="3291840" cy="0"/>
          </a:xfrm>
          <a:prstGeom prst="line">
            <a:avLst/>
          </a:prstGeom>
          <a:noFill/>
          <a:ln w="19050">
            <a:solidFill>
              <a:srgbClr val="E5E7EB"/>
            </a:solidFill>
            <a:prstDash val="solid"/>
          </a:ln>
        </p:spPr>
      </p:sp>
      <p:sp>
        <p:nvSpPr>
          <p:cNvPr id="31" name="Shape 24"/>
          <p:cNvSpPr/>
          <p:nvPr/>
        </p:nvSpPr>
        <p:spPr>
          <a:xfrm>
            <a:off x="8353044" y="6396228"/>
            <a:ext cx="118872" cy="118872"/>
          </a:xfrm>
          <a:prstGeom prst="ellipse">
            <a:avLst/>
          </a:prstGeom>
          <a:solidFill>
            <a:srgbClr val="9CA3AF"/>
          </a:solidFill>
          <a:ln w="9525">
            <a:solidFill>
              <a:srgbClr val="9CA3AF"/>
            </a:solidFill>
            <a:prstDash val="solid"/>
          </a:ln>
        </p:spPr>
      </p:sp>
      <p:sp>
        <p:nvSpPr>
          <p:cNvPr id="32" name="Shape 25"/>
          <p:cNvSpPr/>
          <p:nvPr/>
        </p:nvSpPr>
        <p:spPr>
          <a:xfrm>
            <a:off x="8860536" y="6355080"/>
            <a:ext cx="201168" cy="201168"/>
          </a:xfrm>
          <a:prstGeom prst="ellipse">
            <a:avLst/>
          </a:prstGeom>
          <a:solidFill>
            <a:srgbClr val="2563EB"/>
          </a:solidFill>
          <a:ln w="9525">
            <a:solidFill>
              <a:srgbClr val="2563EB"/>
            </a:solidFill>
            <a:prstDash val="solid"/>
          </a:ln>
        </p:spPr>
      </p:sp>
      <p:sp>
        <p:nvSpPr>
          <p:cNvPr id="33" name="Shape 26"/>
          <p:cNvSpPr/>
          <p:nvPr/>
        </p:nvSpPr>
        <p:spPr>
          <a:xfrm>
            <a:off x="9450324" y="6396228"/>
            <a:ext cx="118872" cy="118872"/>
          </a:xfrm>
          <a:prstGeom prst="ellipse">
            <a:avLst/>
          </a:prstGeom>
          <a:solidFill>
            <a:srgbClr val="FFFFFF"/>
          </a:solidFill>
          <a:ln w="9525">
            <a:solidFill>
              <a:srgbClr val="9CA3AF"/>
            </a:solidFill>
            <a:prstDash val="solid"/>
          </a:ln>
        </p:spPr>
      </p:sp>
      <p:sp>
        <p:nvSpPr>
          <p:cNvPr id="34" name="Shape 27"/>
          <p:cNvSpPr/>
          <p:nvPr/>
        </p:nvSpPr>
        <p:spPr>
          <a:xfrm>
            <a:off x="9998964" y="6396228"/>
            <a:ext cx="118872" cy="118872"/>
          </a:xfrm>
          <a:prstGeom prst="ellipse">
            <a:avLst/>
          </a:prstGeom>
          <a:solidFill>
            <a:srgbClr val="FFFFFF"/>
          </a:solidFill>
          <a:ln w="9525">
            <a:solidFill>
              <a:srgbClr val="9CA3AF"/>
            </a:solidFill>
            <a:prstDash val="solid"/>
          </a:ln>
        </p:spPr>
      </p:sp>
      <p:sp>
        <p:nvSpPr>
          <p:cNvPr id="35" name="Shape 28"/>
          <p:cNvSpPr/>
          <p:nvPr/>
        </p:nvSpPr>
        <p:spPr>
          <a:xfrm>
            <a:off x="10547604" y="6396228"/>
            <a:ext cx="118872" cy="118872"/>
          </a:xfrm>
          <a:prstGeom prst="ellipse">
            <a:avLst/>
          </a:prstGeom>
          <a:solidFill>
            <a:srgbClr val="FFFFFF"/>
          </a:solidFill>
          <a:ln w="9525">
            <a:solidFill>
              <a:srgbClr val="9CA3AF"/>
            </a:solidFill>
            <a:prstDash val="solid"/>
          </a:ln>
        </p:spPr>
      </p:sp>
      <p:sp>
        <p:nvSpPr>
          <p:cNvPr id="36" name="Shape 29"/>
          <p:cNvSpPr/>
          <p:nvPr/>
        </p:nvSpPr>
        <p:spPr>
          <a:xfrm>
            <a:off x="11096244" y="6396228"/>
            <a:ext cx="118872" cy="118872"/>
          </a:xfrm>
          <a:prstGeom prst="ellipse">
            <a:avLst/>
          </a:prstGeom>
          <a:solidFill>
            <a:srgbClr val="FFFFFF"/>
          </a:solidFill>
          <a:ln w="9525">
            <a:solidFill>
              <a:srgbClr val="9CA3AF"/>
            </a:solidFill>
            <a:prstDash val="solid"/>
          </a:ln>
        </p:spPr>
      </p:sp>
      <p:sp>
        <p:nvSpPr>
          <p:cNvPr id="37" name="Shape 30"/>
          <p:cNvSpPr/>
          <p:nvPr/>
        </p:nvSpPr>
        <p:spPr>
          <a:xfrm>
            <a:off x="11644884" y="6396228"/>
            <a:ext cx="118872" cy="118872"/>
          </a:xfrm>
          <a:prstGeom prst="ellipse">
            <a:avLst/>
          </a:prstGeom>
          <a:solidFill>
            <a:srgbClr val="FFFFFF"/>
          </a:solidFill>
          <a:ln w="9525">
            <a:solidFill>
              <a:srgbClr val="9CA3AF"/>
            </a:solidFill>
            <a:prstDash val="solid"/>
          </a:ln>
        </p:spPr>
      </p:sp>
      <p:sp>
        <p:nvSpPr>
          <p:cNvPr id="38" name="Text 31"/>
          <p:cNvSpPr txBox="1"/>
          <p:nvPr/>
        </p:nvSpPr>
        <p:spPr>
          <a:xfrm>
            <a:off x="822960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konteksti</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Ensin toistetaan, sitten korjataan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Lomake → pyyntö → tallennus → lataus</a:t>
            </a:r>
            <a:endParaRPr lang="en-US" sz="1800" dirty="0"/>
          </a:p>
        </p:txBody>
      </p:sp>
      <p:sp>
        <p:nvSpPr>
          <p:cNvPr id="5" name="Kortti"/>
          <p:cNvSpPr/>
          <p:nvPr/>
        </p:nvSpPr>
        <p:spPr>
          <a:xfrm>
            <a:off x="548640" y="2103120"/>
            <a:ext cx="2423160" cy="1645920"/>
          </a:xfrm>
          <a:prstGeom prst="roundRect">
            <a:avLst>
              <a:gd name="adj" fmla="val 5556"/>
            </a:avLst>
          </a:prstGeom>
          <a:solidFill>
            <a:srgbClr val="FFFFFF"/>
          </a:solidFill>
          <a:ln w="12700">
            <a:solidFill>
              <a:srgbClr val="E5E7EB"/>
            </a:solidFill>
            <a:prstDash val="solid"/>
          </a:ln>
        </p:spPr>
      </p:sp>
      <p:sp>
        <p:nvSpPr>
          <p:cNvPr id="6" name="Text 4"/>
          <p:cNvSpPr txBox="1"/>
          <p:nvPr/>
        </p:nvSpPr>
        <p:spPr>
          <a:xfrm>
            <a:off x="548640" y="2240280"/>
            <a:ext cx="2423160" cy="548640"/>
          </a:xfrm>
          <a:prstGeom prst="rect">
            <a:avLst/>
          </a:prstGeom>
          <a:noFill/>
          <a:ln/>
        </p:spPr>
        <p:txBody>
          <a:bodyPr wrap="square" lIns="0" tIns="0" rIns="0" bIns="0" rtlCol="0" anchor="t"/>
          <a:lstStyle/>
          <a:p>
            <a:pPr algn="ctr" indent="0" marL="0">
              <a:buNone/>
            </a:pPr>
            <a:r>
              <a:rPr lang="en-US" sz="2200" b="1" dirty="0">
                <a:solidFill>
                  <a:srgbClr val="111827"/>
                </a:solidFill>
                <a:latin typeface="Segoe UI" pitchFamily="34" charset="0"/>
                <a:ea typeface="Segoe UI" pitchFamily="34" charset="-122"/>
                <a:cs typeface="Segoe UI" pitchFamily="34" charset="-120"/>
              </a:rPr>
              <a:t>Lomake</a:t>
            </a:r>
            <a:endParaRPr lang="en-US" sz="2200" dirty="0"/>
          </a:p>
        </p:txBody>
      </p:sp>
      <p:sp>
        <p:nvSpPr>
          <p:cNvPr id="7" name="Text 5"/>
          <p:cNvSpPr txBox="1"/>
          <p:nvPr/>
        </p:nvSpPr>
        <p:spPr>
          <a:xfrm>
            <a:off x="548640" y="2834640"/>
            <a:ext cx="2423160" cy="640080"/>
          </a:xfrm>
          <a:prstGeom prst="rect">
            <a:avLst/>
          </a:prstGeom>
          <a:noFill/>
          <a:ln/>
        </p:spPr>
        <p:txBody>
          <a:bodyPr wrap="square" lIns="0" tIns="0" rIns="0" bIns="0" rtlCol="0" anchor="ctr"/>
          <a:lstStyle/>
          <a:p>
            <a:pPr algn="ctr" indent="0" marL="0">
              <a:buNone/>
            </a:pPr>
            <a:r>
              <a:rPr lang="en-US" sz="1900" b="1" dirty="0">
                <a:solidFill>
                  <a:srgbClr val="1A7F37"/>
                </a:solidFill>
                <a:latin typeface="Consolas" pitchFamily="34" charset="0"/>
                <a:ea typeface="Consolas" pitchFamily="34" charset="-122"/>
                <a:cs typeface="Consolas" pitchFamily="34" charset="-120"/>
              </a:rPr>
              <a:t>B 7</a:t>
            </a:r>
            <a:endParaRPr lang="en-US" sz="1900" dirty="0"/>
          </a:p>
        </p:txBody>
      </p:sp>
      <p:sp>
        <p:nvSpPr>
          <p:cNvPr id="8" name="Shape 6"/>
          <p:cNvSpPr/>
          <p:nvPr/>
        </p:nvSpPr>
        <p:spPr>
          <a:xfrm>
            <a:off x="3017520" y="2926080"/>
            <a:ext cx="365760" cy="0"/>
          </a:xfrm>
          <a:prstGeom prst="line">
            <a:avLst/>
          </a:prstGeom>
          <a:noFill/>
          <a:ln w="31750">
            <a:solidFill>
              <a:srgbClr val="9CA3AF"/>
            </a:solidFill>
            <a:prstDash val="solid"/>
            <a:tailEnd type="triangle"/>
          </a:ln>
        </p:spPr>
      </p:sp>
      <p:sp>
        <p:nvSpPr>
          <p:cNvPr id="9" name="Kortti"/>
          <p:cNvSpPr/>
          <p:nvPr/>
        </p:nvSpPr>
        <p:spPr>
          <a:xfrm>
            <a:off x="3429000" y="2103120"/>
            <a:ext cx="2423160" cy="1645920"/>
          </a:xfrm>
          <a:prstGeom prst="roundRect">
            <a:avLst>
              <a:gd name="adj" fmla="val 5556"/>
            </a:avLst>
          </a:prstGeom>
          <a:solidFill>
            <a:srgbClr val="FFFFFF"/>
          </a:solidFill>
          <a:ln w="12700">
            <a:solidFill>
              <a:srgbClr val="E5E7EB"/>
            </a:solidFill>
            <a:prstDash val="solid"/>
          </a:ln>
        </p:spPr>
      </p:sp>
      <p:sp>
        <p:nvSpPr>
          <p:cNvPr id="10" name="Text 8"/>
          <p:cNvSpPr txBox="1"/>
          <p:nvPr/>
        </p:nvSpPr>
        <p:spPr>
          <a:xfrm>
            <a:off x="3429000" y="2240280"/>
            <a:ext cx="2423160" cy="548640"/>
          </a:xfrm>
          <a:prstGeom prst="rect">
            <a:avLst/>
          </a:prstGeom>
          <a:noFill/>
          <a:ln/>
        </p:spPr>
        <p:txBody>
          <a:bodyPr wrap="square" lIns="0" tIns="0" rIns="0" bIns="0" rtlCol="0" anchor="t"/>
          <a:lstStyle/>
          <a:p>
            <a:pPr algn="ctr" indent="0" marL="0">
              <a:buNone/>
            </a:pPr>
            <a:r>
              <a:rPr lang="en-US" sz="2200" b="1" dirty="0">
                <a:solidFill>
                  <a:srgbClr val="111827"/>
                </a:solidFill>
                <a:latin typeface="Segoe UI" pitchFamily="34" charset="0"/>
                <a:ea typeface="Segoe UI" pitchFamily="34" charset="-122"/>
                <a:cs typeface="Segoe UI" pitchFamily="34" charset="-120"/>
              </a:rPr>
              <a:t>Pyyntö</a:t>
            </a:r>
            <a:endParaRPr lang="en-US" sz="2200" dirty="0"/>
          </a:p>
        </p:txBody>
      </p:sp>
      <p:sp>
        <p:nvSpPr>
          <p:cNvPr id="11" name="Text 9"/>
          <p:cNvSpPr txBox="1"/>
          <p:nvPr/>
        </p:nvSpPr>
        <p:spPr>
          <a:xfrm>
            <a:off x="3429000" y="2834640"/>
            <a:ext cx="2423160" cy="640080"/>
          </a:xfrm>
          <a:prstGeom prst="rect">
            <a:avLst/>
          </a:prstGeom>
          <a:noFill/>
          <a:ln/>
        </p:spPr>
        <p:txBody>
          <a:bodyPr wrap="square" lIns="0" tIns="0" rIns="0" bIns="0" rtlCol="0" anchor="ctr"/>
          <a:lstStyle/>
          <a:p>
            <a:pPr algn="ctr" indent="0" marL="0">
              <a:buNone/>
            </a:pPr>
            <a:r>
              <a:rPr lang="en-US" sz="1900" b="1" dirty="0">
                <a:solidFill>
                  <a:srgbClr val="9CA3AF"/>
                </a:solidFill>
                <a:latin typeface="Consolas" pitchFamily="34" charset="0"/>
                <a:ea typeface="Consolas" pitchFamily="34" charset="-122"/>
                <a:cs typeface="Consolas" pitchFamily="34" charset="-120"/>
              </a:rPr>
              <a:t>?</a:t>
            </a:r>
            <a:endParaRPr lang="en-US" sz="1900" dirty="0"/>
          </a:p>
        </p:txBody>
      </p:sp>
      <p:sp>
        <p:nvSpPr>
          <p:cNvPr id="12" name="Shape 10"/>
          <p:cNvSpPr/>
          <p:nvPr/>
        </p:nvSpPr>
        <p:spPr>
          <a:xfrm>
            <a:off x="5897880" y="2926080"/>
            <a:ext cx="365760" cy="0"/>
          </a:xfrm>
          <a:prstGeom prst="line">
            <a:avLst/>
          </a:prstGeom>
          <a:noFill/>
          <a:ln w="31750">
            <a:solidFill>
              <a:srgbClr val="9CA3AF"/>
            </a:solidFill>
            <a:prstDash val="solid"/>
            <a:tailEnd type="triangle"/>
          </a:ln>
        </p:spPr>
      </p:sp>
      <p:sp>
        <p:nvSpPr>
          <p:cNvPr id="13" name="Kortti"/>
          <p:cNvSpPr/>
          <p:nvPr/>
        </p:nvSpPr>
        <p:spPr>
          <a:xfrm>
            <a:off x="6309360" y="2103120"/>
            <a:ext cx="2423160" cy="1645920"/>
          </a:xfrm>
          <a:prstGeom prst="roundRect">
            <a:avLst>
              <a:gd name="adj" fmla="val 5556"/>
            </a:avLst>
          </a:prstGeom>
          <a:solidFill>
            <a:srgbClr val="FFFFFF"/>
          </a:solidFill>
          <a:ln w="12700">
            <a:solidFill>
              <a:srgbClr val="E5E7EB"/>
            </a:solidFill>
            <a:prstDash val="solid"/>
          </a:ln>
        </p:spPr>
      </p:sp>
      <p:sp>
        <p:nvSpPr>
          <p:cNvPr id="14" name="Text 12"/>
          <p:cNvSpPr txBox="1"/>
          <p:nvPr/>
        </p:nvSpPr>
        <p:spPr>
          <a:xfrm>
            <a:off x="6309360" y="2240280"/>
            <a:ext cx="2423160" cy="548640"/>
          </a:xfrm>
          <a:prstGeom prst="rect">
            <a:avLst/>
          </a:prstGeom>
          <a:noFill/>
          <a:ln/>
        </p:spPr>
        <p:txBody>
          <a:bodyPr wrap="square" lIns="0" tIns="0" rIns="0" bIns="0" rtlCol="0" anchor="t"/>
          <a:lstStyle/>
          <a:p>
            <a:pPr algn="ctr" indent="0" marL="0">
              <a:buNone/>
            </a:pPr>
            <a:r>
              <a:rPr lang="en-US" sz="2200" b="1" dirty="0">
                <a:solidFill>
                  <a:srgbClr val="111827"/>
                </a:solidFill>
                <a:latin typeface="Segoe UI" pitchFamily="34" charset="0"/>
                <a:ea typeface="Segoe UI" pitchFamily="34" charset="-122"/>
                <a:cs typeface="Segoe UI" pitchFamily="34" charset="-120"/>
              </a:rPr>
              <a:t>Tallennus</a:t>
            </a:r>
            <a:endParaRPr lang="en-US" sz="2200" dirty="0"/>
          </a:p>
        </p:txBody>
      </p:sp>
      <p:sp>
        <p:nvSpPr>
          <p:cNvPr id="15" name="Text 13"/>
          <p:cNvSpPr txBox="1"/>
          <p:nvPr/>
        </p:nvSpPr>
        <p:spPr>
          <a:xfrm>
            <a:off x="6309360" y="2834640"/>
            <a:ext cx="2423160" cy="640080"/>
          </a:xfrm>
          <a:prstGeom prst="rect">
            <a:avLst/>
          </a:prstGeom>
          <a:noFill/>
          <a:ln/>
        </p:spPr>
        <p:txBody>
          <a:bodyPr wrap="square" lIns="0" tIns="0" rIns="0" bIns="0" rtlCol="0" anchor="ctr"/>
          <a:lstStyle/>
          <a:p>
            <a:pPr algn="ctr" indent="0" marL="0">
              <a:buNone/>
            </a:pPr>
            <a:r>
              <a:rPr lang="en-US" sz="1900" b="1" dirty="0">
                <a:solidFill>
                  <a:srgbClr val="9CA3AF"/>
                </a:solidFill>
                <a:latin typeface="Consolas" pitchFamily="34" charset="0"/>
                <a:ea typeface="Consolas" pitchFamily="34" charset="-122"/>
                <a:cs typeface="Consolas" pitchFamily="34" charset="-120"/>
              </a:rPr>
              <a:t>?</a:t>
            </a:r>
            <a:endParaRPr lang="en-US" sz="1900" dirty="0"/>
          </a:p>
        </p:txBody>
      </p:sp>
      <p:sp>
        <p:nvSpPr>
          <p:cNvPr id="16" name="Shape 14"/>
          <p:cNvSpPr/>
          <p:nvPr/>
        </p:nvSpPr>
        <p:spPr>
          <a:xfrm>
            <a:off x="8778240" y="2926080"/>
            <a:ext cx="365760" cy="0"/>
          </a:xfrm>
          <a:prstGeom prst="line">
            <a:avLst/>
          </a:prstGeom>
          <a:noFill/>
          <a:ln w="31750">
            <a:solidFill>
              <a:srgbClr val="9CA3AF"/>
            </a:solidFill>
            <a:prstDash val="solid"/>
            <a:tailEnd type="triangle"/>
          </a:ln>
        </p:spPr>
      </p:sp>
      <p:sp>
        <p:nvSpPr>
          <p:cNvPr id="17" name="Kortti"/>
          <p:cNvSpPr/>
          <p:nvPr/>
        </p:nvSpPr>
        <p:spPr>
          <a:xfrm>
            <a:off x="9189720" y="2103120"/>
            <a:ext cx="2423160" cy="1645920"/>
          </a:xfrm>
          <a:prstGeom prst="roundRect">
            <a:avLst>
              <a:gd name="adj" fmla="val 5556"/>
            </a:avLst>
          </a:prstGeom>
          <a:solidFill>
            <a:srgbClr val="FFFFFF"/>
          </a:solidFill>
          <a:ln w="12700">
            <a:solidFill>
              <a:srgbClr val="E5E7EB"/>
            </a:solidFill>
            <a:prstDash val="solid"/>
          </a:ln>
        </p:spPr>
      </p:sp>
      <p:sp>
        <p:nvSpPr>
          <p:cNvPr id="18" name="Text 16"/>
          <p:cNvSpPr txBox="1"/>
          <p:nvPr/>
        </p:nvSpPr>
        <p:spPr>
          <a:xfrm>
            <a:off x="9189720" y="2240280"/>
            <a:ext cx="2423160" cy="548640"/>
          </a:xfrm>
          <a:prstGeom prst="rect">
            <a:avLst/>
          </a:prstGeom>
          <a:noFill/>
          <a:ln/>
        </p:spPr>
        <p:txBody>
          <a:bodyPr wrap="square" lIns="0" tIns="0" rIns="0" bIns="0" rtlCol="0" anchor="t"/>
          <a:lstStyle/>
          <a:p>
            <a:pPr algn="ctr" indent="0" marL="0">
              <a:buNone/>
            </a:pPr>
            <a:r>
              <a:rPr lang="en-US" sz="2200" b="1" dirty="0">
                <a:solidFill>
                  <a:srgbClr val="111827"/>
                </a:solidFill>
                <a:latin typeface="Segoe UI" pitchFamily="34" charset="0"/>
                <a:ea typeface="Segoe UI" pitchFamily="34" charset="-122"/>
                <a:cs typeface="Segoe UI" pitchFamily="34" charset="-120"/>
              </a:rPr>
              <a:t>Lataus</a:t>
            </a:r>
            <a:endParaRPr lang="en-US" sz="2200" dirty="0"/>
          </a:p>
        </p:txBody>
      </p:sp>
      <p:sp>
        <p:nvSpPr>
          <p:cNvPr id="19" name="Text 17"/>
          <p:cNvSpPr txBox="1"/>
          <p:nvPr/>
        </p:nvSpPr>
        <p:spPr>
          <a:xfrm>
            <a:off x="9189720" y="2834640"/>
            <a:ext cx="2423160" cy="640080"/>
          </a:xfrm>
          <a:prstGeom prst="rect">
            <a:avLst/>
          </a:prstGeom>
          <a:noFill/>
          <a:ln/>
        </p:spPr>
        <p:txBody>
          <a:bodyPr wrap="square" lIns="0" tIns="0" rIns="0" bIns="0" rtlCol="0" anchor="ctr"/>
          <a:lstStyle/>
          <a:p>
            <a:pPr algn="ctr" indent="0" marL="0">
              <a:buNone/>
            </a:pPr>
            <a:r>
              <a:rPr lang="en-US" sz="1900" b="1" dirty="0">
                <a:solidFill>
                  <a:srgbClr val="CF222E"/>
                </a:solidFill>
                <a:latin typeface="Consolas" pitchFamily="34" charset="0"/>
                <a:ea typeface="Consolas" pitchFamily="34" charset="-122"/>
                <a:cs typeface="Consolas" pitchFamily="34" charset="-120"/>
              </a:rPr>
              <a:t>—</a:t>
            </a:r>
            <a:endParaRPr lang="en-US" sz="1900" dirty="0"/>
          </a:p>
        </p:txBody>
      </p:sp>
      <p:sp>
        <p:nvSpPr>
          <p:cNvPr id="20" name="Kortti"/>
          <p:cNvSpPr/>
          <p:nvPr/>
        </p:nvSpPr>
        <p:spPr>
          <a:xfrm>
            <a:off x="7498080" y="4069080"/>
            <a:ext cx="4114800" cy="1143000"/>
          </a:xfrm>
          <a:prstGeom prst="roundRect">
            <a:avLst>
              <a:gd name="adj" fmla="val 8000"/>
            </a:avLst>
          </a:prstGeom>
          <a:solidFill>
            <a:srgbClr val="EFF6FF"/>
          </a:solidFill>
          <a:ln w="12700">
            <a:solidFill>
              <a:srgbClr val="BFDBFE"/>
            </a:solidFill>
            <a:prstDash val="solid"/>
          </a:ln>
        </p:spPr>
      </p:sp>
      <p:sp>
        <p:nvSpPr>
          <p:cNvPr id="21" name="Text 19"/>
          <p:cNvSpPr txBox="1"/>
          <p:nvPr/>
        </p:nvSpPr>
        <p:spPr>
          <a:xfrm>
            <a:off x="7726680" y="4215384"/>
            <a:ext cx="36576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kysymys yleisölle</a:t>
            </a:r>
            <a:endParaRPr lang="en-US" sz="1200" dirty="0"/>
          </a:p>
        </p:txBody>
      </p:sp>
      <p:sp>
        <p:nvSpPr>
          <p:cNvPr id="22" name="Text 20"/>
          <p:cNvSpPr txBox="1"/>
          <p:nvPr/>
        </p:nvSpPr>
        <p:spPr>
          <a:xfrm>
            <a:off x="7726680" y="4507992"/>
            <a:ext cx="3657600" cy="59436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Missä arvo voi kadota? Huutakaa.</a:t>
            </a:r>
            <a:endParaRPr lang="en-US" sz="2000" dirty="0"/>
          </a:p>
        </p:txBody>
      </p:sp>
      <p:sp>
        <p:nvSpPr>
          <p:cNvPr id="23" name="Alarivi"/>
          <p:cNvSpPr txBox="1"/>
          <p:nvPr/>
        </p:nvSpPr>
        <p:spPr>
          <a:xfrm>
            <a:off x="548640" y="5559552"/>
            <a:ext cx="676656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Korjaus ilman toistoa on arvaus.</a:t>
            </a:r>
            <a:endParaRPr lang="en-US" sz="2000" dirty="0"/>
          </a:p>
        </p:txBody>
      </p:sp>
      <p:sp>
        <p:nvSpPr>
          <p:cNvPr id="24"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kuvitteellinen esimerkki.</a:t>
            </a:r>
            <a:endParaRPr lang="en-US" sz="1100" dirty="0"/>
          </a:p>
        </p:txBody>
      </p:sp>
      <p:sp>
        <p:nvSpPr>
          <p:cNvPr id="25" name="Shape 23"/>
          <p:cNvSpPr/>
          <p:nvPr/>
        </p:nvSpPr>
        <p:spPr>
          <a:xfrm>
            <a:off x="8412480" y="6455664"/>
            <a:ext cx="3291840" cy="0"/>
          </a:xfrm>
          <a:prstGeom prst="line">
            <a:avLst/>
          </a:prstGeom>
          <a:noFill/>
          <a:ln w="19050">
            <a:solidFill>
              <a:srgbClr val="E5E7EB"/>
            </a:solidFill>
            <a:prstDash val="solid"/>
          </a:ln>
        </p:spPr>
      </p:sp>
      <p:sp>
        <p:nvSpPr>
          <p:cNvPr id="26" name="Shape 24"/>
          <p:cNvSpPr/>
          <p:nvPr/>
        </p:nvSpPr>
        <p:spPr>
          <a:xfrm>
            <a:off x="8353044" y="6396228"/>
            <a:ext cx="118872" cy="118872"/>
          </a:xfrm>
          <a:prstGeom prst="ellipse">
            <a:avLst/>
          </a:prstGeom>
          <a:solidFill>
            <a:srgbClr val="9CA3AF"/>
          </a:solidFill>
          <a:ln w="9525">
            <a:solidFill>
              <a:srgbClr val="9CA3AF"/>
            </a:solidFill>
            <a:prstDash val="solid"/>
          </a:ln>
        </p:spPr>
      </p:sp>
      <p:sp>
        <p:nvSpPr>
          <p:cNvPr id="27" name="Shape 25"/>
          <p:cNvSpPr/>
          <p:nvPr/>
        </p:nvSpPr>
        <p:spPr>
          <a:xfrm>
            <a:off x="8901684" y="6396228"/>
            <a:ext cx="118872" cy="118872"/>
          </a:xfrm>
          <a:prstGeom prst="ellipse">
            <a:avLst/>
          </a:prstGeom>
          <a:solidFill>
            <a:srgbClr val="9CA3AF"/>
          </a:solidFill>
          <a:ln w="9525">
            <a:solidFill>
              <a:srgbClr val="9CA3AF"/>
            </a:solidFill>
            <a:prstDash val="solid"/>
          </a:ln>
        </p:spPr>
      </p:sp>
      <p:sp>
        <p:nvSpPr>
          <p:cNvPr id="28" name="Shape 26"/>
          <p:cNvSpPr/>
          <p:nvPr/>
        </p:nvSpPr>
        <p:spPr>
          <a:xfrm>
            <a:off x="9409176" y="6355080"/>
            <a:ext cx="201168" cy="201168"/>
          </a:xfrm>
          <a:prstGeom prst="ellipse">
            <a:avLst/>
          </a:prstGeom>
          <a:solidFill>
            <a:srgbClr val="2563EB"/>
          </a:solidFill>
          <a:ln w="9525">
            <a:solidFill>
              <a:srgbClr val="2563EB"/>
            </a:solidFill>
            <a:prstDash val="solid"/>
          </a:ln>
        </p:spPr>
      </p:sp>
      <p:sp>
        <p:nvSpPr>
          <p:cNvPr id="29" name="Shape 27"/>
          <p:cNvSpPr/>
          <p:nvPr/>
        </p:nvSpPr>
        <p:spPr>
          <a:xfrm>
            <a:off x="9998964" y="6396228"/>
            <a:ext cx="118872" cy="118872"/>
          </a:xfrm>
          <a:prstGeom prst="ellipse">
            <a:avLst/>
          </a:prstGeom>
          <a:solidFill>
            <a:srgbClr val="FFFFFF"/>
          </a:solidFill>
          <a:ln w="9525">
            <a:solidFill>
              <a:srgbClr val="9CA3AF"/>
            </a:solidFill>
            <a:prstDash val="solid"/>
          </a:ln>
        </p:spPr>
      </p:sp>
      <p:sp>
        <p:nvSpPr>
          <p:cNvPr id="30" name="Shape 28"/>
          <p:cNvSpPr/>
          <p:nvPr/>
        </p:nvSpPr>
        <p:spPr>
          <a:xfrm>
            <a:off x="10547604" y="6396228"/>
            <a:ext cx="118872" cy="118872"/>
          </a:xfrm>
          <a:prstGeom prst="ellipse">
            <a:avLst/>
          </a:prstGeom>
          <a:solidFill>
            <a:srgbClr val="FFFFFF"/>
          </a:solidFill>
          <a:ln w="9525">
            <a:solidFill>
              <a:srgbClr val="9CA3AF"/>
            </a:solidFill>
            <a:prstDash val="solid"/>
          </a:ln>
        </p:spPr>
      </p:sp>
      <p:sp>
        <p:nvSpPr>
          <p:cNvPr id="31" name="Shape 29"/>
          <p:cNvSpPr/>
          <p:nvPr/>
        </p:nvSpPr>
        <p:spPr>
          <a:xfrm>
            <a:off x="11096244" y="6396228"/>
            <a:ext cx="118872" cy="118872"/>
          </a:xfrm>
          <a:prstGeom prst="ellipse">
            <a:avLst/>
          </a:prstGeom>
          <a:solidFill>
            <a:srgbClr val="FFFFFF"/>
          </a:solidFill>
          <a:ln w="9525">
            <a:solidFill>
              <a:srgbClr val="9CA3AF"/>
            </a:solidFill>
            <a:prstDash val="solid"/>
          </a:ln>
        </p:spPr>
      </p:sp>
      <p:sp>
        <p:nvSpPr>
          <p:cNvPr id="32" name="Shape 30"/>
          <p:cNvSpPr/>
          <p:nvPr/>
        </p:nvSpPr>
        <p:spPr>
          <a:xfrm>
            <a:off x="11644884" y="6396228"/>
            <a:ext cx="118872" cy="118872"/>
          </a:xfrm>
          <a:prstGeom prst="ellipse">
            <a:avLst/>
          </a:prstGeom>
          <a:solidFill>
            <a:srgbClr val="FFFFFF"/>
          </a:solidFill>
          <a:ln w="9525">
            <a:solidFill>
              <a:srgbClr val="9CA3AF"/>
            </a:solidFill>
            <a:prstDash val="solid"/>
          </a:ln>
        </p:spPr>
      </p:sp>
      <p:sp>
        <p:nvSpPr>
          <p:cNvPr id="33" name="Text 31"/>
          <p:cNvSpPr txBox="1"/>
          <p:nvPr/>
        </p:nvSpPr>
        <p:spPr>
          <a:xfrm>
            <a:off x="877824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toista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Ensin toistetaan, sitten korjataan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Lomake → pyyntö → tallennus → lataus</a:t>
            </a:r>
            <a:endParaRPr lang="en-US" sz="1800" dirty="0"/>
          </a:p>
        </p:txBody>
      </p:sp>
      <p:sp>
        <p:nvSpPr>
          <p:cNvPr id="5" name="Kortti"/>
          <p:cNvSpPr/>
          <p:nvPr/>
        </p:nvSpPr>
        <p:spPr>
          <a:xfrm>
            <a:off x="548640" y="2103120"/>
            <a:ext cx="2423160" cy="1645920"/>
          </a:xfrm>
          <a:prstGeom prst="roundRect">
            <a:avLst>
              <a:gd name="adj" fmla="val 5556"/>
            </a:avLst>
          </a:prstGeom>
          <a:solidFill>
            <a:srgbClr val="FFFFFF"/>
          </a:solidFill>
          <a:ln w="12700">
            <a:solidFill>
              <a:srgbClr val="E5E7EB"/>
            </a:solidFill>
            <a:prstDash val="solid"/>
          </a:ln>
        </p:spPr>
      </p:sp>
      <p:sp>
        <p:nvSpPr>
          <p:cNvPr id="6" name="Text 4"/>
          <p:cNvSpPr txBox="1"/>
          <p:nvPr/>
        </p:nvSpPr>
        <p:spPr>
          <a:xfrm>
            <a:off x="548640" y="2240280"/>
            <a:ext cx="2423160" cy="548640"/>
          </a:xfrm>
          <a:prstGeom prst="rect">
            <a:avLst/>
          </a:prstGeom>
          <a:noFill/>
          <a:ln/>
        </p:spPr>
        <p:txBody>
          <a:bodyPr wrap="square" lIns="0" tIns="0" rIns="0" bIns="0" rtlCol="0" anchor="t"/>
          <a:lstStyle/>
          <a:p>
            <a:pPr algn="ctr" indent="0" marL="0">
              <a:buNone/>
            </a:pPr>
            <a:r>
              <a:rPr lang="en-US" sz="2200" b="1" dirty="0">
                <a:solidFill>
                  <a:srgbClr val="111827"/>
                </a:solidFill>
                <a:latin typeface="Segoe UI" pitchFamily="34" charset="0"/>
                <a:ea typeface="Segoe UI" pitchFamily="34" charset="-122"/>
                <a:cs typeface="Segoe UI" pitchFamily="34" charset="-120"/>
              </a:rPr>
              <a:t>Lomake</a:t>
            </a:r>
            <a:endParaRPr lang="en-US" sz="2200" dirty="0"/>
          </a:p>
        </p:txBody>
      </p:sp>
      <p:sp>
        <p:nvSpPr>
          <p:cNvPr id="7" name="Text 5"/>
          <p:cNvSpPr txBox="1"/>
          <p:nvPr/>
        </p:nvSpPr>
        <p:spPr>
          <a:xfrm>
            <a:off x="548640" y="2834640"/>
            <a:ext cx="2423160" cy="640080"/>
          </a:xfrm>
          <a:prstGeom prst="rect">
            <a:avLst/>
          </a:prstGeom>
          <a:noFill/>
          <a:ln/>
        </p:spPr>
        <p:txBody>
          <a:bodyPr wrap="square" lIns="0" tIns="0" rIns="0" bIns="0" rtlCol="0" anchor="ctr"/>
          <a:lstStyle/>
          <a:p>
            <a:pPr algn="ctr" indent="0" marL="0">
              <a:buNone/>
            </a:pPr>
            <a:r>
              <a:rPr lang="en-US" sz="1900" b="1" dirty="0">
                <a:solidFill>
                  <a:srgbClr val="1A7F37"/>
                </a:solidFill>
                <a:latin typeface="Consolas" pitchFamily="34" charset="0"/>
                <a:ea typeface="Consolas" pitchFamily="34" charset="-122"/>
                <a:cs typeface="Consolas" pitchFamily="34" charset="-120"/>
              </a:rPr>
              <a:t>B 7</a:t>
            </a:r>
            <a:endParaRPr lang="en-US" sz="1900" dirty="0"/>
          </a:p>
        </p:txBody>
      </p:sp>
      <p:sp>
        <p:nvSpPr>
          <p:cNvPr id="8" name="Shape 6"/>
          <p:cNvSpPr/>
          <p:nvPr/>
        </p:nvSpPr>
        <p:spPr>
          <a:xfrm>
            <a:off x="3017520" y="2926080"/>
            <a:ext cx="365760" cy="0"/>
          </a:xfrm>
          <a:prstGeom prst="line">
            <a:avLst/>
          </a:prstGeom>
          <a:noFill/>
          <a:ln w="31750">
            <a:solidFill>
              <a:srgbClr val="9CA3AF"/>
            </a:solidFill>
            <a:prstDash val="solid"/>
            <a:tailEnd type="triangle"/>
          </a:ln>
        </p:spPr>
      </p:sp>
      <p:sp>
        <p:nvSpPr>
          <p:cNvPr id="9" name="Kortti"/>
          <p:cNvSpPr/>
          <p:nvPr/>
        </p:nvSpPr>
        <p:spPr>
          <a:xfrm>
            <a:off x="3429000" y="2103120"/>
            <a:ext cx="2423160" cy="1645920"/>
          </a:xfrm>
          <a:prstGeom prst="roundRect">
            <a:avLst>
              <a:gd name="adj" fmla="val 5556"/>
            </a:avLst>
          </a:prstGeom>
          <a:solidFill>
            <a:srgbClr val="FFEBE9"/>
          </a:solidFill>
          <a:ln w="25400">
            <a:solidFill>
              <a:srgbClr val="CF222E"/>
            </a:solidFill>
            <a:prstDash val="solid"/>
          </a:ln>
        </p:spPr>
      </p:sp>
      <p:sp>
        <p:nvSpPr>
          <p:cNvPr id="10" name="Text 8"/>
          <p:cNvSpPr txBox="1"/>
          <p:nvPr/>
        </p:nvSpPr>
        <p:spPr>
          <a:xfrm>
            <a:off x="3429000" y="2240280"/>
            <a:ext cx="2423160" cy="548640"/>
          </a:xfrm>
          <a:prstGeom prst="rect">
            <a:avLst/>
          </a:prstGeom>
          <a:noFill/>
          <a:ln/>
        </p:spPr>
        <p:txBody>
          <a:bodyPr wrap="square" lIns="0" tIns="0" rIns="0" bIns="0" rtlCol="0" anchor="t"/>
          <a:lstStyle/>
          <a:p>
            <a:pPr algn="ctr" indent="0" marL="0">
              <a:buNone/>
            </a:pPr>
            <a:r>
              <a:rPr lang="en-US" sz="2200" b="1" dirty="0">
                <a:solidFill>
                  <a:srgbClr val="111827"/>
                </a:solidFill>
                <a:latin typeface="Segoe UI" pitchFamily="34" charset="0"/>
                <a:ea typeface="Segoe UI" pitchFamily="34" charset="-122"/>
                <a:cs typeface="Segoe UI" pitchFamily="34" charset="-120"/>
              </a:rPr>
              <a:t>Pyyntö</a:t>
            </a:r>
            <a:endParaRPr lang="en-US" sz="2200" dirty="0"/>
          </a:p>
        </p:txBody>
      </p:sp>
      <p:sp>
        <p:nvSpPr>
          <p:cNvPr id="11" name="Text 9"/>
          <p:cNvSpPr txBox="1"/>
          <p:nvPr/>
        </p:nvSpPr>
        <p:spPr>
          <a:xfrm>
            <a:off x="3429000" y="2834640"/>
            <a:ext cx="2423160" cy="640080"/>
          </a:xfrm>
          <a:prstGeom prst="rect">
            <a:avLst/>
          </a:prstGeom>
          <a:noFill/>
          <a:ln/>
        </p:spPr>
        <p:txBody>
          <a:bodyPr wrap="square" lIns="0" tIns="0" rIns="0" bIns="0" rtlCol="0" anchor="ctr"/>
          <a:lstStyle/>
          <a:p>
            <a:pPr algn="ctr" indent="0" marL="0">
              <a:buNone/>
            </a:pPr>
            <a:r>
              <a:rPr lang="en-US" sz="1900" b="1" dirty="0">
                <a:solidFill>
                  <a:srgbClr val="CF222E"/>
                </a:solidFill>
                <a:latin typeface="Consolas" pitchFamily="34" charset="0"/>
                <a:ea typeface="Consolas" pitchFamily="34" charset="-122"/>
                <a:cs typeface="Consolas" pitchFamily="34" charset="-120"/>
              </a:rPr>
              <a:t>ei huoneistoa</a:t>
            </a:r>
            <a:endParaRPr lang="en-US" sz="1900" dirty="0"/>
          </a:p>
        </p:txBody>
      </p:sp>
      <p:sp>
        <p:nvSpPr>
          <p:cNvPr id="12" name="Shape 10"/>
          <p:cNvSpPr/>
          <p:nvPr/>
        </p:nvSpPr>
        <p:spPr>
          <a:xfrm>
            <a:off x="5897880" y="2926080"/>
            <a:ext cx="365760" cy="0"/>
          </a:xfrm>
          <a:prstGeom prst="line">
            <a:avLst/>
          </a:prstGeom>
          <a:noFill/>
          <a:ln w="31750">
            <a:solidFill>
              <a:srgbClr val="9CA3AF"/>
            </a:solidFill>
            <a:prstDash val="solid"/>
            <a:tailEnd type="triangle"/>
          </a:ln>
        </p:spPr>
      </p:sp>
      <p:sp>
        <p:nvSpPr>
          <p:cNvPr id="13" name="Kortti"/>
          <p:cNvSpPr/>
          <p:nvPr/>
        </p:nvSpPr>
        <p:spPr>
          <a:xfrm>
            <a:off x="6309360" y="2103120"/>
            <a:ext cx="2423160" cy="1645920"/>
          </a:xfrm>
          <a:prstGeom prst="roundRect">
            <a:avLst>
              <a:gd name="adj" fmla="val 5556"/>
            </a:avLst>
          </a:prstGeom>
          <a:solidFill>
            <a:srgbClr val="FFFFFF"/>
          </a:solidFill>
          <a:ln w="12700">
            <a:solidFill>
              <a:srgbClr val="E5E7EB"/>
            </a:solidFill>
            <a:prstDash val="solid"/>
          </a:ln>
        </p:spPr>
      </p:sp>
      <p:sp>
        <p:nvSpPr>
          <p:cNvPr id="14" name="Text 12"/>
          <p:cNvSpPr txBox="1"/>
          <p:nvPr/>
        </p:nvSpPr>
        <p:spPr>
          <a:xfrm>
            <a:off x="6309360" y="2240280"/>
            <a:ext cx="2423160" cy="548640"/>
          </a:xfrm>
          <a:prstGeom prst="rect">
            <a:avLst/>
          </a:prstGeom>
          <a:noFill/>
          <a:ln/>
        </p:spPr>
        <p:txBody>
          <a:bodyPr wrap="square" lIns="0" tIns="0" rIns="0" bIns="0" rtlCol="0" anchor="t"/>
          <a:lstStyle/>
          <a:p>
            <a:pPr algn="ctr" indent="0" marL="0">
              <a:buNone/>
            </a:pPr>
            <a:r>
              <a:rPr lang="en-US" sz="2200" b="1" dirty="0">
                <a:solidFill>
                  <a:srgbClr val="111827"/>
                </a:solidFill>
                <a:latin typeface="Segoe UI" pitchFamily="34" charset="0"/>
                <a:ea typeface="Segoe UI" pitchFamily="34" charset="-122"/>
                <a:cs typeface="Segoe UI" pitchFamily="34" charset="-120"/>
              </a:rPr>
              <a:t>Tallennus</a:t>
            </a:r>
            <a:endParaRPr lang="en-US" sz="2200" dirty="0"/>
          </a:p>
        </p:txBody>
      </p:sp>
      <p:sp>
        <p:nvSpPr>
          <p:cNvPr id="15" name="Text 13"/>
          <p:cNvSpPr txBox="1"/>
          <p:nvPr/>
        </p:nvSpPr>
        <p:spPr>
          <a:xfrm>
            <a:off x="6309360" y="2834640"/>
            <a:ext cx="2423160" cy="640080"/>
          </a:xfrm>
          <a:prstGeom prst="rect">
            <a:avLst/>
          </a:prstGeom>
          <a:noFill/>
          <a:ln/>
        </p:spPr>
        <p:txBody>
          <a:bodyPr wrap="square" lIns="0" tIns="0" rIns="0" bIns="0" rtlCol="0" anchor="ctr"/>
          <a:lstStyle/>
          <a:p>
            <a:pPr algn="ctr" indent="0" marL="0">
              <a:buNone/>
            </a:pPr>
            <a:r>
              <a:rPr lang="en-US" sz="1900" b="1" dirty="0">
                <a:solidFill>
                  <a:srgbClr val="9CA3AF"/>
                </a:solidFill>
                <a:latin typeface="Consolas" pitchFamily="34" charset="0"/>
                <a:ea typeface="Consolas" pitchFamily="34" charset="-122"/>
                <a:cs typeface="Consolas" pitchFamily="34" charset="-120"/>
              </a:rPr>
              <a:t>?</a:t>
            </a:r>
            <a:endParaRPr lang="en-US" sz="1900" dirty="0"/>
          </a:p>
        </p:txBody>
      </p:sp>
      <p:sp>
        <p:nvSpPr>
          <p:cNvPr id="16" name="Shape 14"/>
          <p:cNvSpPr/>
          <p:nvPr/>
        </p:nvSpPr>
        <p:spPr>
          <a:xfrm>
            <a:off x="8778240" y="2926080"/>
            <a:ext cx="365760" cy="0"/>
          </a:xfrm>
          <a:prstGeom prst="line">
            <a:avLst/>
          </a:prstGeom>
          <a:noFill/>
          <a:ln w="31750">
            <a:solidFill>
              <a:srgbClr val="9CA3AF"/>
            </a:solidFill>
            <a:prstDash val="solid"/>
            <a:tailEnd type="triangle"/>
          </a:ln>
        </p:spPr>
      </p:sp>
      <p:sp>
        <p:nvSpPr>
          <p:cNvPr id="17" name="Kortti"/>
          <p:cNvSpPr/>
          <p:nvPr/>
        </p:nvSpPr>
        <p:spPr>
          <a:xfrm>
            <a:off x="9189720" y="2103120"/>
            <a:ext cx="2423160" cy="1645920"/>
          </a:xfrm>
          <a:prstGeom prst="roundRect">
            <a:avLst>
              <a:gd name="adj" fmla="val 5556"/>
            </a:avLst>
          </a:prstGeom>
          <a:solidFill>
            <a:srgbClr val="FFFFFF"/>
          </a:solidFill>
          <a:ln w="12700">
            <a:solidFill>
              <a:srgbClr val="E5E7EB"/>
            </a:solidFill>
            <a:prstDash val="solid"/>
          </a:ln>
        </p:spPr>
      </p:sp>
      <p:sp>
        <p:nvSpPr>
          <p:cNvPr id="18" name="Text 16"/>
          <p:cNvSpPr txBox="1"/>
          <p:nvPr/>
        </p:nvSpPr>
        <p:spPr>
          <a:xfrm>
            <a:off x="9189720" y="2240280"/>
            <a:ext cx="2423160" cy="548640"/>
          </a:xfrm>
          <a:prstGeom prst="rect">
            <a:avLst/>
          </a:prstGeom>
          <a:noFill/>
          <a:ln/>
        </p:spPr>
        <p:txBody>
          <a:bodyPr wrap="square" lIns="0" tIns="0" rIns="0" bIns="0" rtlCol="0" anchor="t"/>
          <a:lstStyle/>
          <a:p>
            <a:pPr algn="ctr" indent="0" marL="0">
              <a:buNone/>
            </a:pPr>
            <a:r>
              <a:rPr lang="en-US" sz="2200" b="1" dirty="0">
                <a:solidFill>
                  <a:srgbClr val="111827"/>
                </a:solidFill>
                <a:latin typeface="Segoe UI" pitchFamily="34" charset="0"/>
                <a:ea typeface="Segoe UI" pitchFamily="34" charset="-122"/>
                <a:cs typeface="Segoe UI" pitchFamily="34" charset="-120"/>
              </a:rPr>
              <a:t>Lataus</a:t>
            </a:r>
            <a:endParaRPr lang="en-US" sz="2200" dirty="0"/>
          </a:p>
        </p:txBody>
      </p:sp>
      <p:sp>
        <p:nvSpPr>
          <p:cNvPr id="19" name="Text 17"/>
          <p:cNvSpPr txBox="1"/>
          <p:nvPr/>
        </p:nvSpPr>
        <p:spPr>
          <a:xfrm>
            <a:off x="9189720" y="2834640"/>
            <a:ext cx="2423160" cy="640080"/>
          </a:xfrm>
          <a:prstGeom prst="rect">
            <a:avLst/>
          </a:prstGeom>
          <a:noFill/>
          <a:ln/>
        </p:spPr>
        <p:txBody>
          <a:bodyPr wrap="square" lIns="0" tIns="0" rIns="0" bIns="0" rtlCol="0" anchor="ctr"/>
          <a:lstStyle/>
          <a:p>
            <a:pPr algn="ctr" indent="0" marL="0">
              <a:buNone/>
            </a:pPr>
            <a:r>
              <a:rPr lang="en-US" sz="1900" b="1" dirty="0">
                <a:solidFill>
                  <a:srgbClr val="CF222E"/>
                </a:solidFill>
                <a:latin typeface="Consolas" pitchFamily="34" charset="0"/>
                <a:ea typeface="Consolas" pitchFamily="34" charset="-122"/>
                <a:cs typeface="Consolas" pitchFamily="34" charset="-120"/>
              </a:rPr>
              <a:t>—</a:t>
            </a:r>
            <a:endParaRPr lang="en-US" sz="1900" dirty="0"/>
          </a:p>
        </p:txBody>
      </p:sp>
      <p:sp>
        <p:nvSpPr>
          <p:cNvPr id="20" name="Alarivi"/>
          <p:cNvSpPr txBox="1"/>
          <p:nvPr/>
        </p:nvSpPr>
        <p:spPr>
          <a:xfrm>
            <a:off x="548640" y="5559552"/>
            <a:ext cx="676656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Korjaus ilman toistoa on arvaus.</a:t>
            </a:r>
            <a:endParaRPr lang="en-US" sz="2000" dirty="0"/>
          </a:p>
        </p:txBody>
      </p:sp>
      <p:sp>
        <p:nvSpPr>
          <p:cNvPr id="21"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kuvitteellinen esimerkki.</a:t>
            </a:r>
            <a:endParaRPr lang="en-US" sz="1100" dirty="0"/>
          </a:p>
        </p:txBody>
      </p:sp>
      <p:sp>
        <p:nvSpPr>
          <p:cNvPr id="22" name="Shape 20"/>
          <p:cNvSpPr/>
          <p:nvPr/>
        </p:nvSpPr>
        <p:spPr>
          <a:xfrm>
            <a:off x="8412480" y="6455664"/>
            <a:ext cx="3291840" cy="0"/>
          </a:xfrm>
          <a:prstGeom prst="line">
            <a:avLst/>
          </a:prstGeom>
          <a:noFill/>
          <a:ln w="19050">
            <a:solidFill>
              <a:srgbClr val="E5E7EB"/>
            </a:solidFill>
            <a:prstDash val="solid"/>
          </a:ln>
        </p:spPr>
      </p:sp>
      <p:sp>
        <p:nvSpPr>
          <p:cNvPr id="23" name="Shape 21"/>
          <p:cNvSpPr/>
          <p:nvPr/>
        </p:nvSpPr>
        <p:spPr>
          <a:xfrm>
            <a:off x="8353044" y="6396228"/>
            <a:ext cx="118872" cy="118872"/>
          </a:xfrm>
          <a:prstGeom prst="ellipse">
            <a:avLst/>
          </a:prstGeom>
          <a:solidFill>
            <a:srgbClr val="9CA3AF"/>
          </a:solidFill>
          <a:ln w="9525">
            <a:solidFill>
              <a:srgbClr val="9CA3AF"/>
            </a:solidFill>
            <a:prstDash val="solid"/>
          </a:ln>
        </p:spPr>
      </p:sp>
      <p:sp>
        <p:nvSpPr>
          <p:cNvPr id="24" name="Shape 22"/>
          <p:cNvSpPr/>
          <p:nvPr/>
        </p:nvSpPr>
        <p:spPr>
          <a:xfrm>
            <a:off x="8901684" y="6396228"/>
            <a:ext cx="118872" cy="118872"/>
          </a:xfrm>
          <a:prstGeom prst="ellipse">
            <a:avLst/>
          </a:prstGeom>
          <a:solidFill>
            <a:srgbClr val="9CA3AF"/>
          </a:solidFill>
          <a:ln w="9525">
            <a:solidFill>
              <a:srgbClr val="9CA3AF"/>
            </a:solidFill>
            <a:prstDash val="solid"/>
          </a:ln>
        </p:spPr>
      </p:sp>
      <p:sp>
        <p:nvSpPr>
          <p:cNvPr id="25" name="Shape 23"/>
          <p:cNvSpPr/>
          <p:nvPr/>
        </p:nvSpPr>
        <p:spPr>
          <a:xfrm>
            <a:off x="9409176" y="6355080"/>
            <a:ext cx="201168" cy="201168"/>
          </a:xfrm>
          <a:prstGeom prst="ellipse">
            <a:avLst/>
          </a:prstGeom>
          <a:solidFill>
            <a:srgbClr val="2563EB"/>
          </a:solidFill>
          <a:ln w="9525">
            <a:solidFill>
              <a:srgbClr val="2563EB"/>
            </a:solidFill>
            <a:prstDash val="solid"/>
          </a:ln>
        </p:spPr>
      </p:sp>
      <p:sp>
        <p:nvSpPr>
          <p:cNvPr id="26" name="Shape 24"/>
          <p:cNvSpPr/>
          <p:nvPr/>
        </p:nvSpPr>
        <p:spPr>
          <a:xfrm>
            <a:off x="9998964" y="6396228"/>
            <a:ext cx="118872" cy="118872"/>
          </a:xfrm>
          <a:prstGeom prst="ellipse">
            <a:avLst/>
          </a:prstGeom>
          <a:solidFill>
            <a:srgbClr val="FFFFFF"/>
          </a:solidFill>
          <a:ln w="9525">
            <a:solidFill>
              <a:srgbClr val="9CA3AF"/>
            </a:solidFill>
            <a:prstDash val="solid"/>
          </a:ln>
        </p:spPr>
      </p:sp>
      <p:sp>
        <p:nvSpPr>
          <p:cNvPr id="27" name="Shape 25"/>
          <p:cNvSpPr/>
          <p:nvPr/>
        </p:nvSpPr>
        <p:spPr>
          <a:xfrm>
            <a:off x="10547604" y="6396228"/>
            <a:ext cx="118872" cy="118872"/>
          </a:xfrm>
          <a:prstGeom prst="ellipse">
            <a:avLst/>
          </a:prstGeom>
          <a:solidFill>
            <a:srgbClr val="FFFFFF"/>
          </a:solidFill>
          <a:ln w="9525">
            <a:solidFill>
              <a:srgbClr val="9CA3AF"/>
            </a:solidFill>
            <a:prstDash val="solid"/>
          </a:ln>
        </p:spPr>
      </p:sp>
      <p:sp>
        <p:nvSpPr>
          <p:cNvPr id="28" name="Shape 26"/>
          <p:cNvSpPr/>
          <p:nvPr/>
        </p:nvSpPr>
        <p:spPr>
          <a:xfrm>
            <a:off x="11096244" y="6396228"/>
            <a:ext cx="118872" cy="118872"/>
          </a:xfrm>
          <a:prstGeom prst="ellipse">
            <a:avLst/>
          </a:prstGeom>
          <a:solidFill>
            <a:srgbClr val="FFFFFF"/>
          </a:solidFill>
          <a:ln w="9525">
            <a:solidFill>
              <a:srgbClr val="9CA3AF"/>
            </a:solidFill>
            <a:prstDash val="solid"/>
          </a:ln>
        </p:spPr>
      </p:sp>
      <p:sp>
        <p:nvSpPr>
          <p:cNvPr id="29" name="Shape 27"/>
          <p:cNvSpPr/>
          <p:nvPr/>
        </p:nvSpPr>
        <p:spPr>
          <a:xfrm>
            <a:off x="11644884" y="6396228"/>
            <a:ext cx="118872" cy="118872"/>
          </a:xfrm>
          <a:prstGeom prst="ellipse">
            <a:avLst/>
          </a:prstGeom>
          <a:solidFill>
            <a:srgbClr val="FFFFFF"/>
          </a:solidFill>
          <a:ln w="9525">
            <a:solidFill>
              <a:srgbClr val="9CA3AF"/>
            </a:solidFill>
            <a:prstDash val="solid"/>
          </a:ln>
        </p:spPr>
      </p:sp>
      <p:sp>
        <p:nvSpPr>
          <p:cNvPr id="30" name="Text 28"/>
          <p:cNvSpPr txBox="1"/>
          <p:nvPr/>
        </p:nvSpPr>
        <p:spPr>
          <a:xfrm>
            <a:off x="877824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toista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Mitä agentti tekee, kun sinä et katso?</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Yksi kierros, neljä vaihetta</a:t>
            </a:r>
            <a:endParaRPr lang="en-US" sz="1800" dirty="0"/>
          </a:p>
        </p:txBody>
      </p:sp>
      <p:sp>
        <p:nvSpPr>
          <p:cNvPr id="5" name="Kortti"/>
          <p:cNvSpPr/>
          <p:nvPr/>
        </p:nvSpPr>
        <p:spPr>
          <a:xfrm>
            <a:off x="548640" y="1920240"/>
            <a:ext cx="2514600" cy="2926080"/>
          </a:xfrm>
          <a:prstGeom prst="roundRect">
            <a:avLst>
              <a:gd name="adj" fmla="val 3636"/>
            </a:avLst>
          </a:prstGeom>
          <a:solidFill>
            <a:srgbClr val="F6F8FA"/>
          </a:solidFill>
          <a:ln w="12700">
            <a:solidFill>
              <a:srgbClr val="D0D7DE"/>
            </a:solidFill>
            <a:prstDash val="solid"/>
          </a:ln>
        </p:spPr>
      </p:sp>
      <p:sp>
        <p:nvSpPr>
          <p:cNvPr id="6" name="Text 4"/>
          <p:cNvSpPr txBox="1"/>
          <p:nvPr/>
        </p:nvSpPr>
        <p:spPr>
          <a:xfrm>
            <a:off x="731520" y="2029968"/>
            <a:ext cx="731520" cy="365760"/>
          </a:xfrm>
          <a:prstGeom prst="rect">
            <a:avLst/>
          </a:prstGeom>
          <a:noFill/>
          <a:ln/>
        </p:spPr>
        <p:txBody>
          <a:bodyPr wrap="square" lIns="0" tIns="0" rIns="0" bIns="0" rtlCol="0" anchor="t"/>
          <a:lstStyle/>
          <a:p>
            <a:pPr algn="l" indent="0" marL="0">
              <a:buNone/>
            </a:pPr>
            <a:r>
              <a:rPr lang="en-US" sz="1600" b="1" dirty="0">
                <a:solidFill>
                  <a:srgbClr val="2563EB"/>
                </a:solidFill>
                <a:latin typeface="Consolas" pitchFamily="34" charset="0"/>
                <a:ea typeface="Consolas" pitchFamily="34" charset="-122"/>
                <a:cs typeface="Consolas" pitchFamily="34" charset="-120"/>
              </a:rPr>
              <a:t>01</a:t>
            </a:r>
            <a:endParaRPr lang="en-US" sz="1600" dirty="0"/>
          </a:p>
        </p:txBody>
      </p:sp>
      <p:pic>
        <p:nvPicPr>
          <p:cNvPr id="7" name="Image 0" descr="preencoded.png">    </p:cNvPr>
          <p:cNvPicPr>
            <a:picLocks noChangeAspect="1"/>
          </p:cNvPicPr>
          <p:nvPr/>
        </p:nvPicPr>
        <p:blipFill>
          <a:blip r:embed="rId1"/>
          <a:stretch>
            <a:fillRect/>
          </a:stretch>
        </p:blipFill>
        <p:spPr>
          <a:xfrm>
            <a:off x="1444752" y="2514600"/>
            <a:ext cx="731520" cy="731520"/>
          </a:xfrm>
          <a:prstGeom prst="rect">
            <a:avLst/>
          </a:prstGeom>
        </p:spPr>
      </p:pic>
      <p:sp>
        <p:nvSpPr>
          <p:cNvPr id="8" name="Text 5"/>
          <p:cNvSpPr txBox="1"/>
          <p:nvPr/>
        </p:nvSpPr>
        <p:spPr>
          <a:xfrm>
            <a:off x="685800" y="3429000"/>
            <a:ext cx="2240280" cy="822960"/>
          </a:xfrm>
          <a:prstGeom prst="rect">
            <a:avLst/>
          </a:prstGeom>
          <a:noFill/>
          <a:ln/>
        </p:spPr>
        <p:txBody>
          <a:bodyPr wrap="square" lIns="0" tIns="0" rIns="0" bIns="0" rtlCol="0" anchor="ctr"/>
          <a:lstStyle/>
          <a:p>
            <a:pPr algn="ctr" indent="0" marL="0">
              <a:buNone/>
            </a:pPr>
            <a:r>
              <a:rPr lang="en-US" sz="1800" b="1" dirty="0">
                <a:solidFill>
                  <a:srgbClr val="111827"/>
                </a:solidFill>
                <a:latin typeface="Segoe UI" pitchFamily="34" charset="0"/>
                <a:ea typeface="Segoe UI" pitchFamily="34" charset="-122"/>
                <a:cs typeface="Segoe UI" pitchFamily="34" charset="-120"/>
              </a:rPr>
              <a:t>lukee repon ja ohjeet</a:t>
            </a:r>
            <a:endParaRPr lang="en-US" sz="1800" dirty="0"/>
          </a:p>
        </p:txBody>
      </p:sp>
      <p:sp>
        <p:nvSpPr>
          <p:cNvPr id="9" name="Shape 6"/>
          <p:cNvSpPr/>
          <p:nvPr/>
        </p:nvSpPr>
        <p:spPr>
          <a:xfrm>
            <a:off x="3108960" y="3383280"/>
            <a:ext cx="274320" cy="0"/>
          </a:xfrm>
          <a:prstGeom prst="line">
            <a:avLst/>
          </a:prstGeom>
          <a:noFill/>
          <a:ln w="31750">
            <a:solidFill>
              <a:srgbClr val="9CA3AF"/>
            </a:solidFill>
            <a:prstDash val="solid"/>
            <a:tailEnd type="triangle"/>
          </a:ln>
        </p:spPr>
      </p:sp>
      <p:sp>
        <p:nvSpPr>
          <p:cNvPr id="10" name="Kortti"/>
          <p:cNvSpPr/>
          <p:nvPr/>
        </p:nvSpPr>
        <p:spPr>
          <a:xfrm>
            <a:off x="3429000" y="1920240"/>
            <a:ext cx="2514600" cy="2926080"/>
          </a:xfrm>
          <a:prstGeom prst="roundRect">
            <a:avLst>
              <a:gd name="adj" fmla="val 3636"/>
            </a:avLst>
          </a:prstGeom>
          <a:solidFill>
            <a:srgbClr val="F6F8FA"/>
          </a:solidFill>
          <a:ln w="12700">
            <a:solidFill>
              <a:srgbClr val="D0D7DE"/>
            </a:solidFill>
            <a:prstDash val="solid"/>
          </a:ln>
        </p:spPr>
      </p:sp>
      <p:sp>
        <p:nvSpPr>
          <p:cNvPr id="11" name="Text 8"/>
          <p:cNvSpPr txBox="1"/>
          <p:nvPr/>
        </p:nvSpPr>
        <p:spPr>
          <a:xfrm>
            <a:off x="3611880" y="2029968"/>
            <a:ext cx="731520" cy="365760"/>
          </a:xfrm>
          <a:prstGeom prst="rect">
            <a:avLst/>
          </a:prstGeom>
          <a:noFill/>
          <a:ln/>
        </p:spPr>
        <p:txBody>
          <a:bodyPr wrap="square" lIns="0" tIns="0" rIns="0" bIns="0" rtlCol="0" anchor="t"/>
          <a:lstStyle/>
          <a:p>
            <a:pPr algn="l" indent="0" marL="0">
              <a:buNone/>
            </a:pPr>
            <a:r>
              <a:rPr lang="en-US" sz="1600" b="1" dirty="0">
                <a:solidFill>
                  <a:srgbClr val="2563EB"/>
                </a:solidFill>
                <a:latin typeface="Consolas" pitchFamily="34" charset="0"/>
                <a:ea typeface="Consolas" pitchFamily="34" charset="-122"/>
                <a:cs typeface="Consolas" pitchFamily="34" charset="-120"/>
              </a:rPr>
              <a:t>02</a:t>
            </a:r>
            <a:endParaRPr lang="en-US" sz="1600" dirty="0"/>
          </a:p>
        </p:txBody>
      </p:sp>
      <p:pic>
        <p:nvPicPr>
          <p:cNvPr id="12" name="Image 1" descr="preencoded.png">    </p:cNvPr>
          <p:cNvPicPr>
            <a:picLocks noChangeAspect="1"/>
          </p:cNvPicPr>
          <p:nvPr/>
        </p:nvPicPr>
        <p:blipFill>
          <a:blip r:embed="rId2"/>
          <a:stretch>
            <a:fillRect/>
          </a:stretch>
        </p:blipFill>
        <p:spPr>
          <a:xfrm>
            <a:off x="4325112" y="2514600"/>
            <a:ext cx="731520" cy="731520"/>
          </a:xfrm>
          <a:prstGeom prst="rect">
            <a:avLst/>
          </a:prstGeom>
        </p:spPr>
      </p:pic>
      <p:sp>
        <p:nvSpPr>
          <p:cNvPr id="13" name="Text 9"/>
          <p:cNvSpPr txBox="1"/>
          <p:nvPr/>
        </p:nvSpPr>
        <p:spPr>
          <a:xfrm>
            <a:off x="3566160" y="3429000"/>
            <a:ext cx="2240280" cy="822960"/>
          </a:xfrm>
          <a:prstGeom prst="rect">
            <a:avLst/>
          </a:prstGeom>
          <a:noFill/>
          <a:ln/>
        </p:spPr>
        <p:txBody>
          <a:bodyPr wrap="square" lIns="0" tIns="0" rIns="0" bIns="0" rtlCol="0" anchor="ctr"/>
          <a:lstStyle/>
          <a:p>
            <a:pPr algn="ctr" indent="0" marL="0">
              <a:buNone/>
            </a:pPr>
            <a:r>
              <a:rPr lang="en-US" sz="1800" b="1" dirty="0">
                <a:solidFill>
                  <a:srgbClr val="111827"/>
                </a:solidFill>
                <a:latin typeface="Segoe UI" pitchFamily="34" charset="0"/>
                <a:ea typeface="Segoe UI" pitchFamily="34" charset="-122"/>
                <a:cs typeface="Segoe UI" pitchFamily="34" charset="-120"/>
              </a:rPr>
              <a:t>ajaa testin</a:t>
            </a:r>
            <a:endParaRPr lang="en-US" sz="1800" dirty="0"/>
          </a:p>
        </p:txBody>
      </p:sp>
      <p:sp>
        <p:nvSpPr>
          <p:cNvPr id="14" name="Text 10"/>
          <p:cNvSpPr txBox="1"/>
          <p:nvPr/>
        </p:nvSpPr>
        <p:spPr>
          <a:xfrm>
            <a:off x="3566160" y="4251960"/>
            <a:ext cx="2240280" cy="411480"/>
          </a:xfrm>
          <a:prstGeom prst="rect">
            <a:avLst/>
          </a:prstGeom>
          <a:noFill/>
          <a:ln/>
        </p:spPr>
        <p:txBody>
          <a:bodyPr wrap="square" lIns="0" tIns="0" rIns="0" bIns="0" rtlCol="0" anchor="t"/>
          <a:lstStyle/>
          <a:p>
            <a:pPr algn="ctr" indent="0" marL="0">
              <a:buNone/>
            </a:pPr>
            <a:r>
              <a:rPr lang="en-US" sz="1600" b="1" dirty="0">
                <a:solidFill>
                  <a:srgbClr val="CF222E"/>
                </a:solidFill>
                <a:latin typeface="Consolas" pitchFamily="34" charset="0"/>
                <a:ea typeface="Consolas" pitchFamily="34" charset="-122"/>
                <a:cs typeface="Consolas" pitchFamily="34" charset="-120"/>
              </a:rPr>
              <a:t>✗ ei läpi</a:t>
            </a:r>
            <a:endParaRPr lang="en-US" sz="1600" dirty="0"/>
          </a:p>
        </p:txBody>
      </p:sp>
      <p:sp>
        <p:nvSpPr>
          <p:cNvPr id="15" name="Shape 11"/>
          <p:cNvSpPr/>
          <p:nvPr/>
        </p:nvSpPr>
        <p:spPr>
          <a:xfrm>
            <a:off x="5989320" y="3383280"/>
            <a:ext cx="274320" cy="0"/>
          </a:xfrm>
          <a:prstGeom prst="line">
            <a:avLst/>
          </a:prstGeom>
          <a:noFill/>
          <a:ln w="31750">
            <a:solidFill>
              <a:srgbClr val="9CA3AF"/>
            </a:solidFill>
            <a:prstDash val="solid"/>
            <a:tailEnd type="triangle"/>
          </a:ln>
        </p:spPr>
      </p:sp>
      <p:sp>
        <p:nvSpPr>
          <p:cNvPr id="16" name="Kortti"/>
          <p:cNvSpPr/>
          <p:nvPr/>
        </p:nvSpPr>
        <p:spPr>
          <a:xfrm>
            <a:off x="6309360" y="1920240"/>
            <a:ext cx="2514600" cy="2926080"/>
          </a:xfrm>
          <a:prstGeom prst="roundRect">
            <a:avLst>
              <a:gd name="adj" fmla="val 3636"/>
            </a:avLst>
          </a:prstGeom>
          <a:solidFill>
            <a:srgbClr val="F6F8FA"/>
          </a:solidFill>
          <a:ln w="12700">
            <a:solidFill>
              <a:srgbClr val="D0D7DE"/>
            </a:solidFill>
            <a:prstDash val="solid"/>
          </a:ln>
        </p:spPr>
      </p:sp>
      <p:sp>
        <p:nvSpPr>
          <p:cNvPr id="17" name="Text 13"/>
          <p:cNvSpPr txBox="1"/>
          <p:nvPr/>
        </p:nvSpPr>
        <p:spPr>
          <a:xfrm>
            <a:off x="6492240" y="2029968"/>
            <a:ext cx="731520" cy="365760"/>
          </a:xfrm>
          <a:prstGeom prst="rect">
            <a:avLst/>
          </a:prstGeom>
          <a:noFill/>
          <a:ln/>
        </p:spPr>
        <p:txBody>
          <a:bodyPr wrap="square" lIns="0" tIns="0" rIns="0" bIns="0" rtlCol="0" anchor="t"/>
          <a:lstStyle/>
          <a:p>
            <a:pPr algn="l" indent="0" marL="0">
              <a:buNone/>
            </a:pPr>
            <a:r>
              <a:rPr lang="en-US" sz="1600" b="1" dirty="0">
                <a:solidFill>
                  <a:srgbClr val="2563EB"/>
                </a:solidFill>
                <a:latin typeface="Consolas" pitchFamily="34" charset="0"/>
                <a:ea typeface="Consolas" pitchFamily="34" charset="-122"/>
                <a:cs typeface="Consolas" pitchFamily="34" charset="-120"/>
              </a:rPr>
              <a:t>03</a:t>
            </a:r>
            <a:endParaRPr lang="en-US" sz="1600" dirty="0"/>
          </a:p>
        </p:txBody>
      </p:sp>
      <p:pic>
        <p:nvPicPr>
          <p:cNvPr id="18" name="Image 2" descr="preencoded.png">    </p:cNvPr>
          <p:cNvPicPr>
            <a:picLocks noChangeAspect="1"/>
          </p:cNvPicPr>
          <p:nvPr/>
        </p:nvPicPr>
        <p:blipFill>
          <a:blip r:embed="rId3"/>
          <a:stretch>
            <a:fillRect/>
          </a:stretch>
        </p:blipFill>
        <p:spPr>
          <a:xfrm>
            <a:off x="7205472" y="2514600"/>
            <a:ext cx="731520" cy="731520"/>
          </a:xfrm>
          <a:prstGeom prst="rect">
            <a:avLst/>
          </a:prstGeom>
        </p:spPr>
      </p:pic>
      <p:sp>
        <p:nvSpPr>
          <p:cNvPr id="19" name="Text 14"/>
          <p:cNvSpPr txBox="1"/>
          <p:nvPr/>
        </p:nvSpPr>
        <p:spPr>
          <a:xfrm>
            <a:off x="6446520" y="3429000"/>
            <a:ext cx="2240280" cy="822960"/>
          </a:xfrm>
          <a:prstGeom prst="rect">
            <a:avLst/>
          </a:prstGeom>
          <a:noFill/>
          <a:ln/>
        </p:spPr>
        <p:txBody>
          <a:bodyPr wrap="square" lIns="0" tIns="0" rIns="0" bIns="0" rtlCol="0" anchor="ctr"/>
          <a:lstStyle/>
          <a:p>
            <a:pPr algn="ctr" indent="0" marL="0">
              <a:buNone/>
            </a:pPr>
            <a:r>
              <a:rPr lang="en-US" sz="1800" b="1" dirty="0">
                <a:solidFill>
                  <a:srgbClr val="111827"/>
                </a:solidFill>
                <a:latin typeface="Segoe UI" pitchFamily="34" charset="0"/>
                <a:ea typeface="Segoe UI" pitchFamily="34" charset="-122"/>
                <a:cs typeface="Segoe UI" pitchFamily="34" charset="-120"/>
              </a:rPr>
              <a:t>muokkaa koodia</a:t>
            </a:r>
            <a:endParaRPr lang="en-US" sz="1800" dirty="0"/>
          </a:p>
        </p:txBody>
      </p:sp>
      <p:sp>
        <p:nvSpPr>
          <p:cNvPr id="20" name="Shape 15"/>
          <p:cNvSpPr/>
          <p:nvPr/>
        </p:nvSpPr>
        <p:spPr>
          <a:xfrm>
            <a:off x="8869680" y="3383280"/>
            <a:ext cx="274320" cy="0"/>
          </a:xfrm>
          <a:prstGeom prst="line">
            <a:avLst/>
          </a:prstGeom>
          <a:noFill/>
          <a:ln w="31750">
            <a:solidFill>
              <a:srgbClr val="9CA3AF"/>
            </a:solidFill>
            <a:prstDash val="solid"/>
            <a:tailEnd type="triangle"/>
          </a:ln>
        </p:spPr>
      </p:sp>
      <p:sp>
        <p:nvSpPr>
          <p:cNvPr id="21" name="Kortti"/>
          <p:cNvSpPr/>
          <p:nvPr/>
        </p:nvSpPr>
        <p:spPr>
          <a:xfrm>
            <a:off x="9189720" y="1920240"/>
            <a:ext cx="2514600" cy="2926080"/>
          </a:xfrm>
          <a:prstGeom prst="roundRect">
            <a:avLst>
              <a:gd name="adj" fmla="val 3636"/>
            </a:avLst>
          </a:prstGeom>
          <a:solidFill>
            <a:srgbClr val="F6F8FA"/>
          </a:solidFill>
          <a:ln w="12700">
            <a:solidFill>
              <a:srgbClr val="D0D7DE"/>
            </a:solidFill>
            <a:prstDash val="solid"/>
          </a:ln>
        </p:spPr>
      </p:sp>
      <p:sp>
        <p:nvSpPr>
          <p:cNvPr id="22" name="Text 17"/>
          <p:cNvSpPr txBox="1"/>
          <p:nvPr/>
        </p:nvSpPr>
        <p:spPr>
          <a:xfrm>
            <a:off x="9372600" y="2029968"/>
            <a:ext cx="731520" cy="365760"/>
          </a:xfrm>
          <a:prstGeom prst="rect">
            <a:avLst/>
          </a:prstGeom>
          <a:noFill/>
          <a:ln/>
        </p:spPr>
        <p:txBody>
          <a:bodyPr wrap="square" lIns="0" tIns="0" rIns="0" bIns="0" rtlCol="0" anchor="t"/>
          <a:lstStyle/>
          <a:p>
            <a:pPr algn="l" indent="0" marL="0">
              <a:buNone/>
            </a:pPr>
            <a:r>
              <a:rPr lang="en-US" sz="1600" b="1" dirty="0">
                <a:solidFill>
                  <a:srgbClr val="2563EB"/>
                </a:solidFill>
                <a:latin typeface="Consolas" pitchFamily="34" charset="0"/>
                <a:ea typeface="Consolas" pitchFamily="34" charset="-122"/>
                <a:cs typeface="Consolas" pitchFamily="34" charset="-120"/>
              </a:rPr>
              <a:t>04</a:t>
            </a:r>
            <a:endParaRPr lang="en-US" sz="1600" dirty="0"/>
          </a:p>
        </p:txBody>
      </p:sp>
      <p:pic>
        <p:nvPicPr>
          <p:cNvPr id="23" name="Image 3" descr="preencoded.png">    </p:cNvPr>
          <p:cNvPicPr>
            <a:picLocks noChangeAspect="1"/>
          </p:cNvPicPr>
          <p:nvPr/>
        </p:nvPicPr>
        <p:blipFill>
          <a:blip r:embed="rId4"/>
          <a:stretch>
            <a:fillRect/>
          </a:stretch>
        </p:blipFill>
        <p:spPr>
          <a:xfrm>
            <a:off x="10085832" y="2514600"/>
            <a:ext cx="731520" cy="731520"/>
          </a:xfrm>
          <a:prstGeom prst="rect">
            <a:avLst/>
          </a:prstGeom>
        </p:spPr>
      </p:pic>
      <p:sp>
        <p:nvSpPr>
          <p:cNvPr id="24" name="Text 18"/>
          <p:cNvSpPr txBox="1"/>
          <p:nvPr/>
        </p:nvSpPr>
        <p:spPr>
          <a:xfrm>
            <a:off x="9326880" y="3429000"/>
            <a:ext cx="2240280" cy="822960"/>
          </a:xfrm>
          <a:prstGeom prst="rect">
            <a:avLst/>
          </a:prstGeom>
          <a:noFill/>
          <a:ln/>
        </p:spPr>
        <p:txBody>
          <a:bodyPr wrap="square" lIns="0" tIns="0" rIns="0" bIns="0" rtlCol="0" anchor="ctr"/>
          <a:lstStyle/>
          <a:p>
            <a:pPr algn="ctr" indent="0" marL="0">
              <a:buNone/>
            </a:pPr>
            <a:r>
              <a:rPr lang="en-US" sz="1800" b="1" dirty="0">
                <a:solidFill>
                  <a:srgbClr val="111827"/>
                </a:solidFill>
                <a:latin typeface="Segoe UI" pitchFamily="34" charset="0"/>
                <a:ea typeface="Segoe UI" pitchFamily="34" charset="-122"/>
                <a:cs typeface="Segoe UI" pitchFamily="34" charset="-120"/>
              </a:rPr>
              <a:t>ajaa testin uudelleen</a:t>
            </a:r>
            <a:endParaRPr lang="en-US" sz="1800" dirty="0"/>
          </a:p>
        </p:txBody>
      </p:sp>
      <p:sp>
        <p:nvSpPr>
          <p:cNvPr id="25" name="Text 19"/>
          <p:cNvSpPr txBox="1"/>
          <p:nvPr/>
        </p:nvSpPr>
        <p:spPr>
          <a:xfrm>
            <a:off x="9326880" y="4251960"/>
            <a:ext cx="2240280" cy="411480"/>
          </a:xfrm>
          <a:prstGeom prst="rect">
            <a:avLst/>
          </a:prstGeom>
          <a:noFill/>
          <a:ln/>
        </p:spPr>
        <p:txBody>
          <a:bodyPr wrap="square" lIns="0" tIns="0" rIns="0" bIns="0" rtlCol="0" anchor="t"/>
          <a:lstStyle/>
          <a:p>
            <a:pPr algn="ctr" indent="0" marL="0">
              <a:buNone/>
            </a:pPr>
            <a:r>
              <a:rPr lang="en-US" sz="1600" b="1" dirty="0">
                <a:solidFill>
                  <a:srgbClr val="1A7F37"/>
                </a:solidFill>
                <a:latin typeface="Consolas" pitchFamily="34" charset="0"/>
                <a:ea typeface="Consolas" pitchFamily="34" charset="-122"/>
                <a:cs typeface="Consolas" pitchFamily="34" charset="-120"/>
              </a:rPr>
              <a:t>läpi?</a:t>
            </a:r>
            <a:endParaRPr lang="en-US" sz="1600" dirty="0"/>
          </a:p>
        </p:txBody>
      </p:sp>
      <p:sp>
        <p:nvSpPr>
          <p:cNvPr id="26"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kuvitteellinen esimerkki.</a:t>
            </a:r>
            <a:endParaRPr lang="en-US" sz="1100" dirty="0"/>
          </a:p>
        </p:txBody>
      </p:sp>
      <p:sp>
        <p:nvSpPr>
          <p:cNvPr id="27" name="Shape 21"/>
          <p:cNvSpPr/>
          <p:nvPr/>
        </p:nvSpPr>
        <p:spPr>
          <a:xfrm>
            <a:off x="8412480" y="6455664"/>
            <a:ext cx="3291840" cy="0"/>
          </a:xfrm>
          <a:prstGeom prst="line">
            <a:avLst/>
          </a:prstGeom>
          <a:noFill/>
          <a:ln w="19050">
            <a:solidFill>
              <a:srgbClr val="E5E7EB"/>
            </a:solidFill>
            <a:prstDash val="solid"/>
          </a:ln>
        </p:spPr>
      </p:sp>
      <p:sp>
        <p:nvSpPr>
          <p:cNvPr id="28" name="Shape 22"/>
          <p:cNvSpPr/>
          <p:nvPr/>
        </p:nvSpPr>
        <p:spPr>
          <a:xfrm>
            <a:off x="8353044" y="6396228"/>
            <a:ext cx="118872" cy="118872"/>
          </a:xfrm>
          <a:prstGeom prst="ellipse">
            <a:avLst/>
          </a:prstGeom>
          <a:solidFill>
            <a:srgbClr val="9CA3AF"/>
          </a:solidFill>
          <a:ln w="9525">
            <a:solidFill>
              <a:srgbClr val="9CA3AF"/>
            </a:solidFill>
            <a:prstDash val="solid"/>
          </a:ln>
        </p:spPr>
      </p:sp>
      <p:sp>
        <p:nvSpPr>
          <p:cNvPr id="29" name="Shape 23"/>
          <p:cNvSpPr/>
          <p:nvPr/>
        </p:nvSpPr>
        <p:spPr>
          <a:xfrm>
            <a:off x="8901684" y="6396228"/>
            <a:ext cx="118872" cy="118872"/>
          </a:xfrm>
          <a:prstGeom prst="ellipse">
            <a:avLst/>
          </a:prstGeom>
          <a:solidFill>
            <a:srgbClr val="9CA3AF"/>
          </a:solidFill>
          <a:ln w="9525">
            <a:solidFill>
              <a:srgbClr val="9CA3AF"/>
            </a:solidFill>
            <a:prstDash val="solid"/>
          </a:ln>
        </p:spPr>
      </p:sp>
      <p:sp>
        <p:nvSpPr>
          <p:cNvPr id="30" name="Shape 24"/>
          <p:cNvSpPr/>
          <p:nvPr/>
        </p:nvSpPr>
        <p:spPr>
          <a:xfrm>
            <a:off x="9450324" y="6396228"/>
            <a:ext cx="118872" cy="118872"/>
          </a:xfrm>
          <a:prstGeom prst="ellipse">
            <a:avLst/>
          </a:prstGeom>
          <a:solidFill>
            <a:srgbClr val="9CA3AF"/>
          </a:solidFill>
          <a:ln w="9525">
            <a:solidFill>
              <a:srgbClr val="9CA3AF"/>
            </a:solidFill>
            <a:prstDash val="solid"/>
          </a:ln>
        </p:spPr>
      </p:sp>
      <p:sp>
        <p:nvSpPr>
          <p:cNvPr id="31" name="Shape 25"/>
          <p:cNvSpPr/>
          <p:nvPr/>
        </p:nvSpPr>
        <p:spPr>
          <a:xfrm>
            <a:off x="9957816" y="6355080"/>
            <a:ext cx="201168" cy="201168"/>
          </a:xfrm>
          <a:prstGeom prst="ellipse">
            <a:avLst/>
          </a:prstGeom>
          <a:solidFill>
            <a:srgbClr val="2563EB"/>
          </a:solidFill>
          <a:ln w="9525">
            <a:solidFill>
              <a:srgbClr val="2563EB"/>
            </a:solidFill>
            <a:prstDash val="solid"/>
          </a:ln>
        </p:spPr>
      </p:sp>
      <p:sp>
        <p:nvSpPr>
          <p:cNvPr id="32" name="Shape 26"/>
          <p:cNvSpPr/>
          <p:nvPr/>
        </p:nvSpPr>
        <p:spPr>
          <a:xfrm>
            <a:off x="10547604" y="6396228"/>
            <a:ext cx="118872" cy="118872"/>
          </a:xfrm>
          <a:prstGeom prst="ellipse">
            <a:avLst/>
          </a:prstGeom>
          <a:solidFill>
            <a:srgbClr val="FFFFFF"/>
          </a:solidFill>
          <a:ln w="9525">
            <a:solidFill>
              <a:srgbClr val="9CA3AF"/>
            </a:solidFill>
            <a:prstDash val="solid"/>
          </a:ln>
        </p:spPr>
      </p:sp>
      <p:sp>
        <p:nvSpPr>
          <p:cNvPr id="33" name="Shape 27"/>
          <p:cNvSpPr/>
          <p:nvPr/>
        </p:nvSpPr>
        <p:spPr>
          <a:xfrm>
            <a:off x="11096244" y="6396228"/>
            <a:ext cx="118872" cy="118872"/>
          </a:xfrm>
          <a:prstGeom prst="ellipse">
            <a:avLst/>
          </a:prstGeom>
          <a:solidFill>
            <a:srgbClr val="FFFFFF"/>
          </a:solidFill>
          <a:ln w="9525">
            <a:solidFill>
              <a:srgbClr val="9CA3AF"/>
            </a:solidFill>
            <a:prstDash val="solid"/>
          </a:ln>
        </p:spPr>
      </p:sp>
      <p:sp>
        <p:nvSpPr>
          <p:cNvPr id="34" name="Shape 28"/>
          <p:cNvSpPr/>
          <p:nvPr/>
        </p:nvSpPr>
        <p:spPr>
          <a:xfrm>
            <a:off x="11644884" y="6396228"/>
            <a:ext cx="118872" cy="118872"/>
          </a:xfrm>
          <a:prstGeom prst="ellipse">
            <a:avLst/>
          </a:prstGeom>
          <a:solidFill>
            <a:srgbClr val="FFFFFF"/>
          </a:solidFill>
          <a:ln w="9525">
            <a:solidFill>
              <a:srgbClr val="9CA3AF"/>
            </a:solidFill>
            <a:prstDash val="solid"/>
          </a:ln>
        </p:spPr>
      </p:sp>
      <p:sp>
        <p:nvSpPr>
          <p:cNvPr id="35" name="Text 29"/>
          <p:cNvSpPr txBox="1"/>
          <p:nvPr/>
        </p:nvSpPr>
        <p:spPr>
          <a:xfrm>
            <a:off x="932688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korjaa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Kolme riviä ja testi</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Muutos, regressiotesti ja selain uudelleenlatauksen jälkeen</a:t>
            </a:r>
            <a:endParaRPr lang="en-US" sz="1800" dirty="0"/>
          </a:p>
        </p:txBody>
      </p:sp>
      <p:sp>
        <p:nvSpPr>
          <p:cNvPr id="5" name="Koodikortti"/>
          <p:cNvSpPr/>
          <p:nvPr/>
        </p:nvSpPr>
        <p:spPr>
          <a:xfrm>
            <a:off x="548640" y="1783080"/>
            <a:ext cx="6035040" cy="2743200"/>
          </a:xfrm>
          <a:prstGeom prst="roundRect">
            <a:avLst>
              <a:gd name="adj" fmla="val 3333"/>
            </a:avLst>
          </a:prstGeom>
          <a:solidFill>
            <a:srgbClr val="F6F8FA"/>
          </a:solidFill>
          <a:ln w="12700">
            <a:solidFill>
              <a:srgbClr val="D0D7DE"/>
            </a:solidFill>
            <a:prstDash val="solid"/>
          </a:ln>
        </p:spPr>
      </p:sp>
      <p:sp>
        <p:nvSpPr>
          <p:cNvPr id="6" name="Shape 4"/>
          <p:cNvSpPr/>
          <p:nvPr/>
        </p:nvSpPr>
        <p:spPr>
          <a:xfrm>
            <a:off x="548640" y="2194560"/>
            <a:ext cx="6035040" cy="0"/>
          </a:xfrm>
          <a:prstGeom prst="line">
            <a:avLst/>
          </a:prstGeom>
          <a:noFill/>
          <a:ln w="12700">
            <a:solidFill>
              <a:srgbClr val="D0D7DE"/>
            </a:solidFill>
            <a:prstDash val="solid"/>
          </a:ln>
        </p:spPr>
      </p:sp>
      <p:sp>
        <p:nvSpPr>
          <p:cNvPr id="7" name="Text 5"/>
          <p:cNvSpPr txBox="1"/>
          <p:nvPr/>
        </p:nvSpPr>
        <p:spPr>
          <a:xfrm>
            <a:off x="777240" y="1856232"/>
            <a:ext cx="5577840" cy="274320"/>
          </a:xfrm>
          <a:prstGeom prst="rect">
            <a:avLst/>
          </a:prstGeom>
          <a:noFill/>
          <a:ln/>
        </p:spPr>
        <p:txBody>
          <a:bodyPr wrap="square" lIns="0" tIns="0" rIns="0" bIns="0" rtlCol="0" anchor="ctr"/>
          <a:lstStyle/>
          <a:p>
            <a:pPr algn="l" indent="0" marL="0">
              <a:buNone/>
            </a:pPr>
            <a:r>
              <a:rPr lang="en-US" sz="1200" dirty="0">
                <a:solidFill>
                  <a:srgbClr val="57606A"/>
                </a:solidFill>
                <a:latin typeface="Consolas" pitchFamily="34" charset="0"/>
                <a:ea typeface="Consolas" pitchFamily="34" charset="-122"/>
                <a:cs typeface="Consolas" pitchFamily="34" charset="-120"/>
              </a:rPr>
              <a:t>src/address.ts</a:t>
            </a:r>
            <a:endParaRPr lang="en-US" sz="1200" dirty="0"/>
          </a:p>
        </p:txBody>
      </p:sp>
      <p:sp>
        <p:nvSpPr>
          <p:cNvPr id="8" name="Text 6"/>
          <p:cNvSpPr txBox="1"/>
          <p:nvPr/>
        </p:nvSpPr>
        <p:spPr>
          <a:xfrm>
            <a:off x="685800" y="2331720"/>
            <a:ext cx="274320" cy="402336"/>
          </a:xfrm>
          <a:prstGeom prst="rect">
            <a:avLst/>
          </a:prstGeom>
          <a:noFill/>
          <a:ln/>
        </p:spPr>
        <p:txBody>
          <a:bodyPr wrap="square" lIns="0" tIns="0" rIns="0" bIns="0" rtlCol="0" anchor="ctr"/>
          <a:lstStyle/>
          <a:p>
            <a:pPr algn="l" indent="0" marL="0">
              <a:buNone/>
            </a:pPr>
            <a:endParaRPr lang="en-US" sz="1800" dirty="0"/>
          </a:p>
        </p:txBody>
      </p:sp>
      <p:sp>
        <p:nvSpPr>
          <p:cNvPr id="9" name="Text 7"/>
          <p:cNvSpPr txBox="1"/>
          <p:nvPr/>
        </p:nvSpPr>
        <p:spPr>
          <a:xfrm>
            <a:off x="960120" y="2331720"/>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const payload = {</a:t>
            </a:r>
            <a:endParaRPr lang="en-US" sz="1800" dirty="0"/>
          </a:p>
        </p:txBody>
      </p:sp>
      <p:sp>
        <p:nvSpPr>
          <p:cNvPr id="10" name="Text 8"/>
          <p:cNvSpPr txBox="1"/>
          <p:nvPr/>
        </p:nvSpPr>
        <p:spPr>
          <a:xfrm>
            <a:off x="685800" y="2734056"/>
            <a:ext cx="274320" cy="402336"/>
          </a:xfrm>
          <a:prstGeom prst="rect">
            <a:avLst/>
          </a:prstGeom>
          <a:noFill/>
          <a:ln/>
        </p:spPr>
        <p:txBody>
          <a:bodyPr wrap="square" lIns="0" tIns="0" rIns="0" bIns="0" rtlCol="0" anchor="ctr"/>
          <a:lstStyle/>
          <a:p>
            <a:pPr algn="l" indent="0" marL="0">
              <a:buNone/>
            </a:pPr>
            <a:endParaRPr lang="en-US" sz="1800" dirty="0"/>
          </a:p>
        </p:txBody>
      </p:sp>
      <p:sp>
        <p:nvSpPr>
          <p:cNvPr id="11" name="Text 9"/>
          <p:cNvSpPr txBox="1"/>
          <p:nvPr/>
        </p:nvSpPr>
        <p:spPr>
          <a:xfrm>
            <a:off x="960120" y="2734056"/>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street: form.street,</a:t>
            </a:r>
            <a:endParaRPr lang="en-US" sz="1800" dirty="0"/>
          </a:p>
        </p:txBody>
      </p:sp>
      <p:sp>
        <p:nvSpPr>
          <p:cNvPr id="12" name="Shape 10"/>
          <p:cNvSpPr/>
          <p:nvPr/>
        </p:nvSpPr>
        <p:spPr>
          <a:xfrm>
            <a:off x="594360" y="3136392"/>
            <a:ext cx="5943600" cy="402336"/>
          </a:xfrm>
          <a:prstGeom prst="rect">
            <a:avLst/>
          </a:prstGeom>
          <a:solidFill>
            <a:srgbClr val="DAFBE1"/>
          </a:solidFill>
          <a:ln w="12700">
            <a:solidFill>
              <a:srgbClr val="DAFBE1"/>
            </a:solidFill>
            <a:prstDash val="solid"/>
          </a:ln>
        </p:spPr>
      </p:sp>
      <p:sp>
        <p:nvSpPr>
          <p:cNvPr id="13" name="Text 11"/>
          <p:cNvSpPr txBox="1"/>
          <p:nvPr/>
        </p:nvSpPr>
        <p:spPr>
          <a:xfrm>
            <a:off x="685800" y="3136392"/>
            <a:ext cx="274320" cy="402336"/>
          </a:xfrm>
          <a:prstGeom prst="rect">
            <a:avLst/>
          </a:prstGeom>
          <a:noFill/>
          <a:ln/>
        </p:spPr>
        <p:txBody>
          <a:bodyPr wrap="square" lIns="0" tIns="0" rIns="0" bIns="0" rtlCol="0" anchor="ctr"/>
          <a:lstStyle/>
          <a:p>
            <a:pPr algn="l" indent="0" marL="0">
              <a:buNone/>
            </a:pPr>
            <a:r>
              <a:rPr lang="en-US" sz="1800" b="1" dirty="0">
                <a:solidFill>
                  <a:srgbClr val="1A7F37"/>
                </a:solidFill>
                <a:latin typeface="Consolas" pitchFamily="34" charset="0"/>
                <a:ea typeface="Consolas" pitchFamily="34" charset="-122"/>
                <a:cs typeface="Consolas" pitchFamily="34" charset="-120"/>
              </a:rPr>
              <a:t>+</a:t>
            </a:r>
            <a:endParaRPr lang="en-US" sz="1800" dirty="0"/>
          </a:p>
        </p:txBody>
      </p:sp>
      <p:sp>
        <p:nvSpPr>
          <p:cNvPr id="14" name="Text 12"/>
          <p:cNvSpPr txBox="1"/>
          <p:nvPr/>
        </p:nvSpPr>
        <p:spPr>
          <a:xfrm>
            <a:off x="960120" y="3136392"/>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apartment: form.apartment,</a:t>
            </a:r>
            <a:endParaRPr lang="en-US" sz="1800" dirty="0"/>
          </a:p>
        </p:txBody>
      </p:sp>
      <p:sp>
        <p:nvSpPr>
          <p:cNvPr id="15" name="Text 13"/>
          <p:cNvSpPr txBox="1"/>
          <p:nvPr/>
        </p:nvSpPr>
        <p:spPr>
          <a:xfrm>
            <a:off x="685800" y="3538728"/>
            <a:ext cx="274320" cy="402336"/>
          </a:xfrm>
          <a:prstGeom prst="rect">
            <a:avLst/>
          </a:prstGeom>
          <a:noFill/>
          <a:ln/>
        </p:spPr>
        <p:txBody>
          <a:bodyPr wrap="square" lIns="0" tIns="0" rIns="0" bIns="0" rtlCol="0" anchor="ctr"/>
          <a:lstStyle/>
          <a:p>
            <a:pPr algn="l" indent="0" marL="0">
              <a:buNone/>
            </a:pPr>
            <a:endParaRPr lang="en-US" sz="1800" dirty="0"/>
          </a:p>
        </p:txBody>
      </p:sp>
      <p:sp>
        <p:nvSpPr>
          <p:cNvPr id="16" name="Text 14"/>
          <p:cNvSpPr txBox="1"/>
          <p:nvPr/>
        </p:nvSpPr>
        <p:spPr>
          <a:xfrm>
            <a:off x="960120" y="3538728"/>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postalCode: form.postalCode,</a:t>
            </a:r>
            <a:endParaRPr lang="en-US" sz="1800" dirty="0"/>
          </a:p>
        </p:txBody>
      </p:sp>
      <p:sp>
        <p:nvSpPr>
          <p:cNvPr id="17" name="Text 15"/>
          <p:cNvSpPr txBox="1"/>
          <p:nvPr/>
        </p:nvSpPr>
        <p:spPr>
          <a:xfrm>
            <a:off x="685800" y="3941064"/>
            <a:ext cx="274320" cy="402336"/>
          </a:xfrm>
          <a:prstGeom prst="rect">
            <a:avLst/>
          </a:prstGeom>
          <a:noFill/>
          <a:ln/>
        </p:spPr>
        <p:txBody>
          <a:bodyPr wrap="square" lIns="0" tIns="0" rIns="0" bIns="0" rtlCol="0" anchor="ctr"/>
          <a:lstStyle/>
          <a:p>
            <a:pPr algn="l" indent="0" marL="0">
              <a:buNone/>
            </a:pPr>
            <a:endParaRPr lang="en-US" sz="1800" dirty="0"/>
          </a:p>
        </p:txBody>
      </p:sp>
      <p:sp>
        <p:nvSpPr>
          <p:cNvPr id="18" name="Text 16"/>
          <p:cNvSpPr txBox="1"/>
          <p:nvPr/>
        </p:nvSpPr>
        <p:spPr>
          <a:xfrm>
            <a:off x="960120" y="3941064"/>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a:t>
            </a:r>
            <a:endParaRPr lang="en-US" sz="1800" dirty="0"/>
          </a:p>
        </p:txBody>
      </p:sp>
      <p:sp>
        <p:nvSpPr>
          <p:cNvPr id="19" name="Alarivi"/>
          <p:cNvSpPr txBox="1"/>
          <p:nvPr/>
        </p:nvSpPr>
        <p:spPr>
          <a:xfrm>
            <a:off x="548640" y="5559552"/>
            <a:ext cx="768096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Mitä tämä testi ei todista?</a:t>
            </a:r>
            <a:endParaRPr lang="en-US" sz="2000" dirty="0"/>
          </a:p>
        </p:txBody>
      </p:sp>
      <p:sp>
        <p:nvSpPr>
          <p:cNvPr id="20"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kuvitteellinen esimerkki · tarkistuksia ei ole ajettu – siksi tulokset ovat harmaita.</a:t>
            </a:r>
            <a:endParaRPr lang="en-US" sz="1100" dirty="0"/>
          </a:p>
        </p:txBody>
      </p:sp>
      <p:sp>
        <p:nvSpPr>
          <p:cNvPr id="21" name="Shape 19"/>
          <p:cNvSpPr/>
          <p:nvPr/>
        </p:nvSpPr>
        <p:spPr>
          <a:xfrm>
            <a:off x="8412480" y="6455664"/>
            <a:ext cx="3291840" cy="0"/>
          </a:xfrm>
          <a:prstGeom prst="line">
            <a:avLst/>
          </a:prstGeom>
          <a:noFill/>
          <a:ln w="19050">
            <a:solidFill>
              <a:srgbClr val="E5E7EB"/>
            </a:solidFill>
            <a:prstDash val="solid"/>
          </a:ln>
        </p:spPr>
      </p:sp>
      <p:sp>
        <p:nvSpPr>
          <p:cNvPr id="22" name="Shape 20"/>
          <p:cNvSpPr/>
          <p:nvPr/>
        </p:nvSpPr>
        <p:spPr>
          <a:xfrm>
            <a:off x="8353044" y="6396228"/>
            <a:ext cx="118872" cy="118872"/>
          </a:xfrm>
          <a:prstGeom prst="ellipse">
            <a:avLst/>
          </a:prstGeom>
          <a:solidFill>
            <a:srgbClr val="9CA3AF"/>
          </a:solidFill>
          <a:ln w="9525">
            <a:solidFill>
              <a:srgbClr val="9CA3AF"/>
            </a:solidFill>
            <a:prstDash val="solid"/>
          </a:ln>
        </p:spPr>
      </p:sp>
      <p:sp>
        <p:nvSpPr>
          <p:cNvPr id="23" name="Shape 21"/>
          <p:cNvSpPr/>
          <p:nvPr/>
        </p:nvSpPr>
        <p:spPr>
          <a:xfrm>
            <a:off x="8901684" y="6396228"/>
            <a:ext cx="118872" cy="118872"/>
          </a:xfrm>
          <a:prstGeom prst="ellipse">
            <a:avLst/>
          </a:prstGeom>
          <a:solidFill>
            <a:srgbClr val="9CA3AF"/>
          </a:solidFill>
          <a:ln w="9525">
            <a:solidFill>
              <a:srgbClr val="9CA3AF"/>
            </a:solidFill>
            <a:prstDash val="solid"/>
          </a:ln>
        </p:spPr>
      </p:sp>
      <p:sp>
        <p:nvSpPr>
          <p:cNvPr id="24" name="Shape 22"/>
          <p:cNvSpPr/>
          <p:nvPr/>
        </p:nvSpPr>
        <p:spPr>
          <a:xfrm>
            <a:off x="9450324" y="6396228"/>
            <a:ext cx="118872" cy="118872"/>
          </a:xfrm>
          <a:prstGeom prst="ellipse">
            <a:avLst/>
          </a:prstGeom>
          <a:solidFill>
            <a:srgbClr val="9CA3AF"/>
          </a:solidFill>
          <a:ln w="9525">
            <a:solidFill>
              <a:srgbClr val="9CA3AF"/>
            </a:solidFill>
            <a:prstDash val="solid"/>
          </a:ln>
        </p:spPr>
      </p:sp>
      <p:sp>
        <p:nvSpPr>
          <p:cNvPr id="25" name="Shape 23"/>
          <p:cNvSpPr/>
          <p:nvPr/>
        </p:nvSpPr>
        <p:spPr>
          <a:xfrm>
            <a:off x="9957816" y="6355080"/>
            <a:ext cx="201168" cy="201168"/>
          </a:xfrm>
          <a:prstGeom prst="ellipse">
            <a:avLst/>
          </a:prstGeom>
          <a:solidFill>
            <a:srgbClr val="2563EB"/>
          </a:solidFill>
          <a:ln w="9525">
            <a:solidFill>
              <a:srgbClr val="2563EB"/>
            </a:solidFill>
            <a:prstDash val="solid"/>
          </a:ln>
        </p:spPr>
      </p:sp>
      <p:sp>
        <p:nvSpPr>
          <p:cNvPr id="26" name="Shape 24"/>
          <p:cNvSpPr/>
          <p:nvPr/>
        </p:nvSpPr>
        <p:spPr>
          <a:xfrm>
            <a:off x="10547604" y="6396228"/>
            <a:ext cx="118872" cy="118872"/>
          </a:xfrm>
          <a:prstGeom prst="ellipse">
            <a:avLst/>
          </a:prstGeom>
          <a:solidFill>
            <a:srgbClr val="FFFFFF"/>
          </a:solidFill>
          <a:ln w="9525">
            <a:solidFill>
              <a:srgbClr val="9CA3AF"/>
            </a:solidFill>
            <a:prstDash val="solid"/>
          </a:ln>
        </p:spPr>
      </p:sp>
      <p:sp>
        <p:nvSpPr>
          <p:cNvPr id="27" name="Shape 25"/>
          <p:cNvSpPr/>
          <p:nvPr/>
        </p:nvSpPr>
        <p:spPr>
          <a:xfrm>
            <a:off x="11096244" y="6396228"/>
            <a:ext cx="118872" cy="118872"/>
          </a:xfrm>
          <a:prstGeom prst="ellipse">
            <a:avLst/>
          </a:prstGeom>
          <a:solidFill>
            <a:srgbClr val="FFFFFF"/>
          </a:solidFill>
          <a:ln w="9525">
            <a:solidFill>
              <a:srgbClr val="9CA3AF"/>
            </a:solidFill>
            <a:prstDash val="solid"/>
          </a:ln>
        </p:spPr>
      </p:sp>
      <p:sp>
        <p:nvSpPr>
          <p:cNvPr id="28" name="Shape 26"/>
          <p:cNvSpPr/>
          <p:nvPr/>
        </p:nvSpPr>
        <p:spPr>
          <a:xfrm>
            <a:off x="11644884" y="6396228"/>
            <a:ext cx="118872" cy="118872"/>
          </a:xfrm>
          <a:prstGeom prst="ellipse">
            <a:avLst/>
          </a:prstGeom>
          <a:solidFill>
            <a:srgbClr val="FFFFFF"/>
          </a:solidFill>
          <a:ln w="9525">
            <a:solidFill>
              <a:srgbClr val="9CA3AF"/>
            </a:solidFill>
            <a:prstDash val="solid"/>
          </a:ln>
        </p:spPr>
      </p:sp>
      <p:sp>
        <p:nvSpPr>
          <p:cNvPr id="29" name="Text 27"/>
          <p:cNvSpPr txBox="1"/>
          <p:nvPr/>
        </p:nvSpPr>
        <p:spPr>
          <a:xfrm>
            <a:off x="932688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korjaa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Kolme riviä ja testi</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Muutos, regressiotesti ja selain uudelleenlatauksen jälkeen</a:t>
            </a:r>
            <a:endParaRPr lang="en-US" sz="1800" dirty="0"/>
          </a:p>
        </p:txBody>
      </p:sp>
      <p:sp>
        <p:nvSpPr>
          <p:cNvPr id="5" name="Koodikortti"/>
          <p:cNvSpPr/>
          <p:nvPr/>
        </p:nvSpPr>
        <p:spPr>
          <a:xfrm>
            <a:off x="548640" y="1783080"/>
            <a:ext cx="6035040" cy="2743200"/>
          </a:xfrm>
          <a:prstGeom prst="roundRect">
            <a:avLst>
              <a:gd name="adj" fmla="val 3333"/>
            </a:avLst>
          </a:prstGeom>
          <a:solidFill>
            <a:srgbClr val="F6F8FA"/>
          </a:solidFill>
          <a:ln w="12700">
            <a:solidFill>
              <a:srgbClr val="D0D7DE"/>
            </a:solidFill>
            <a:prstDash val="solid"/>
          </a:ln>
        </p:spPr>
      </p:sp>
      <p:sp>
        <p:nvSpPr>
          <p:cNvPr id="6" name="Shape 4"/>
          <p:cNvSpPr/>
          <p:nvPr/>
        </p:nvSpPr>
        <p:spPr>
          <a:xfrm>
            <a:off x="548640" y="2194560"/>
            <a:ext cx="6035040" cy="0"/>
          </a:xfrm>
          <a:prstGeom prst="line">
            <a:avLst/>
          </a:prstGeom>
          <a:noFill/>
          <a:ln w="12700">
            <a:solidFill>
              <a:srgbClr val="D0D7DE"/>
            </a:solidFill>
            <a:prstDash val="solid"/>
          </a:ln>
        </p:spPr>
      </p:sp>
      <p:sp>
        <p:nvSpPr>
          <p:cNvPr id="7" name="Text 5"/>
          <p:cNvSpPr txBox="1"/>
          <p:nvPr/>
        </p:nvSpPr>
        <p:spPr>
          <a:xfrm>
            <a:off x="777240" y="1856232"/>
            <a:ext cx="5577840" cy="274320"/>
          </a:xfrm>
          <a:prstGeom prst="rect">
            <a:avLst/>
          </a:prstGeom>
          <a:noFill/>
          <a:ln/>
        </p:spPr>
        <p:txBody>
          <a:bodyPr wrap="square" lIns="0" tIns="0" rIns="0" bIns="0" rtlCol="0" anchor="ctr"/>
          <a:lstStyle/>
          <a:p>
            <a:pPr algn="l" indent="0" marL="0">
              <a:buNone/>
            </a:pPr>
            <a:r>
              <a:rPr lang="en-US" sz="1200" dirty="0">
                <a:solidFill>
                  <a:srgbClr val="57606A"/>
                </a:solidFill>
                <a:latin typeface="Consolas" pitchFamily="34" charset="0"/>
                <a:ea typeface="Consolas" pitchFamily="34" charset="-122"/>
                <a:cs typeface="Consolas" pitchFamily="34" charset="-120"/>
              </a:rPr>
              <a:t>src/address.ts</a:t>
            </a:r>
            <a:endParaRPr lang="en-US" sz="1200" dirty="0"/>
          </a:p>
        </p:txBody>
      </p:sp>
      <p:sp>
        <p:nvSpPr>
          <p:cNvPr id="8" name="Text 6"/>
          <p:cNvSpPr txBox="1"/>
          <p:nvPr/>
        </p:nvSpPr>
        <p:spPr>
          <a:xfrm>
            <a:off x="685800" y="2331720"/>
            <a:ext cx="274320" cy="402336"/>
          </a:xfrm>
          <a:prstGeom prst="rect">
            <a:avLst/>
          </a:prstGeom>
          <a:noFill/>
          <a:ln/>
        </p:spPr>
        <p:txBody>
          <a:bodyPr wrap="square" lIns="0" tIns="0" rIns="0" bIns="0" rtlCol="0" anchor="ctr"/>
          <a:lstStyle/>
          <a:p>
            <a:pPr algn="l" indent="0" marL="0">
              <a:buNone/>
            </a:pPr>
            <a:endParaRPr lang="en-US" sz="1800" dirty="0"/>
          </a:p>
        </p:txBody>
      </p:sp>
      <p:sp>
        <p:nvSpPr>
          <p:cNvPr id="9" name="Text 7"/>
          <p:cNvSpPr txBox="1"/>
          <p:nvPr/>
        </p:nvSpPr>
        <p:spPr>
          <a:xfrm>
            <a:off x="960120" y="2331720"/>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const payload = {</a:t>
            </a:r>
            <a:endParaRPr lang="en-US" sz="1800" dirty="0"/>
          </a:p>
        </p:txBody>
      </p:sp>
      <p:sp>
        <p:nvSpPr>
          <p:cNvPr id="10" name="Text 8"/>
          <p:cNvSpPr txBox="1"/>
          <p:nvPr/>
        </p:nvSpPr>
        <p:spPr>
          <a:xfrm>
            <a:off x="685800" y="2734056"/>
            <a:ext cx="274320" cy="402336"/>
          </a:xfrm>
          <a:prstGeom prst="rect">
            <a:avLst/>
          </a:prstGeom>
          <a:noFill/>
          <a:ln/>
        </p:spPr>
        <p:txBody>
          <a:bodyPr wrap="square" lIns="0" tIns="0" rIns="0" bIns="0" rtlCol="0" anchor="ctr"/>
          <a:lstStyle/>
          <a:p>
            <a:pPr algn="l" indent="0" marL="0">
              <a:buNone/>
            </a:pPr>
            <a:endParaRPr lang="en-US" sz="1800" dirty="0"/>
          </a:p>
        </p:txBody>
      </p:sp>
      <p:sp>
        <p:nvSpPr>
          <p:cNvPr id="11" name="Text 9"/>
          <p:cNvSpPr txBox="1"/>
          <p:nvPr/>
        </p:nvSpPr>
        <p:spPr>
          <a:xfrm>
            <a:off x="960120" y="2734056"/>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street: form.street,</a:t>
            </a:r>
            <a:endParaRPr lang="en-US" sz="1800" dirty="0"/>
          </a:p>
        </p:txBody>
      </p:sp>
      <p:sp>
        <p:nvSpPr>
          <p:cNvPr id="12" name="Shape 10"/>
          <p:cNvSpPr/>
          <p:nvPr/>
        </p:nvSpPr>
        <p:spPr>
          <a:xfrm>
            <a:off x="594360" y="3136392"/>
            <a:ext cx="5943600" cy="402336"/>
          </a:xfrm>
          <a:prstGeom prst="rect">
            <a:avLst/>
          </a:prstGeom>
          <a:solidFill>
            <a:srgbClr val="DAFBE1"/>
          </a:solidFill>
          <a:ln w="12700">
            <a:solidFill>
              <a:srgbClr val="DAFBE1"/>
            </a:solidFill>
            <a:prstDash val="solid"/>
          </a:ln>
        </p:spPr>
      </p:sp>
      <p:sp>
        <p:nvSpPr>
          <p:cNvPr id="13" name="Text 11"/>
          <p:cNvSpPr txBox="1"/>
          <p:nvPr/>
        </p:nvSpPr>
        <p:spPr>
          <a:xfrm>
            <a:off x="685800" y="3136392"/>
            <a:ext cx="274320" cy="402336"/>
          </a:xfrm>
          <a:prstGeom prst="rect">
            <a:avLst/>
          </a:prstGeom>
          <a:noFill/>
          <a:ln/>
        </p:spPr>
        <p:txBody>
          <a:bodyPr wrap="square" lIns="0" tIns="0" rIns="0" bIns="0" rtlCol="0" anchor="ctr"/>
          <a:lstStyle/>
          <a:p>
            <a:pPr algn="l" indent="0" marL="0">
              <a:buNone/>
            </a:pPr>
            <a:r>
              <a:rPr lang="en-US" sz="1800" b="1" dirty="0">
                <a:solidFill>
                  <a:srgbClr val="1A7F37"/>
                </a:solidFill>
                <a:latin typeface="Consolas" pitchFamily="34" charset="0"/>
                <a:ea typeface="Consolas" pitchFamily="34" charset="-122"/>
                <a:cs typeface="Consolas" pitchFamily="34" charset="-120"/>
              </a:rPr>
              <a:t>+</a:t>
            </a:r>
            <a:endParaRPr lang="en-US" sz="1800" dirty="0"/>
          </a:p>
        </p:txBody>
      </p:sp>
      <p:sp>
        <p:nvSpPr>
          <p:cNvPr id="14" name="Text 12"/>
          <p:cNvSpPr txBox="1"/>
          <p:nvPr/>
        </p:nvSpPr>
        <p:spPr>
          <a:xfrm>
            <a:off x="960120" y="3136392"/>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apartment: form.apartment,</a:t>
            </a:r>
            <a:endParaRPr lang="en-US" sz="1800" dirty="0"/>
          </a:p>
        </p:txBody>
      </p:sp>
      <p:sp>
        <p:nvSpPr>
          <p:cNvPr id="15" name="Text 13"/>
          <p:cNvSpPr txBox="1"/>
          <p:nvPr/>
        </p:nvSpPr>
        <p:spPr>
          <a:xfrm>
            <a:off x="685800" y="3538728"/>
            <a:ext cx="274320" cy="402336"/>
          </a:xfrm>
          <a:prstGeom prst="rect">
            <a:avLst/>
          </a:prstGeom>
          <a:noFill/>
          <a:ln/>
        </p:spPr>
        <p:txBody>
          <a:bodyPr wrap="square" lIns="0" tIns="0" rIns="0" bIns="0" rtlCol="0" anchor="ctr"/>
          <a:lstStyle/>
          <a:p>
            <a:pPr algn="l" indent="0" marL="0">
              <a:buNone/>
            </a:pPr>
            <a:endParaRPr lang="en-US" sz="1800" dirty="0"/>
          </a:p>
        </p:txBody>
      </p:sp>
      <p:sp>
        <p:nvSpPr>
          <p:cNvPr id="16" name="Text 14"/>
          <p:cNvSpPr txBox="1"/>
          <p:nvPr/>
        </p:nvSpPr>
        <p:spPr>
          <a:xfrm>
            <a:off x="960120" y="3538728"/>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postalCode: form.postalCode,</a:t>
            </a:r>
            <a:endParaRPr lang="en-US" sz="1800" dirty="0"/>
          </a:p>
        </p:txBody>
      </p:sp>
      <p:sp>
        <p:nvSpPr>
          <p:cNvPr id="17" name="Text 15"/>
          <p:cNvSpPr txBox="1"/>
          <p:nvPr/>
        </p:nvSpPr>
        <p:spPr>
          <a:xfrm>
            <a:off x="685800" y="3941064"/>
            <a:ext cx="274320" cy="402336"/>
          </a:xfrm>
          <a:prstGeom prst="rect">
            <a:avLst/>
          </a:prstGeom>
          <a:noFill/>
          <a:ln/>
        </p:spPr>
        <p:txBody>
          <a:bodyPr wrap="square" lIns="0" tIns="0" rIns="0" bIns="0" rtlCol="0" anchor="ctr"/>
          <a:lstStyle/>
          <a:p>
            <a:pPr algn="l" indent="0" marL="0">
              <a:buNone/>
            </a:pPr>
            <a:endParaRPr lang="en-US" sz="1800" dirty="0"/>
          </a:p>
        </p:txBody>
      </p:sp>
      <p:sp>
        <p:nvSpPr>
          <p:cNvPr id="18" name="Text 16"/>
          <p:cNvSpPr txBox="1"/>
          <p:nvPr/>
        </p:nvSpPr>
        <p:spPr>
          <a:xfrm>
            <a:off x="960120" y="3941064"/>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a:t>
            </a:r>
            <a:endParaRPr lang="en-US" sz="1800" dirty="0"/>
          </a:p>
        </p:txBody>
      </p:sp>
      <p:sp>
        <p:nvSpPr>
          <p:cNvPr id="19" name="Text 17"/>
          <p:cNvSpPr txBox="1"/>
          <p:nvPr/>
        </p:nvSpPr>
        <p:spPr>
          <a:xfrm>
            <a:off x="6949440" y="1783080"/>
            <a:ext cx="4663440" cy="320040"/>
          </a:xfrm>
          <a:prstGeom prst="rect">
            <a:avLst/>
          </a:prstGeom>
          <a:noFill/>
          <a:ln/>
        </p:spPr>
        <p:txBody>
          <a:bodyPr wrap="square" lIns="0" tIns="0" rIns="0" bIns="0" rtlCol="0" anchor="t"/>
          <a:lstStyle/>
          <a:p>
            <a:pPr algn="l" indent="0" marL="0">
              <a:buNone/>
            </a:pPr>
            <a:r>
              <a:rPr lang="en-US" sz="1200" dirty="0">
                <a:solidFill>
                  <a:srgbClr val="6B7280"/>
                </a:solidFill>
                <a:latin typeface="Consolas" pitchFamily="34" charset="0"/>
                <a:ea typeface="Consolas" pitchFamily="34" charset="-122"/>
                <a:cs typeface="Consolas" pitchFamily="34" charset="-120"/>
              </a:rPr>
              <a:t>// odotettu tulos – ei ajettu</a:t>
            </a:r>
            <a:endParaRPr lang="en-US" sz="1200" dirty="0"/>
          </a:p>
        </p:txBody>
      </p:sp>
      <p:sp>
        <p:nvSpPr>
          <p:cNvPr id="20" name="Text 18"/>
          <p:cNvSpPr/>
          <p:nvPr/>
        </p:nvSpPr>
        <p:spPr>
          <a:xfrm>
            <a:off x="6949440" y="2194560"/>
            <a:ext cx="4663440" cy="512064"/>
          </a:xfrm>
          <a:prstGeom prst="roundRect">
            <a:avLst>
              <a:gd name="adj" fmla="val 44643"/>
            </a:avLst>
          </a:prstGeom>
          <a:solidFill>
            <a:srgbClr val="F3F4F6"/>
          </a:solidFill>
          <a:ln w="12700">
            <a:solidFill>
              <a:srgbClr val="9CA3AF"/>
            </a:solidFill>
          </a:ln>
        </p:spPr>
        <p:txBody>
          <a:bodyPr wrap="square" lIns="101600" tIns="101600" rIns="101600" bIns="101600" rtlCol="0" anchor="ctr"/>
          <a:lstStyle/>
          <a:p>
            <a:pPr indent="0" marL="0">
              <a:buNone/>
            </a:pPr>
            <a:r>
              <a:rPr lang="en-US" sz="1200" dirty="0">
                <a:solidFill>
                  <a:srgbClr val="6B7280"/>
                </a:solidFill>
                <a:latin typeface="Consolas" pitchFamily="34" charset="0"/>
                <a:ea typeface="Consolas" pitchFamily="34" charset="-122"/>
                <a:cs typeface="Consolas" pitchFamily="34" charset="-120"/>
              </a:rPr>
              <a:t>npm test -- address   </a:t>
            </a:r>
            <a:pPr indent="0" marL="0">
              <a:buNone/>
            </a:pPr>
            <a:r>
              <a:rPr lang="en-US" sz="1200" b="1" dirty="0">
                <a:solidFill>
                  <a:srgbClr val="6B7280"/>
                </a:solidFill>
                <a:latin typeface="Consolas" pitchFamily="34" charset="0"/>
                <a:ea typeface="Consolas" pitchFamily="34" charset="-122"/>
                <a:cs typeface="Consolas" pitchFamily="34" charset="-120"/>
              </a:rPr>
              <a:t>odotettu: ei läpi → läpi</a:t>
            </a:r>
            <a:endParaRPr lang="en-US" sz="1200" dirty="0"/>
          </a:p>
        </p:txBody>
      </p:sp>
      <p:sp>
        <p:nvSpPr>
          <p:cNvPr id="21" name="Text 19"/>
          <p:cNvSpPr/>
          <p:nvPr/>
        </p:nvSpPr>
        <p:spPr>
          <a:xfrm>
            <a:off x="6949440" y="2852928"/>
            <a:ext cx="4663440" cy="512064"/>
          </a:xfrm>
          <a:prstGeom prst="roundRect">
            <a:avLst>
              <a:gd name="adj" fmla="val 44643"/>
            </a:avLst>
          </a:prstGeom>
          <a:solidFill>
            <a:srgbClr val="F3F4F6"/>
          </a:solidFill>
          <a:ln w="12700">
            <a:solidFill>
              <a:srgbClr val="9CA3AF"/>
            </a:solidFill>
          </a:ln>
        </p:spPr>
        <p:txBody>
          <a:bodyPr wrap="square" lIns="101600" tIns="101600" rIns="101600" bIns="101600" rtlCol="0" anchor="ctr"/>
          <a:lstStyle/>
          <a:p>
            <a:pPr indent="0" marL="0">
              <a:buNone/>
            </a:pPr>
            <a:r>
              <a:rPr lang="en-US" sz="1200" dirty="0">
                <a:solidFill>
                  <a:srgbClr val="6B7280"/>
                </a:solidFill>
                <a:latin typeface="Consolas" pitchFamily="34" charset="0"/>
                <a:ea typeface="Consolas" pitchFamily="34" charset="-122"/>
                <a:cs typeface="Consolas" pitchFamily="34" charset="-120"/>
              </a:rPr>
              <a:t>tyhjä huoneisto   </a:t>
            </a:r>
            <a:pPr indent="0" marL="0">
              <a:buNone/>
            </a:pPr>
            <a:r>
              <a:rPr lang="en-US" sz="1200" b="1" dirty="0">
                <a:solidFill>
                  <a:srgbClr val="6B7280"/>
                </a:solidFill>
                <a:latin typeface="Consolas" pitchFamily="34" charset="0"/>
                <a:ea typeface="Consolas" pitchFamily="34" charset="-122"/>
                <a:cs typeface="Consolas" pitchFamily="34" charset="-120"/>
              </a:rPr>
              <a:t>odotettu: toimii</a:t>
            </a:r>
            <a:endParaRPr lang="en-US" sz="1200" dirty="0"/>
          </a:p>
        </p:txBody>
      </p:sp>
      <p:sp>
        <p:nvSpPr>
          <p:cNvPr id="22" name="Alarivi"/>
          <p:cNvSpPr txBox="1"/>
          <p:nvPr/>
        </p:nvSpPr>
        <p:spPr>
          <a:xfrm>
            <a:off x="548640" y="5559552"/>
            <a:ext cx="768096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Mitä tämä testi ei todista?</a:t>
            </a:r>
            <a:endParaRPr lang="en-US" sz="2000" dirty="0"/>
          </a:p>
        </p:txBody>
      </p:sp>
      <p:sp>
        <p:nvSpPr>
          <p:cNvPr id="23"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kuvitteellinen esimerkki · tarkistuksia ei ole ajettu – siksi tulokset ovat harmaita.</a:t>
            </a:r>
            <a:endParaRPr lang="en-US" sz="1100" dirty="0"/>
          </a:p>
        </p:txBody>
      </p:sp>
      <p:sp>
        <p:nvSpPr>
          <p:cNvPr id="24" name="Shape 22"/>
          <p:cNvSpPr/>
          <p:nvPr/>
        </p:nvSpPr>
        <p:spPr>
          <a:xfrm>
            <a:off x="8412480" y="6455664"/>
            <a:ext cx="3291840" cy="0"/>
          </a:xfrm>
          <a:prstGeom prst="line">
            <a:avLst/>
          </a:prstGeom>
          <a:noFill/>
          <a:ln w="19050">
            <a:solidFill>
              <a:srgbClr val="E5E7EB"/>
            </a:solidFill>
            <a:prstDash val="solid"/>
          </a:ln>
        </p:spPr>
      </p:sp>
      <p:sp>
        <p:nvSpPr>
          <p:cNvPr id="25" name="Shape 23"/>
          <p:cNvSpPr/>
          <p:nvPr/>
        </p:nvSpPr>
        <p:spPr>
          <a:xfrm>
            <a:off x="8353044" y="6396228"/>
            <a:ext cx="118872" cy="118872"/>
          </a:xfrm>
          <a:prstGeom prst="ellipse">
            <a:avLst/>
          </a:prstGeom>
          <a:solidFill>
            <a:srgbClr val="9CA3AF"/>
          </a:solidFill>
          <a:ln w="9525">
            <a:solidFill>
              <a:srgbClr val="9CA3AF"/>
            </a:solidFill>
            <a:prstDash val="solid"/>
          </a:ln>
        </p:spPr>
      </p:sp>
      <p:sp>
        <p:nvSpPr>
          <p:cNvPr id="26" name="Shape 24"/>
          <p:cNvSpPr/>
          <p:nvPr/>
        </p:nvSpPr>
        <p:spPr>
          <a:xfrm>
            <a:off x="8901684" y="6396228"/>
            <a:ext cx="118872" cy="118872"/>
          </a:xfrm>
          <a:prstGeom prst="ellipse">
            <a:avLst/>
          </a:prstGeom>
          <a:solidFill>
            <a:srgbClr val="9CA3AF"/>
          </a:solidFill>
          <a:ln w="9525">
            <a:solidFill>
              <a:srgbClr val="9CA3AF"/>
            </a:solidFill>
            <a:prstDash val="solid"/>
          </a:ln>
        </p:spPr>
      </p:sp>
      <p:sp>
        <p:nvSpPr>
          <p:cNvPr id="27" name="Shape 25"/>
          <p:cNvSpPr/>
          <p:nvPr/>
        </p:nvSpPr>
        <p:spPr>
          <a:xfrm>
            <a:off x="9450324" y="6396228"/>
            <a:ext cx="118872" cy="118872"/>
          </a:xfrm>
          <a:prstGeom prst="ellipse">
            <a:avLst/>
          </a:prstGeom>
          <a:solidFill>
            <a:srgbClr val="9CA3AF"/>
          </a:solidFill>
          <a:ln w="9525">
            <a:solidFill>
              <a:srgbClr val="9CA3AF"/>
            </a:solidFill>
            <a:prstDash val="solid"/>
          </a:ln>
        </p:spPr>
      </p:sp>
      <p:sp>
        <p:nvSpPr>
          <p:cNvPr id="28" name="Shape 26"/>
          <p:cNvSpPr/>
          <p:nvPr/>
        </p:nvSpPr>
        <p:spPr>
          <a:xfrm>
            <a:off x="9957816" y="6355080"/>
            <a:ext cx="201168" cy="201168"/>
          </a:xfrm>
          <a:prstGeom prst="ellipse">
            <a:avLst/>
          </a:prstGeom>
          <a:solidFill>
            <a:srgbClr val="2563EB"/>
          </a:solidFill>
          <a:ln w="9525">
            <a:solidFill>
              <a:srgbClr val="2563EB"/>
            </a:solidFill>
            <a:prstDash val="solid"/>
          </a:ln>
        </p:spPr>
      </p:sp>
      <p:sp>
        <p:nvSpPr>
          <p:cNvPr id="29" name="Shape 27"/>
          <p:cNvSpPr/>
          <p:nvPr/>
        </p:nvSpPr>
        <p:spPr>
          <a:xfrm>
            <a:off x="10547604" y="6396228"/>
            <a:ext cx="118872" cy="118872"/>
          </a:xfrm>
          <a:prstGeom prst="ellipse">
            <a:avLst/>
          </a:prstGeom>
          <a:solidFill>
            <a:srgbClr val="FFFFFF"/>
          </a:solidFill>
          <a:ln w="9525">
            <a:solidFill>
              <a:srgbClr val="9CA3AF"/>
            </a:solidFill>
            <a:prstDash val="solid"/>
          </a:ln>
        </p:spPr>
      </p:sp>
      <p:sp>
        <p:nvSpPr>
          <p:cNvPr id="30" name="Shape 28"/>
          <p:cNvSpPr/>
          <p:nvPr/>
        </p:nvSpPr>
        <p:spPr>
          <a:xfrm>
            <a:off x="11096244" y="6396228"/>
            <a:ext cx="118872" cy="118872"/>
          </a:xfrm>
          <a:prstGeom prst="ellipse">
            <a:avLst/>
          </a:prstGeom>
          <a:solidFill>
            <a:srgbClr val="FFFFFF"/>
          </a:solidFill>
          <a:ln w="9525">
            <a:solidFill>
              <a:srgbClr val="9CA3AF"/>
            </a:solidFill>
            <a:prstDash val="solid"/>
          </a:ln>
        </p:spPr>
      </p:sp>
      <p:sp>
        <p:nvSpPr>
          <p:cNvPr id="31" name="Shape 29"/>
          <p:cNvSpPr/>
          <p:nvPr/>
        </p:nvSpPr>
        <p:spPr>
          <a:xfrm>
            <a:off x="11644884" y="6396228"/>
            <a:ext cx="118872" cy="118872"/>
          </a:xfrm>
          <a:prstGeom prst="ellipse">
            <a:avLst/>
          </a:prstGeom>
          <a:solidFill>
            <a:srgbClr val="FFFFFF"/>
          </a:solidFill>
          <a:ln w="9525">
            <a:solidFill>
              <a:srgbClr val="9CA3AF"/>
            </a:solidFill>
            <a:prstDash val="solid"/>
          </a:ln>
        </p:spPr>
      </p:sp>
      <p:sp>
        <p:nvSpPr>
          <p:cNvPr id="32" name="Text 30"/>
          <p:cNvSpPr txBox="1"/>
          <p:nvPr/>
        </p:nvSpPr>
        <p:spPr>
          <a:xfrm>
            <a:off x="932688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korjaa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Kolme riviä ja testi</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Muutos, regressiotesti ja selain uudelleenlatauksen jälkeen</a:t>
            </a:r>
            <a:endParaRPr lang="en-US" sz="1800" dirty="0"/>
          </a:p>
        </p:txBody>
      </p:sp>
      <p:sp>
        <p:nvSpPr>
          <p:cNvPr id="5" name="Koodikortti"/>
          <p:cNvSpPr/>
          <p:nvPr/>
        </p:nvSpPr>
        <p:spPr>
          <a:xfrm>
            <a:off x="548640" y="1783080"/>
            <a:ext cx="6035040" cy="2743200"/>
          </a:xfrm>
          <a:prstGeom prst="roundRect">
            <a:avLst>
              <a:gd name="adj" fmla="val 3333"/>
            </a:avLst>
          </a:prstGeom>
          <a:solidFill>
            <a:srgbClr val="F6F8FA"/>
          </a:solidFill>
          <a:ln w="12700">
            <a:solidFill>
              <a:srgbClr val="D0D7DE"/>
            </a:solidFill>
            <a:prstDash val="solid"/>
          </a:ln>
        </p:spPr>
      </p:sp>
      <p:sp>
        <p:nvSpPr>
          <p:cNvPr id="6" name="Shape 4"/>
          <p:cNvSpPr/>
          <p:nvPr/>
        </p:nvSpPr>
        <p:spPr>
          <a:xfrm>
            <a:off x="548640" y="2194560"/>
            <a:ext cx="6035040" cy="0"/>
          </a:xfrm>
          <a:prstGeom prst="line">
            <a:avLst/>
          </a:prstGeom>
          <a:noFill/>
          <a:ln w="12700">
            <a:solidFill>
              <a:srgbClr val="D0D7DE"/>
            </a:solidFill>
            <a:prstDash val="solid"/>
          </a:ln>
        </p:spPr>
      </p:sp>
      <p:sp>
        <p:nvSpPr>
          <p:cNvPr id="7" name="Text 5"/>
          <p:cNvSpPr txBox="1"/>
          <p:nvPr/>
        </p:nvSpPr>
        <p:spPr>
          <a:xfrm>
            <a:off x="777240" y="1856232"/>
            <a:ext cx="5577840" cy="274320"/>
          </a:xfrm>
          <a:prstGeom prst="rect">
            <a:avLst/>
          </a:prstGeom>
          <a:noFill/>
          <a:ln/>
        </p:spPr>
        <p:txBody>
          <a:bodyPr wrap="square" lIns="0" tIns="0" rIns="0" bIns="0" rtlCol="0" anchor="ctr"/>
          <a:lstStyle/>
          <a:p>
            <a:pPr algn="l" indent="0" marL="0">
              <a:buNone/>
            </a:pPr>
            <a:r>
              <a:rPr lang="en-US" sz="1200" dirty="0">
                <a:solidFill>
                  <a:srgbClr val="57606A"/>
                </a:solidFill>
                <a:latin typeface="Consolas" pitchFamily="34" charset="0"/>
                <a:ea typeface="Consolas" pitchFamily="34" charset="-122"/>
                <a:cs typeface="Consolas" pitchFamily="34" charset="-120"/>
              </a:rPr>
              <a:t>src/address.ts</a:t>
            </a:r>
            <a:endParaRPr lang="en-US" sz="1200" dirty="0"/>
          </a:p>
        </p:txBody>
      </p:sp>
      <p:sp>
        <p:nvSpPr>
          <p:cNvPr id="8" name="Text 6"/>
          <p:cNvSpPr txBox="1"/>
          <p:nvPr/>
        </p:nvSpPr>
        <p:spPr>
          <a:xfrm>
            <a:off x="685800" y="2331720"/>
            <a:ext cx="274320" cy="402336"/>
          </a:xfrm>
          <a:prstGeom prst="rect">
            <a:avLst/>
          </a:prstGeom>
          <a:noFill/>
          <a:ln/>
        </p:spPr>
        <p:txBody>
          <a:bodyPr wrap="square" lIns="0" tIns="0" rIns="0" bIns="0" rtlCol="0" anchor="ctr"/>
          <a:lstStyle/>
          <a:p>
            <a:pPr algn="l" indent="0" marL="0">
              <a:buNone/>
            </a:pPr>
            <a:endParaRPr lang="en-US" sz="1800" dirty="0"/>
          </a:p>
        </p:txBody>
      </p:sp>
      <p:sp>
        <p:nvSpPr>
          <p:cNvPr id="9" name="Text 7"/>
          <p:cNvSpPr txBox="1"/>
          <p:nvPr/>
        </p:nvSpPr>
        <p:spPr>
          <a:xfrm>
            <a:off x="960120" y="2331720"/>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const payload = {</a:t>
            </a:r>
            <a:endParaRPr lang="en-US" sz="1800" dirty="0"/>
          </a:p>
        </p:txBody>
      </p:sp>
      <p:sp>
        <p:nvSpPr>
          <p:cNvPr id="10" name="Text 8"/>
          <p:cNvSpPr txBox="1"/>
          <p:nvPr/>
        </p:nvSpPr>
        <p:spPr>
          <a:xfrm>
            <a:off x="685800" y="2734056"/>
            <a:ext cx="274320" cy="402336"/>
          </a:xfrm>
          <a:prstGeom prst="rect">
            <a:avLst/>
          </a:prstGeom>
          <a:noFill/>
          <a:ln/>
        </p:spPr>
        <p:txBody>
          <a:bodyPr wrap="square" lIns="0" tIns="0" rIns="0" bIns="0" rtlCol="0" anchor="ctr"/>
          <a:lstStyle/>
          <a:p>
            <a:pPr algn="l" indent="0" marL="0">
              <a:buNone/>
            </a:pPr>
            <a:endParaRPr lang="en-US" sz="1800" dirty="0"/>
          </a:p>
        </p:txBody>
      </p:sp>
      <p:sp>
        <p:nvSpPr>
          <p:cNvPr id="11" name="Text 9"/>
          <p:cNvSpPr txBox="1"/>
          <p:nvPr/>
        </p:nvSpPr>
        <p:spPr>
          <a:xfrm>
            <a:off x="960120" y="2734056"/>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street: form.street,</a:t>
            </a:r>
            <a:endParaRPr lang="en-US" sz="1800" dirty="0"/>
          </a:p>
        </p:txBody>
      </p:sp>
      <p:sp>
        <p:nvSpPr>
          <p:cNvPr id="12" name="Shape 10"/>
          <p:cNvSpPr/>
          <p:nvPr/>
        </p:nvSpPr>
        <p:spPr>
          <a:xfrm>
            <a:off x="594360" y="3136392"/>
            <a:ext cx="5943600" cy="402336"/>
          </a:xfrm>
          <a:prstGeom prst="rect">
            <a:avLst/>
          </a:prstGeom>
          <a:solidFill>
            <a:srgbClr val="DAFBE1"/>
          </a:solidFill>
          <a:ln w="12700">
            <a:solidFill>
              <a:srgbClr val="DAFBE1"/>
            </a:solidFill>
            <a:prstDash val="solid"/>
          </a:ln>
        </p:spPr>
      </p:sp>
      <p:sp>
        <p:nvSpPr>
          <p:cNvPr id="13" name="Text 11"/>
          <p:cNvSpPr txBox="1"/>
          <p:nvPr/>
        </p:nvSpPr>
        <p:spPr>
          <a:xfrm>
            <a:off x="685800" y="3136392"/>
            <a:ext cx="274320" cy="402336"/>
          </a:xfrm>
          <a:prstGeom prst="rect">
            <a:avLst/>
          </a:prstGeom>
          <a:noFill/>
          <a:ln/>
        </p:spPr>
        <p:txBody>
          <a:bodyPr wrap="square" lIns="0" tIns="0" rIns="0" bIns="0" rtlCol="0" anchor="ctr"/>
          <a:lstStyle/>
          <a:p>
            <a:pPr algn="l" indent="0" marL="0">
              <a:buNone/>
            </a:pPr>
            <a:r>
              <a:rPr lang="en-US" sz="1800" b="1" dirty="0">
                <a:solidFill>
                  <a:srgbClr val="1A7F37"/>
                </a:solidFill>
                <a:latin typeface="Consolas" pitchFamily="34" charset="0"/>
                <a:ea typeface="Consolas" pitchFamily="34" charset="-122"/>
                <a:cs typeface="Consolas" pitchFamily="34" charset="-120"/>
              </a:rPr>
              <a:t>+</a:t>
            </a:r>
            <a:endParaRPr lang="en-US" sz="1800" dirty="0"/>
          </a:p>
        </p:txBody>
      </p:sp>
      <p:sp>
        <p:nvSpPr>
          <p:cNvPr id="14" name="Text 12"/>
          <p:cNvSpPr txBox="1"/>
          <p:nvPr/>
        </p:nvSpPr>
        <p:spPr>
          <a:xfrm>
            <a:off x="960120" y="3136392"/>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apartment: form.apartment,</a:t>
            </a:r>
            <a:endParaRPr lang="en-US" sz="1800" dirty="0"/>
          </a:p>
        </p:txBody>
      </p:sp>
      <p:sp>
        <p:nvSpPr>
          <p:cNvPr id="15" name="Text 13"/>
          <p:cNvSpPr txBox="1"/>
          <p:nvPr/>
        </p:nvSpPr>
        <p:spPr>
          <a:xfrm>
            <a:off x="685800" y="3538728"/>
            <a:ext cx="274320" cy="402336"/>
          </a:xfrm>
          <a:prstGeom prst="rect">
            <a:avLst/>
          </a:prstGeom>
          <a:noFill/>
          <a:ln/>
        </p:spPr>
        <p:txBody>
          <a:bodyPr wrap="square" lIns="0" tIns="0" rIns="0" bIns="0" rtlCol="0" anchor="ctr"/>
          <a:lstStyle/>
          <a:p>
            <a:pPr algn="l" indent="0" marL="0">
              <a:buNone/>
            </a:pPr>
            <a:endParaRPr lang="en-US" sz="1800" dirty="0"/>
          </a:p>
        </p:txBody>
      </p:sp>
      <p:sp>
        <p:nvSpPr>
          <p:cNvPr id="16" name="Text 14"/>
          <p:cNvSpPr txBox="1"/>
          <p:nvPr/>
        </p:nvSpPr>
        <p:spPr>
          <a:xfrm>
            <a:off x="960120" y="3538728"/>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  postalCode: form.postalCode,</a:t>
            </a:r>
            <a:endParaRPr lang="en-US" sz="1800" dirty="0"/>
          </a:p>
        </p:txBody>
      </p:sp>
      <p:sp>
        <p:nvSpPr>
          <p:cNvPr id="17" name="Text 15"/>
          <p:cNvSpPr txBox="1"/>
          <p:nvPr/>
        </p:nvSpPr>
        <p:spPr>
          <a:xfrm>
            <a:off x="685800" y="3941064"/>
            <a:ext cx="274320" cy="402336"/>
          </a:xfrm>
          <a:prstGeom prst="rect">
            <a:avLst/>
          </a:prstGeom>
          <a:noFill/>
          <a:ln/>
        </p:spPr>
        <p:txBody>
          <a:bodyPr wrap="square" lIns="0" tIns="0" rIns="0" bIns="0" rtlCol="0" anchor="ctr"/>
          <a:lstStyle/>
          <a:p>
            <a:pPr algn="l" indent="0" marL="0">
              <a:buNone/>
            </a:pPr>
            <a:endParaRPr lang="en-US" sz="1800" dirty="0"/>
          </a:p>
        </p:txBody>
      </p:sp>
      <p:sp>
        <p:nvSpPr>
          <p:cNvPr id="18" name="Text 16"/>
          <p:cNvSpPr txBox="1"/>
          <p:nvPr/>
        </p:nvSpPr>
        <p:spPr>
          <a:xfrm>
            <a:off x="960120" y="3941064"/>
            <a:ext cx="54864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a:t>
            </a:r>
            <a:endParaRPr lang="en-US" sz="1800" dirty="0"/>
          </a:p>
        </p:txBody>
      </p:sp>
      <p:sp>
        <p:nvSpPr>
          <p:cNvPr id="19" name="Text 17"/>
          <p:cNvSpPr txBox="1"/>
          <p:nvPr/>
        </p:nvSpPr>
        <p:spPr>
          <a:xfrm>
            <a:off x="6949440" y="1783080"/>
            <a:ext cx="4663440" cy="320040"/>
          </a:xfrm>
          <a:prstGeom prst="rect">
            <a:avLst/>
          </a:prstGeom>
          <a:noFill/>
          <a:ln/>
        </p:spPr>
        <p:txBody>
          <a:bodyPr wrap="square" lIns="0" tIns="0" rIns="0" bIns="0" rtlCol="0" anchor="t"/>
          <a:lstStyle/>
          <a:p>
            <a:pPr algn="l" indent="0" marL="0">
              <a:buNone/>
            </a:pPr>
            <a:r>
              <a:rPr lang="en-US" sz="1200" dirty="0">
                <a:solidFill>
                  <a:srgbClr val="6B7280"/>
                </a:solidFill>
                <a:latin typeface="Consolas" pitchFamily="34" charset="0"/>
                <a:ea typeface="Consolas" pitchFamily="34" charset="-122"/>
                <a:cs typeface="Consolas" pitchFamily="34" charset="-120"/>
              </a:rPr>
              <a:t>// odotettu tulos – ei ajettu</a:t>
            </a:r>
            <a:endParaRPr lang="en-US" sz="1200" dirty="0"/>
          </a:p>
        </p:txBody>
      </p:sp>
      <p:sp>
        <p:nvSpPr>
          <p:cNvPr id="20" name="Text 18"/>
          <p:cNvSpPr/>
          <p:nvPr/>
        </p:nvSpPr>
        <p:spPr>
          <a:xfrm>
            <a:off x="6949440" y="2194560"/>
            <a:ext cx="4663440" cy="512064"/>
          </a:xfrm>
          <a:prstGeom prst="roundRect">
            <a:avLst>
              <a:gd name="adj" fmla="val 44643"/>
            </a:avLst>
          </a:prstGeom>
          <a:solidFill>
            <a:srgbClr val="F3F4F6"/>
          </a:solidFill>
          <a:ln w="12700">
            <a:solidFill>
              <a:srgbClr val="9CA3AF"/>
            </a:solidFill>
          </a:ln>
        </p:spPr>
        <p:txBody>
          <a:bodyPr wrap="square" lIns="101600" tIns="101600" rIns="101600" bIns="101600" rtlCol="0" anchor="ctr"/>
          <a:lstStyle/>
          <a:p>
            <a:pPr indent="0" marL="0">
              <a:buNone/>
            </a:pPr>
            <a:r>
              <a:rPr lang="en-US" sz="1200" dirty="0">
                <a:solidFill>
                  <a:srgbClr val="6B7280"/>
                </a:solidFill>
                <a:latin typeface="Consolas" pitchFamily="34" charset="0"/>
                <a:ea typeface="Consolas" pitchFamily="34" charset="-122"/>
                <a:cs typeface="Consolas" pitchFamily="34" charset="-120"/>
              </a:rPr>
              <a:t>npm test -- address   </a:t>
            </a:r>
            <a:pPr indent="0" marL="0">
              <a:buNone/>
            </a:pPr>
            <a:r>
              <a:rPr lang="en-US" sz="1200" b="1" dirty="0">
                <a:solidFill>
                  <a:srgbClr val="6B7280"/>
                </a:solidFill>
                <a:latin typeface="Consolas" pitchFamily="34" charset="0"/>
                <a:ea typeface="Consolas" pitchFamily="34" charset="-122"/>
                <a:cs typeface="Consolas" pitchFamily="34" charset="-120"/>
              </a:rPr>
              <a:t>odotettu: ei läpi → läpi</a:t>
            </a:r>
            <a:endParaRPr lang="en-US" sz="1200" dirty="0"/>
          </a:p>
        </p:txBody>
      </p:sp>
      <p:sp>
        <p:nvSpPr>
          <p:cNvPr id="21" name="Text 19"/>
          <p:cNvSpPr/>
          <p:nvPr/>
        </p:nvSpPr>
        <p:spPr>
          <a:xfrm>
            <a:off x="6949440" y="2852928"/>
            <a:ext cx="4663440" cy="512064"/>
          </a:xfrm>
          <a:prstGeom prst="roundRect">
            <a:avLst>
              <a:gd name="adj" fmla="val 44643"/>
            </a:avLst>
          </a:prstGeom>
          <a:solidFill>
            <a:srgbClr val="F3F4F6"/>
          </a:solidFill>
          <a:ln w="12700">
            <a:solidFill>
              <a:srgbClr val="9CA3AF"/>
            </a:solidFill>
          </a:ln>
        </p:spPr>
        <p:txBody>
          <a:bodyPr wrap="square" lIns="101600" tIns="101600" rIns="101600" bIns="101600" rtlCol="0" anchor="ctr"/>
          <a:lstStyle/>
          <a:p>
            <a:pPr indent="0" marL="0">
              <a:buNone/>
            </a:pPr>
            <a:r>
              <a:rPr lang="en-US" sz="1200" dirty="0">
                <a:solidFill>
                  <a:srgbClr val="6B7280"/>
                </a:solidFill>
                <a:latin typeface="Consolas" pitchFamily="34" charset="0"/>
                <a:ea typeface="Consolas" pitchFamily="34" charset="-122"/>
                <a:cs typeface="Consolas" pitchFamily="34" charset="-120"/>
              </a:rPr>
              <a:t>tyhjä huoneisto   </a:t>
            </a:r>
            <a:pPr indent="0" marL="0">
              <a:buNone/>
            </a:pPr>
            <a:r>
              <a:rPr lang="en-US" sz="1200" b="1" dirty="0">
                <a:solidFill>
                  <a:srgbClr val="6B7280"/>
                </a:solidFill>
                <a:latin typeface="Consolas" pitchFamily="34" charset="0"/>
                <a:ea typeface="Consolas" pitchFamily="34" charset="-122"/>
                <a:cs typeface="Consolas" pitchFamily="34" charset="-120"/>
              </a:rPr>
              <a:t>odotettu: toimii</a:t>
            </a:r>
            <a:endParaRPr lang="en-US" sz="1200" dirty="0"/>
          </a:p>
        </p:txBody>
      </p:sp>
      <p:sp>
        <p:nvSpPr>
          <p:cNvPr id="22" name="Selainikkuna"/>
          <p:cNvSpPr/>
          <p:nvPr/>
        </p:nvSpPr>
        <p:spPr>
          <a:xfrm>
            <a:off x="6949440" y="3611880"/>
            <a:ext cx="4663440" cy="1554480"/>
          </a:xfrm>
          <a:prstGeom prst="roundRect">
            <a:avLst>
              <a:gd name="adj" fmla="val 5882"/>
            </a:avLst>
          </a:prstGeom>
          <a:solidFill>
            <a:srgbClr val="FFFFFF"/>
          </a:solidFill>
          <a:ln w="12700">
            <a:solidFill>
              <a:srgbClr val="E5E7EB"/>
            </a:solidFill>
            <a:prstDash val="solid"/>
          </a:ln>
        </p:spPr>
      </p:sp>
      <p:sp>
        <p:nvSpPr>
          <p:cNvPr id="23" name="Shape 21"/>
          <p:cNvSpPr/>
          <p:nvPr/>
        </p:nvSpPr>
        <p:spPr>
          <a:xfrm>
            <a:off x="6967728" y="3630168"/>
            <a:ext cx="4626864" cy="384048"/>
          </a:xfrm>
          <a:prstGeom prst="rect">
            <a:avLst/>
          </a:prstGeom>
          <a:solidFill>
            <a:srgbClr val="F3F4F6"/>
          </a:solidFill>
          <a:ln w="12700">
            <a:solidFill>
              <a:srgbClr val="F3F4F6"/>
            </a:solidFill>
            <a:prstDash val="solid"/>
          </a:ln>
        </p:spPr>
      </p:sp>
      <p:sp>
        <p:nvSpPr>
          <p:cNvPr id="24" name="Shape 22"/>
          <p:cNvSpPr/>
          <p:nvPr/>
        </p:nvSpPr>
        <p:spPr>
          <a:xfrm>
            <a:off x="7086600" y="3739896"/>
            <a:ext cx="128016" cy="128016"/>
          </a:xfrm>
          <a:prstGeom prst="ellipse">
            <a:avLst/>
          </a:prstGeom>
          <a:solidFill>
            <a:srgbClr val="D0D7DE"/>
          </a:solidFill>
          <a:ln w="12700">
            <a:solidFill>
              <a:srgbClr val="D0D7DE"/>
            </a:solidFill>
            <a:prstDash val="solid"/>
          </a:ln>
        </p:spPr>
      </p:sp>
      <p:sp>
        <p:nvSpPr>
          <p:cNvPr id="25" name="Shape 23"/>
          <p:cNvSpPr/>
          <p:nvPr/>
        </p:nvSpPr>
        <p:spPr>
          <a:xfrm>
            <a:off x="7287768" y="3739896"/>
            <a:ext cx="128016" cy="128016"/>
          </a:xfrm>
          <a:prstGeom prst="ellipse">
            <a:avLst/>
          </a:prstGeom>
          <a:solidFill>
            <a:srgbClr val="D0D7DE"/>
          </a:solidFill>
          <a:ln w="12700">
            <a:solidFill>
              <a:srgbClr val="D0D7DE"/>
            </a:solidFill>
            <a:prstDash val="solid"/>
          </a:ln>
        </p:spPr>
      </p:sp>
      <p:sp>
        <p:nvSpPr>
          <p:cNvPr id="26" name="Shape 24"/>
          <p:cNvSpPr/>
          <p:nvPr/>
        </p:nvSpPr>
        <p:spPr>
          <a:xfrm>
            <a:off x="7488936" y="3739896"/>
            <a:ext cx="128016" cy="128016"/>
          </a:xfrm>
          <a:prstGeom prst="ellipse">
            <a:avLst/>
          </a:prstGeom>
          <a:solidFill>
            <a:srgbClr val="D0D7DE"/>
          </a:solidFill>
          <a:ln w="12700">
            <a:solidFill>
              <a:srgbClr val="D0D7DE"/>
            </a:solidFill>
            <a:prstDash val="solid"/>
          </a:ln>
        </p:spPr>
      </p:sp>
      <p:sp>
        <p:nvSpPr>
          <p:cNvPr id="27" name="Text 25"/>
          <p:cNvSpPr txBox="1"/>
          <p:nvPr/>
        </p:nvSpPr>
        <p:spPr>
          <a:xfrm>
            <a:off x="7818120" y="3675888"/>
            <a:ext cx="3657600" cy="274320"/>
          </a:xfrm>
          <a:prstGeom prst="rect">
            <a:avLst/>
          </a:prstGeom>
          <a:noFill/>
          <a:ln/>
        </p:spPr>
        <p:txBody>
          <a:bodyPr wrap="square" lIns="0" tIns="0" rIns="0" bIns="0" rtlCol="0" anchor="ctr"/>
          <a:lstStyle/>
          <a:p>
            <a:pPr algn="l" indent="0" marL="0">
              <a:buNone/>
            </a:pPr>
            <a:r>
              <a:rPr lang="en-US" sz="1100" dirty="0">
                <a:solidFill>
                  <a:srgbClr val="6B7280"/>
                </a:solidFill>
                <a:latin typeface="Consolas" pitchFamily="34" charset="0"/>
                <a:ea typeface="Consolas" pitchFamily="34" charset="-122"/>
                <a:cs typeface="Consolas" pitchFamily="34" charset="-120"/>
              </a:rPr>
              <a:t>esimerkki.fi/omat-tiedot</a:t>
            </a:r>
            <a:endParaRPr lang="en-US" sz="1100" dirty="0"/>
          </a:p>
        </p:txBody>
      </p:sp>
      <p:sp>
        <p:nvSpPr>
          <p:cNvPr id="28" name="Text 26"/>
          <p:cNvSpPr txBox="1"/>
          <p:nvPr/>
        </p:nvSpPr>
        <p:spPr>
          <a:xfrm>
            <a:off x="7223760" y="4206240"/>
            <a:ext cx="1463040" cy="457200"/>
          </a:xfrm>
          <a:prstGeom prst="rect">
            <a:avLst/>
          </a:prstGeom>
          <a:noFill/>
          <a:ln/>
        </p:spPr>
        <p:txBody>
          <a:bodyPr wrap="square" lIns="0" tIns="0" rIns="0" bIns="0" rtlCol="0" anchor="ctr"/>
          <a:lstStyle/>
          <a:p>
            <a:pPr algn="l" indent="0" marL="0">
              <a:buNone/>
            </a:pPr>
            <a:r>
              <a:rPr lang="en-US" sz="1400" dirty="0">
                <a:solidFill>
                  <a:srgbClr val="6B7280"/>
                </a:solidFill>
                <a:latin typeface="Segoe UI" pitchFamily="34" charset="0"/>
                <a:ea typeface="Segoe UI" pitchFamily="34" charset="-122"/>
                <a:cs typeface="Segoe UI" pitchFamily="34" charset="-120"/>
              </a:rPr>
              <a:t>Huoneisto</a:t>
            </a:r>
            <a:endParaRPr lang="en-US" sz="1400" dirty="0"/>
          </a:p>
        </p:txBody>
      </p:sp>
      <p:sp>
        <p:nvSpPr>
          <p:cNvPr id="29" name="Shape 27"/>
          <p:cNvSpPr/>
          <p:nvPr/>
        </p:nvSpPr>
        <p:spPr>
          <a:xfrm>
            <a:off x="8686800" y="4242816"/>
            <a:ext cx="2651760" cy="384048"/>
          </a:xfrm>
          <a:prstGeom prst="roundRect">
            <a:avLst>
              <a:gd name="adj" fmla="val 11905"/>
            </a:avLst>
          </a:prstGeom>
          <a:solidFill>
            <a:srgbClr val="DAFBE1"/>
          </a:solidFill>
          <a:ln w="25400">
            <a:solidFill>
              <a:srgbClr val="1A7F37"/>
            </a:solidFill>
            <a:prstDash val="solid"/>
          </a:ln>
        </p:spPr>
      </p:sp>
      <p:sp>
        <p:nvSpPr>
          <p:cNvPr id="30" name="Text 28"/>
          <p:cNvSpPr txBox="1"/>
          <p:nvPr/>
        </p:nvSpPr>
        <p:spPr>
          <a:xfrm>
            <a:off x="8796528" y="4242816"/>
            <a:ext cx="2468880" cy="384048"/>
          </a:xfrm>
          <a:prstGeom prst="rect">
            <a:avLst/>
          </a:prstGeom>
          <a:noFill/>
          <a:ln/>
        </p:spPr>
        <p:txBody>
          <a:bodyPr wrap="square" lIns="0" tIns="0" rIns="0" bIns="0" rtlCol="0" anchor="ctr"/>
          <a:lstStyle/>
          <a:p>
            <a:pPr algn="l" indent="0" marL="0">
              <a:buNone/>
            </a:pPr>
            <a:r>
              <a:rPr lang="en-US" sz="1700" b="1" dirty="0">
                <a:solidFill>
                  <a:srgbClr val="111827"/>
                </a:solidFill>
                <a:latin typeface="Segoe UI" pitchFamily="34" charset="0"/>
                <a:ea typeface="Segoe UI" pitchFamily="34" charset="-122"/>
                <a:cs typeface="Segoe UI" pitchFamily="34" charset="-120"/>
              </a:rPr>
              <a:t>B 7</a:t>
            </a:r>
            <a:endParaRPr lang="en-US" sz="1700" dirty="0"/>
          </a:p>
        </p:txBody>
      </p:sp>
      <p:sp>
        <p:nvSpPr>
          <p:cNvPr id="31" name="Text 29"/>
          <p:cNvSpPr txBox="1"/>
          <p:nvPr/>
        </p:nvSpPr>
        <p:spPr>
          <a:xfrm>
            <a:off x="7223760" y="4727448"/>
            <a:ext cx="4206240" cy="320040"/>
          </a:xfrm>
          <a:prstGeom prst="rect">
            <a:avLst/>
          </a:prstGeom>
          <a:noFill/>
          <a:ln/>
        </p:spPr>
        <p:txBody>
          <a:bodyPr wrap="square" lIns="0" tIns="0" rIns="0" bIns="0" rtlCol="0" anchor="t"/>
          <a:lstStyle/>
          <a:p>
            <a:pPr algn="l" indent="0" marL="0">
              <a:buNone/>
            </a:pPr>
            <a:r>
              <a:rPr lang="en-US" sz="1200" dirty="0">
                <a:solidFill>
                  <a:srgbClr val="6B7280"/>
                </a:solidFill>
                <a:latin typeface="Consolas" pitchFamily="34" charset="0"/>
                <a:ea typeface="Consolas" pitchFamily="34" charset="-122"/>
                <a:cs typeface="Consolas" pitchFamily="34" charset="-120"/>
              </a:rPr>
              <a:t>uudelleenlatauksen jälkeen</a:t>
            </a:r>
            <a:endParaRPr lang="en-US" sz="1200" dirty="0"/>
          </a:p>
        </p:txBody>
      </p:sp>
      <p:sp>
        <p:nvSpPr>
          <p:cNvPr id="32" name="Alarivi"/>
          <p:cNvSpPr txBox="1"/>
          <p:nvPr/>
        </p:nvSpPr>
        <p:spPr>
          <a:xfrm>
            <a:off x="548640" y="5559552"/>
            <a:ext cx="768096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Mitä tämä testi ei todista?</a:t>
            </a:r>
            <a:endParaRPr lang="en-US" sz="2000" dirty="0"/>
          </a:p>
        </p:txBody>
      </p:sp>
      <p:sp>
        <p:nvSpPr>
          <p:cNvPr id="33"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kuvitteellinen esimerkki · tarkistuksia ei ole ajettu – siksi tulokset ovat harmaita.</a:t>
            </a:r>
            <a:endParaRPr lang="en-US" sz="1100" dirty="0"/>
          </a:p>
        </p:txBody>
      </p:sp>
      <p:sp>
        <p:nvSpPr>
          <p:cNvPr id="34" name="Shape 32"/>
          <p:cNvSpPr/>
          <p:nvPr/>
        </p:nvSpPr>
        <p:spPr>
          <a:xfrm>
            <a:off x="8412480" y="6455664"/>
            <a:ext cx="3291840" cy="0"/>
          </a:xfrm>
          <a:prstGeom prst="line">
            <a:avLst/>
          </a:prstGeom>
          <a:noFill/>
          <a:ln w="19050">
            <a:solidFill>
              <a:srgbClr val="E5E7EB"/>
            </a:solidFill>
            <a:prstDash val="solid"/>
          </a:ln>
        </p:spPr>
      </p:sp>
      <p:sp>
        <p:nvSpPr>
          <p:cNvPr id="35" name="Shape 33"/>
          <p:cNvSpPr/>
          <p:nvPr/>
        </p:nvSpPr>
        <p:spPr>
          <a:xfrm>
            <a:off x="8353044" y="6396228"/>
            <a:ext cx="118872" cy="118872"/>
          </a:xfrm>
          <a:prstGeom prst="ellipse">
            <a:avLst/>
          </a:prstGeom>
          <a:solidFill>
            <a:srgbClr val="9CA3AF"/>
          </a:solidFill>
          <a:ln w="9525">
            <a:solidFill>
              <a:srgbClr val="9CA3AF"/>
            </a:solidFill>
            <a:prstDash val="solid"/>
          </a:ln>
        </p:spPr>
      </p:sp>
      <p:sp>
        <p:nvSpPr>
          <p:cNvPr id="36" name="Shape 34"/>
          <p:cNvSpPr/>
          <p:nvPr/>
        </p:nvSpPr>
        <p:spPr>
          <a:xfrm>
            <a:off x="8901684" y="6396228"/>
            <a:ext cx="118872" cy="118872"/>
          </a:xfrm>
          <a:prstGeom prst="ellipse">
            <a:avLst/>
          </a:prstGeom>
          <a:solidFill>
            <a:srgbClr val="9CA3AF"/>
          </a:solidFill>
          <a:ln w="9525">
            <a:solidFill>
              <a:srgbClr val="9CA3AF"/>
            </a:solidFill>
            <a:prstDash val="solid"/>
          </a:ln>
        </p:spPr>
      </p:sp>
      <p:sp>
        <p:nvSpPr>
          <p:cNvPr id="37" name="Shape 35"/>
          <p:cNvSpPr/>
          <p:nvPr/>
        </p:nvSpPr>
        <p:spPr>
          <a:xfrm>
            <a:off x="9450324" y="6396228"/>
            <a:ext cx="118872" cy="118872"/>
          </a:xfrm>
          <a:prstGeom prst="ellipse">
            <a:avLst/>
          </a:prstGeom>
          <a:solidFill>
            <a:srgbClr val="9CA3AF"/>
          </a:solidFill>
          <a:ln w="9525">
            <a:solidFill>
              <a:srgbClr val="9CA3AF"/>
            </a:solidFill>
            <a:prstDash val="solid"/>
          </a:ln>
        </p:spPr>
      </p:sp>
      <p:sp>
        <p:nvSpPr>
          <p:cNvPr id="38" name="Shape 36"/>
          <p:cNvSpPr/>
          <p:nvPr/>
        </p:nvSpPr>
        <p:spPr>
          <a:xfrm>
            <a:off x="9957816" y="6355080"/>
            <a:ext cx="201168" cy="201168"/>
          </a:xfrm>
          <a:prstGeom prst="ellipse">
            <a:avLst/>
          </a:prstGeom>
          <a:solidFill>
            <a:srgbClr val="2563EB"/>
          </a:solidFill>
          <a:ln w="9525">
            <a:solidFill>
              <a:srgbClr val="2563EB"/>
            </a:solidFill>
            <a:prstDash val="solid"/>
          </a:ln>
        </p:spPr>
      </p:sp>
      <p:sp>
        <p:nvSpPr>
          <p:cNvPr id="39" name="Shape 37"/>
          <p:cNvSpPr/>
          <p:nvPr/>
        </p:nvSpPr>
        <p:spPr>
          <a:xfrm>
            <a:off x="10547604" y="6396228"/>
            <a:ext cx="118872" cy="118872"/>
          </a:xfrm>
          <a:prstGeom prst="ellipse">
            <a:avLst/>
          </a:prstGeom>
          <a:solidFill>
            <a:srgbClr val="FFFFFF"/>
          </a:solidFill>
          <a:ln w="9525">
            <a:solidFill>
              <a:srgbClr val="9CA3AF"/>
            </a:solidFill>
            <a:prstDash val="solid"/>
          </a:ln>
        </p:spPr>
      </p:sp>
      <p:sp>
        <p:nvSpPr>
          <p:cNvPr id="40" name="Shape 38"/>
          <p:cNvSpPr/>
          <p:nvPr/>
        </p:nvSpPr>
        <p:spPr>
          <a:xfrm>
            <a:off x="11096244" y="6396228"/>
            <a:ext cx="118872" cy="118872"/>
          </a:xfrm>
          <a:prstGeom prst="ellipse">
            <a:avLst/>
          </a:prstGeom>
          <a:solidFill>
            <a:srgbClr val="FFFFFF"/>
          </a:solidFill>
          <a:ln w="9525">
            <a:solidFill>
              <a:srgbClr val="9CA3AF"/>
            </a:solidFill>
            <a:prstDash val="solid"/>
          </a:ln>
        </p:spPr>
      </p:sp>
      <p:sp>
        <p:nvSpPr>
          <p:cNvPr id="41" name="Shape 39"/>
          <p:cNvSpPr/>
          <p:nvPr/>
        </p:nvSpPr>
        <p:spPr>
          <a:xfrm>
            <a:off x="11644884" y="6396228"/>
            <a:ext cx="118872" cy="118872"/>
          </a:xfrm>
          <a:prstGeom prst="ellipse">
            <a:avLst/>
          </a:prstGeom>
          <a:solidFill>
            <a:srgbClr val="FFFFFF"/>
          </a:solidFill>
          <a:ln w="9525">
            <a:solidFill>
              <a:srgbClr val="9CA3AF"/>
            </a:solidFill>
            <a:prstDash val="solid"/>
          </a:ln>
        </p:spPr>
      </p:sp>
      <p:sp>
        <p:nvSpPr>
          <p:cNvPr id="42" name="Text 40"/>
          <p:cNvSpPr txBox="1"/>
          <p:nvPr/>
        </p:nvSpPr>
        <p:spPr>
          <a:xfrm>
            <a:off x="932688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korjaa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Kortti"/>
          <p:cNvSpPr/>
          <p:nvPr/>
        </p:nvSpPr>
        <p:spPr>
          <a:xfrm>
            <a:off x="548640" y="411480"/>
            <a:ext cx="5440680" cy="2926080"/>
          </a:xfrm>
          <a:prstGeom prst="roundRect">
            <a:avLst>
              <a:gd name="adj" fmla="val 1875"/>
            </a:avLst>
          </a:prstGeom>
          <a:solidFill>
            <a:srgbClr val="FFFFFF"/>
          </a:solidFill>
          <a:ln w="25400">
            <a:solidFill>
              <a:srgbClr val="111827"/>
            </a:solidFill>
            <a:prstDash val="solid"/>
          </a:ln>
        </p:spPr>
      </p:sp>
      <p:sp>
        <p:nvSpPr>
          <p:cNvPr id="3" name="Shape 1"/>
          <p:cNvSpPr/>
          <p:nvPr/>
        </p:nvSpPr>
        <p:spPr>
          <a:xfrm>
            <a:off x="868680" y="1188720"/>
            <a:ext cx="1645920" cy="1645920"/>
          </a:xfrm>
          <a:prstGeom prst="ellipse">
            <a:avLst/>
          </a:prstGeom>
          <a:solidFill>
            <a:srgbClr val="EFF6FF"/>
          </a:solidFill>
          <a:ln w="12700">
            <a:solidFill>
              <a:srgbClr val="BFDBFE"/>
            </a:solidFill>
            <a:prstDash val="solid"/>
          </a:ln>
        </p:spPr>
      </p:sp>
      <p:pic>
        <p:nvPicPr>
          <p:cNvPr id="4" name="Image 0" descr="preencoded.png">    </p:cNvPr>
          <p:cNvPicPr>
            <a:picLocks noChangeAspect="1"/>
          </p:cNvPicPr>
          <p:nvPr/>
        </p:nvPicPr>
        <p:blipFill>
          <a:blip r:embed="rId1"/>
          <a:stretch>
            <a:fillRect/>
          </a:stretch>
        </p:blipFill>
        <p:spPr>
          <a:xfrm>
            <a:off x="1188720" y="1508760"/>
            <a:ext cx="1005840" cy="1005840"/>
          </a:xfrm>
          <a:prstGeom prst="rect">
            <a:avLst/>
          </a:prstGeom>
        </p:spPr>
      </p:pic>
      <p:sp>
        <p:nvSpPr>
          <p:cNvPr id="5" name="Text 2"/>
          <p:cNvSpPr/>
          <p:nvPr/>
        </p:nvSpPr>
        <p:spPr>
          <a:xfrm>
            <a:off x="2926080" y="777240"/>
            <a:ext cx="2834640" cy="1371600"/>
          </a:xfrm>
          <a:prstGeom prst="wedgeRoundRectCallout">
            <a:avLst/>
          </a:prstGeom>
          <a:solidFill>
            <a:srgbClr val="FFFFFF"/>
          </a:solidFill>
          <a:ln w="19050">
            <a:solidFill>
              <a:srgbClr val="111827"/>
            </a:solidFill>
          </a:ln>
        </p:spPr>
        <p:txBody>
          <a:bodyPr wrap="square" lIns="76200" tIns="76200" rIns="76200" bIns="76200" rtlCol="0" anchor="ctr"/>
          <a:lstStyle/>
          <a:p>
            <a:pPr algn="ctr" indent="0" marL="0">
              <a:buNone/>
            </a:pPr>
            <a:r>
              <a:rPr lang="en-US" sz="2000" b="1" dirty="0">
                <a:solidFill>
                  <a:srgbClr val="111827"/>
                </a:solidFill>
                <a:latin typeface="Segoe UI" pitchFamily="34" charset="0"/>
                <a:ea typeface="Segoe UI" pitchFamily="34" charset="-122"/>
                <a:cs typeface="Segoe UI" pitchFamily="34" charset="-120"/>
              </a:rPr>
              <a:t>Valmis! Kaikki testit menee läpi.</a:t>
            </a:r>
            <a:endParaRPr lang="en-US" sz="2000" dirty="0"/>
          </a:p>
        </p:txBody>
      </p:sp>
      <p:sp>
        <p:nvSpPr>
          <p:cNvPr id="6" name="Kortti"/>
          <p:cNvSpPr/>
          <p:nvPr/>
        </p:nvSpPr>
        <p:spPr>
          <a:xfrm>
            <a:off x="6172200" y="411480"/>
            <a:ext cx="5440680" cy="2926080"/>
          </a:xfrm>
          <a:prstGeom prst="roundRect">
            <a:avLst>
              <a:gd name="adj" fmla="val 1875"/>
            </a:avLst>
          </a:prstGeom>
          <a:solidFill>
            <a:srgbClr val="FFFFFF"/>
          </a:solidFill>
          <a:ln w="25400">
            <a:solidFill>
              <a:srgbClr val="111827"/>
            </a:solidFill>
            <a:prstDash val="solid"/>
          </a:ln>
        </p:spPr>
      </p:sp>
      <p:pic>
        <p:nvPicPr>
          <p:cNvPr id="7" name="Image 1" descr="Juha Ala-Rantala">    </p:cNvPr>
          <p:cNvPicPr>
            <a:picLocks noChangeAspect="1"/>
          </p:cNvPicPr>
          <p:nvPr/>
        </p:nvPicPr>
        <p:blipFill>
          <a:blip r:embed="rId2"/>
          <a:stretch>
            <a:fillRect/>
          </a:stretch>
        </p:blipFill>
        <p:spPr>
          <a:xfrm>
            <a:off x="6492240" y="1188720"/>
            <a:ext cx="1645920" cy="1645920"/>
          </a:xfrm>
          <a:prstGeom prst="ellipse">
            <a:avLst/>
          </a:prstGeom>
        </p:spPr>
      </p:pic>
      <p:sp>
        <p:nvSpPr>
          <p:cNvPr id="8" name="Text 4"/>
          <p:cNvSpPr/>
          <p:nvPr/>
        </p:nvSpPr>
        <p:spPr>
          <a:xfrm>
            <a:off x="8549640" y="777240"/>
            <a:ext cx="2834640" cy="1371600"/>
          </a:xfrm>
          <a:prstGeom prst="wedgeRoundRectCallout">
            <a:avLst/>
          </a:prstGeom>
          <a:solidFill>
            <a:srgbClr val="FFFFFF"/>
          </a:solidFill>
          <a:ln w="19050">
            <a:solidFill>
              <a:srgbClr val="111827"/>
            </a:solidFill>
          </a:ln>
        </p:spPr>
        <p:txBody>
          <a:bodyPr wrap="square" lIns="76200" tIns="76200" rIns="76200" bIns="76200" rtlCol="0" anchor="ctr"/>
          <a:lstStyle/>
          <a:p>
            <a:pPr algn="ctr" indent="0" marL="0">
              <a:buNone/>
            </a:pPr>
            <a:r>
              <a:rPr lang="en-US" sz="2000" b="1" dirty="0">
                <a:solidFill>
                  <a:srgbClr val="111827"/>
                </a:solidFill>
                <a:latin typeface="Segoe UI" pitchFamily="34" charset="0"/>
                <a:ea typeface="Segoe UI" pitchFamily="34" charset="-122"/>
                <a:cs typeface="Segoe UI" pitchFamily="34" charset="-120"/>
              </a:rPr>
              <a:t>Ajoitko ne?</a:t>
            </a:r>
            <a:endParaRPr lang="en-US" sz="2000" dirty="0"/>
          </a:p>
        </p:txBody>
      </p:sp>
      <p:sp>
        <p:nvSpPr>
          <p:cNvPr id="9" name="Kortti"/>
          <p:cNvSpPr/>
          <p:nvPr/>
        </p:nvSpPr>
        <p:spPr>
          <a:xfrm>
            <a:off x="548640" y="3520440"/>
            <a:ext cx="5440680" cy="2926080"/>
          </a:xfrm>
          <a:prstGeom prst="roundRect">
            <a:avLst>
              <a:gd name="adj" fmla="val 1875"/>
            </a:avLst>
          </a:prstGeom>
          <a:solidFill>
            <a:srgbClr val="FFFFFF"/>
          </a:solidFill>
          <a:ln w="25400">
            <a:solidFill>
              <a:srgbClr val="111827"/>
            </a:solidFill>
            <a:prstDash val="solid"/>
          </a:ln>
        </p:spPr>
      </p:sp>
      <p:sp>
        <p:nvSpPr>
          <p:cNvPr id="10" name="Shape 6"/>
          <p:cNvSpPr/>
          <p:nvPr/>
        </p:nvSpPr>
        <p:spPr>
          <a:xfrm>
            <a:off x="868680" y="4297680"/>
            <a:ext cx="1645920" cy="1645920"/>
          </a:xfrm>
          <a:prstGeom prst="ellipse">
            <a:avLst/>
          </a:prstGeom>
          <a:solidFill>
            <a:srgbClr val="EFF6FF"/>
          </a:solidFill>
          <a:ln w="12700">
            <a:solidFill>
              <a:srgbClr val="BFDBFE"/>
            </a:solidFill>
            <a:prstDash val="solid"/>
          </a:ln>
        </p:spPr>
      </p:sp>
      <p:pic>
        <p:nvPicPr>
          <p:cNvPr id="11" name="Image 2" descr="preencoded.png">    </p:cNvPr>
          <p:cNvPicPr>
            <a:picLocks noChangeAspect="1"/>
          </p:cNvPicPr>
          <p:nvPr/>
        </p:nvPicPr>
        <p:blipFill>
          <a:blip r:embed="rId3"/>
          <a:stretch>
            <a:fillRect/>
          </a:stretch>
        </p:blipFill>
        <p:spPr>
          <a:xfrm>
            <a:off x="1188720" y="4617720"/>
            <a:ext cx="1005840" cy="1005840"/>
          </a:xfrm>
          <a:prstGeom prst="rect">
            <a:avLst/>
          </a:prstGeom>
        </p:spPr>
      </p:pic>
      <p:sp>
        <p:nvSpPr>
          <p:cNvPr id="12" name="Text 7"/>
          <p:cNvSpPr/>
          <p:nvPr/>
        </p:nvSpPr>
        <p:spPr>
          <a:xfrm>
            <a:off x="2926080" y="3886200"/>
            <a:ext cx="2834640" cy="1371600"/>
          </a:xfrm>
          <a:prstGeom prst="wedgeRoundRectCallout">
            <a:avLst/>
          </a:prstGeom>
          <a:solidFill>
            <a:srgbClr val="FFFFFF"/>
          </a:solidFill>
          <a:ln w="19050">
            <a:solidFill>
              <a:srgbClr val="111827"/>
            </a:solidFill>
          </a:ln>
        </p:spPr>
        <p:txBody>
          <a:bodyPr wrap="square" lIns="76200" tIns="76200" rIns="76200" bIns="76200" rtlCol="0" anchor="ctr"/>
          <a:lstStyle/>
          <a:p>
            <a:pPr algn="ctr" indent="0" marL="0">
              <a:buNone/>
            </a:pPr>
            <a:r>
              <a:rPr lang="en-US" sz="2000" b="1" dirty="0">
                <a:solidFill>
                  <a:srgbClr val="111827"/>
                </a:solidFill>
                <a:latin typeface="Segoe UI" pitchFamily="34" charset="0"/>
                <a:ea typeface="Segoe UI" pitchFamily="34" charset="-122"/>
                <a:cs typeface="Segoe UI" pitchFamily="34" charset="-120"/>
              </a:rPr>
              <a:t>…</a:t>
            </a:r>
            <a:endParaRPr lang="en-US" sz="2000" dirty="0"/>
          </a:p>
        </p:txBody>
      </p:sp>
      <p:sp>
        <p:nvSpPr>
          <p:cNvPr id="13" name="Kortti"/>
          <p:cNvSpPr/>
          <p:nvPr/>
        </p:nvSpPr>
        <p:spPr>
          <a:xfrm>
            <a:off x="6172200" y="3520440"/>
            <a:ext cx="5440680" cy="2926080"/>
          </a:xfrm>
          <a:prstGeom prst="roundRect">
            <a:avLst>
              <a:gd name="adj" fmla="val 1875"/>
            </a:avLst>
          </a:prstGeom>
          <a:solidFill>
            <a:srgbClr val="FFFFFF"/>
          </a:solidFill>
          <a:ln w="25400">
            <a:solidFill>
              <a:srgbClr val="111827"/>
            </a:solidFill>
            <a:prstDash val="solid"/>
          </a:ln>
        </p:spPr>
      </p:sp>
      <p:sp>
        <p:nvSpPr>
          <p:cNvPr id="14" name="Shape 9"/>
          <p:cNvSpPr/>
          <p:nvPr/>
        </p:nvSpPr>
        <p:spPr>
          <a:xfrm>
            <a:off x="6492240" y="4297680"/>
            <a:ext cx="1645920" cy="1645920"/>
          </a:xfrm>
          <a:prstGeom prst="ellipse">
            <a:avLst/>
          </a:prstGeom>
          <a:solidFill>
            <a:srgbClr val="EFF6FF"/>
          </a:solidFill>
          <a:ln w="12700">
            <a:solidFill>
              <a:srgbClr val="BFDBFE"/>
            </a:solidFill>
            <a:prstDash val="solid"/>
          </a:ln>
        </p:spPr>
      </p:sp>
      <p:pic>
        <p:nvPicPr>
          <p:cNvPr id="15" name="Image 3" descr="preencoded.png">    </p:cNvPr>
          <p:cNvPicPr>
            <a:picLocks noChangeAspect="1"/>
          </p:cNvPicPr>
          <p:nvPr/>
        </p:nvPicPr>
        <p:blipFill>
          <a:blip r:embed="rId4"/>
          <a:stretch>
            <a:fillRect/>
          </a:stretch>
        </p:blipFill>
        <p:spPr>
          <a:xfrm>
            <a:off x="6812280" y="4617720"/>
            <a:ext cx="1005840" cy="1005840"/>
          </a:xfrm>
          <a:prstGeom prst="rect">
            <a:avLst/>
          </a:prstGeom>
        </p:spPr>
      </p:pic>
      <p:sp>
        <p:nvSpPr>
          <p:cNvPr id="16" name="Text 10"/>
          <p:cNvSpPr/>
          <p:nvPr/>
        </p:nvSpPr>
        <p:spPr>
          <a:xfrm>
            <a:off x="8549640" y="3886200"/>
            <a:ext cx="2834640" cy="1371600"/>
          </a:xfrm>
          <a:prstGeom prst="wedgeRoundRectCallout">
            <a:avLst/>
          </a:prstGeom>
          <a:solidFill>
            <a:srgbClr val="FFFFFF"/>
          </a:solidFill>
          <a:ln w="19050">
            <a:solidFill>
              <a:srgbClr val="111827"/>
            </a:solidFill>
          </a:ln>
        </p:spPr>
        <p:txBody>
          <a:bodyPr wrap="square" lIns="76200" tIns="76200" rIns="76200" bIns="76200" rtlCol="0" anchor="ctr"/>
          <a:lstStyle/>
          <a:p>
            <a:pPr algn="ctr" indent="0" marL="0">
              <a:buNone/>
            </a:pPr>
            <a:r>
              <a:rPr lang="en-US" sz="2000" b="1" dirty="0">
                <a:solidFill>
                  <a:srgbClr val="111827"/>
                </a:solidFill>
                <a:latin typeface="Segoe UI" pitchFamily="34" charset="0"/>
                <a:ea typeface="Segoe UI" pitchFamily="34" charset="-122"/>
                <a:cs typeface="Segoe UI" pitchFamily="34" charset="-120"/>
              </a:rPr>
              <a:t>Ajan ne nyt.</a:t>
            </a:r>
            <a:endParaRPr lang="en-US" sz="20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”Toimii mun koneella” ei vielä riitä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48 % vastaajista luottaa AI:hin, kun tuloksen voi helposti tarkistaa</a:t>
            </a:r>
            <a:endParaRPr lang="en-US" sz="1800" dirty="0"/>
          </a:p>
        </p:txBody>
      </p:sp>
      <p:sp>
        <p:nvSpPr>
          <p:cNvPr id="5" name="Shape 3"/>
          <p:cNvSpPr/>
          <p:nvPr/>
        </p:nvSpPr>
        <p:spPr>
          <a:xfrm>
            <a:off x="548640" y="4663440"/>
            <a:ext cx="1170432" cy="411480"/>
          </a:xfrm>
          <a:prstGeom prst="rect">
            <a:avLst/>
          </a:prstGeom>
          <a:solidFill>
            <a:srgbClr val="F3F4F6"/>
          </a:solidFill>
          <a:ln w="12700">
            <a:solidFill>
              <a:srgbClr val="FFFFFF"/>
            </a:solidFill>
            <a:prstDash val="solid"/>
          </a:ln>
        </p:spPr>
      </p:sp>
      <p:sp>
        <p:nvSpPr>
          <p:cNvPr id="6" name="Text 4"/>
          <p:cNvSpPr txBox="1"/>
          <p:nvPr/>
        </p:nvSpPr>
        <p:spPr>
          <a:xfrm>
            <a:off x="548640" y="4709160"/>
            <a:ext cx="1170432" cy="365760"/>
          </a:xfrm>
          <a:prstGeom prst="rect">
            <a:avLst/>
          </a:prstGeom>
          <a:noFill/>
          <a:ln/>
        </p:spPr>
        <p:txBody>
          <a:bodyPr wrap="square" lIns="0" tIns="0" rIns="0" bIns="0" rtlCol="0" anchor="t"/>
          <a:lstStyle/>
          <a:p>
            <a:pPr algn="ctr" indent="0" marL="0">
              <a:buNone/>
            </a:pPr>
            <a:r>
              <a:rPr lang="en-US" sz="1600" b="1" dirty="0">
                <a:solidFill>
                  <a:srgbClr val="111827"/>
                </a:solidFill>
                <a:latin typeface="Consolas" pitchFamily="34" charset="0"/>
                <a:ea typeface="Consolas" pitchFamily="34" charset="-122"/>
                <a:cs typeface="Consolas" pitchFamily="34" charset="-120"/>
              </a:rPr>
              <a:t>0</a:t>
            </a:r>
            <a:endParaRPr lang="en-US" sz="1600" dirty="0"/>
          </a:p>
        </p:txBody>
      </p:sp>
      <p:sp>
        <p:nvSpPr>
          <p:cNvPr id="7" name="Text 5"/>
          <p:cNvSpPr txBox="1"/>
          <p:nvPr/>
        </p:nvSpPr>
        <p:spPr>
          <a:xfrm>
            <a:off x="457200" y="3794760"/>
            <a:ext cx="1353312" cy="822960"/>
          </a:xfrm>
          <a:prstGeom prst="rect">
            <a:avLst/>
          </a:prstGeom>
          <a:noFill/>
          <a:ln/>
        </p:spPr>
        <p:txBody>
          <a:bodyPr wrap="square" lIns="0" tIns="0" rIns="0" bIns="0" rtlCol="0" anchor="b"/>
          <a:lstStyle/>
          <a:p>
            <a:pPr algn="ctr" indent="0" marL="0">
              <a:buNone/>
            </a:pPr>
            <a:r>
              <a:rPr lang="en-US" sz="1300" b="1" dirty="0">
                <a:solidFill>
                  <a:srgbClr val="111827"/>
                </a:solidFill>
                <a:latin typeface="Segoe UI" pitchFamily="34" charset="0"/>
                <a:ea typeface="Segoe UI" pitchFamily="34" charset="-122"/>
                <a:cs typeface="Segoe UI" pitchFamily="34" charset="-120"/>
              </a:rPr>
              <a:t>Toimii mun koneella</a:t>
            </a:r>
            <a:endParaRPr lang="en-US" sz="1300" dirty="0"/>
          </a:p>
        </p:txBody>
      </p:sp>
      <p:sp>
        <p:nvSpPr>
          <p:cNvPr id="8" name="Shape 6"/>
          <p:cNvSpPr/>
          <p:nvPr/>
        </p:nvSpPr>
        <p:spPr>
          <a:xfrm>
            <a:off x="1783080" y="4251960"/>
            <a:ext cx="1170432" cy="822960"/>
          </a:xfrm>
          <a:prstGeom prst="rect">
            <a:avLst/>
          </a:prstGeom>
          <a:solidFill>
            <a:srgbClr val="DBEAFE"/>
          </a:solidFill>
          <a:ln w="12700">
            <a:solidFill>
              <a:srgbClr val="FFFFFF"/>
            </a:solidFill>
            <a:prstDash val="solid"/>
          </a:ln>
        </p:spPr>
      </p:sp>
      <p:sp>
        <p:nvSpPr>
          <p:cNvPr id="9" name="Text 7"/>
          <p:cNvSpPr txBox="1"/>
          <p:nvPr/>
        </p:nvSpPr>
        <p:spPr>
          <a:xfrm>
            <a:off x="1783080" y="4297680"/>
            <a:ext cx="1170432" cy="365760"/>
          </a:xfrm>
          <a:prstGeom prst="rect">
            <a:avLst/>
          </a:prstGeom>
          <a:noFill/>
          <a:ln/>
        </p:spPr>
        <p:txBody>
          <a:bodyPr wrap="square" lIns="0" tIns="0" rIns="0" bIns="0" rtlCol="0" anchor="t"/>
          <a:lstStyle/>
          <a:p>
            <a:pPr algn="ctr" indent="0" marL="0">
              <a:buNone/>
            </a:pPr>
            <a:r>
              <a:rPr lang="en-US" sz="1600" b="1" dirty="0">
                <a:solidFill>
                  <a:srgbClr val="111827"/>
                </a:solidFill>
                <a:latin typeface="Consolas" pitchFamily="34" charset="0"/>
                <a:ea typeface="Consolas" pitchFamily="34" charset="-122"/>
                <a:cs typeface="Consolas" pitchFamily="34" charset="-120"/>
              </a:rPr>
              <a:t>1</a:t>
            </a:r>
            <a:endParaRPr lang="en-US" sz="1600" dirty="0"/>
          </a:p>
        </p:txBody>
      </p:sp>
      <p:sp>
        <p:nvSpPr>
          <p:cNvPr id="10" name="Text 8"/>
          <p:cNvSpPr txBox="1"/>
          <p:nvPr/>
        </p:nvSpPr>
        <p:spPr>
          <a:xfrm>
            <a:off x="1691640" y="3383280"/>
            <a:ext cx="1353312" cy="822960"/>
          </a:xfrm>
          <a:prstGeom prst="rect">
            <a:avLst/>
          </a:prstGeom>
          <a:noFill/>
          <a:ln/>
        </p:spPr>
        <p:txBody>
          <a:bodyPr wrap="square" lIns="0" tIns="0" rIns="0" bIns="0" rtlCol="0" anchor="b"/>
          <a:lstStyle/>
          <a:p>
            <a:pPr algn="ctr" indent="0" marL="0">
              <a:buNone/>
            </a:pPr>
            <a:r>
              <a:rPr lang="en-US" sz="1300" b="1" dirty="0">
                <a:solidFill>
                  <a:srgbClr val="111827"/>
                </a:solidFill>
                <a:latin typeface="Segoe UI" pitchFamily="34" charset="0"/>
                <a:ea typeface="Segoe UI" pitchFamily="34" charset="-122"/>
                <a:cs typeface="Segoe UI" pitchFamily="34" charset="-120"/>
              </a:rPr>
              <a:t>Käynnistyy</a:t>
            </a:r>
            <a:endParaRPr lang="en-US" sz="1300" dirty="0"/>
          </a:p>
        </p:txBody>
      </p:sp>
      <p:sp>
        <p:nvSpPr>
          <p:cNvPr id="11" name="Shape 9"/>
          <p:cNvSpPr/>
          <p:nvPr/>
        </p:nvSpPr>
        <p:spPr>
          <a:xfrm>
            <a:off x="3017520" y="3840480"/>
            <a:ext cx="1170432" cy="1234440"/>
          </a:xfrm>
          <a:prstGeom prst="rect">
            <a:avLst/>
          </a:prstGeom>
          <a:solidFill>
            <a:srgbClr val="BFDBFE"/>
          </a:solidFill>
          <a:ln w="12700">
            <a:solidFill>
              <a:srgbClr val="FFFFFF"/>
            </a:solidFill>
            <a:prstDash val="solid"/>
          </a:ln>
        </p:spPr>
      </p:sp>
      <p:sp>
        <p:nvSpPr>
          <p:cNvPr id="12" name="Text 10"/>
          <p:cNvSpPr txBox="1"/>
          <p:nvPr/>
        </p:nvSpPr>
        <p:spPr>
          <a:xfrm>
            <a:off x="3017520" y="3886200"/>
            <a:ext cx="1170432" cy="365760"/>
          </a:xfrm>
          <a:prstGeom prst="rect">
            <a:avLst/>
          </a:prstGeom>
          <a:noFill/>
          <a:ln/>
        </p:spPr>
        <p:txBody>
          <a:bodyPr wrap="square" lIns="0" tIns="0" rIns="0" bIns="0" rtlCol="0" anchor="t"/>
          <a:lstStyle/>
          <a:p>
            <a:pPr algn="ctr" indent="0" marL="0">
              <a:buNone/>
            </a:pPr>
            <a:r>
              <a:rPr lang="en-US" sz="1600" b="1" dirty="0">
                <a:solidFill>
                  <a:srgbClr val="111827"/>
                </a:solidFill>
                <a:latin typeface="Consolas" pitchFamily="34" charset="0"/>
                <a:ea typeface="Consolas" pitchFamily="34" charset="-122"/>
                <a:cs typeface="Consolas" pitchFamily="34" charset="-120"/>
              </a:rPr>
              <a:t>2</a:t>
            </a:r>
            <a:endParaRPr lang="en-US" sz="1600" dirty="0"/>
          </a:p>
        </p:txBody>
      </p:sp>
      <p:sp>
        <p:nvSpPr>
          <p:cNvPr id="13" name="Text 11"/>
          <p:cNvSpPr txBox="1"/>
          <p:nvPr/>
        </p:nvSpPr>
        <p:spPr>
          <a:xfrm>
            <a:off x="2926080" y="2971800"/>
            <a:ext cx="1353312" cy="822960"/>
          </a:xfrm>
          <a:prstGeom prst="rect">
            <a:avLst/>
          </a:prstGeom>
          <a:noFill/>
          <a:ln/>
        </p:spPr>
        <p:txBody>
          <a:bodyPr wrap="square" lIns="0" tIns="0" rIns="0" bIns="0" rtlCol="0" anchor="b"/>
          <a:lstStyle/>
          <a:p>
            <a:pPr algn="ctr" indent="0" marL="0">
              <a:buNone/>
            </a:pPr>
            <a:r>
              <a:rPr lang="en-US" sz="1300" b="1" dirty="0">
                <a:solidFill>
                  <a:srgbClr val="111827"/>
                </a:solidFill>
                <a:latin typeface="Segoe UI" pitchFamily="34" charset="0"/>
                <a:ea typeface="Segoe UI" pitchFamily="34" charset="-122"/>
                <a:cs typeface="Segoe UI" pitchFamily="34" charset="-120"/>
              </a:rPr>
              <a:t>Ratkaisee ilmoitetun ongelman</a:t>
            </a:r>
            <a:endParaRPr lang="en-US" sz="1300" dirty="0"/>
          </a:p>
        </p:txBody>
      </p:sp>
      <p:sp>
        <p:nvSpPr>
          <p:cNvPr id="14" name="Shape 12"/>
          <p:cNvSpPr/>
          <p:nvPr/>
        </p:nvSpPr>
        <p:spPr>
          <a:xfrm>
            <a:off x="4251960" y="3429000"/>
            <a:ext cx="1170432" cy="1645920"/>
          </a:xfrm>
          <a:prstGeom prst="rect">
            <a:avLst/>
          </a:prstGeom>
          <a:solidFill>
            <a:srgbClr val="93C5FD"/>
          </a:solidFill>
          <a:ln w="12700">
            <a:solidFill>
              <a:srgbClr val="FFFFFF"/>
            </a:solidFill>
            <a:prstDash val="solid"/>
          </a:ln>
        </p:spPr>
      </p:sp>
      <p:sp>
        <p:nvSpPr>
          <p:cNvPr id="15" name="Text 13"/>
          <p:cNvSpPr txBox="1"/>
          <p:nvPr/>
        </p:nvSpPr>
        <p:spPr>
          <a:xfrm>
            <a:off x="4251960" y="3474720"/>
            <a:ext cx="1170432" cy="365760"/>
          </a:xfrm>
          <a:prstGeom prst="rect">
            <a:avLst/>
          </a:prstGeom>
          <a:noFill/>
          <a:ln/>
        </p:spPr>
        <p:txBody>
          <a:bodyPr wrap="square" lIns="0" tIns="0" rIns="0" bIns="0" rtlCol="0" anchor="t"/>
          <a:lstStyle/>
          <a:p>
            <a:pPr algn="ctr" indent="0" marL="0">
              <a:buNone/>
            </a:pPr>
            <a:r>
              <a:rPr lang="en-US" sz="1600" b="1" dirty="0">
                <a:solidFill>
                  <a:srgbClr val="111827"/>
                </a:solidFill>
                <a:latin typeface="Consolas" pitchFamily="34" charset="0"/>
                <a:ea typeface="Consolas" pitchFamily="34" charset="-122"/>
                <a:cs typeface="Consolas" pitchFamily="34" charset="-120"/>
              </a:rPr>
              <a:t>3</a:t>
            </a:r>
            <a:endParaRPr lang="en-US" sz="1600" dirty="0"/>
          </a:p>
        </p:txBody>
      </p:sp>
      <p:sp>
        <p:nvSpPr>
          <p:cNvPr id="16" name="Text 14"/>
          <p:cNvSpPr txBox="1"/>
          <p:nvPr/>
        </p:nvSpPr>
        <p:spPr>
          <a:xfrm>
            <a:off x="4160520" y="2560320"/>
            <a:ext cx="1353312" cy="822960"/>
          </a:xfrm>
          <a:prstGeom prst="rect">
            <a:avLst/>
          </a:prstGeom>
          <a:noFill/>
          <a:ln/>
        </p:spPr>
        <p:txBody>
          <a:bodyPr wrap="square" lIns="0" tIns="0" rIns="0" bIns="0" rtlCol="0" anchor="b"/>
          <a:lstStyle/>
          <a:p>
            <a:pPr algn="ctr" indent="0" marL="0">
              <a:buNone/>
            </a:pPr>
            <a:r>
              <a:rPr lang="en-US" sz="1300" b="1" dirty="0">
                <a:solidFill>
                  <a:srgbClr val="111827"/>
                </a:solidFill>
                <a:latin typeface="Segoe UI" pitchFamily="34" charset="0"/>
                <a:ea typeface="Segoe UI" pitchFamily="34" charset="-122"/>
                <a:cs typeface="Segoe UI" pitchFamily="34" charset="-120"/>
              </a:rPr>
              <a:t>Ei riko muuta</a:t>
            </a:r>
            <a:endParaRPr lang="en-US" sz="1300" dirty="0"/>
          </a:p>
        </p:txBody>
      </p:sp>
      <p:sp>
        <p:nvSpPr>
          <p:cNvPr id="17" name="Shape 15"/>
          <p:cNvSpPr/>
          <p:nvPr/>
        </p:nvSpPr>
        <p:spPr>
          <a:xfrm>
            <a:off x="5486400" y="3017520"/>
            <a:ext cx="1170432" cy="2057400"/>
          </a:xfrm>
          <a:prstGeom prst="rect">
            <a:avLst/>
          </a:prstGeom>
          <a:solidFill>
            <a:srgbClr val="60A5FA"/>
          </a:solidFill>
          <a:ln w="12700">
            <a:solidFill>
              <a:srgbClr val="FFFFFF"/>
            </a:solidFill>
            <a:prstDash val="solid"/>
          </a:ln>
        </p:spPr>
      </p:sp>
      <p:sp>
        <p:nvSpPr>
          <p:cNvPr id="18" name="Text 16"/>
          <p:cNvSpPr txBox="1"/>
          <p:nvPr/>
        </p:nvSpPr>
        <p:spPr>
          <a:xfrm>
            <a:off x="5486400" y="3063240"/>
            <a:ext cx="1170432"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Consolas" pitchFamily="34" charset="0"/>
                <a:ea typeface="Consolas" pitchFamily="34" charset="-122"/>
                <a:cs typeface="Consolas" pitchFamily="34" charset="-120"/>
              </a:rPr>
              <a:t>4</a:t>
            </a:r>
            <a:endParaRPr lang="en-US" sz="1600" dirty="0"/>
          </a:p>
        </p:txBody>
      </p:sp>
      <p:sp>
        <p:nvSpPr>
          <p:cNvPr id="19" name="Text 17"/>
          <p:cNvSpPr txBox="1"/>
          <p:nvPr/>
        </p:nvSpPr>
        <p:spPr>
          <a:xfrm>
            <a:off x="5394960" y="2148840"/>
            <a:ext cx="1353312" cy="822960"/>
          </a:xfrm>
          <a:prstGeom prst="rect">
            <a:avLst/>
          </a:prstGeom>
          <a:noFill/>
          <a:ln/>
        </p:spPr>
        <p:txBody>
          <a:bodyPr wrap="square" lIns="0" tIns="0" rIns="0" bIns="0" rtlCol="0" anchor="b"/>
          <a:lstStyle/>
          <a:p>
            <a:pPr algn="ctr" indent="0" marL="0">
              <a:buNone/>
            </a:pPr>
            <a:r>
              <a:rPr lang="en-US" sz="1300" b="1" dirty="0">
                <a:solidFill>
                  <a:srgbClr val="111827"/>
                </a:solidFill>
                <a:latin typeface="Segoe UI" pitchFamily="34" charset="0"/>
                <a:ea typeface="Segoe UI" pitchFamily="34" charset="-122"/>
                <a:cs typeface="Segoe UI" pitchFamily="34" charset="-120"/>
              </a:rPr>
              <a:t>Toimii uudelleen- latauksen jälkeen</a:t>
            </a:r>
            <a:endParaRPr lang="en-US" sz="1300" dirty="0"/>
          </a:p>
        </p:txBody>
      </p:sp>
      <p:sp>
        <p:nvSpPr>
          <p:cNvPr id="20" name="Shape 18"/>
          <p:cNvSpPr/>
          <p:nvPr/>
        </p:nvSpPr>
        <p:spPr>
          <a:xfrm>
            <a:off x="6720840" y="2606040"/>
            <a:ext cx="1170432" cy="2468880"/>
          </a:xfrm>
          <a:prstGeom prst="rect">
            <a:avLst/>
          </a:prstGeom>
          <a:solidFill>
            <a:srgbClr val="2563EB"/>
          </a:solidFill>
          <a:ln w="12700">
            <a:solidFill>
              <a:srgbClr val="FFFFFF"/>
            </a:solidFill>
            <a:prstDash val="solid"/>
          </a:ln>
        </p:spPr>
      </p:sp>
      <p:sp>
        <p:nvSpPr>
          <p:cNvPr id="21" name="Text 19"/>
          <p:cNvSpPr txBox="1"/>
          <p:nvPr/>
        </p:nvSpPr>
        <p:spPr>
          <a:xfrm>
            <a:off x="6720840" y="2651760"/>
            <a:ext cx="1170432"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Consolas" pitchFamily="34" charset="0"/>
                <a:ea typeface="Consolas" pitchFamily="34" charset="-122"/>
                <a:cs typeface="Consolas" pitchFamily="34" charset="-120"/>
              </a:rPr>
              <a:t>5</a:t>
            </a:r>
            <a:endParaRPr lang="en-US" sz="1600" dirty="0"/>
          </a:p>
        </p:txBody>
      </p:sp>
      <p:sp>
        <p:nvSpPr>
          <p:cNvPr id="22" name="Text 20"/>
          <p:cNvSpPr txBox="1"/>
          <p:nvPr/>
        </p:nvSpPr>
        <p:spPr>
          <a:xfrm>
            <a:off x="6629400" y="1737360"/>
            <a:ext cx="1353312" cy="822960"/>
          </a:xfrm>
          <a:prstGeom prst="rect">
            <a:avLst/>
          </a:prstGeom>
          <a:noFill/>
          <a:ln/>
        </p:spPr>
        <p:txBody>
          <a:bodyPr wrap="square" lIns="0" tIns="0" rIns="0" bIns="0" rtlCol="0" anchor="b"/>
          <a:lstStyle/>
          <a:p>
            <a:pPr algn="ctr" indent="0" marL="0">
              <a:buNone/>
            </a:pPr>
            <a:r>
              <a:rPr lang="en-US" sz="1300" b="1" dirty="0">
                <a:solidFill>
                  <a:srgbClr val="111827"/>
                </a:solidFill>
                <a:latin typeface="Segoe UI" pitchFamily="34" charset="0"/>
                <a:ea typeface="Segoe UI" pitchFamily="34" charset="-122"/>
                <a:cs typeface="Segoe UI" pitchFamily="34" charset="-120"/>
              </a:rPr>
              <a:t>Käyttäjä hyväksyy</a:t>
            </a:r>
            <a:endParaRPr lang="en-US" sz="1300" dirty="0"/>
          </a:p>
        </p:txBody>
      </p:sp>
      <p:sp>
        <p:nvSpPr>
          <p:cNvPr id="23" name="Kortti"/>
          <p:cNvSpPr/>
          <p:nvPr/>
        </p:nvSpPr>
        <p:spPr>
          <a:xfrm>
            <a:off x="8229600" y="1783080"/>
            <a:ext cx="3383280" cy="3291840"/>
          </a:xfrm>
          <a:prstGeom prst="roundRect">
            <a:avLst>
              <a:gd name="adj" fmla="val 2778"/>
            </a:avLst>
          </a:prstGeom>
          <a:solidFill>
            <a:srgbClr val="FFFFFF"/>
          </a:solidFill>
          <a:ln w="12700">
            <a:solidFill>
              <a:srgbClr val="E5E7EB"/>
            </a:solidFill>
            <a:prstDash val="solid"/>
          </a:ln>
        </p:spPr>
      </p:sp>
      <p:sp>
        <p:nvSpPr>
          <p:cNvPr id="24" name="Text 22"/>
          <p:cNvSpPr txBox="1"/>
          <p:nvPr/>
        </p:nvSpPr>
        <p:spPr>
          <a:xfrm>
            <a:off x="8412480" y="1920240"/>
            <a:ext cx="3108960" cy="365760"/>
          </a:xfrm>
          <a:prstGeom prst="rect">
            <a:avLst/>
          </a:prstGeom>
          <a:noFill/>
          <a:ln/>
        </p:spPr>
        <p:txBody>
          <a:bodyPr wrap="square" lIns="0" tIns="0" rIns="0" bIns="0" rtlCol="0" anchor="t"/>
          <a:lstStyle/>
          <a:p>
            <a:pPr algn="l" indent="0" marL="0">
              <a:buNone/>
            </a:pPr>
            <a:r>
              <a:rPr lang="en-US" sz="1100" dirty="0">
                <a:solidFill>
                  <a:srgbClr val="6B7280"/>
                </a:solidFill>
                <a:latin typeface="Consolas" pitchFamily="34" charset="0"/>
                <a:ea typeface="Consolas" pitchFamily="34" charset="-122"/>
                <a:cs typeface="Consolas" pitchFamily="34" charset="-120"/>
              </a:rPr>
              <a:t>// mitä AI:n vastaukselle tehdään</a:t>
            </a:r>
            <a:endParaRPr lang="en-US" sz="1100" dirty="0"/>
          </a:p>
        </p:txBody>
      </p:sp>
      <p:sp>
        <p:nvSpPr>
          <p:cNvPr id="25" name="Text 23"/>
          <p:cNvSpPr txBox="1"/>
          <p:nvPr/>
        </p:nvSpPr>
        <p:spPr>
          <a:xfrm>
            <a:off x="8412480" y="2377440"/>
            <a:ext cx="118872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Segoe UI" pitchFamily="34" charset="0"/>
                <a:ea typeface="Segoe UI" pitchFamily="34" charset="-122"/>
                <a:cs typeface="Segoe UI" pitchFamily="34" charset="-120"/>
              </a:rPr>
              <a:t>76,5 %</a:t>
            </a:r>
            <a:endParaRPr lang="en-US" sz="2000" dirty="0"/>
          </a:p>
        </p:txBody>
      </p:sp>
      <p:sp>
        <p:nvSpPr>
          <p:cNvPr id="26" name="Text 24"/>
          <p:cNvSpPr txBox="1"/>
          <p:nvPr/>
        </p:nvSpPr>
        <p:spPr>
          <a:xfrm>
            <a:off x="9601200" y="2377440"/>
            <a:ext cx="1920240" cy="502920"/>
          </a:xfrm>
          <a:prstGeom prst="rect">
            <a:avLst/>
          </a:prstGeom>
          <a:noFill/>
          <a:ln/>
        </p:spPr>
        <p:txBody>
          <a:bodyPr wrap="square" lIns="0" tIns="0" rIns="0" bIns="0" rtlCol="0" anchor="ctr"/>
          <a:lstStyle/>
          <a:p>
            <a:pPr algn="l" indent="0" marL="0">
              <a:buNone/>
            </a:pPr>
            <a:r>
              <a:rPr lang="en-US" sz="1400" dirty="0">
                <a:solidFill>
                  <a:srgbClr val="111827"/>
                </a:solidFill>
                <a:latin typeface="Segoe UI" pitchFamily="34" charset="0"/>
                <a:ea typeface="Segoe UI" pitchFamily="34" charset="-122"/>
                <a:cs typeface="Segoe UI" pitchFamily="34" charset="-120"/>
              </a:rPr>
              <a:t>ajaa paikallisesti</a:t>
            </a:r>
            <a:endParaRPr lang="en-US" sz="1400" dirty="0"/>
          </a:p>
        </p:txBody>
      </p:sp>
      <p:sp>
        <p:nvSpPr>
          <p:cNvPr id="27" name="Text 25"/>
          <p:cNvSpPr txBox="1"/>
          <p:nvPr/>
        </p:nvSpPr>
        <p:spPr>
          <a:xfrm>
            <a:off x="8412480" y="3017520"/>
            <a:ext cx="118872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Segoe UI" pitchFamily="34" charset="0"/>
                <a:ea typeface="Segoe UI" pitchFamily="34" charset="-122"/>
                <a:cs typeface="Segoe UI" pitchFamily="34" charset="-120"/>
              </a:rPr>
              <a:t>63,9 %</a:t>
            </a:r>
            <a:endParaRPr lang="en-US" sz="2000" dirty="0"/>
          </a:p>
        </p:txBody>
      </p:sp>
      <p:sp>
        <p:nvSpPr>
          <p:cNvPr id="28" name="Text 26"/>
          <p:cNvSpPr txBox="1"/>
          <p:nvPr/>
        </p:nvSpPr>
        <p:spPr>
          <a:xfrm>
            <a:off x="9601200" y="3017520"/>
            <a:ext cx="1920240" cy="502920"/>
          </a:xfrm>
          <a:prstGeom prst="rect">
            <a:avLst/>
          </a:prstGeom>
          <a:noFill/>
          <a:ln/>
        </p:spPr>
        <p:txBody>
          <a:bodyPr wrap="square" lIns="0" tIns="0" rIns="0" bIns="0" rtlCol="0" anchor="ctr"/>
          <a:lstStyle/>
          <a:p>
            <a:pPr algn="l" indent="0" marL="0">
              <a:buNone/>
            </a:pPr>
            <a:r>
              <a:rPr lang="en-US" sz="1400" dirty="0">
                <a:solidFill>
                  <a:srgbClr val="111827"/>
                </a:solidFill>
                <a:latin typeface="Segoe UI" pitchFamily="34" charset="0"/>
                <a:ea typeface="Segoe UI" pitchFamily="34" charset="-122"/>
                <a:cs typeface="Segoe UI" pitchFamily="34" charset="-120"/>
              </a:rPr>
              <a:t>vertaa koodipohjaan</a:t>
            </a:r>
            <a:endParaRPr lang="en-US" sz="1400" dirty="0"/>
          </a:p>
        </p:txBody>
      </p:sp>
      <p:sp>
        <p:nvSpPr>
          <p:cNvPr id="29" name="Text 27"/>
          <p:cNvSpPr txBox="1"/>
          <p:nvPr/>
        </p:nvSpPr>
        <p:spPr>
          <a:xfrm>
            <a:off x="8412480" y="3657600"/>
            <a:ext cx="118872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Segoe UI" pitchFamily="34" charset="0"/>
                <a:ea typeface="Segoe UI" pitchFamily="34" charset="-122"/>
                <a:cs typeface="Segoe UI" pitchFamily="34" charset="-120"/>
              </a:rPr>
              <a:t>53,0 %</a:t>
            </a:r>
            <a:endParaRPr lang="en-US" sz="2000" dirty="0"/>
          </a:p>
        </p:txBody>
      </p:sp>
      <p:sp>
        <p:nvSpPr>
          <p:cNvPr id="30" name="Text 28"/>
          <p:cNvSpPr txBox="1"/>
          <p:nvPr/>
        </p:nvSpPr>
        <p:spPr>
          <a:xfrm>
            <a:off x="9601200" y="3657600"/>
            <a:ext cx="1920240" cy="502920"/>
          </a:xfrm>
          <a:prstGeom prst="rect">
            <a:avLst/>
          </a:prstGeom>
          <a:noFill/>
          <a:ln/>
        </p:spPr>
        <p:txBody>
          <a:bodyPr wrap="square" lIns="0" tIns="0" rIns="0" bIns="0" rtlCol="0" anchor="ctr"/>
          <a:lstStyle/>
          <a:p>
            <a:pPr algn="l" indent="0" marL="0">
              <a:buNone/>
            </a:pPr>
            <a:r>
              <a:rPr lang="en-US" sz="1400" dirty="0">
                <a:solidFill>
                  <a:srgbClr val="111827"/>
                </a:solidFill>
                <a:latin typeface="Segoe UI" pitchFamily="34" charset="0"/>
                <a:ea typeface="Segoe UI" pitchFamily="34" charset="-122"/>
                <a:cs typeface="Segoe UI" pitchFamily="34" charset="-120"/>
              </a:rPr>
              <a:t>tarkistaa testit tai tietoturvan</a:t>
            </a:r>
            <a:endParaRPr lang="en-US" sz="1400" dirty="0"/>
          </a:p>
        </p:txBody>
      </p:sp>
      <p:sp>
        <p:nvSpPr>
          <p:cNvPr id="31" name="Text 29"/>
          <p:cNvSpPr txBox="1"/>
          <p:nvPr/>
        </p:nvSpPr>
        <p:spPr>
          <a:xfrm>
            <a:off x="8412480" y="4297680"/>
            <a:ext cx="1188720" cy="502920"/>
          </a:xfrm>
          <a:prstGeom prst="rect">
            <a:avLst/>
          </a:prstGeom>
          <a:noFill/>
          <a:ln/>
        </p:spPr>
        <p:txBody>
          <a:bodyPr wrap="square" lIns="0" tIns="0" rIns="0" bIns="0" rtlCol="0" anchor="ctr"/>
          <a:lstStyle/>
          <a:p>
            <a:pPr algn="l" indent="0" marL="0">
              <a:buNone/>
            </a:pPr>
            <a:r>
              <a:rPr lang="en-US" sz="2000" b="1" dirty="0">
                <a:solidFill>
                  <a:srgbClr val="2563EB"/>
                </a:solidFill>
                <a:latin typeface="Segoe UI" pitchFamily="34" charset="0"/>
                <a:ea typeface="Segoe UI" pitchFamily="34" charset="-122"/>
                <a:cs typeface="Segoe UI" pitchFamily="34" charset="-120"/>
              </a:rPr>
              <a:t>9,6 %</a:t>
            </a:r>
            <a:endParaRPr lang="en-US" sz="2000" dirty="0"/>
          </a:p>
        </p:txBody>
      </p:sp>
      <p:sp>
        <p:nvSpPr>
          <p:cNvPr id="32" name="Text 30"/>
          <p:cNvSpPr txBox="1"/>
          <p:nvPr/>
        </p:nvSpPr>
        <p:spPr>
          <a:xfrm>
            <a:off x="9601200" y="4297680"/>
            <a:ext cx="1920240" cy="502920"/>
          </a:xfrm>
          <a:prstGeom prst="rect">
            <a:avLst/>
          </a:prstGeom>
          <a:noFill/>
          <a:ln/>
        </p:spPr>
        <p:txBody>
          <a:bodyPr wrap="square" lIns="0" tIns="0" rIns="0" bIns="0" rtlCol="0" anchor="ctr"/>
          <a:lstStyle/>
          <a:p>
            <a:pPr algn="l" indent="0" marL="0">
              <a:buNone/>
            </a:pPr>
            <a:r>
              <a:rPr lang="en-US" sz="1400" dirty="0">
                <a:solidFill>
                  <a:srgbClr val="111827"/>
                </a:solidFill>
                <a:latin typeface="Segoe UI" pitchFamily="34" charset="0"/>
                <a:ea typeface="Segoe UI" pitchFamily="34" charset="-122"/>
                <a:cs typeface="Segoe UI" pitchFamily="34" charset="-120"/>
              </a:rPr>
              <a:t>käyttää sellaisenaan</a:t>
            </a:r>
            <a:endParaRPr lang="en-US" sz="1400" dirty="0"/>
          </a:p>
        </p:txBody>
      </p:sp>
      <p:sp>
        <p:nvSpPr>
          <p:cNvPr id="33" name="Alarivi"/>
          <p:cNvSpPr txBox="1"/>
          <p:nvPr/>
        </p:nvSpPr>
        <p:spPr>
          <a:xfrm>
            <a:off x="548640" y="5559552"/>
            <a:ext cx="768096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Mille portaalle sinä yleensä jäät?</a:t>
            </a:r>
            <a:endParaRPr lang="en-US" sz="2000" dirty="0"/>
          </a:p>
        </p:txBody>
      </p:sp>
      <p:sp>
        <p:nvSpPr>
          <p:cNvPr id="34"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esityksen tulkinta (portaat) · Stack Overflow 2026, n = 14 304 (luottamus) ja n = 13 162 (toimet) · monivalinta, itse raportoitu.</a:t>
            </a:r>
            <a:endParaRPr lang="en-US" sz="1100" dirty="0"/>
          </a:p>
        </p:txBody>
      </p:sp>
      <p:sp>
        <p:nvSpPr>
          <p:cNvPr id="35" name="Shape 33"/>
          <p:cNvSpPr/>
          <p:nvPr/>
        </p:nvSpPr>
        <p:spPr>
          <a:xfrm>
            <a:off x="8412480" y="6455664"/>
            <a:ext cx="3291840" cy="0"/>
          </a:xfrm>
          <a:prstGeom prst="line">
            <a:avLst/>
          </a:prstGeom>
          <a:noFill/>
          <a:ln w="19050">
            <a:solidFill>
              <a:srgbClr val="E5E7EB"/>
            </a:solidFill>
            <a:prstDash val="solid"/>
          </a:ln>
        </p:spPr>
      </p:sp>
      <p:sp>
        <p:nvSpPr>
          <p:cNvPr id="36" name="Shape 34"/>
          <p:cNvSpPr/>
          <p:nvPr/>
        </p:nvSpPr>
        <p:spPr>
          <a:xfrm>
            <a:off x="8353044" y="6396228"/>
            <a:ext cx="118872" cy="118872"/>
          </a:xfrm>
          <a:prstGeom prst="ellipse">
            <a:avLst/>
          </a:prstGeom>
          <a:solidFill>
            <a:srgbClr val="9CA3AF"/>
          </a:solidFill>
          <a:ln w="9525">
            <a:solidFill>
              <a:srgbClr val="9CA3AF"/>
            </a:solidFill>
            <a:prstDash val="solid"/>
          </a:ln>
        </p:spPr>
      </p:sp>
      <p:sp>
        <p:nvSpPr>
          <p:cNvPr id="37" name="Shape 35"/>
          <p:cNvSpPr/>
          <p:nvPr/>
        </p:nvSpPr>
        <p:spPr>
          <a:xfrm>
            <a:off x="8901684" y="6396228"/>
            <a:ext cx="118872" cy="118872"/>
          </a:xfrm>
          <a:prstGeom prst="ellipse">
            <a:avLst/>
          </a:prstGeom>
          <a:solidFill>
            <a:srgbClr val="9CA3AF"/>
          </a:solidFill>
          <a:ln w="9525">
            <a:solidFill>
              <a:srgbClr val="9CA3AF"/>
            </a:solidFill>
            <a:prstDash val="solid"/>
          </a:ln>
        </p:spPr>
      </p:sp>
      <p:sp>
        <p:nvSpPr>
          <p:cNvPr id="38" name="Shape 36"/>
          <p:cNvSpPr/>
          <p:nvPr/>
        </p:nvSpPr>
        <p:spPr>
          <a:xfrm>
            <a:off x="9450324" y="6396228"/>
            <a:ext cx="118872" cy="118872"/>
          </a:xfrm>
          <a:prstGeom prst="ellipse">
            <a:avLst/>
          </a:prstGeom>
          <a:solidFill>
            <a:srgbClr val="9CA3AF"/>
          </a:solidFill>
          <a:ln w="9525">
            <a:solidFill>
              <a:srgbClr val="9CA3AF"/>
            </a:solidFill>
            <a:prstDash val="solid"/>
          </a:ln>
        </p:spPr>
      </p:sp>
      <p:sp>
        <p:nvSpPr>
          <p:cNvPr id="39" name="Shape 37"/>
          <p:cNvSpPr/>
          <p:nvPr/>
        </p:nvSpPr>
        <p:spPr>
          <a:xfrm>
            <a:off x="9998964" y="6396228"/>
            <a:ext cx="118872" cy="118872"/>
          </a:xfrm>
          <a:prstGeom prst="ellipse">
            <a:avLst/>
          </a:prstGeom>
          <a:solidFill>
            <a:srgbClr val="9CA3AF"/>
          </a:solidFill>
          <a:ln w="9525">
            <a:solidFill>
              <a:srgbClr val="9CA3AF"/>
            </a:solidFill>
            <a:prstDash val="solid"/>
          </a:ln>
        </p:spPr>
      </p:sp>
      <p:sp>
        <p:nvSpPr>
          <p:cNvPr id="40" name="Shape 38"/>
          <p:cNvSpPr/>
          <p:nvPr/>
        </p:nvSpPr>
        <p:spPr>
          <a:xfrm>
            <a:off x="10506456" y="6355080"/>
            <a:ext cx="201168" cy="201168"/>
          </a:xfrm>
          <a:prstGeom prst="ellipse">
            <a:avLst/>
          </a:prstGeom>
          <a:solidFill>
            <a:srgbClr val="2563EB"/>
          </a:solidFill>
          <a:ln w="9525">
            <a:solidFill>
              <a:srgbClr val="2563EB"/>
            </a:solidFill>
            <a:prstDash val="solid"/>
          </a:ln>
        </p:spPr>
      </p:sp>
      <p:sp>
        <p:nvSpPr>
          <p:cNvPr id="41" name="Shape 39"/>
          <p:cNvSpPr/>
          <p:nvPr/>
        </p:nvSpPr>
        <p:spPr>
          <a:xfrm>
            <a:off x="11096244" y="6396228"/>
            <a:ext cx="118872" cy="118872"/>
          </a:xfrm>
          <a:prstGeom prst="ellipse">
            <a:avLst/>
          </a:prstGeom>
          <a:solidFill>
            <a:srgbClr val="FFFFFF"/>
          </a:solidFill>
          <a:ln w="9525">
            <a:solidFill>
              <a:srgbClr val="9CA3AF"/>
            </a:solidFill>
            <a:prstDash val="solid"/>
          </a:ln>
        </p:spPr>
      </p:sp>
      <p:sp>
        <p:nvSpPr>
          <p:cNvPr id="42" name="Shape 40"/>
          <p:cNvSpPr/>
          <p:nvPr/>
        </p:nvSpPr>
        <p:spPr>
          <a:xfrm>
            <a:off x="11644884" y="6396228"/>
            <a:ext cx="118872" cy="118872"/>
          </a:xfrm>
          <a:prstGeom prst="ellipse">
            <a:avLst/>
          </a:prstGeom>
          <a:solidFill>
            <a:srgbClr val="FFFFFF"/>
          </a:solidFill>
          <a:ln w="9525">
            <a:solidFill>
              <a:srgbClr val="9CA3AF"/>
            </a:solidFill>
            <a:prstDash val="solid"/>
          </a:ln>
        </p:spPr>
      </p:sp>
      <p:sp>
        <p:nvSpPr>
          <p:cNvPr id="43" name="Text 41"/>
          <p:cNvSpPr txBox="1"/>
          <p:nvPr/>
        </p:nvSpPr>
        <p:spPr>
          <a:xfrm>
            <a:off x="987552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tarkista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000" b="1" dirty="0">
                <a:solidFill>
                  <a:srgbClr val="111827"/>
                </a:solidFill>
                <a:latin typeface="Segoe UI" pitchFamily="34" charset="0"/>
                <a:ea typeface="Segoe UI" pitchFamily="34" charset="-122"/>
                <a:cs typeface="Segoe UI" pitchFamily="34" charset="-120"/>
              </a:rPr>
              <a:t>Hyvä luovutus: muutos ja todisteet samassa paketissa</a:t>
            </a:r>
            <a:endParaRPr lang="en-US" sz="30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Malliluovutus – näin katselmoija pääsee nopeasti kiinni</a:t>
            </a:r>
            <a:endParaRPr lang="en-US" sz="1800" dirty="0"/>
          </a:p>
        </p:txBody>
      </p:sp>
      <p:sp>
        <p:nvSpPr>
          <p:cNvPr id="5" name="Kortti"/>
          <p:cNvSpPr/>
          <p:nvPr/>
        </p:nvSpPr>
        <p:spPr>
          <a:xfrm>
            <a:off x="1280160" y="1737360"/>
            <a:ext cx="9601200" cy="3611880"/>
          </a:xfrm>
          <a:prstGeom prst="roundRect">
            <a:avLst>
              <a:gd name="adj" fmla="val 2532"/>
            </a:avLst>
          </a:prstGeom>
          <a:solidFill>
            <a:srgbClr val="FFFFFF"/>
          </a:solidFill>
          <a:ln w="12700">
            <a:solidFill>
              <a:srgbClr val="E5E7EB"/>
            </a:solidFill>
            <a:prstDash val="solid"/>
          </a:ln>
        </p:spPr>
      </p:sp>
      <p:sp>
        <p:nvSpPr>
          <p:cNvPr id="6" name="Shape 4"/>
          <p:cNvSpPr/>
          <p:nvPr/>
        </p:nvSpPr>
        <p:spPr>
          <a:xfrm>
            <a:off x="1307592" y="1764792"/>
            <a:ext cx="9546336" cy="457200"/>
          </a:xfrm>
          <a:prstGeom prst="rect">
            <a:avLst/>
          </a:prstGeom>
          <a:solidFill>
            <a:srgbClr val="F3F4F6"/>
          </a:solidFill>
          <a:ln w="12700">
            <a:solidFill>
              <a:srgbClr val="F3F4F6"/>
            </a:solidFill>
            <a:prstDash val="solid"/>
          </a:ln>
        </p:spPr>
      </p:sp>
      <p:sp>
        <p:nvSpPr>
          <p:cNvPr id="7" name="Text 5"/>
          <p:cNvSpPr txBox="1"/>
          <p:nvPr/>
        </p:nvSpPr>
        <p:spPr>
          <a:xfrm>
            <a:off x="1554480" y="1764792"/>
            <a:ext cx="8686800" cy="457200"/>
          </a:xfrm>
          <a:prstGeom prst="rect">
            <a:avLst/>
          </a:prstGeom>
          <a:noFill/>
          <a:ln/>
        </p:spPr>
        <p:txBody>
          <a:bodyPr wrap="square" lIns="0" tIns="0" rIns="0" bIns="0" rtlCol="0" anchor="ctr"/>
          <a:lstStyle/>
          <a:p>
            <a:pPr algn="l" indent="0" marL="0">
              <a:buNone/>
            </a:pPr>
            <a:r>
              <a:rPr lang="en-US" sz="1300" dirty="0">
                <a:solidFill>
                  <a:srgbClr val="6B7280"/>
                </a:solidFill>
                <a:latin typeface="Consolas" pitchFamily="34" charset="0"/>
                <a:ea typeface="Consolas" pitchFamily="34" charset="-122"/>
                <a:cs typeface="Consolas" pitchFamily="34" charset="-120"/>
              </a:rPr>
              <a:t>luovutus · fix: säilytä huoneisto tallennuksessa</a:t>
            </a:r>
            <a:endParaRPr lang="en-US" sz="1300" dirty="0"/>
          </a:p>
        </p:txBody>
      </p:sp>
      <p:sp>
        <p:nvSpPr>
          <p:cNvPr id="8" name="Text 6"/>
          <p:cNvSpPr txBox="1"/>
          <p:nvPr/>
        </p:nvSpPr>
        <p:spPr>
          <a:xfrm>
            <a:off x="1645920" y="2377440"/>
            <a:ext cx="2743200" cy="640080"/>
          </a:xfrm>
          <a:prstGeom prst="rect">
            <a:avLst/>
          </a:prstGeom>
          <a:noFill/>
          <a:ln/>
        </p:spPr>
        <p:txBody>
          <a:bodyPr wrap="square" lIns="0" tIns="0" rIns="0" bIns="0" rtlCol="0" anchor="ctr"/>
          <a:lstStyle/>
          <a:p>
            <a:pPr algn="l" indent="0" marL="0">
              <a:buNone/>
            </a:pPr>
            <a:r>
              <a:rPr lang="en-US" sz="1500" b="1" dirty="0">
                <a:solidFill>
                  <a:srgbClr val="6B7280"/>
                </a:solidFill>
                <a:latin typeface="Consolas" pitchFamily="34" charset="0"/>
                <a:ea typeface="Consolas" pitchFamily="34" charset="-122"/>
                <a:cs typeface="Consolas" pitchFamily="34" charset="-120"/>
              </a:rPr>
              <a:t>miksi</a:t>
            </a:r>
            <a:endParaRPr lang="en-US" sz="1500" dirty="0"/>
          </a:p>
        </p:txBody>
      </p:sp>
      <p:sp>
        <p:nvSpPr>
          <p:cNvPr id="9" name="Text 7"/>
          <p:cNvSpPr txBox="1"/>
          <p:nvPr/>
        </p:nvSpPr>
        <p:spPr>
          <a:xfrm>
            <a:off x="4480560" y="2377440"/>
            <a:ext cx="6217920" cy="640080"/>
          </a:xfrm>
          <a:prstGeom prst="rect">
            <a:avLst/>
          </a:prstGeom>
          <a:noFill/>
          <a:ln/>
        </p:spPr>
        <p:txBody>
          <a:bodyPr wrap="square" lIns="0" tIns="0" rIns="0" bIns="0" rtlCol="0" anchor="ctr"/>
          <a:lstStyle/>
          <a:p>
            <a:pPr algn="l" indent="0" marL="0">
              <a:buNone/>
            </a:pPr>
            <a:r>
              <a:rPr lang="en-US" sz="1900" dirty="0">
                <a:solidFill>
                  <a:srgbClr val="111827"/>
                </a:solidFill>
                <a:latin typeface="Segoe UI" pitchFamily="34" charset="0"/>
                <a:ea typeface="Segoe UI" pitchFamily="34" charset="-122"/>
                <a:cs typeface="Segoe UI" pitchFamily="34" charset="-120"/>
              </a:rPr>
              <a:t>Huoneisto puuttui lähetetystä tiedosta.</a:t>
            </a:r>
            <a:endParaRPr lang="en-US" sz="1900" dirty="0"/>
          </a:p>
        </p:txBody>
      </p:sp>
      <p:sp>
        <p:nvSpPr>
          <p:cNvPr id="10" name="Text 8"/>
          <p:cNvSpPr txBox="1"/>
          <p:nvPr/>
        </p:nvSpPr>
        <p:spPr>
          <a:xfrm>
            <a:off x="1645920" y="3108960"/>
            <a:ext cx="2743200" cy="640080"/>
          </a:xfrm>
          <a:prstGeom prst="rect">
            <a:avLst/>
          </a:prstGeom>
          <a:noFill/>
          <a:ln/>
        </p:spPr>
        <p:txBody>
          <a:bodyPr wrap="square" lIns="0" tIns="0" rIns="0" bIns="0" rtlCol="0" anchor="ctr"/>
          <a:lstStyle/>
          <a:p>
            <a:pPr algn="l" indent="0" marL="0">
              <a:buNone/>
            </a:pPr>
            <a:r>
              <a:rPr lang="en-US" sz="1500" b="1" dirty="0">
                <a:solidFill>
                  <a:srgbClr val="6B7280"/>
                </a:solidFill>
                <a:latin typeface="Consolas" pitchFamily="34" charset="0"/>
                <a:ea typeface="Consolas" pitchFamily="34" charset="-122"/>
                <a:cs typeface="Consolas" pitchFamily="34" charset="-120"/>
              </a:rPr>
              <a:t>mitä muuttui</a:t>
            </a:r>
            <a:endParaRPr lang="en-US" sz="1500" dirty="0"/>
          </a:p>
        </p:txBody>
      </p:sp>
      <p:sp>
        <p:nvSpPr>
          <p:cNvPr id="11" name="Text 9"/>
          <p:cNvSpPr txBox="1"/>
          <p:nvPr/>
        </p:nvSpPr>
        <p:spPr>
          <a:xfrm>
            <a:off x="4480560" y="3108960"/>
            <a:ext cx="6217920" cy="640080"/>
          </a:xfrm>
          <a:prstGeom prst="rect">
            <a:avLst/>
          </a:prstGeom>
          <a:noFill/>
          <a:ln/>
        </p:spPr>
        <p:txBody>
          <a:bodyPr wrap="square" lIns="0" tIns="0" rIns="0" bIns="0" rtlCol="0" anchor="ctr"/>
          <a:lstStyle/>
          <a:p>
            <a:pPr algn="l" indent="0" marL="0">
              <a:buNone/>
            </a:pPr>
            <a:r>
              <a:rPr lang="en-US" sz="1900" dirty="0">
                <a:solidFill>
                  <a:srgbClr val="111827"/>
                </a:solidFill>
                <a:latin typeface="Segoe UI" pitchFamily="34" charset="0"/>
                <a:ea typeface="Segoe UI" pitchFamily="34" charset="-122"/>
                <a:cs typeface="Segoe UI" pitchFamily="34" charset="-120"/>
              </a:rPr>
              <a:t>Kenttä lisättiin tallennukseen.</a:t>
            </a:r>
            <a:endParaRPr lang="en-US" sz="1900" dirty="0"/>
          </a:p>
        </p:txBody>
      </p:sp>
      <p:sp>
        <p:nvSpPr>
          <p:cNvPr id="12" name="Text 10"/>
          <p:cNvSpPr txBox="1"/>
          <p:nvPr/>
        </p:nvSpPr>
        <p:spPr>
          <a:xfrm>
            <a:off x="1645920" y="3840480"/>
            <a:ext cx="2743200" cy="640080"/>
          </a:xfrm>
          <a:prstGeom prst="rect">
            <a:avLst/>
          </a:prstGeom>
          <a:noFill/>
          <a:ln/>
        </p:spPr>
        <p:txBody>
          <a:bodyPr wrap="square" lIns="0" tIns="0" rIns="0" bIns="0" rtlCol="0" anchor="ctr"/>
          <a:lstStyle/>
          <a:p>
            <a:pPr algn="l" indent="0" marL="0">
              <a:buNone/>
            </a:pPr>
            <a:r>
              <a:rPr lang="en-US" sz="1500" b="1" dirty="0">
                <a:solidFill>
                  <a:srgbClr val="6B7280"/>
                </a:solidFill>
                <a:latin typeface="Consolas" pitchFamily="34" charset="0"/>
                <a:ea typeface="Consolas" pitchFamily="34" charset="-122"/>
                <a:cs typeface="Consolas" pitchFamily="34" charset="-120"/>
              </a:rPr>
              <a:t>miten tarkistettiin</a:t>
            </a:r>
            <a:endParaRPr lang="en-US" sz="1500" dirty="0"/>
          </a:p>
        </p:txBody>
      </p:sp>
      <p:sp>
        <p:nvSpPr>
          <p:cNvPr id="13" name="Text 11"/>
          <p:cNvSpPr txBox="1"/>
          <p:nvPr/>
        </p:nvSpPr>
        <p:spPr>
          <a:xfrm>
            <a:off x="4480560" y="3840480"/>
            <a:ext cx="6217920" cy="640080"/>
          </a:xfrm>
          <a:prstGeom prst="rect">
            <a:avLst/>
          </a:prstGeom>
          <a:noFill/>
          <a:ln/>
        </p:spPr>
        <p:txBody>
          <a:bodyPr wrap="square" lIns="0" tIns="0" rIns="0" bIns="0" rtlCol="0" anchor="ctr"/>
          <a:lstStyle/>
          <a:p>
            <a:pPr algn="l" indent="0" marL="0">
              <a:buNone/>
            </a:pPr>
            <a:r>
              <a:rPr lang="en-US" sz="1900" dirty="0">
                <a:solidFill>
                  <a:srgbClr val="111827"/>
                </a:solidFill>
                <a:latin typeface="Segoe UI" pitchFamily="34" charset="0"/>
                <a:ea typeface="Segoe UI" pitchFamily="34" charset="-122"/>
                <a:cs typeface="Segoe UI" pitchFamily="34" charset="-120"/>
              </a:rPr>
              <a:t>Regressiotesti + selain uudelleenlatauksen jälkeen.</a:t>
            </a:r>
            <a:endParaRPr lang="en-US" sz="1900" dirty="0"/>
          </a:p>
        </p:txBody>
      </p:sp>
      <p:sp>
        <p:nvSpPr>
          <p:cNvPr id="14" name="Shape 12"/>
          <p:cNvSpPr/>
          <p:nvPr/>
        </p:nvSpPr>
        <p:spPr>
          <a:xfrm>
            <a:off x="1325880" y="4535424"/>
            <a:ext cx="9509760" cy="713232"/>
          </a:xfrm>
          <a:prstGeom prst="rect">
            <a:avLst/>
          </a:prstGeom>
          <a:solidFill>
            <a:srgbClr val="FFF8C5"/>
          </a:solidFill>
          <a:ln w="12700">
            <a:solidFill>
              <a:srgbClr val="FFF8C5"/>
            </a:solidFill>
            <a:prstDash val="solid"/>
          </a:ln>
        </p:spPr>
      </p:sp>
      <p:sp>
        <p:nvSpPr>
          <p:cNvPr id="15" name="Text 13"/>
          <p:cNvSpPr txBox="1"/>
          <p:nvPr/>
        </p:nvSpPr>
        <p:spPr>
          <a:xfrm>
            <a:off x="1645920" y="4572000"/>
            <a:ext cx="2743200" cy="640080"/>
          </a:xfrm>
          <a:prstGeom prst="rect">
            <a:avLst/>
          </a:prstGeom>
          <a:noFill/>
          <a:ln/>
        </p:spPr>
        <p:txBody>
          <a:bodyPr wrap="square" lIns="0" tIns="0" rIns="0" bIns="0" rtlCol="0" anchor="ctr"/>
          <a:lstStyle/>
          <a:p>
            <a:pPr algn="l" indent="0" marL="0">
              <a:buNone/>
            </a:pPr>
            <a:r>
              <a:rPr lang="en-US" sz="1500" b="1" dirty="0">
                <a:solidFill>
                  <a:srgbClr val="9A6700"/>
                </a:solidFill>
                <a:latin typeface="Consolas" pitchFamily="34" charset="0"/>
                <a:ea typeface="Consolas" pitchFamily="34" charset="-122"/>
                <a:cs typeface="Consolas" pitchFamily="34" charset="-120"/>
              </a:rPr>
              <a:t>avoin päätös</a:t>
            </a:r>
            <a:endParaRPr lang="en-US" sz="1500" dirty="0"/>
          </a:p>
        </p:txBody>
      </p:sp>
      <p:sp>
        <p:nvSpPr>
          <p:cNvPr id="16" name="Text 14"/>
          <p:cNvSpPr txBox="1"/>
          <p:nvPr/>
        </p:nvSpPr>
        <p:spPr>
          <a:xfrm>
            <a:off x="4480560" y="4572000"/>
            <a:ext cx="6217920" cy="640080"/>
          </a:xfrm>
          <a:prstGeom prst="rect">
            <a:avLst/>
          </a:prstGeom>
          <a:noFill/>
          <a:ln/>
        </p:spPr>
        <p:txBody>
          <a:bodyPr wrap="square" lIns="0" tIns="0" rIns="0" bIns="0" rtlCol="0" anchor="ctr"/>
          <a:lstStyle/>
          <a:p>
            <a:pPr algn="l" indent="0" marL="0">
              <a:buNone/>
            </a:pPr>
            <a:r>
              <a:rPr lang="en-US" sz="1900" b="1" dirty="0">
                <a:solidFill>
                  <a:srgbClr val="111827"/>
                </a:solidFill>
                <a:latin typeface="Segoe UI" pitchFamily="34" charset="0"/>
                <a:ea typeface="Segoe UI" pitchFamily="34" charset="-122"/>
                <a:cs typeface="Segoe UI" pitchFamily="34" charset="-120"/>
              </a:rPr>
              <a:t>Korjataanko vanhat tietueet, joista huoneisto jo puuttuu?</a:t>
            </a:r>
            <a:endParaRPr lang="en-US" sz="1900" dirty="0"/>
          </a:p>
        </p:txBody>
      </p:sp>
      <p:sp>
        <p:nvSpPr>
          <p:cNvPr id="17" name="Alarivi"/>
          <p:cNvSpPr txBox="1"/>
          <p:nvPr/>
        </p:nvSpPr>
        <p:spPr>
          <a:xfrm>
            <a:off x="548640" y="5559552"/>
            <a:ext cx="7680960" cy="548640"/>
          </a:xfrm>
          <a:prstGeom prst="rect">
            <a:avLst/>
          </a:prstGeom>
          <a:noFill/>
          <a:ln/>
        </p:spPr>
        <p:txBody>
          <a:bodyPr wrap="square" lIns="0" tIns="0" rIns="0" bIns="0" rtlCol="0" anchor="ctr"/>
          <a:lstStyle/>
          <a:p>
            <a:pPr algn="l" indent="0" marL="0">
              <a:buNone/>
            </a:pPr>
            <a:r>
              <a:rPr lang="en-US" sz="1800" b="1" dirty="0">
                <a:solidFill>
                  <a:srgbClr val="111827"/>
                </a:solidFill>
                <a:latin typeface="Segoe UI" pitchFamily="34" charset="0"/>
                <a:ea typeface="Segoe UI" pitchFamily="34" charset="-122"/>
                <a:cs typeface="Segoe UI" pitchFamily="34" charset="-120"/>
              </a:rPr>
              <a:t>Älä tee nopeudestasi jonkun toisen katselmointivelkaa.</a:t>
            </a:r>
            <a:endParaRPr lang="en-US" sz="1800" dirty="0"/>
          </a:p>
        </p:txBody>
      </p:sp>
      <p:sp>
        <p:nvSpPr>
          <p:cNvPr id="18"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kuvitteellinen esimerkki.</a:t>
            </a:r>
            <a:endParaRPr lang="en-US" sz="1100" dirty="0"/>
          </a:p>
        </p:txBody>
      </p:sp>
      <p:sp>
        <p:nvSpPr>
          <p:cNvPr id="19" name="Shape 17"/>
          <p:cNvSpPr/>
          <p:nvPr/>
        </p:nvSpPr>
        <p:spPr>
          <a:xfrm>
            <a:off x="8412480" y="6455664"/>
            <a:ext cx="3291840" cy="0"/>
          </a:xfrm>
          <a:prstGeom prst="line">
            <a:avLst/>
          </a:prstGeom>
          <a:noFill/>
          <a:ln w="19050">
            <a:solidFill>
              <a:srgbClr val="E5E7EB"/>
            </a:solidFill>
            <a:prstDash val="solid"/>
          </a:ln>
        </p:spPr>
      </p:sp>
      <p:sp>
        <p:nvSpPr>
          <p:cNvPr id="20" name="Shape 18"/>
          <p:cNvSpPr/>
          <p:nvPr/>
        </p:nvSpPr>
        <p:spPr>
          <a:xfrm>
            <a:off x="8353044" y="6396228"/>
            <a:ext cx="118872" cy="118872"/>
          </a:xfrm>
          <a:prstGeom prst="ellipse">
            <a:avLst/>
          </a:prstGeom>
          <a:solidFill>
            <a:srgbClr val="9CA3AF"/>
          </a:solidFill>
          <a:ln w="9525">
            <a:solidFill>
              <a:srgbClr val="9CA3AF"/>
            </a:solidFill>
            <a:prstDash val="solid"/>
          </a:ln>
        </p:spPr>
      </p:sp>
      <p:sp>
        <p:nvSpPr>
          <p:cNvPr id="21" name="Shape 19"/>
          <p:cNvSpPr/>
          <p:nvPr/>
        </p:nvSpPr>
        <p:spPr>
          <a:xfrm>
            <a:off x="8901684" y="6396228"/>
            <a:ext cx="118872" cy="118872"/>
          </a:xfrm>
          <a:prstGeom prst="ellipse">
            <a:avLst/>
          </a:prstGeom>
          <a:solidFill>
            <a:srgbClr val="9CA3AF"/>
          </a:solidFill>
          <a:ln w="9525">
            <a:solidFill>
              <a:srgbClr val="9CA3AF"/>
            </a:solidFill>
            <a:prstDash val="solid"/>
          </a:ln>
        </p:spPr>
      </p:sp>
      <p:sp>
        <p:nvSpPr>
          <p:cNvPr id="22" name="Shape 20"/>
          <p:cNvSpPr/>
          <p:nvPr/>
        </p:nvSpPr>
        <p:spPr>
          <a:xfrm>
            <a:off x="9450324" y="6396228"/>
            <a:ext cx="118872" cy="118872"/>
          </a:xfrm>
          <a:prstGeom prst="ellipse">
            <a:avLst/>
          </a:prstGeom>
          <a:solidFill>
            <a:srgbClr val="9CA3AF"/>
          </a:solidFill>
          <a:ln w="9525">
            <a:solidFill>
              <a:srgbClr val="9CA3AF"/>
            </a:solidFill>
            <a:prstDash val="solid"/>
          </a:ln>
        </p:spPr>
      </p:sp>
      <p:sp>
        <p:nvSpPr>
          <p:cNvPr id="23" name="Shape 21"/>
          <p:cNvSpPr/>
          <p:nvPr/>
        </p:nvSpPr>
        <p:spPr>
          <a:xfrm>
            <a:off x="9998964" y="6396228"/>
            <a:ext cx="118872" cy="118872"/>
          </a:xfrm>
          <a:prstGeom prst="ellipse">
            <a:avLst/>
          </a:prstGeom>
          <a:solidFill>
            <a:srgbClr val="9CA3AF"/>
          </a:solidFill>
          <a:ln w="9525">
            <a:solidFill>
              <a:srgbClr val="9CA3AF"/>
            </a:solidFill>
            <a:prstDash val="solid"/>
          </a:ln>
        </p:spPr>
      </p:sp>
      <p:sp>
        <p:nvSpPr>
          <p:cNvPr id="24" name="Shape 22"/>
          <p:cNvSpPr/>
          <p:nvPr/>
        </p:nvSpPr>
        <p:spPr>
          <a:xfrm>
            <a:off x="10547604" y="6396228"/>
            <a:ext cx="118872" cy="118872"/>
          </a:xfrm>
          <a:prstGeom prst="ellipse">
            <a:avLst/>
          </a:prstGeom>
          <a:solidFill>
            <a:srgbClr val="9CA3AF"/>
          </a:solidFill>
          <a:ln w="9525">
            <a:solidFill>
              <a:srgbClr val="9CA3AF"/>
            </a:solidFill>
            <a:prstDash val="solid"/>
          </a:ln>
        </p:spPr>
      </p:sp>
      <p:sp>
        <p:nvSpPr>
          <p:cNvPr id="25" name="Shape 23"/>
          <p:cNvSpPr/>
          <p:nvPr/>
        </p:nvSpPr>
        <p:spPr>
          <a:xfrm>
            <a:off x="11055096" y="6355080"/>
            <a:ext cx="201168" cy="201168"/>
          </a:xfrm>
          <a:prstGeom prst="ellipse">
            <a:avLst/>
          </a:prstGeom>
          <a:solidFill>
            <a:srgbClr val="2563EB"/>
          </a:solidFill>
          <a:ln w="9525">
            <a:solidFill>
              <a:srgbClr val="2563EB"/>
            </a:solidFill>
            <a:prstDash val="solid"/>
          </a:ln>
        </p:spPr>
      </p:sp>
      <p:sp>
        <p:nvSpPr>
          <p:cNvPr id="26" name="Shape 24"/>
          <p:cNvSpPr/>
          <p:nvPr/>
        </p:nvSpPr>
        <p:spPr>
          <a:xfrm>
            <a:off x="11644884" y="6396228"/>
            <a:ext cx="118872" cy="118872"/>
          </a:xfrm>
          <a:prstGeom prst="ellipse">
            <a:avLst/>
          </a:prstGeom>
          <a:solidFill>
            <a:srgbClr val="FFFFFF"/>
          </a:solidFill>
          <a:ln w="9525">
            <a:solidFill>
              <a:srgbClr val="9CA3AF"/>
            </a:solidFill>
            <a:prstDash val="solid"/>
          </a:ln>
        </p:spPr>
      </p:sp>
      <p:sp>
        <p:nvSpPr>
          <p:cNvPr id="27" name="Text 25"/>
          <p:cNvSpPr txBox="1"/>
          <p:nvPr/>
        </p:nvSpPr>
        <p:spPr>
          <a:xfrm>
            <a:off x="1042416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luovuta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Saako agentti yhdistää tämän itse?</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Mitä helpompi tarkistaa ja perua, sitä pidempi lieka</a:t>
            </a:r>
            <a:endParaRPr lang="en-US" sz="1800" dirty="0"/>
          </a:p>
        </p:txBody>
      </p:sp>
      <p:sp>
        <p:nvSpPr>
          <p:cNvPr id="5" name="Gallup-viittaus"/>
          <p:cNvSpPr/>
          <p:nvPr/>
        </p:nvSpPr>
        <p:spPr>
          <a:xfrm>
            <a:off x="7406640" y="155448"/>
            <a:ext cx="3611880" cy="329184"/>
          </a:xfrm>
          <a:prstGeom prst="roundRect">
            <a:avLst>
              <a:gd name="adj" fmla="val 41667"/>
            </a:avLst>
          </a:prstGeom>
          <a:solidFill>
            <a:srgbClr val="EFF6FF"/>
          </a:solidFill>
          <a:ln>
            <a:solidFill>
              <a:srgbClr val="BFDBFE"/>
            </a:solidFill>
          </a:ln>
        </p:spPr>
        <p:txBody>
          <a:bodyPr wrap="square" lIns="25400" tIns="25400" rIns="25400" bIns="25400" rtlCol="0" anchor="ctr"/>
          <a:lstStyle/>
          <a:p>
            <a:pPr algn="ctr" indent="0" marL="0">
              <a:buNone/>
            </a:pPr>
            <a:r>
              <a:rPr lang="en-US" sz="1100" dirty="0">
                <a:solidFill>
                  <a:srgbClr val="2563EB"/>
                </a:solidFill>
                <a:latin typeface="Consolas" pitchFamily="34" charset="0"/>
                <a:ea typeface="Consolas" pitchFamily="34" charset="-122"/>
                <a:cs typeface="Consolas" pitchFamily="34" charset="-120"/>
              </a:rPr>
              <a:t>↩ gallup: Agentin PR tuotantoon?</a:t>
            </a:r>
            <a:endParaRPr lang="en-US" sz="1100" dirty="0"/>
          </a:p>
        </p:txBody>
      </p:sp>
      <p:sp>
        <p:nvSpPr>
          <p:cNvPr id="6" name="Text 4"/>
          <p:cNvSpPr txBox="1"/>
          <p:nvPr/>
        </p:nvSpPr>
        <p:spPr>
          <a:xfrm>
            <a:off x="548640" y="1874520"/>
            <a:ext cx="246888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Vaikutusalue</a:t>
            </a:r>
            <a:endParaRPr lang="en-US" sz="2000" dirty="0"/>
          </a:p>
        </p:txBody>
      </p:sp>
      <p:sp>
        <p:nvSpPr>
          <p:cNvPr id="7" name="Text 5"/>
          <p:cNvSpPr txBox="1"/>
          <p:nvPr/>
        </p:nvSpPr>
        <p:spPr>
          <a:xfrm>
            <a:off x="3017520" y="1874520"/>
            <a:ext cx="2011680" cy="548640"/>
          </a:xfrm>
          <a:prstGeom prst="rect">
            <a:avLst/>
          </a:prstGeom>
          <a:noFill/>
          <a:ln/>
        </p:spPr>
        <p:txBody>
          <a:bodyPr wrap="square" lIns="0" tIns="0" rIns="0" bIns="0" rtlCol="0" anchor="ctr"/>
          <a:lstStyle/>
          <a:p>
            <a:pPr algn="r" indent="0" marL="0">
              <a:buNone/>
            </a:pPr>
            <a:r>
              <a:rPr lang="en-US" sz="1300" dirty="0">
                <a:solidFill>
                  <a:srgbClr val="6B7280"/>
                </a:solidFill>
                <a:latin typeface="Consolas" pitchFamily="34" charset="0"/>
                <a:ea typeface="Consolas" pitchFamily="34" charset="-122"/>
                <a:cs typeface="Consolas" pitchFamily="34" charset="-120"/>
              </a:rPr>
              <a:t>paikallinen</a:t>
            </a:r>
            <a:endParaRPr lang="en-US" sz="1300" dirty="0"/>
          </a:p>
        </p:txBody>
      </p:sp>
      <p:sp>
        <p:nvSpPr>
          <p:cNvPr id="8" name="Shape 6"/>
          <p:cNvSpPr/>
          <p:nvPr/>
        </p:nvSpPr>
        <p:spPr>
          <a:xfrm>
            <a:off x="5212080" y="2093976"/>
            <a:ext cx="4206240" cy="109728"/>
          </a:xfrm>
          <a:prstGeom prst="roundRect">
            <a:avLst>
              <a:gd name="adj" fmla="val 50000"/>
            </a:avLst>
          </a:prstGeom>
          <a:solidFill>
            <a:srgbClr val="E5E7EB"/>
          </a:solidFill>
          <a:ln w="12700">
            <a:solidFill>
              <a:srgbClr val="E5E7EB"/>
            </a:solidFill>
            <a:prstDash val="solid"/>
          </a:ln>
        </p:spPr>
      </p:sp>
      <p:sp>
        <p:nvSpPr>
          <p:cNvPr id="9" name="Shape 7"/>
          <p:cNvSpPr/>
          <p:nvPr/>
        </p:nvSpPr>
        <p:spPr>
          <a:xfrm>
            <a:off x="6099048" y="1984248"/>
            <a:ext cx="329184" cy="329184"/>
          </a:xfrm>
          <a:prstGeom prst="ellipse">
            <a:avLst/>
          </a:prstGeom>
          <a:solidFill>
            <a:srgbClr val="2563EB"/>
          </a:solidFill>
          <a:ln w="25400">
            <a:solidFill>
              <a:srgbClr val="FFFFFF"/>
            </a:solidFill>
            <a:prstDash val="solid"/>
          </a:ln>
        </p:spPr>
      </p:sp>
      <p:sp>
        <p:nvSpPr>
          <p:cNvPr id="10" name="Text 8"/>
          <p:cNvSpPr txBox="1"/>
          <p:nvPr/>
        </p:nvSpPr>
        <p:spPr>
          <a:xfrm>
            <a:off x="9555480" y="1874520"/>
            <a:ext cx="2194560" cy="548640"/>
          </a:xfrm>
          <a:prstGeom prst="rect">
            <a:avLst/>
          </a:prstGeom>
          <a:noFill/>
          <a:ln/>
        </p:spPr>
        <p:txBody>
          <a:bodyPr wrap="square" lIns="0" tIns="0" rIns="0" bIns="0" rtlCol="0" anchor="ctr"/>
          <a:lstStyle/>
          <a:p>
            <a:pPr algn="l" indent="0" marL="0">
              <a:buNone/>
            </a:pPr>
            <a:r>
              <a:rPr lang="en-US" sz="1300" dirty="0">
                <a:solidFill>
                  <a:srgbClr val="6B7280"/>
                </a:solidFill>
                <a:latin typeface="Consolas" pitchFamily="34" charset="0"/>
                <a:ea typeface="Consolas" pitchFamily="34" charset="-122"/>
                <a:cs typeface="Consolas" pitchFamily="34" charset="-120"/>
              </a:rPr>
              <a:t>koko tuotanto</a:t>
            </a:r>
            <a:endParaRPr lang="en-US" sz="1300" dirty="0"/>
          </a:p>
        </p:txBody>
      </p:sp>
      <p:sp>
        <p:nvSpPr>
          <p:cNvPr id="11" name="Text 9"/>
          <p:cNvSpPr txBox="1"/>
          <p:nvPr/>
        </p:nvSpPr>
        <p:spPr>
          <a:xfrm>
            <a:off x="548640" y="2743200"/>
            <a:ext cx="246888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Peruttavuus</a:t>
            </a:r>
            <a:endParaRPr lang="en-US" sz="2000" dirty="0"/>
          </a:p>
        </p:txBody>
      </p:sp>
      <p:sp>
        <p:nvSpPr>
          <p:cNvPr id="12" name="Text 10"/>
          <p:cNvSpPr txBox="1"/>
          <p:nvPr/>
        </p:nvSpPr>
        <p:spPr>
          <a:xfrm>
            <a:off x="3017520" y="2743200"/>
            <a:ext cx="2011680" cy="548640"/>
          </a:xfrm>
          <a:prstGeom prst="rect">
            <a:avLst/>
          </a:prstGeom>
          <a:noFill/>
          <a:ln/>
        </p:spPr>
        <p:txBody>
          <a:bodyPr wrap="square" lIns="0" tIns="0" rIns="0" bIns="0" rtlCol="0" anchor="ctr"/>
          <a:lstStyle/>
          <a:p>
            <a:pPr algn="r" indent="0" marL="0">
              <a:buNone/>
            </a:pPr>
            <a:r>
              <a:rPr lang="en-US" sz="1300" dirty="0">
                <a:solidFill>
                  <a:srgbClr val="6B7280"/>
                </a:solidFill>
                <a:latin typeface="Consolas" pitchFamily="34" charset="0"/>
                <a:ea typeface="Consolas" pitchFamily="34" charset="-122"/>
                <a:cs typeface="Consolas" pitchFamily="34" charset="-120"/>
              </a:rPr>
              <a:t>heti</a:t>
            </a:r>
            <a:endParaRPr lang="en-US" sz="1300" dirty="0"/>
          </a:p>
        </p:txBody>
      </p:sp>
      <p:sp>
        <p:nvSpPr>
          <p:cNvPr id="13" name="Shape 11"/>
          <p:cNvSpPr/>
          <p:nvPr/>
        </p:nvSpPr>
        <p:spPr>
          <a:xfrm>
            <a:off x="5212080" y="2962656"/>
            <a:ext cx="4206240" cy="109728"/>
          </a:xfrm>
          <a:prstGeom prst="roundRect">
            <a:avLst>
              <a:gd name="adj" fmla="val 50000"/>
            </a:avLst>
          </a:prstGeom>
          <a:solidFill>
            <a:srgbClr val="E5E7EB"/>
          </a:solidFill>
          <a:ln w="12700">
            <a:solidFill>
              <a:srgbClr val="E5E7EB"/>
            </a:solidFill>
            <a:prstDash val="solid"/>
          </a:ln>
        </p:spPr>
      </p:sp>
      <p:sp>
        <p:nvSpPr>
          <p:cNvPr id="14" name="Shape 12"/>
          <p:cNvSpPr/>
          <p:nvPr/>
        </p:nvSpPr>
        <p:spPr>
          <a:xfrm>
            <a:off x="5888736" y="2852928"/>
            <a:ext cx="329184" cy="329184"/>
          </a:xfrm>
          <a:prstGeom prst="ellipse">
            <a:avLst/>
          </a:prstGeom>
          <a:solidFill>
            <a:srgbClr val="2563EB"/>
          </a:solidFill>
          <a:ln w="25400">
            <a:solidFill>
              <a:srgbClr val="FFFFFF"/>
            </a:solidFill>
            <a:prstDash val="solid"/>
          </a:ln>
        </p:spPr>
      </p:sp>
      <p:sp>
        <p:nvSpPr>
          <p:cNvPr id="15" name="Text 13"/>
          <p:cNvSpPr txBox="1"/>
          <p:nvPr/>
        </p:nvSpPr>
        <p:spPr>
          <a:xfrm>
            <a:off x="9555480" y="2743200"/>
            <a:ext cx="2194560" cy="548640"/>
          </a:xfrm>
          <a:prstGeom prst="rect">
            <a:avLst/>
          </a:prstGeom>
          <a:noFill/>
          <a:ln/>
        </p:spPr>
        <p:txBody>
          <a:bodyPr wrap="square" lIns="0" tIns="0" rIns="0" bIns="0" rtlCol="0" anchor="ctr"/>
          <a:lstStyle/>
          <a:p>
            <a:pPr algn="l" indent="0" marL="0">
              <a:buNone/>
            </a:pPr>
            <a:r>
              <a:rPr lang="en-US" sz="1300" dirty="0">
                <a:solidFill>
                  <a:srgbClr val="6B7280"/>
                </a:solidFill>
                <a:latin typeface="Consolas" pitchFamily="34" charset="0"/>
                <a:ea typeface="Consolas" pitchFamily="34" charset="-122"/>
                <a:cs typeface="Consolas" pitchFamily="34" charset="-120"/>
              </a:rPr>
              <a:t>vaikea perua</a:t>
            </a:r>
            <a:endParaRPr lang="en-US" sz="1300" dirty="0"/>
          </a:p>
        </p:txBody>
      </p:sp>
      <p:sp>
        <p:nvSpPr>
          <p:cNvPr id="16" name="Text 14"/>
          <p:cNvSpPr txBox="1"/>
          <p:nvPr/>
        </p:nvSpPr>
        <p:spPr>
          <a:xfrm>
            <a:off x="548640" y="3611880"/>
            <a:ext cx="246888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Tarkistettavuus</a:t>
            </a:r>
            <a:endParaRPr lang="en-US" sz="2000" dirty="0"/>
          </a:p>
        </p:txBody>
      </p:sp>
      <p:sp>
        <p:nvSpPr>
          <p:cNvPr id="17" name="Text 15"/>
          <p:cNvSpPr txBox="1"/>
          <p:nvPr/>
        </p:nvSpPr>
        <p:spPr>
          <a:xfrm>
            <a:off x="3017520" y="3611880"/>
            <a:ext cx="2011680" cy="548640"/>
          </a:xfrm>
          <a:prstGeom prst="rect">
            <a:avLst/>
          </a:prstGeom>
          <a:noFill/>
          <a:ln/>
        </p:spPr>
        <p:txBody>
          <a:bodyPr wrap="square" lIns="0" tIns="0" rIns="0" bIns="0" rtlCol="0" anchor="ctr"/>
          <a:lstStyle/>
          <a:p>
            <a:pPr algn="r" indent="0" marL="0">
              <a:buNone/>
            </a:pPr>
            <a:r>
              <a:rPr lang="en-US" sz="1300" dirty="0">
                <a:solidFill>
                  <a:srgbClr val="6B7280"/>
                </a:solidFill>
                <a:latin typeface="Consolas" pitchFamily="34" charset="0"/>
                <a:ea typeface="Consolas" pitchFamily="34" charset="-122"/>
                <a:cs typeface="Consolas" pitchFamily="34" charset="-120"/>
              </a:rPr>
              <a:t>koneellinen</a:t>
            </a:r>
            <a:endParaRPr lang="en-US" sz="1300" dirty="0"/>
          </a:p>
        </p:txBody>
      </p:sp>
      <p:sp>
        <p:nvSpPr>
          <p:cNvPr id="18" name="Shape 16"/>
          <p:cNvSpPr/>
          <p:nvPr/>
        </p:nvSpPr>
        <p:spPr>
          <a:xfrm>
            <a:off x="5212080" y="3831336"/>
            <a:ext cx="4206240" cy="109728"/>
          </a:xfrm>
          <a:prstGeom prst="roundRect">
            <a:avLst>
              <a:gd name="adj" fmla="val 50000"/>
            </a:avLst>
          </a:prstGeom>
          <a:solidFill>
            <a:srgbClr val="E5E7EB"/>
          </a:solidFill>
          <a:ln w="12700">
            <a:solidFill>
              <a:srgbClr val="E5E7EB"/>
            </a:solidFill>
            <a:prstDash val="solid"/>
          </a:ln>
        </p:spPr>
      </p:sp>
      <p:sp>
        <p:nvSpPr>
          <p:cNvPr id="19" name="Shape 17"/>
          <p:cNvSpPr/>
          <p:nvPr/>
        </p:nvSpPr>
        <p:spPr>
          <a:xfrm>
            <a:off x="6519672" y="3721608"/>
            <a:ext cx="329184" cy="329184"/>
          </a:xfrm>
          <a:prstGeom prst="ellipse">
            <a:avLst/>
          </a:prstGeom>
          <a:solidFill>
            <a:srgbClr val="2563EB"/>
          </a:solidFill>
          <a:ln w="25400">
            <a:solidFill>
              <a:srgbClr val="FFFFFF"/>
            </a:solidFill>
            <a:prstDash val="solid"/>
          </a:ln>
        </p:spPr>
      </p:sp>
      <p:sp>
        <p:nvSpPr>
          <p:cNvPr id="20" name="Text 18"/>
          <p:cNvSpPr txBox="1"/>
          <p:nvPr/>
        </p:nvSpPr>
        <p:spPr>
          <a:xfrm>
            <a:off x="9555480" y="3611880"/>
            <a:ext cx="2194560" cy="548640"/>
          </a:xfrm>
          <a:prstGeom prst="rect">
            <a:avLst/>
          </a:prstGeom>
          <a:noFill/>
          <a:ln/>
        </p:spPr>
        <p:txBody>
          <a:bodyPr wrap="square" lIns="0" tIns="0" rIns="0" bIns="0" rtlCol="0" anchor="ctr"/>
          <a:lstStyle/>
          <a:p>
            <a:pPr algn="l" indent="0" marL="0">
              <a:buNone/>
            </a:pPr>
            <a:r>
              <a:rPr lang="en-US" sz="1300" dirty="0">
                <a:solidFill>
                  <a:srgbClr val="6B7280"/>
                </a:solidFill>
                <a:latin typeface="Consolas" pitchFamily="34" charset="0"/>
                <a:ea typeface="Consolas" pitchFamily="34" charset="-122"/>
                <a:cs typeface="Consolas" pitchFamily="34" charset="-120"/>
              </a:rPr>
              <a:t>viiveellä / makuasia</a:t>
            </a:r>
            <a:endParaRPr lang="en-US" sz="1300" dirty="0"/>
          </a:p>
        </p:txBody>
      </p:sp>
      <p:sp>
        <p:nvSpPr>
          <p:cNvPr id="21" name="Text 19"/>
          <p:cNvSpPr txBox="1"/>
          <p:nvPr/>
        </p:nvSpPr>
        <p:spPr>
          <a:xfrm>
            <a:off x="548640" y="4480560"/>
            <a:ext cx="246888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Elinikä</a:t>
            </a:r>
            <a:endParaRPr lang="en-US" sz="2000" dirty="0"/>
          </a:p>
        </p:txBody>
      </p:sp>
      <p:sp>
        <p:nvSpPr>
          <p:cNvPr id="22" name="Text 20"/>
          <p:cNvSpPr txBox="1"/>
          <p:nvPr/>
        </p:nvSpPr>
        <p:spPr>
          <a:xfrm>
            <a:off x="3017520" y="4480560"/>
            <a:ext cx="2011680" cy="548640"/>
          </a:xfrm>
          <a:prstGeom prst="rect">
            <a:avLst/>
          </a:prstGeom>
          <a:noFill/>
          <a:ln/>
        </p:spPr>
        <p:txBody>
          <a:bodyPr wrap="square" lIns="0" tIns="0" rIns="0" bIns="0" rtlCol="0" anchor="ctr"/>
          <a:lstStyle/>
          <a:p>
            <a:pPr algn="r" indent="0" marL="0">
              <a:buNone/>
            </a:pPr>
            <a:r>
              <a:rPr lang="en-US" sz="1300" dirty="0">
                <a:solidFill>
                  <a:srgbClr val="6B7280"/>
                </a:solidFill>
                <a:latin typeface="Consolas" pitchFamily="34" charset="0"/>
                <a:ea typeface="Consolas" pitchFamily="34" charset="-122"/>
                <a:cs typeface="Consolas" pitchFamily="34" charset="-120"/>
              </a:rPr>
              <a:t>kertakäyttö</a:t>
            </a:r>
            <a:endParaRPr lang="en-US" sz="1300" dirty="0"/>
          </a:p>
        </p:txBody>
      </p:sp>
      <p:sp>
        <p:nvSpPr>
          <p:cNvPr id="23" name="Shape 21"/>
          <p:cNvSpPr/>
          <p:nvPr/>
        </p:nvSpPr>
        <p:spPr>
          <a:xfrm>
            <a:off x="5212080" y="4700016"/>
            <a:ext cx="4206240" cy="109728"/>
          </a:xfrm>
          <a:prstGeom prst="roundRect">
            <a:avLst>
              <a:gd name="adj" fmla="val 50000"/>
            </a:avLst>
          </a:prstGeom>
          <a:solidFill>
            <a:srgbClr val="E5E7EB"/>
          </a:solidFill>
          <a:ln w="12700">
            <a:solidFill>
              <a:srgbClr val="E5E7EB"/>
            </a:solidFill>
            <a:prstDash val="solid"/>
          </a:ln>
        </p:spPr>
      </p:sp>
      <p:sp>
        <p:nvSpPr>
          <p:cNvPr id="24" name="Shape 22"/>
          <p:cNvSpPr/>
          <p:nvPr/>
        </p:nvSpPr>
        <p:spPr>
          <a:xfrm>
            <a:off x="8412480" y="4590288"/>
            <a:ext cx="329184" cy="329184"/>
          </a:xfrm>
          <a:prstGeom prst="ellipse">
            <a:avLst/>
          </a:prstGeom>
          <a:solidFill>
            <a:srgbClr val="2563EB"/>
          </a:solidFill>
          <a:ln w="25400">
            <a:solidFill>
              <a:srgbClr val="FFFFFF"/>
            </a:solidFill>
            <a:prstDash val="solid"/>
          </a:ln>
        </p:spPr>
      </p:sp>
      <p:sp>
        <p:nvSpPr>
          <p:cNvPr id="25" name="Text 23"/>
          <p:cNvSpPr txBox="1"/>
          <p:nvPr/>
        </p:nvSpPr>
        <p:spPr>
          <a:xfrm>
            <a:off x="9555480" y="4480560"/>
            <a:ext cx="2194560" cy="548640"/>
          </a:xfrm>
          <a:prstGeom prst="rect">
            <a:avLst/>
          </a:prstGeom>
          <a:noFill/>
          <a:ln/>
        </p:spPr>
        <p:txBody>
          <a:bodyPr wrap="square" lIns="0" tIns="0" rIns="0" bIns="0" rtlCol="0" anchor="ctr"/>
          <a:lstStyle/>
          <a:p>
            <a:pPr algn="l" indent="0" marL="0">
              <a:buNone/>
            </a:pPr>
            <a:r>
              <a:rPr lang="en-US" sz="1300" dirty="0">
                <a:solidFill>
                  <a:srgbClr val="6B7280"/>
                </a:solidFill>
                <a:latin typeface="Consolas" pitchFamily="34" charset="0"/>
                <a:ea typeface="Consolas" pitchFamily="34" charset="-122"/>
                <a:cs typeface="Consolas" pitchFamily="34" charset="-120"/>
              </a:rPr>
              <a:t>vuosien ylläpito</a:t>
            </a:r>
            <a:endParaRPr lang="en-US" sz="1300" dirty="0"/>
          </a:p>
        </p:txBody>
      </p:sp>
      <p:sp>
        <p:nvSpPr>
          <p:cNvPr id="26" name="Text 24"/>
          <p:cNvSpPr txBox="1"/>
          <p:nvPr/>
        </p:nvSpPr>
        <p:spPr>
          <a:xfrm>
            <a:off x="5212080" y="5303520"/>
            <a:ext cx="2743200" cy="320040"/>
          </a:xfrm>
          <a:prstGeom prst="rect">
            <a:avLst/>
          </a:prstGeom>
          <a:noFill/>
          <a:ln/>
        </p:spPr>
        <p:txBody>
          <a:bodyPr wrap="square" lIns="0" tIns="0" rIns="0" bIns="0" rtlCol="0" anchor="t"/>
          <a:lstStyle/>
          <a:p>
            <a:pPr algn="l" indent="0" marL="0">
              <a:buNone/>
            </a:pPr>
            <a:r>
              <a:rPr lang="en-US" sz="1200" b="1" dirty="0">
                <a:solidFill>
                  <a:srgbClr val="2563EB"/>
                </a:solidFill>
                <a:latin typeface="Consolas" pitchFamily="34" charset="0"/>
                <a:ea typeface="Consolas" pitchFamily="34" charset="-122"/>
                <a:cs typeface="Consolas" pitchFamily="34" charset="-120"/>
              </a:rPr>
              <a:t>● = osoitebugi</a:t>
            </a:r>
            <a:endParaRPr lang="en-US" sz="1200" dirty="0"/>
          </a:p>
        </p:txBody>
      </p:sp>
      <p:sp>
        <p:nvSpPr>
          <p:cNvPr id="27" name="Kortti"/>
          <p:cNvSpPr/>
          <p:nvPr/>
        </p:nvSpPr>
        <p:spPr>
          <a:xfrm>
            <a:off x="8321040" y="4983480"/>
            <a:ext cx="3291840" cy="960120"/>
          </a:xfrm>
          <a:prstGeom prst="roundRect">
            <a:avLst>
              <a:gd name="adj" fmla="val 9524"/>
            </a:avLst>
          </a:prstGeom>
          <a:solidFill>
            <a:srgbClr val="EFF6FF"/>
          </a:solidFill>
          <a:ln w="12700">
            <a:solidFill>
              <a:srgbClr val="BFDBFE"/>
            </a:solidFill>
            <a:prstDash val="solid"/>
          </a:ln>
        </p:spPr>
      </p:sp>
      <p:sp>
        <p:nvSpPr>
          <p:cNvPr id="28" name="Text 26"/>
          <p:cNvSpPr txBox="1"/>
          <p:nvPr/>
        </p:nvSpPr>
        <p:spPr>
          <a:xfrm>
            <a:off x="8549640" y="5129784"/>
            <a:ext cx="283464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kysymys yleisölle</a:t>
            </a:r>
            <a:endParaRPr lang="en-US" sz="1200" dirty="0"/>
          </a:p>
        </p:txBody>
      </p:sp>
      <p:sp>
        <p:nvSpPr>
          <p:cNvPr id="29" name="Text 27"/>
          <p:cNvSpPr txBox="1"/>
          <p:nvPr/>
        </p:nvSpPr>
        <p:spPr>
          <a:xfrm>
            <a:off x="8549640" y="5422392"/>
            <a:ext cx="2834640" cy="411480"/>
          </a:xfrm>
          <a:prstGeom prst="rect">
            <a:avLst/>
          </a:prstGeom>
          <a:noFill/>
          <a:ln/>
        </p:spPr>
        <p:txBody>
          <a:bodyPr wrap="square" lIns="0" tIns="0" rIns="0" bIns="0" rtlCol="0" anchor="ctr"/>
          <a:lstStyle/>
          <a:p>
            <a:pPr algn="l" indent="0" marL="0">
              <a:buNone/>
            </a:pPr>
            <a:r>
              <a:rPr lang="en-US" sz="1800" b="1" dirty="0">
                <a:solidFill>
                  <a:srgbClr val="111827"/>
                </a:solidFill>
                <a:latin typeface="Segoe UI" pitchFamily="34" charset="0"/>
                <a:ea typeface="Segoe UI" pitchFamily="34" charset="-122"/>
                <a:cs typeface="Segoe UI" pitchFamily="34" charset="-120"/>
              </a:rPr>
              <a:t>Käsi ylös: kuka antaisi?</a:t>
            </a:r>
            <a:endParaRPr lang="en-US" sz="1800" dirty="0"/>
          </a:p>
        </p:txBody>
      </p:sp>
      <p:sp>
        <p:nvSpPr>
          <p:cNvPr id="30"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esityksen tulkinta.</a:t>
            </a:r>
            <a:endParaRPr lang="en-US" sz="1100" dirty="0"/>
          </a:p>
        </p:txBody>
      </p:sp>
      <p:sp>
        <p:nvSpPr>
          <p:cNvPr id="31" name="Shape 29"/>
          <p:cNvSpPr/>
          <p:nvPr/>
        </p:nvSpPr>
        <p:spPr>
          <a:xfrm>
            <a:off x="8412480" y="6455664"/>
            <a:ext cx="3291840" cy="0"/>
          </a:xfrm>
          <a:prstGeom prst="line">
            <a:avLst/>
          </a:prstGeom>
          <a:noFill/>
          <a:ln w="19050">
            <a:solidFill>
              <a:srgbClr val="E5E7EB"/>
            </a:solidFill>
            <a:prstDash val="solid"/>
          </a:ln>
        </p:spPr>
      </p:sp>
      <p:sp>
        <p:nvSpPr>
          <p:cNvPr id="32" name="Shape 30"/>
          <p:cNvSpPr/>
          <p:nvPr/>
        </p:nvSpPr>
        <p:spPr>
          <a:xfrm>
            <a:off x="8353044" y="6396228"/>
            <a:ext cx="118872" cy="118872"/>
          </a:xfrm>
          <a:prstGeom prst="ellipse">
            <a:avLst/>
          </a:prstGeom>
          <a:solidFill>
            <a:srgbClr val="9CA3AF"/>
          </a:solidFill>
          <a:ln w="9525">
            <a:solidFill>
              <a:srgbClr val="9CA3AF"/>
            </a:solidFill>
            <a:prstDash val="solid"/>
          </a:ln>
        </p:spPr>
      </p:sp>
      <p:sp>
        <p:nvSpPr>
          <p:cNvPr id="33" name="Shape 31"/>
          <p:cNvSpPr/>
          <p:nvPr/>
        </p:nvSpPr>
        <p:spPr>
          <a:xfrm>
            <a:off x="8901684" y="6396228"/>
            <a:ext cx="118872" cy="118872"/>
          </a:xfrm>
          <a:prstGeom prst="ellipse">
            <a:avLst/>
          </a:prstGeom>
          <a:solidFill>
            <a:srgbClr val="9CA3AF"/>
          </a:solidFill>
          <a:ln w="9525">
            <a:solidFill>
              <a:srgbClr val="9CA3AF"/>
            </a:solidFill>
            <a:prstDash val="solid"/>
          </a:ln>
        </p:spPr>
      </p:sp>
      <p:sp>
        <p:nvSpPr>
          <p:cNvPr id="34" name="Shape 32"/>
          <p:cNvSpPr/>
          <p:nvPr/>
        </p:nvSpPr>
        <p:spPr>
          <a:xfrm>
            <a:off x="9450324" y="6396228"/>
            <a:ext cx="118872" cy="118872"/>
          </a:xfrm>
          <a:prstGeom prst="ellipse">
            <a:avLst/>
          </a:prstGeom>
          <a:solidFill>
            <a:srgbClr val="9CA3AF"/>
          </a:solidFill>
          <a:ln w="9525">
            <a:solidFill>
              <a:srgbClr val="9CA3AF"/>
            </a:solidFill>
            <a:prstDash val="solid"/>
          </a:ln>
        </p:spPr>
      </p:sp>
      <p:sp>
        <p:nvSpPr>
          <p:cNvPr id="35" name="Shape 33"/>
          <p:cNvSpPr/>
          <p:nvPr/>
        </p:nvSpPr>
        <p:spPr>
          <a:xfrm>
            <a:off x="9998964" y="6396228"/>
            <a:ext cx="118872" cy="118872"/>
          </a:xfrm>
          <a:prstGeom prst="ellipse">
            <a:avLst/>
          </a:prstGeom>
          <a:solidFill>
            <a:srgbClr val="9CA3AF"/>
          </a:solidFill>
          <a:ln w="9525">
            <a:solidFill>
              <a:srgbClr val="9CA3AF"/>
            </a:solidFill>
            <a:prstDash val="solid"/>
          </a:ln>
        </p:spPr>
      </p:sp>
      <p:sp>
        <p:nvSpPr>
          <p:cNvPr id="36" name="Shape 34"/>
          <p:cNvSpPr/>
          <p:nvPr/>
        </p:nvSpPr>
        <p:spPr>
          <a:xfrm>
            <a:off x="10547604" y="6396228"/>
            <a:ext cx="118872" cy="118872"/>
          </a:xfrm>
          <a:prstGeom prst="ellipse">
            <a:avLst/>
          </a:prstGeom>
          <a:solidFill>
            <a:srgbClr val="9CA3AF"/>
          </a:solidFill>
          <a:ln w="9525">
            <a:solidFill>
              <a:srgbClr val="9CA3AF"/>
            </a:solidFill>
            <a:prstDash val="solid"/>
          </a:ln>
        </p:spPr>
      </p:sp>
      <p:sp>
        <p:nvSpPr>
          <p:cNvPr id="37" name="Shape 35"/>
          <p:cNvSpPr/>
          <p:nvPr/>
        </p:nvSpPr>
        <p:spPr>
          <a:xfrm>
            <a:off x="11055096" y="6355080"/>
            <a:ext cx="201168" cy="201168"/>
          </a:xfrm>
          <a:prstGeom prst="ellipse">
            <a:avLst/>
          </a:prstGeom>
          <a:solidFill>
            <a:srgbClr val="2563EB"/>
          </a:solidFill>
          <a:ln w="9525">
            <a:solidFill>
              <a:srgbClr val="2563EB"/>
            </a:solidFill>
            <a:prstDash val="solid"/>
          </a:ln>
        </p:spPr>
      </p:sp>
      <p:sp>
        <p:nvSpPr>
          <p:cNvPr id="38" name="Shape 36"/>
          <p:cNvSpPr/>
          <p:nvPr/>
        </p:nvSpPr>
        <p:spPr>
          <a:xfrm>
            <a:off x="11644884" y="6396228"/>
            <a:ext cx="118872" cy="118872"/>
          </a:xfrm>
          <a:prstGeom prst="ellipse">
            <a:avLst/>
          </a:prstGeom>
          <a:solidFill>
            <a:srgbClr val="FFFFFF"/>
          </a:solidFill>
          <a:ln w="9525">
            <a:solidFill>
              <a:srgbClr val="9CA3AF"/>
            </a:solidFill>
            <a:prstDash val="solid"/>
          </a:ln>
        </p:spPr>
      </p:sp>
      <p:sp>
        <p:nvSpPr>
          <p:cNvPr id="39" name="Text 37"/>
          <p:cNvSpPr txBox="1"/>
          <p:nvPr/>
        </p:nvSpPr>
        <p:spPr>
          <a:xfrm>
            <a:off x="1042416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luovuta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Julkaisu ei ole maali</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Palaute, korjaus ja omistaja jatkavat työtä</a:t>
            </a:r>
            <a:endParaRPr lang="en-US" sz="1800" dirty="0"/>
          </a:p>
        </p:txBody>
      </p:sp>
      <p:sp>
        <p:nvSpPr>
          <p:cNvPr id="5" name="Shape 3"/>
          <p:cNvSpPr/>
          <p:nvPr/>
        </p:nvSpPr>
        <p:spPr>
          <a:xfrm>
            <a:off x="1188720" y="2057400"/>
            <a:ext cx="4663440" cy="2926080"/>
          </a:xfrm>
          <a:prstGeom prst="ellipse">
            <a:avLst/>
          </a:prstGeom>
          <a:ln w="19050">
            <a:solidFill>
              <a:srgbClr val="9CA3AF"/>
            </a:solidFill>
            <a:prstDash val="dash"/>
          </a:ln>
        </p:spPr>
      </p:sp>
      <p:sp>
        <p:nvSpPr>
          <p:cNvPr id="6" name="Text 4"/>
          <p:cNvSpPr/>
          <p:nvPr/>
        </p:nvSpPr>
        <p:spPr>
          <a:xfrm>
            <a:off x="2560320" y="1709928"/>
            <a:ext cx="1920240" cy="694944"/>
          </a:xfrm>
          <a:prstGeom prst="roundRect">
            <a:avLst>
              <a:gd name="adj" fmla="val 10526"/>
            </a:avLst>
          </a:prstGeom>
          <a:solidFill>
            <a:srgbClr val="FFFFFF"/>
          </a:solidFill>
          <a:ln>
            <a:solidFill>
              <a:srgbClr val="D0D7DE"/>
            </a:solidFill>
          </a:ln>
        </p:spPr>
        <p:txBody>
          <a:bodyPr wrap="square" lIns="38100" tIns="38100" rIns="38100" bIns="38100" rtlCol="0" anchor="ctr"/>
          <a:lstStyle/>
          <a:p>
            <a:pPr algn="ctr" indent="0" marL="0">
              <a:buNone/>
            </a:pPr>
            <a:r>
              <a:rPr lang="en-US" sz="1400" b="1" dirty="0">
                <a:solidFill>
                  <a:srgbClr val="111827"/>
                </a:solidFill>
                <a:latin typeface="Segoe UI" pitchFamily="34" charset="0"/>
                <a:ea typeface="Segoe UI" pitchFamily="34" charset="-122"/>
                <a:cs typeface="Segoe UI" pitchFamily="34" charset="-120"/>
              </a:rPr>
              <a:t>Virhe tai käyttäjän korjaus</a:t>
            </a:r>
            <a:endParaRPr lang="en-US" sz="1400" dirty="0"/>
          </a:p>
        </p:txBody>
      </p:sp>
      <p:sp>
        <p:nvSpPr>
          <p:cNvPr id="7" name="Text 5"/>
          <p:cNvSpPr/>
          <p:nvPr/>
        </p:nvSpPr>
        <p:spPr>
          <a:xfrm>
            <a:off x="4777918" y="2720864"/>
            <a:ext cx="1920240" cy="694944"/>
          </a:xfrm>
          <a:prstGeom prst="roundRect">
            <a:avLst>
              <a:gd name="adj" fmla="val 10526"/>
            </a:avLst>
          </a:prstGeom>
          <a:solidFill>
            <a:srgbClr val="FFFFFF"/>
          </a:solidFill>
          <a:ln>
            <a:solidFill>
              <a:srgbClr val="D0D7DE"/>
            </a:solidFill>
          </a:ln>
        </p:spPr>
        <p:txBody>
          <a:bodyPr wrap="square" lIns="38100" tIns="38100" rIns="38100" bIns="38100" rtlCol="0" anchor="ctr"/>
          <a:lstStyle/>
          <a:p>
            <a:pPr algn="ctr" indent="0" marL="0">
              <a:buNone/>
            </a:pPr>
            <a:r>
              <a:rPr lang="en-US" sz="1400" b="1" dirty="0">
                <a:solidFill>
                  <a:srgbClr val="111827"/>
                </a:solidFill>
                <a:latin typeface="Segoe UI" pitchFamily="34" charset="0"/>
                <a:ea typeface="Segoe UI" pitchFamily="34" charset="-122"/>
                <a:cs typeface="Segoe UI" pitchFamily="34" charset="-120"/>
              </a:rPr>
              <a:t>Selvitys</a:t>
            </a:r>
            <a:endParaRPr lang="en-US" sz="1400" dirty="0"/>
          </a:p>
        </p:txBody>
      </p:sp>
      <p:sp>
        <p:nvSpPr>
          <p:cNvPr id="8" name="Text 6"/>
          <p:cNvSpPr/>
          <p:nvPr/>
        </p:nvSpPr>
        <p:spPr>
          <a:xfrm>
            <a:off x="3930871" y="4356592"/>
            <a:ext cx="1920240" cy="694944"/>
          </a:xfrm>
          <a:prstGeom prst="roundRect">
            <a:avLst>
              <a:gd name="adj" fmla="val 10526"/>
            </a:avLst>
          </a:prstGeom>
          <a:solidFill>
            <a:srgbClr val="FFFFFF"/>
          </a:solidFill>
          <a:ln>
            <a:solidFill>
              <a:srgbClr val="D0D7DE"/>
            </a:solidFill>
          </a:ln>
        </p:spPr>
        <p:txBody>
          <a:bodyPr wrap="square" lIns="38100" tIns="38100" rIns="38100" bIns="38100" rtlCol="0" anchor="ctr"/>
          <a:lstStyle/>
          <a:p>
            <a:pPr algn="ctr" indent="0" marL="0">
              <a:buNone/>
            </a:pPr>
            <a:r>
              <a:rPr lang="en-US" sz="1400" b="1" dirty="0">
                <a:solidFill>
                  <a:srgbClr val="111827"/>
                </a:solidFill>
                <a:latin typeface="Segoe UI" pitchFamily="34" charset="0"/>
                <a:ea typeface="Segoe UI" pitchFamily="34" charset="-122"/>
                <a:cs typeface="Segoe UI" pitchFamily="34" charset="-120"/>
              </a:rPr>
              <a:t>Rajattu korjaus</a:t>
            </a:r>
            <a:endParaRPr lang="en-US" sz="1400" dirty="0"/>
          </a:p>
        </p:txBody>
      </p:sp>
      <p:sp>
        <p:nvSpPr>
          <p:cNvPr id="9" name="Text 7"/>
          <p:cNvSpPr/>
          <p:nvPr/>
        </p:nvSpPr>
        <p:spPr>
          <a:xfrm>
            <a:off x="1189769" y="4356592"/>
            <a:ext cx="1920240" cy="694944"/>
          </a:xfrm>
          <a:prstGeom prst="roundRect">
            <a:avLst>
              <a:gd name="adj" fmla="val 10526"/>
            </a:avLst>
          </a:prstGeom>
          <a:solidFill>
            <a:srgbClr val="FFFFFF"/>
          </a:solidFill>
          <a:ln>
            <a:solidFill>
              <a:srgbClr val="D0D7DE"/>
            </a:solidFill>
          </a:ln>
        </p:spPr>
        <p:txBody>
          <a:bodyPr wrap="square" lIns="38100" tIns="38100" rIns="38100" bIns="38100" rtlCol="0" anchor="ctr"/>
          <a:lstStyle/>
          <a:p>
            <a:pPr algn="ctr" indent="0" marL="0">
              <a:buNone/>
            </a:pPr>
            <a:r>
              <a:rPr lang="en-US" sz="1400" b="1" dirty="0">
                <a:solidFill>
                  <a:srgbClr val="111827"/>
                </a:solidFill>
                <a:latin typeface="Segoe UI" pitchFamily="34" charset="0"/>
                <a:ea typeface="Segoe UI" pitchFamily="34" charset="-122"/>
                <a:cs typeface="Segoe UI" pitchFamily="34" charset="-120"/>
              </a:rPr>
              <a:t>Tarkistukset</a:t>
            </a:r>
            <a:endParaRPr lang="en-US" sz="1400" dirty="0"/>
          </a:p>
        </p:txBody>
      </p:sp>
      <p:sp>
        <p:nvSpPr>
          <p:cNvPr id="10" name="Text 8"/>
          <p:cNvSpPr/>
          <p:nvPr/>
        </p:nvSpPr>
        <p:spPr>
          <a:xfrm>
            <a:off x="342722" y="2720864"/>
            <a:ext cx="1920240" cy="694944"/>
          </a:xfrm>
          <a:prstGeom prst="roundRect">
            <a:avLst>
              <a:gd name="adj" fmla="val 10526"/>
            </a:avLst>
          </a:prstGeom>
          <a:solidFill>
            <a:srgbClr val="FFF8C5"/>
          </a:solidFill>
          <a:ln>
            <a:solidFill>
              <a:srgbClr val="EAD58A"/>
            </a:solidFill>
          </a:ln>
        </p:spPr>
        <p:txBody>
          <a:bodyPr wrap="square" lIns="38100" tIns="38100" rIns="38100" bIns="38100" rtlCol="0" anchor="ctr"/>
          <a:lstStyle/>
          <a:p>
            <a:pPr algn="ctr" indent="0" marL="0">
              <a:buNone/>
            </a:pPr>
            <a:r>
              <a:rPr lang="en-US" sz="1400" b="1" dirty="0">
                <a:solidFill>
                  <a:srgbClr val="111827"/>
                </a:solidFill>
                <a:latin typeface="Segoe UI" pitchFamily="34" charset="0"/>
                <a:ea typeface="Segoe UI" pitchFamily="34" charset="-122"/>
                <a:cs typeface="Segoe UI" pitchFamily="34" charset="-120"/>
              </a:rPr>
              <a:t>Julkaisupäätös</a:t>
            </a:r>
            <a:endParaRPr lang="en-US" sz="1400" dirty="0"/>
          </a:p>
        </p:txBody>
      </p:sp>
      <p:sp>
        <p:nvSpPr>
          <p:cNvPr id="11" name="Shape 9"/>
          <p:cNvSpPr/>
          <p:nvPr/>
        </p:nvSpPr>
        <p:spPr>
          <a:xfrm>
            <a:off x="2788920" y="3136392"/>
            <a:ext cx="1463040" cy="768096"/>
          </a:xfrm>
          <a:prstGeom prst="ellipse">
            <a:avLst/>
          </a:prstGeom>
          <a:solidFill>
            <a:srgbClr val="EFF6FF"/>
          </a:solidFill>
          <a:ln w="12700">
            <a:solidFill>
              <a:srgbClr val="2563EB"/>
            </a:solidFill>
            <a:prstDash val="solid"/>
          </a:ln>
        </p:spPr>
      </p:sp>
      <p:sp>
        <p:nvSpPr>
          <p:cNvPr id="12" name="Text 10"/>
          <p:cNvSpPr txBox="1"/>
          <p:nvPr/>
        </p:nvSpPr>
        <p:spPr>
          <a:xfrm>
            <a:off x="2788920" y="3136392"/>
            <a:ext cx="1463040" cy="768096"/>
          </a:xfrm>
          <a:prstGeom prst="rect">
            <a:avLst/>
          </a:prstGeom>
          <a:noFill/>
          <a:ln/>
        </p:spPr>
        <p:txBody>
          <a:bodyPr wrap="square" lIns="0" tIns="0" rIns="0" bIns="0" rtlCol="0" anchor="ctr"/>
          <a:lstStyle/>
          <a:p>
            <a:pPr algn="ctr" indent="0" marL="0">
              <a:buNone/>
            </a:pPr>
            <a:r>
              <a:rPr lang="en-US" sz="1400" b="1" dirty="0">
                <a:solidFill>
                  <a:srgbClr val="2563EB"/>
                </a:solidFill>
                <a:latin typeface="Consolas" pitchFamily="34" charset="0"/>
                <a:ea typeface="Consolas" pitchFamily="34" charset="-122"/>
                <a:cs typeface="Consolas" pitchFamily="34" charset="-120"/>
              </a:rPr>
              <a:t>omistaja</a:t>
            </a:r>
            <a:endParaRPr lang="en-US" sz="1400" dirty="0"/>
          </a:p>
        </p:txBody>
      </p:sp>
      <p:sp>
        <p:nvSpPr>
          <p:cNvPr id="13" name="Kortti"/>
          <p:cNvSpPr/>
          <p:nvPr/>
        </p:nvSpPr>
        <p:spPr>
          <a:xfrm>
            <a:off x="6949440" y="1828800"/>
            <a:ext cx="4663440" cy="2651760"/>
          </a:xfrm>
          <a:prstGeom prst="roundRect">
            <a:avLst>
              <a:gd name="adj" fmla="val 3448"/>
            </a:avLst>
          </a:prstGeom>
          <a:solidFill>
            <a:srgbClr val="FFFFFF"/>
          </a:solidFill>
          <a:ln w="12700">
            <a:solidFill>
              <a:srgbClr val="E5E7EB"/>
            </a:solidFill>
            <a:prstDash val="solid"/>
          </a:ln>
        </p:spPr>
      </p:sp>
      <p:sp>
        <p:nvSpPr>
          <p:cNvPr id="14" name="Text 12"/>
          <p:cNvSpPr txBox="1"/>
          <p:nvPr/>
        </p:nvSpPr>
        <p:spPr>
          <a:xfrm>
            <a:off x="7178040" y="1965960"/>
            <a:ext cx="4206240" cy="320040"/>
          </a:xfrm>
          <a:prstGeom prst="rect">
            <a:avLst/>
          </a:prstGeom>
          <a:noFill/>
          <a:ln/>
        </p:spPr>
        <p:txBody>
          <a:bodyPr wrap="square" lIns="0" tIns="0" rIns="0" bIns="0" rtlCol="0" anchor="t"/>
          <a:lstStyle/>
          <a:p>
            <a:pPr algn="l" indent="0" marL="0">
              <a:buNone/>
            </a:pPr>
            <a:r>
              <a:rPr lang="en-US" sz="1200" dirty="0">
                <a:solidFill>
                  <a:srgbClr val="6B7280"/>
                </a:solidFill>
                <a:latin typeface="Consolas" pitchFamily="34" charset="0"/>
                <a:ea typeface="Consolas" pitchFamily="34" charset="-122"/>
                <a:cs typeface="Consolas" pitchFamily="34" charset="-120"/>
              </a:rPr>
              <a:t>// esijulkaisu</a:t>
            </a:r>
            <a:endParaRPr lang="en-US" sz="1200" dirty="0"/>
          </a:p>
        </p:txBody>
      </p:sp>
      <p:sp>
        <p:nvSpPr>
          <p:cNvPr id="15" name="Text 13"/>
          <p:cNvSpPr txBox="1"/>
          <p:nvPr/>
        </p:nvSpPr>
        <p:spPr>
          <a:xfrm>
            <a:off x="7178040" y="2331720"/>
            <a:ext cx="4206240" cy="914400"/>
          </a:xfrm>
          <a:prstGeom prst="rect">
            <a:avLst/>
          </a:prstGeom>
          <a:noFill/>
          <a:ln/>
        </p:spPr>
        <p:txBody>
          <a:bodyPr wrap="square" lIns="0" tIns="0" rIns="0" bIns="0" rtlCol="0" anchor="t"/>
          <a:lstStyle/>
          <a:p>
            <a:pPr algn="l" indent="0" marL="0">
              <a:buNone/>
            </a:pPr>
            <a:r>
              <a:rPr lang="en-US" sz="1700" dirty="0">
                <a:solidFill>
                  <a:srgbClr val="111827"/>
                </a:solidFill>
                <a:latin typeface="Segoe UI" pitchFamily="34" charset="0"/>
                <a:ea typeface="Segoe UI" pitchFamily="34" charset="-122"/>
                <a:cs typeface="Segoe UI" pitchFamily="34" charset="-120"/>
              </a:rPr>
              <a:t>Kun edellisen muutoksen oli tehnyt agentti, seuraava tehtävä onnistui keskimäärin</a:t>
            </a:r>
            <a:endParaRPr lang="en-US" sz="1700" dirty="0"/>
          </a:p>
        </p:txBody>
      </p:sp>
      <p:sp>
        <p:nvSpPr>
          <p:cNvPr id="16" name="Text 14"/>
          <p:cNvSpPr txBox="1"/>
          <p:nvPr/>
        </p:nvSpPr>
        <p:spPr>
          <a:xfrm>
            <a:off x="7178040" y="3246120"/>
            <a:ext cx="4206240" cy="640080"/>
          </a:xfrm>
          <a:prstGeom prst="rect">
            <a:avLst/>
          </a:prstGeom>
          <a:noFill/>
          <a:ln/>
        </p:spPr>
        <p:txBody>
          <a:bodyPr wrap="square" lIns="0" tIns="0" rIns="0" bIns="0" rtlCol="0" anchor="t"/>
          <a:lstStyle/>
          <a:p>
            <a:pPr algn="l" indent="0" marL="0">
              <a:buNone/>
            </a:pPr>
            <a:r>
              <a:rPr lang="en-US" sz="3000" b="1" dirty="0">
                <a:solidFill>
                  <a:srgbClr val="CF222E"/>
                </a:solidFill>
                <a:latin typeface="Segoe UI" pitchFamily="34" charset="0"/>
                <a:ea typeface="Segoe UI" pitchFamily="34" charset="-122"/>
                <a:cs typeface="Segoe UI" pitchFamily="34" charset="-120"/>
              </a:rPr>
              <a:t>5,6 %-yks. harvemmin</a:t>
            </a:r>
            <a:endParaRPr lang="en-US" sz="3000" dirty="0"/>
          </a:p>
        </p:txBody>
      </p:sp>
      <p:sp>
        <p:nvSpPr>
          <p:cNvPr id="17" name="Alarivi"/>
          <p:cNvSpPr txBox="1"/>
          <p:nvPr/>
        </p:nvSpPr>
        <p:spPr>
          <a:xfrm>
            <a:off x="548640" y="5559552"/>
            <a:ext cx="768096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Mitä seuraava tekijä perii sinulta?</a:t>
            </a:r>
            <a:endParaRPr lang="en-US" sz="2000" dirty="0"/>
          </a:p>
        </p:txBody>
      </p:sp>
      <p:sp>
        <p:nvSpPr>
          <p:cNvPr id="18" name="Lähde"/>
          <p:cNvSpPr txBox="1"/>
          <p:nvPr/>
        </p:nvSpPr>
        <p:spPr>
          <a:xfrm>
            <a:off x="548640" y="6272784"/>
            <a:ext cx="768096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SWE-Maintain, esijulkaisu 10.10.2026 · lyhyet tehtäväketjut, valitut repot.</a:t>
            </a:r>
            <a:endParaRPr lang="en-US" sz="1100" dirty="0"/>
          </a:p>
        </p:txBody>
      </p:sp>
      <p:sp>
        <p:nvSpPr>
          <p:cNvPr id="19" name="Shape 17"/>
          <p:cNvSpPr/>
          <p:nvPr/>
        </p:nvSpPr>
        <p:spPr>
          <a:xfrm>
            <a:off x="8412480" y="6455664"/>
            <a:ext cx="3291840" cy="0"/>
          </a:xfrm>
          <a:prstGeom prst="line">
            <a:avLst/>
          </a:prstGeom>
          <a:noFill/>
          <a:ln w="19050">
            <a:solidFill>
              <a:srgbClr val="E5E7EB"/>
            </a:solidFill>
            <a:prstDash val="solid"/>
          </a:ln>
        </p:spPr>
      </p:sp>
      <p:sp>
        <p:nvSpPr>
          <p:cNvPr id="20" name="Shape 18"/>
          <p:cNvSpPr/>
          <p:nvPr/>
        </p:nvSpPr>
        <p:spPr>
          <a:xfrm>
            <a:off x="8353044" y="6396228"/>
            <a:ext cx="118872" cy="118872"/>
          </a:xfrm>
          <a:prstGeom prst="ellipse">
            <a:avLst/>
          </a:prstGeom>
          <a:solidFill>
            <a:srgbClr val="9CA3AF"/>
          </a:solidFill>
          <a:ln w="9525">
            <a:solidFill>
              <a:srgbClr val="9CA3AF"/>
            </a:solidFill>
            <a:prstDash val="solid"/>
          </a:ln>
        </p:spPr>
      </p:sp>
      <p:sp>
        <p:nvSpPr>
          <p:cNvPr id="21" name="Shape 19"/>
          <p:cNvSpPr/>
          <p:nvPr/>
        </p:nvSpPr>
        <p:spPr>
          <a:xfrm>
            <a:off x="8901684" y="6396228"/>
            <a:ext cx="118872" cy="118872"/>
          </a:xfrm>
          <a:prstGeom prst="ellipse">
            <a:avLst/>
          </a:prstGeom>
          <a:solidFill>
            <a:srgbClr val="9CA3AF"/>
          </a:solidFill>
          <a:ln w="9525">
            <a:solidFill>
              <a:srgbClr val="9CA3AF"/>
            </a:solidFill>
            <a:prstDash val="solid"/>
          </a:ln>
        </p:spPr>
      </p:sp>
      <p:sp>
        <p:nvSpPr>
          <p:cNvPr id="22" name="Shape 20"/>
          <p:cNvSpPr/>
          <p:nvPr/>
        </p:nvSpPr>
        <p:spPr>
          <a:xfrm>
            <a:off x="9450324" y="6396228"/>
            <a:ext cx="118872" cy="118872"/>
          </a:xfrm>
          <a:prstGeom prst="ellipse">
            <a:avLst/>
          </a:prstGeom>
          <a:solidFill>
            <a:srgbClr val="9CA3AF"/>
          </a:solidFill>
          <a:ln w="9525">
            <a:solidFill>
              <a:srgbClr val="9CA3AF"/>
            </a:solidFill>
            <a:prstDash val="solid"/>
          </a:ln>
        </p:spPr>
      </p:sp>
      <p:sp>
        <p:nvSpPr>
          <p:cNvPr id="23" name="Shape 21"/>
          <p:cNvSpPr/>
          <p:nvPr/>
        </p:nvSpPr>
        <p:spPr>
          <a:xfrm>
            <a:off x="9998964" y="6396228"/>
            <a:ext cx="118872" cy="118872"/>
          </a:xfrm>
          <a:prstGeom prst="ellipse">
            <a:avLst/>
          </a:prstGeom>
          <a:solidFill>
            <a:srgbClr val="9CA3AF"/>
          </a:solidFill>
          <a:ln w="9525">
            <a:solidFill>
              <a:srgbClr val="9CA3AF"/>
            </a:solidFill>
            <a:prstDash val="solid"/>
          </a:ln>
        </p:spPr>
      </p:sp>
      <p:sp>
        <p:nvSpPr>
          <p:cNvPr id="24" name="Shape 22"/>
          <p:cNvSpPr/>
          <p:nvPr/>
        </p:nvSpPr>
        <p:spPr>
          <a:xfrm>
            <a:off x="10547604" y="6396228"/>
            <a:ext cx="118872" cy="118872"/>
          </a:xfrm>
          <a:prstGeom prst="ellipse">
            <a:avLst/>
          </a:prstGeom>
          <a:solidFill>
            <a:srgbClr val="9CA3AF"/>
          </a:solidFill>
          <a:ln w="9525">
            <a:solidFill>
              <a:srgbClr val="9CA3AF"/>
            </a:solidFill>
            <a:prstDash val="solid"/>
          </a:ln>
        </p:spPr>
      </p:sp>
      <p:sp>
        <p:nvSpPr>
          <p:cNvPr id="25" name="Shape 23"/>
          <p:cNvSpPr/>
          <p:nvPr/>
        </p:nvSpPr>
        <p:spPr>
          <a:xfrm>
            <a:off x="11096244" y="6396228"/>
            <a:ext cx="118872" cy="118872"/>
          </a:xfrm>
          <a:prstGeom prst="ellipse">
            <a:avLst/>
          </a:prstGeom>
          <a:solidFill>
            <a:srgbClr val="9CA3AF"/>
          </a:solidFill>
          <a:ln w="9525">
            <a:solidFill>
              <a:srgbClr val="9CA3AF"/>
            </a:solidFill>
            <a:prstDash val="solid"/>
          </a:ln>
        </p:spPr>
      </p:sp>
      <p:sp>
        <p:nvSpPr>
          <p:cNvPr id="26" name="Shape 24"/>
          <p:cNvSpPr/>
          <p:nvPr/>
        </p:nvSpPr>
        <p:spPr>
          <a:xfrm>
            <a:off x="11603736" y="6355080"/>
            <a:ext cx="201168" cy="201168"/>
          </a:xfrm>
          <a:prstGeom prst="ellipse">
            <a:avLst/>
          </a:prstGeom>
          <a:solidFill>
            <a:srgbClr val="2563EB"/>
          </a:solidFill>
          <a:ln w="9525">
            <a:solidFill>
              <a:srgbClr val="2563EB"/>
            </a:solidFill>
            <a:prstDash val="solid"/>
          </a:ln>
        </p:spPr>
      </p:sp>
      <p:sp>
        <p:nvSpPr>
          <p:cNvPr id="27" name="Text 25"/>
          <p:cNvSpPr txBox="1"/>
          <p:nvPr/>
        </p:nvSpPr>
        <p:spPr>
          <a:xfrm>
            <a:off x="10972800" y="6035040"/>
            <a:ext cx="1463040" cy="274320"/>
          </a:xfrm>
          <a:prstGeom prst="rect">
            <a:avLst/>
          </a:prstGeom>
          <a:noFill/>
          <a:ln/>
        </p:spPr>
        <p:txBody>
          <a:bodyPr wrap="square" lIns="0" tIns="0" rIns="0" bIns="0" rtlCol="0" anchor="b"/>
          <a:lstStyle/>
          <a:p>
            <a:pPr algn="ctr" indent="0" marL="0">
              <a:buNone/>
            </a:pPr>
            <a:r>
              <a:rPr lang="en-US" sz="1100" dirty="0">
                <a:solidFill>
                  <a:srgbClr val="2563EB"/>
                </a:solidFill>
                <a:latin typeface="Consolas" pitchFamily="34" charset="0"/>
                <a:ea typeface="Consolas" pitchFamily="34" charset="-122"/>
                <a:cs typeface="Consolas" pitchFamily="34" charset="-120"/>
              </a:rPr>
              <a:t>seuraa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Asentaja korjaa luonnoksen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Huoltoesimerkki, osa 2</a:t>
            </a:r>
            <a:endParaRPr lang="en-US" sz="1800" dirty="0"/>
          </a:p>
        </p:txBody>
      </p:sp>
      <p:pic>
        <p:nvPicPr>
          <p:cNvPr id="5" name="Image 0" descr="/Users/koodattu/Documents/GitHub/lakeus-devaus-2026/output/v3/assets/maintenance-illustration.png">    </p:cNvPr>
          <p:cNvPicPr>
            <a:picLocks noChangeAspect="1"/>
          </p:cNvPicPr>
          <p:nvPr/>
        </p:nvPicPr>
        <p:blipFill>
          <a:blip r:embed="rId1"/>
          <a:stretch>
            <a:fillRect/>
          </a:stretch>
        </p:blipFill>
        <p:spPr>
          <a:xfrm>
            <a:off x="548640" y="1783080"/>
            <a:ext cx="3017520" cy="3017520"/>
          </a:xfrm>
          <a:prstGeom prst="rect">
            <a:avLst/>
          </a:prstGeom>
        </p:spPr>
      </p:pic>
      <p:sp>
        <p:nvSpPr>
          <p:cNvPr id="6" name="Shape 3"/>
          <p:cNvSpPr/>
          <p:nvPr/>
        </p:nvSpPr>
        <p:spPr>
          <a:xfrm>
            <a:off x="3749040" y="3291840"/>
            <a:ext cx="548640" cy="0"/>
          </a:xfrm>
          <a:prstGeom prst="line">
            <a:avLst/>
          </a:prstGeom>
          <a:noFill/>
          <a:ln w="31750">
            <a:solidFill>
              <a:srgbClr val="9CA3AF"/>
            </a:solidFill>
            <a:prstDash val="solid"/>
            <a:tailEnd type="triangle"/>
          </a:ln>
        </p:spPr>
      </p:sp>
      <p:sp>
        <p:nvSpPr>
          <p:cNvPr id="7" name="Kortti"/>
          <p:cNvSpPr/>
          <p:nvPr/>
        </p:nvSpPr>
        <p:spPr>
          <a:xfrm>
            <a:off x="4526280" y="1783080"/>
            <a:ext cx="7086600" cy="2743200"/>
          </a:xfrm>
          <a:prstGeom prst="roundRect">
            <a:avLst>
              <a:gd name="adj" fmla="val 3333"/>
            </a:avLst>
          </a:prstGeom>
          <a:solidFill>
            <a:srgbClr val="FFFFFF"/>
          </a:solidFill>
          <a:ln w="12700">
            <a:solidFill>
              <a:srgbClr val="E5E7EB"/>
            </a:solidFill>
            <a:prstDash val="solid"/>
          </a:ln>
        </p:spPr>
      </p:sp>
      <p:sp>
        <p:nvSpPr>
          <p:cNvPr id="8" name="Text 5"/>
          <p:cNvSpPr txBox="1"/>
          <p:nvPr/>
        </p:nvSpPr>
        <p:spPr>
          <a:xfrm>
            <a:off x="4800600" y="1947672"/>
            <a:ext cx="6537960" cy="320040"/>
          </a:xfrm>
          <a:prstGeom prst="rect">
            <a:avLst/>
          </a:prstGeom>
          <a:noFill/>
          <a:ln/>
        </p:spPr>
        <p:txBody>
          <a:bodyPr wrap="square" lIns="0" tIns="0" rIns="0" bIns="0" rtlCol="0" anchor="t"/>
          <a:lstStyle/>
          <a:p>
            <a:pPr algn="l" indent="0" marL="0">
              <a:buNone/>
            </a:pPr>
            <a:r>
              <a:rPr lang="en-US" sz="1200" dirty="0">
                <a:solidFill>
                  <a:srgbClr val="6B7280"/>
                </a:solidFill>
                <a:latin typeface="Consolas" pitchFamily="34" charset="0"/>
                <a:ea typeface="Consolas" pitchFamily="34" charset="-122"/>
                <a:cs typeface="Consolas" pitchFamily="34" charset="-120"/>
              </a:rPr>
              <a:t>// luonnos · huoltokirjaus</a:t>
            </a:r>
            <a:endParaRPr lang="en-US" sz="1200" dirty="0"/>
          </a:p>
        </p:txBody>
      </p:sp>
      <p:sp>
        <p:nvSpPr>
          <p:cNvPr id="9" name="Text 6"/>
          <p:cNvSpPr txBox="1"/>
          <p:nvPr/>
        </p:nvSpPr>
        <p:spPr>
          <a:xfrm>
            <a:off x="4800600" y="2423160"/>
            <a:ext cx="1463040" cy="502920"/>
          </a:xfrm>
          <a:prstGeom prst="rect">
            <a:avLst/>
          </a:prstGeom>
          <a:noFill/>
          <a:ln/>
        </p:spPr>
        <p:txBody>
          <a:bodyPr wrap="square" lIns="0" tIns="0" rIns="0" bIns="0" rtlCol="0" anchor="ctr"/>
          <a:lstStyle/>
          <a:p>
            <a:pPr algn="l" indent="0" marL="0">
              <a:buNone/>
            </a:pPr>
            <a:r>
              <a:rPr lang="en-US" sz="1500" dirty="0">
                <a:solidFill>
                  <a:srgbClr val="6B7280"/>
                </a:solidFill>
                <a:latin typeface="Segoe UI" pitchFamily="34" charset="0"/>
                <a:ea typeface="Segoe UI" pitchFamily="34" charset="-122"/>
                <a:cs typeface="Segoe UI" pitchFamily="34" charset="-120"/>
              </a:rPr>
              <a:t>Laite</a:t>
            </a:r>
            <a:endParaRPr lang="en-US" sz="1500" dirty="0"/>
          </a:p>
        </p:txBody>
      </p:sp>
      <p:sp>
        <p:nvSpPr>
          <p:cNvPr id="10" name="Shape 7"/>
          <p:cNvSpPr/>
          <p:nvPr/>
        </p:nvSpPr>
        <p:spPr>
          <a:xfrm>
            <a:off x="6263640" y="2423160"/>
            <a:ext cx="5074920" cy="502920"/>
          </a:xfrm>
          <a:prstGeom prst="roundRect">
            <a:avLst>
              <a:gd name="adj" fmla="val 9091"/>
            </a:avLst>
          </a:prstGeom>
          <a:solidFill>
            <a:srgbClr val="F6F8FA"/>
          </a:solidFill>
          <a:ln w="12700">
            <a:solidFill>
              <a:srgbClr val="D0D7DE"/>
            </a:solidFill>
            <a:prstDash val="solid"/>
          </a:ln>
        </p:spPr>
      </p:sp>
      <p:sp>
        <p:nvSpPr>
          <p:cNvPr id="11" name="Text 8"/>
          <p:cNvSpPr txBox="1"/>
          <p:nvPr/>
        </p:nvSpPr>
        <p:spPr>
          <a:xfrm>
            <a:off x="6373368" y="2423160"/>
            <a:ext cx="4892040" cy="502920"/>
          </a:xfrm>
          <a:prstGeom prst="rect">
            <a:avLst/>
          </a:prstGeom>
          <a:noFill/>
          <a:ln/>
        </p:spPr>
        <p:txBody>
          <a:bodyPr wrap="square" lIns="0" tIns="0" rIns="0" bIns="0" rtlCol="0" anchor="ctr"/>
          <a:lstStyle/>
          <a:p>
            <a:pPr indent="0" marL="0">
              <a:buNone/>
            </a:pPr>
            <a:r>
              <a:rPr lang="en-US" sz="1700" b="1" dirty="0">
                <a:solidFill>
                  <a:srgbClr val="111827"/>
                </a:solidFill>
                <a:latin typeface="Segoe UI" pitchFamily="34" charset="0"/>
                <a:ea typeface="Segoe UI" pitchFamily="34" charset="-122"/>
                <a:cs typeface="Segoe UI" pitchFamily="34" charset="-120"/>
              </a:rPr>
              <a:t>Pumppu A</a:t>
            </a:r>
            <a:endParaRPr lang="en-US" sz="1700" dirty="0"/>
          </a:p>
        </p:txBody>
      </p:sp>
      <p:sp>
        <p:nvSpPr>
          <p:cNvPr id="12" name="Text 9"/>
          <p:cNvSpPr txBox="1"/>
          <p:nvPr/>
        </p:nvSpPr>
        <p:spPr>
          <a:xfrm>
            <a:off x="4800600" y="3108960"/>
            <a:ext cx="1463040" cy="502920"/>
          </a:xfrm>
          <a:prstGeom prst="rect">
            <a:avLst/>
          </a:prstGeom>
          <a:noFill/>
          <a:ln/>
        </p:spPr>
        <p:txBody>
          <a:bodyPr wrap="square" lIns="0" tIns="0" rIns="0" bIns="0" rtlCol="0" anchor="ctr"/>
          <a:lstStyle/>
          <a:p>
            <a:pPr algn="l" indent="0" marL="0">
              <a:buNone/>
            </a:pPr>
            <a:r>
              <a:rPr lang="en-US" sz="1500" dirty="0">
                <a:solidFill>
                  <a:srgbClr val="6B7280"/>
                </a:solidFill>
                <a:latin typeface="Segoe UI" pitchFamily="34" charset="0"/>
                <a:ea typeface="Segoe UI" pitchFamily="34" charset="-122"/>
                <a:cs typeface="Segoe UI" pitchFamily="34" charset="-120"/>
              </a:rPr>
              <a:t>Havainto</a:t>
            </a:r>
            <a:endParaRPr lang="en-US" sz="1500" dirty="0"/>
          </a:p>
        </p:txBody>
      </p:sp>
      <p:sp>
        <p:nvSpPr>
          <p:cNvPr id="13" name="Shape 10"/>
          <p:cNvSpPr/>
          <p:nvPr/>
        </p:nvSpPr>
        <p:spPr>
          <a:xfrm>
            <a:off x="6263640" y="3108960"/>
            <a:ext cx="5074920" cy="502920"/>
          </a:xfrm>
          <a:prstGeom prst="roundRect">
            <a:avLst>
              <a:gd name="adj" fmla="val 9091"/>
            </a:avLst>
          </a:prstGeom>
          <a:solidFill>
            <a:srgbClr val="F6F8FA"/>
          </a:solidFill>
          <a:ln w="12700">
            <a:solidFill>
              <a:srgbClr val="D0D7DE"/>
            </a:solidFill>
            <a:prstDash val="solid"/>
          </a:ln>
        </p:spPr>
      </p:sp>
      <p:sp>
        <p:nvSpPr>
          <p:cNvPr id="14" name="Text 11"/>
          <p:cNvSpPr txBox="1"/>
          <p:nvPr/>
        </p:nvSpPr>
        <p:spPr>
          <a:xfrm>
            <a:off x="6373368" y="3108960"/>
            <a:ext cx="4892040" cy="502920"/>
          </a:xfrm>
          <a:prstGeom prst="rect">
            <a:avLst/>
          </a:prstGeom>
          <a:noFill/>
          <a:ln/>
        </p:spPr>
        <p:txBody>
          <a:bodyPr wrap="square" lIns="0" tIns="0" rIns="0" bIns="0" rtlCol="0" anchor="ctr"/>
          <a:lstStyle/>
          <a:p>
            <a:pPr indent="0" marL="0">
              <a:buNone/>
            </a:pPr>
            <a:r>
              <a:rPr lang="en-US" sz="1700" b="1" dirty="0">
                <a:solidFill>
                  <a:srgbClr val="111827"/>
                </a:solidFill>
                <a:latin typeface="Segoe UI" pitchFamily="34" charset="0"/>
                <a:ea typeface="Segoe UI" pitchFamily="34" charset="-122"/>
                <a:cs typeface="Segoe UI" pitchFamily="34" charset="-120"/>
              </a:rPr>
              <a:t>Epätavallinen ääni</a:t>
            </a:r>
            <a:endParaRPr lang="en-US" sz="1700" dirty="0"/>
          </a:p>
        </p:txBody>
      </p:sp>
      <p:sp>
        <p:nvSpPr>
          <p:cNvPr id="15" name="Text 12"/>
          <p:cNvSpPr txBox="1"/>
          <p:nvPr/>
        </p:nvSpPr>
        <p:spPr>
          <a:xfrm>
            <a:off x="4800600" y="3794760"/>
            <a:ext cx="1463040" cy="502920"/>
          </a:xfrm>
          <a:prstGeom prst="rect">
            <a:avLst/>
          </a:prstGeom>
          <a:noFill/>
          <a:ln/>
        </p:spPr>
        <p:txBody>
          <a:bodyPr wrap="square" lIns="0" tIns="0" rIns="0" bIns="0" rtlCol="0" anchor="ctr"/>
          <a:lstStyle/>
          <a:p>
            <a:pPr algn="l" indent="0" marL="0">
              <a:buNone/>
            </a:pPr>
            <a:r>
              <a:rPr lang="en-US" sz="1500" dirty="0">
                <a:solidFill>
                  <a:srgbClr val="6B7280"/>
                </a:solidFill>
                <a:latin typeface="Segoe UI" pitchFamily="34" charset="0"/>
                <a:ea typeface="Segoe UI" pitchFamily="34" charset="-122"/>
                <a:cs typeface="Segoe UI" pitchFamily="34" charset="-120"/>
              </a:rPr>
              <a:t>Toimi</a:t>
            </a:r>
            <a:endParaRPr lang="en-US" sz="1500" dirty="0"/>
          </a:p>
        </p:txBody>
      </p:sp>
      <p:sp>
        <p:nvSpPr>
          <p:cNvPr id="16" name="Shape 13"/>
          <p:cNvSpPr/>
          <p:nvPr/>
        </p:nvSpPr>
        <p:spPr>
          <a:xfrm>
            <a:off x="6263640" y="3794760"/>
            <a:ext cx="5074920" cy="502920"/>
          </a:xfrm>
          <a:prstGeom prst="roundRect">
            <a:avLst>
              <a:gd name="adj" fmla="val 9091"/>
            </a:avLst>
          </a:prstGeom>
          <a:solidFill>
            <a:srgbClr val="FFEBE9"/>
          </a:solidFill>
          <a:ln w="12700">
            <a:solidFill>
              <a:srgbClr val="FFEBE9"/>
            </a:solidFill>
            <a:prstDash val="solid"/>
          </a:ln>
        </p:spPr>
      </p:sp>
      <p:sp>
        <p:nvSpPr>
          <p:cNvPr id="17" name="Text 14"/>
          <p:cNvSpPr txBox="1"/>
          <p:nvPr/>
        </p:nvSpPr>
        <p:spPr>
          <a:xfrm>
            <a:off x="6373368" y="3794760"/>
            <a:ext cx="4892040" cy="502920"/>
          </a:xfrm>
          <a:prstGeom prst="rect">
            <a:avLst/>
          </a:prstGeom>
          <a:noFill/>
          <a:ln/>
        </p:spPr>
        <p:txBody>
          <a:bodyPr wrap="square" lIns="0" tIns="0" rIns="0" bIns="0" rtlCol="0" anchor="ctr"/>
          <a:lstStyle/>
          <a:p>
            <a:pPr indent="0" marL="0">
              <a:buNone/>
            </a:pPr>
            <a:r>
              <a:rPr lang="en-US" sz="1700" b="1" strike="sngStrike" dirty="0">
                <a:solidFill>
                  <a:srgbClr val="CF222E"/>
                </a:solidFill>
                <a:latin typeface="Segoe UI" pitchFamily="34" charset="0"/>
                <a:ea typeface="Segoe UI" pitchFamily="34" charset="-122"/>
                <a:cs typeface="Segoe UI" pitchFamily="34" charset="-120"/>
              </a:rPr>
              <a:t>Tarkista laakeri</a:t>
            </a:r>
            <a:endParaRPr lang="en-US" sz="1700" dirty="0"/>
          </a:p>
        </p:txBody>
      </p:sp>
      <p:sp>
        <p:nvSpPr>
          <p:cNvPr id="18" name="Text 15"/>
          <p:cNvSpPr txBox="1"/>
          <p:nvPr/>
        </p:nvSpPr>
        <p:spPr>
          <a:xfrm rot="-120000">
            <a:off x="6583680" y="4526280"/>
            <a:ext cx="5029200" cy="731520"/>
          </a:xfrm>
          <a:prstGeom prst="rect">
            <a:avLst/>
          </a:prstGeom>
          <a:noFill/>
          <a:ln/>
        </p:spPr>
        <p:txBody>
          <a:bodyPr wrap="square" lIns="0" tIns="0" rIns="0" bIns="0" rtlCol="0" anchor="ctr"/>
          <a:lstStyle/>
          <a:p>
            <a:pPr algn="l" indent="0" marL="0">
              <a:buNone/>
            </a:pPr>
            <a:r>
              <a:rPr lang="en-US" sz="2200" dirty="0">
                <a:solidFill>
                  <a:srgbClr val="2563EB"/>
                </a:solidFill>
                <a:latin typeface="Bradley Hand" pitchFamily="34" charset="0"/>
                <a:ea typeface="Bradley Hand" pitchFamily="34" charset="-122"/>
                <a:cs typeface="Bradley Hand" pitchFamily="34" charset="-120"/>
              </a:rPr>
              <a:t>Laakeri vaihdettiin jo – ääni tulee kytkimestä.</a:t>
            </a:r>
            <a:endParaRPr lang="en-US" sz="2200" dirty="0"/>
          </a:p>
        </p:txBody>
      </p:sp>
      <p:sp>
        <p:nvSpPr>
          <p:cNvPr id="19"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1900" b="1" dirty="0">
                <a:solidFill>
                  <a:srgbClr val="111827"/>
                </a:solidFill>
                <a:latin typeface="Segoe UI" pitchFamily="34" charset="0"/>
                <a:ea typeface="Segoe UI" pitchFamily="34" charset="-122"/>
                <a:cs typeface="Segoe UI" pitchFamily="34" charset="-120"/>
              </a:rPr>
              <a:t>Selain sanoo, että toimii. Asentaja sanoo, onko siitä hyötyä.</a:t>
            </a:r>
            <a:endParaRPr lang="en-US" sz="1900" dirty="0"/>
          </a:p>
        </p:txBody>
      </p:sp>
      <p:sp>
        <p:nvSpPr>
          <p:cNvPr id="20"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kuvitteellinen esimerkki · kuvitus luotu tekoälyllä.</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Delegoi työ – mutta harjoittele ymmärrystä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Kolme pientä tapaa</a:t>
            </a:r>
            <a:endParaRPr lang="en-US" sz="1800" dirty="0"/>
          </a:p>
        </p:txBody>
      </p:sp>
      <p:sp>
        <p:nvSpPr>
          <p:cNvPr id="5" name="Kortti"/>
          <p:cNvSpPr/>
          <p:nvPr/>
        </p:nvSpPr>
        <p:spPr>
          <a:xfrm>
            <a:off x="548640" y="1783080"/>
            <a:ext cx="11064240" cy="1188720"/>
          </a:xfrm>
          <a:prstGeom prst="roundRect">
            <a:avLst>
              <a:gd name="adj" fmla="val 7692"/>
            </a:avLst>
          </a:prstGeom>
          <a:solidFill>
            <a:srgbClr val="EFF6FF"/>
          </a:solidFill>
          <a:ln w="12700">
            <a:solidFill>
              <a:srgbClr val="BFDBFE"/>
            </a:solidFill>
            <a:prstDash val="solid"/>
          </a:ln>
        </p:spPr>
      </p:sp>
      <p:sp>
        <p:nvSpPr>
          <p:cNvPr id="6" name="Text 4"/>
          <p:cNvSpPr txBox="1"/>
          <p:nvPr/>
        </p:nvSpPr>
        <p:spPr>
          <a:xfrm>
            <a:off x="777240" y="1929384"/>
            <a:ext cx="1060704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ennusta</a:t>
            </a:r>
            <a:endParaRPr lang="en-US" sz="1200" dirty="0"/>
          </a:p>
        </p:txBody>
      </p:sp>
      <p:sp>
        <p:nvSpPr>
          <p:cNvPr id="7" name="Text 5"/>
          <p:cNvSpPr txBox="1"/>
          <p:nvPr/>
        </p:nvSpPr>
        <p:spPr>
          <a:xfrm>
            <a:off x="777240" y="2221992"/>
            <a:ext cx="10607040" cy="640080"/>
          </a:xfrm>
          <a:prstGeom prst="rect">
            <a:avLst/>
          </a:prstGeom>
          <a:noFill/>
          <a:ln/>
        </p:spPr>
        <p:txBody>
          <a:bodyPr wrap="square" lIns="0" tIns="0" rIns="0" bIns="0" rtlCol="0" anchor="ctr"/>
          <a:lstStyle/>
          <a:p>
            <a:pPr algn="l" indent="0" marL="0">
              <a:buNone/>
            </a:pPr>
            <a:r>
              <a:rPr lang="en-US" sz="3000" b="1" dirty="0">
                <a:solidFill>
                  <a:srgbClr val="111827"/>
                </a:solidFill>
                <a:latin typeface="Segoe UI" pitchFamily="34" charset="0"/>
                <a:ea typeface="Segoe UI" pitchFamily="34" charset="-122"/>
                <a:cs typeface="Segoe UI" pitchFamily="34" charset="-120"/>
              </a:rPr>
              <a:t>”Mitä rikkoutuisi, jos huoneisto olisi tyhjä?”</a:t>
            </a:r>
            <a:endParaRPr lang="en-US" sz="3000" dirty="0"/>
          </a:p>
        </p:txBody>
      </p:sp>
      <p:sp>
        <p:nvSpPr>
          <p:cNvPr id="8" name="Kortti"/>
          <p:cNvSpPr/>
          <p:nvPr/>
        </p:nvSpPr>
        <p:spPr>
          <a:xfrm>
            <a:off x="548640" y="3200400"/>
            <a:ext cx="3474720" cy="1965960"/>
          </a:xfrm>
          <a:prstGeom prst="roundRect">
            <a:avLst>
              <a:gd name="adj" fmla="val 4651"/>
            </a:avLst>
          </a:prstGeom>
          <a:solidFill>
            <a:srgbClr val="FFFFFF"/>
          </a:solidFill>
          <a:ln w="12700">
            <a:solidFill>
              <a:srgbClr val="E5E7EB"/>
            </a:solidFill>
            <a:prstDash val="solid"/>
          </a:ln>
        </p:spPr>
      </p:sp>
      <p:sp>
        <p:nvSpPr>
          <p:cNvPr id="9" name="Shape 7"/>
          <p:cNvSpPr/>
          <p:nvPr/>
        </p:nvSpPr>
        <p:spPr>
          <a:xfrm>
            <a:off x="822960" y="3429000"/>
            <a:ext cx="685800" cy="685800"/>
          </a:xfrm>
          <a:prstGeom prst="ellipse">
            <a:avLst/>
          </a:prstGeom>
          <a:solidFill>
            <a:srgbClr val="EFF6FF"/>
          </a:solidFill>
          <a:ln w="12700">
            <a:solidFill>
              <a:srgbClr val="EFF6FF"/>
            </a:solidFill>
            <a:prstDash val="solid"/>
          </a:ln>
        </p:spPr>
      </p:sp>
      <p:pic>
        <p:nvPicPr>
          <p:cNvPr id="10" name="Image 0" descr="preencoded.png">    </p:cNvPr>
          <p:cNvPicPr>
            <a:picLocks noChangeAspect="1"/>
          </p:cNvPicPr>
          <p:nvPr/>
        </p:nvPicPr>
        <p:blipFill>
          <a:blip r:embed="rId1"/>
          <a:stretch>
            <a:fillRect/>
          </a:stretch>
        </p:blipFill>
        <p:spPr>
          <a:xfrm>
            <a:off x="987552" y="3593592"/>
            <a:ext cx="356616" cy="356616"/>
          </a:xfrm>
          <a:prstGeom prst="rect">
            <a:avLst/>
          </a:prstGeom>
        </p:spPr>
      </p:pic>
      <p:sp>
        <p:nvSpPr>
          <p:cNvPr id="11" name="Text 8"/>
          <p:cNvSpPr txBox="1"/>
          <p:nvPr/>
        </p:nvSpPr>
        <p:spPr>
          <a:xfrm>
            <a:off x="1691640" y="3429000"/>
            <a:ext cx="2194560" cy="685800"/>
          </a:xfrm>
          <a:prstGeom prst="rect">
            <a:avLst/>
          </a:prstGeom>
          <a:noFill/>
          <a:ln/>
        </p:spPr>
        <p:txBody>
          <a:bodyPr wrap="square" lIns="0" tIns="0" rIns="0" bIns="0" rtlCol="0" anchor="ctr"/>
          <a:lstStyle/>
          <a:p>
            <a:pPr algn="l" indent="0" marL="0">
              <a:buNone/>
            </a:pPr>
            <a:r>
              <a:rPr lang="en-US" sz="2400" b="1" dirty="0">
                <a:solidFill>
                  <a:srgbClr val="2563EB"/>
                </a:solidFill>
                <a:latin typeface="Segoe UI" pitchFamily="34" charset="0"/>
                <a:ea typeface="Segoe UI" pitchFamily="34" charset="-122"/>
                <a:cs typeface="Segoe UI" pitchFamily="34" charset="-120"/>
              </a:rPr>
              <a:t>Selitä</a:t>
            </a:r>
            <a:endParaRPr lang="en-US" sz="2400" dirty="0"/>
          </a:p>
        </p:txBody>
      </p:sp>
      <p:sp>
        <p:nvSpPr>
          <p:cNvPr id="12" name="Text 9"/>
          <p:cNvSpPr txBox="1"/>
          <p:nvPr/>
        </p:nvSpPr>
        <p:spPr>
          <a:xfrm>
            <a:off x="822960" y="4343400"/>
            <a:ext cx="3017520" cy="54864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yksi päätös</a:t>
            </a:r>
            <a:endParaRPr lang="en-US" sz="1800" dirty="0"/>
          </a:p>
        </p:txBody>
      </p:sp>
      <p:sp>
        <p:nvSpPr>
          <p:cNvPr id="13" name="Kortti"/>
          <p:cNvSpPr/>
          <p:nvPr/>
        </p:nvSpPr>
        <p:spPr>
          <a:xfrm>
            <a:off x="4297680" y="3200400"/>
            <a:ext cx="3474720" cy="1965960"/>
          </a:xfrm>
          <a:prstGeom prst="roundRect">
            <a:avLst>
              <a:gd name="adj" fmla="val 4651"/>
            </a:avLst>
          </a:prstGeom>
          <a:solidFill>
            <a:srgbClr val="FFFFFF"/>
          </a:solidFill>
          <a:ln w="12700">
            <a:solidFill>
              <a:srgbClr val="E5E7EB"/>
            </a:solidFill>
            <a:prstDash val="solid"/>
          </a:ln>
        </p:spPr>
      </p:sp>
      <p:sp>
        <p:nvSpPr>
          <p:cNvPr id="14" name="Shape 11"/>
          <p:cNvSpPr/>
          <p:nvPr/>
        </p:nvSpPr>
        <p:spPr>
          <a:xfrm>
            <a:off x="4572000" y="3429000"/>
            <a:ext cx="685800" cy="685800"/>
          </a:xfrm>
          <a:prstGeom prst="ellipse">
            <a:avLst/>
          </a:prstGeom>
          <a:solidFill>
            <a:srgbClr val="EFF6FF"/>
          </a:solidFill>
          <a:ln w="12700">
            <a:solidFill>
              <a:srgbClr val="EFF6FF"/>
            </a:solidFill>
            <a:prstDash val="solid"/>
          </a:ln>
        </p:spPr>
      </p:sp>
      <p:pic>
        <p:nvPicPr>
          <p:cNvPr id="15" name="Image 1" descr="preencoded.png">    </p:cNvPr>
          <p:cNvPicPr>
            <a:picLocks noChangeAspect="1"/>
          </p:cNvPicPr>
          <p:nvPr/>
        </p:nvPicPr>
        <p:blipFill>
          <a:blip r:embed="rId2"/>
          <a:stretch>
            <a:fillRect/>
          </a:stretch>
        </p:blipFill>
        <p:spPr>
          <a:xfrm>
            <a:off x="4736592" y="3593592"/>
            <a:ext cx="356616" cy="356616"/>
          </a:xfrm>
          <a:prstGeom prst="rect">
            <a:avLst/>
          </a:prstGeom>
        </p:spPr>
      </p:pic>
      <p:sp>
        <p:nvSpPr>
          <p:cNvPr id="16" name="Text 12"/>
          <p:cNvSpPr txBox="1"/>
          <p:nvPr/>
        </p:nvSpPr>
        <p:spPr>
          <a:xfrm>
            <a:off x="5440680" y="3429000"/>
            <a:ext cx="2194560" cy="685800"/>
          </a:xfrm>
          <a:prstGeom prst="rect">
            <a:avLst/>
          </a:prstGeom>
          <a:noFill/>
          <a:ln/>
        </p:spPr>
        <p:txBody>
          <a:bodyPr wrap="square" lIns="0" tIns="0" rIns="0" bIns="0" rtlCol="0" anchor="ctr"/>
          <a:lstStyle/>
          <a:p>
            <a:pPr algn="l" indent="0" marL="0">
              <a:buNone/>
            </a:pPr>
            <a:r>
              <a:rPr lang="en-US" sz="2400" b="1" dirty="0">
                <a:solidFill>
                  <a:srgbClr val="2563EB"/>
                </a:solidFill>
                <a:latin typeface="Segoe UI" pitchFamily="34" charset="0"/>
                <a:ea typeface="Segoe UI" pitchFamily="34" charset="-122"/>
                <a:cs typeface="Segoe UI" pitchFamily="34" charset="-120"/>
              </a:rPr>
              <a:t>Ennusta</a:t>
            </a:r>
            <a:endParaRPr lang="en-US" sz="2400" dirty="0"/>
          </a:p>
        </p:txBody>
      </p:sp>
      <p:sp>
        <p:nvSpPr>
          <p:cNvPr id="17" name="Text 13"/>
          <p:cNvSpPr txBox="1"/>
          <p:nvPr/>
        </p:nvSpPr>
        <p:spPr>
          <a:xfrm>
            <a:off x="4572000" y="4343400"/>
            <a:ext cx="3017520" cy="54864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yksi virhe</a:t>
            </a:r>
            <a:endParaRPr lang="en-US" sz="1800" dirty="0"/>
          </a:p>
        </p:txBody>
      </p:sp>
      <p:sp>
        <p:nvSpPr>
          <p:cNvPr id="18" name="Kortti"/>
          <p:cNvSpPr/>
          <p:nvPr/>
        </p:nvSpPr>
        <p:spPr>
          <a:xfrm>
            <a:off x="8046720" y="3200400"/>
            <a:ext cx="3474720" cy="1965960"/>
          </a:xfrm>
          <a:prstGeom prst="roundRect">
            <a:avLst>
              <a:gd name="adj" fmla="val 4651"/>
            </a:avLst>
          </a:prstGeom>
          <a:solidFill>
            <a:srgbClr val="FFFFFF"/>
          </a:solidFill>
          <a:ln w="12700">
            <a:solidFill>
              <a:srgbClr val="E5E7EB"/>
            </a:solidFill>
            <a:prstDash val="solid"/>
          </a:ln>
        </p:spPr>
      </p:sp>
      <p:sp>
        <p:nvSpPr>
          <p:cNvPr id="19" name="Shape 15"/>
          <p:cNvSpPr/>
          <p:nvPr/>
        </p:nvSpPr>
        <p:spPr>
          <a:xfrm>
            <a:off x="8321040" y="3429000"/>
            <a:ext cx="685800" cy="685800"/>
          </a:xfrm>
          <a:prstGeom prst="ellipse">
            <a:avLst/>
          </a:prstGeom>
          <a:solidFill>
            <a:srgbClr val="EFF6FF"/>
          </a:solidFill>
          <a:ln w="12700">
            <a:solidFill>
              <a:srgbClr val="EFF6FF"/>
            </a:solidFill>
            <a:prstDash val="solid"/>
          </a:ln>
        </p:spPr>
      </p:sp>
      <p:pic>
        <p:nvPicPr>
          <p:cNvPr id="20" name="Image 2" descr="preencoded.png">    </p:cNvPr>
          <p:cNvPicPr>
            <a:picLocks noChangeAspect="1"/>
          </p:cNvPicPr>
          <p:nvPr/>
        </p:nvPicPr>
        <p:blipFill>
          <a:blip r:embed="rId3"/>
          <a:stretch>
            <a:fillRect/>
          </a:stretch>
        </p:blipFill>
        <p:spPr>
          <a:xfrm>
            <a:off x="8485632" y="3593592"/>
            <a:ext cx="356616" cy="356616"/>
          </a:xfrm>
          <a:prstGeom prst="rect">
            <a:avLst/>
          </a:prstGeom>
        </p:spPr>
      </p:pic>
      <p:sp>
        <p:nvSpPr>
          <p:cNvPr id="21" name="Text 16"/>
          <p:cNvSpPr txBox="1"/>
          <p:nvPr/>
        </p:nvSpPr>
        <p:spPr>
          <a:xfrm>
            <a:off x="9189720" y="3429000"/>
            <a:ext cx="2194560" cy="685800"/>
          </a:xfrm>
          <a:prstGeom prst="rect">
            <a:avLst/>
          </a:prstGeom>
          <a:noFill/>
          <a:ln/>
        </p:spPr>
        <p:txBody>
          <a:bodyPr wrap="square" lIns="0" tIns="0" rIns="0" bIns="0" rtlCol="0" anchor="ctr"/>
          <a:lstStyle/>
          <a:p>
            <a:pPr algn="l" indent="0" marL="0">
              <a:buNone/>
            </a:pPr>
            <a:r>
              <a:rPr lang="en-US" sz="2400" b="1" dirty="0">
                <a:solidFill>
                  <a:srgbClr val="2563EB"/>
                </a:solidFill>
                <a:latin typeface="Segoe UI" pitchFamily="34" charset="0"/>
                <a:ea typeface="Segoe UI" pitchFamily="34" charset="-122"/>
                <a:cs typeface="Segoe UI" pitchFamily="34" charset="-120"/>
              </a:rPr>
              <a:t>Korjaa</a:t>
            </a:r>
            <a:endParaRPr lang="en-US" sz="2400" dirty="0"/>
          </a:p>
        </p:txBody>
      </p:sp>
      <p:sp>
        <p:nvSpPr>
          <p:cNvPr id="22" name="Text 17"/>
          <p:cNvSpPr txBox="1"/>
          <p:nvPr/>
        </p:nvSpPr>
        <p:spPr>
          <a:xfrm>
            <a:off x="8321040" y="4343400"/>
            <a:ext cx="3017520" cy="54864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yksi rikottu esimerkki</a:t>
            </a:r>
            <a:endParaRPr lang="en-US" sz="1800" dirty="0"/>
          </a:p>
        </p:txBody>
      </p:sp>
      <p:sp>
        <p:nvSpPr>
          <p:cNvPr id="23" name="Alarivi"/>
          <p:cNvSpPr txBox="1"/>
          <p:nvPr/>
        </p:nvSpPr>
        <p:spPr>
          <a:xfrm>
            <a:off x="548640" y="5559552"/>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Ymmärrys ei synny sivutuotteena.</a:t>
            </a:r>
            <a:endParaRPr lang="en-US" sz="2000" dirty="0"/>
          </a:p>
        </p:txBody>
      </p:sp>
      <p:sp>
        <p:nvSpPr>
          <p:cNvPr id="24"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esityksen tulkinta.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05 · käytäntö</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Mitä agentti teki – mitä ihminen päätti?</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Osoitebugi alusta loppuun</a:t>
            </a:r>
            <a:endParaRPr lang="en-US" sz="1800" dirty="0"/>
          </a:p>
        </p:txBody>
      </p:sp>
      <p:sp>
        <p:nvSpPr>
          <p:cNvPr id="5" name="Kortti"/>
          <p:cNvSpPr/>
          <p:nvPr/>
        </p:nvSpPr>
        <p:spPr>
          <a:xfrm>
            <a:off x="548640" y="1783080"/>
            <a:ext cx="5349240" cy="3931920"/>
          </a:xfrm>
          <a:prstGeom prst="roundRect">
            <a:avLst>
              <a:gd name="adj" fmla="val 2326"/>
            </a:avLst>
          </a:prstGeom>
          <a:solidFill>
            <a:srgbClr val="EFF6FF"/>
          </a:solidFill>
          <a:ln w="12700">
            <a:solidFill>
              <a:srgbClr val="BFDBFE"/>
            </a:solidFill>
            <a:prstDash val="solid"/>
          </a:ln>
        </p:spPr>
      </p:sp>
      <p:pic>
        <p:nvPicPr>
          <p:cNvPr id="6" name="Image 0" descr="preencoded.png">    </p:cNvPr>
          <p:cNvPicPr>
            <a:picLocks noChangeAspect="1"/>
          </p:cNvPicPr>
          <p:nvPr/>
        </p:nvPicPr>
        <p:blipFill>
          <a:blip r:embed="rId1"/>
          <a:stretch>
            <a:fillRect/>
          </a:stretch>
        </p:blipFill>
        <p:spPr>
          <a:xfrm>
            <a:off x="822960" y="1965960"/>
            <a:ext cx="457200" cy="457200"/>
          </a:xfrm>
          <a:prstGeom prst="rect">
            <a:avLst/>
          </a:prstGeom>
        </p:spPr>
      </p:pic>
      <p:sp>
        <p:nvSpPr>
          <p:cNvPr id="7" name="Text 4"/>
          <p:cNvSpPr txBox="1"/>
          <p:nvPr/>
        </p:nvSpPr>
        <p:spPr>
          <a:xfrm>
            <a:off x="1417320" y="1920240"/>
            <a:ext cx="3931920" cy="548640"/>
          </a:xfrm>
          <a:prstGeom prst="rect">
            <a:avLst/>
          </a:prstGeom>
          <a:noFill/>
          <a:ln/>
        </p:spPr>
        <p:txBody>
          <a:bodyPr wrap="square" lIns="0" tIns="0" rIns="0" bIns="0" rtlCol="0" anchor="ctr"/>
          <a:lstStyle/>
          <a:p>
            <a:pPr algn="l" indent="0" marL="0">
              <a:buNone/>
            </a:pPr>
            <a:r>
              <a:rPr lang="en-US" sz="2400" b="1" dirty="0">
                <a:solidFill>
                  <a:srgbClr val="2563EB"/>
                </a:solidFill>
                <a:latin typeface="Consolas" pitchFamily="34" charset="0"/>
                <a:ea typeface="Consolas" pitchFamily="34" charset="-122"/>
                <a:cs typeface="Consolas" pitchFamily="34" charset="-120"/>
              </a:rPr>
              <a:t>agentti</a:t>
            </a:r>
            <a:endParaRPr lang="en-US" sz="2400" dirty="0"/>
          </a:p>
        </p:txBody>
      </p:sp>
      <p:sp>
        <p:nvSpPr>
          <p:cNvPr id="8" name="Text 5"/>
          <p:cNvSpPr txBox="1"/>
          <p:nvPr/>
        </p:nvSpPr>
        <p:spPr>
          <a:xfrm>
            <a:off x="914400" y="2697480"/>
            <a:ext cx="4663440" cy="2834640"/>
          </a:xfrm>
          <a:prstGeom prst="rect">
            <a:avLst/>
          </a:prstGeom>
          <a:noFill/>
          <a:ln/>
        </p:spPr>
        <p:txBody>
          <a:bodyPr wrap="square" lIns="0" tIns="0" rIns="0" bIns="0" rtlCol="0" anchor="t"/>
          <a:lstStyle/>
          <a:p>
            <a:pPr algn="l" indent="0" marL="0">
              <a:spcAft>
                <a:spcPts val="400"/>
              </a:spcAft>
              <a:buNone/>
            </a:pPr>
            <a:r>
              <a:rPr lang="en-US" sz="2000" dirty="0">
                <a:solidFill>
                  <a:srgbClr val="111827"/>
                </a:solidFill>
                <a:latin typeface="Segoe UI" pitchFamily="34" charset="0"/>
                <a:ea typeface="Segoe UI" pitchFamily="34" charset="-122"/>
                <a:cs typeface="Segoe UI" pitchFamily="34" charset="-120"/>
              </a:rPr>
              <a:t>· etsi syyn</a:t>
            </a:r>
            <a:endParaRPr lang="en-US" sz="2000" dirty="0"/>
          </a:p>
          <a:p>
            <a:pPr algn="l" indent="0" marL="0">
              <a:spcAft>
                <a:spcPts val="400"/>
              </a:spcAft>
              <a:buNone/>
            </a:pPr>
            <a:r>
              <a:rPr lang="en-US" sz="2000" dirty="0">
                <a:solidFill>
                  <a:srgbClr val="111827"/>
                </a:solidFill>
                <a:latin typeface="Segoe UI" pitchFamily="34" charset="0"/>
                <a:ea typeface="Segoe UI" pitchFamily="34" charset="-122"/>
                <a:cs typeface="Segoe UI" pitchFamily="34" charset="-120"/>
              </a:rPr>
              <a:t>· toisti virheen</a:t>
            </a:r>
            <a:endParaRPr lang="en-US" sz="2000" dirty="0"/>
          </a:p>
          <a:p>
            <a:pPr algn="l" indent="0" marL="0">
              <a:spcAft>
                <a:spcPts val="400"/>
              </a:spcAft>
              <a:buNone/>
            </a:pPr>
            <a:r>
              <a:rPr lang="en-US" sz="2000" dirty="0">
                <a:solidFill>
                  <a:srgbClr val="111827"/>
                </a:solidFill>
                <a:latin typeface="Segoe UI" pitchFamily="34" charset="0"/>
                <a:ea typeface="Segoe UI" pitchFamily="34" charset="-122"/>
                <a:cs typeface="Segoe UI" pitchFamily="34" charset="-120"/>
              </a:rPr>
              <a:t>· ehdotti korjausta</a:t>
            </a:r>
            <a:endParaRPr lang="en-US" sz="2000" dirty="0"/>
          </a:p>
          <a:p>
            <a:pPr algn="l" indent="0" marL="0">
              <a:spcAft>
                <a:spcPts val="400"/>
              </a:spcAft>
              <a:buNone/>
            </a:pPr>
            <a:r>
              <a:rPr lang="en-US" sz="2000" dirty="0">
                <a:solidFill>
                  <a:srgbClr val="111827"/>
                </a:solidFill>
                <a:latin typeface="Segoe UI" pitchFamily="34" charset="0"/>
                <a:ea typeface="Segoe UI" pitchFamily="34" charset="-122"/>
                <a:cs typeface="Segoe UI" pitchFamily="34" charset="-120"/>
              </a:rPr>
              <a:t>· kirjoitti testin</a:t>
            </a:r>
            <a:endParaRPr lang="en-US" sz="2000" dirty="0"/>
          </a:p>
          <a:p>
            <a:pPr algn="l" indent="0" marL="0">
              <a:spcAft>
                <a:spcPts val="400"/>
              </a:spcAft>
              <a:buNone/>
            </a:pPr>
            <a:r>
              <a:rPr lang="en-US" sz="2000" dirty="0">
                <a:solidFill>
                  <a:srgbClr val="111827"/>
                </a:solidFill>
                <a:latin typeface="Segoe UI" pitchFamily="34" charset="0"/>
                <a:ea typeface="Segoe UI" pitchFamily="34" charset="-122"/>
                <a:cs typeface="Segoe UI" pitchFamily="34" charset="-120"/>
              </a:rPr>
              <a:t>· ajoi tarkistukset</a:t>
            </a:r>
            <a:endParaRPr lang="en-US" sz="2000" dirty="0"/>
          </a:p>
          <a:p>
            <a:pPr algn="l" indent="0" marL="0">
              <a:spcAft>
                <a:spcPts val="400"/>
              </a:spcAft>
              <a:buNone/>
            </a:pPr>
            <a:r>
              <a:rPr lang="en-US" sz="2000" dirty="0">
                <a:solidFill>
                  <a:srgbClr val="111827"/>
                </a:solidFill>
                <a:latin typeface="Segoe UI" pitchFamily="34" charset="0"/>
                <a:ea typeface="Segoe UI" pitchFamily="34" charset="-122"/>
                <a:cs typeface="Segoe UI" pitchFamily="34" charset="-120"/>
              </a:rPr>
              <a:t>· kirjoitti luovutuksen</a:t>
            </a:r>
            <a:endParaRPr lang="en-US" sz="2000" dirty="0"/>
          </a:p>
        </p:txBody>
      </p:sp>
      <p:sp>
        <p:nvSpPr>
          <p:cNvPr id="9" name="Kortti"/>
          <p:cNvSpPr/>
          <p:nvPr/>
        </p:nvSpPr>
        <p:spPr>
          <a:xfrm>
            <a:off x="6263640" y="1783080"/>
            <a:ext cx="5349240" cy="3931920"/>
          </a:xfrm>
          <a:prstGeom prst="roundRect">
            <a:avLst>
              <a:gd name="adj" fmla="val 2326"/>
            </a:avLst>
          </a:prstGeom>
          <a:solidFill>
            <a:srgbClr val="FFF8C5"/>
          </a:solidFill>
          <a:ln w="12700">
            <a:solidFill>
              <a:srgbClr val="EAD58A"/>
            </a:solidFill>
            <a:prstDash val="solid"/>
          </a:ln>
        </p:spPr>
      </p:sp>
      <p:pic>
        <p:nvPicPr>
          <p:cNvPr id="10" name="Image 1" descr="preencoded.png">    </p:cNvPr>
          <p:cNvPicPr>
            <a:picLocks noChangeAspect="1"/>
          </p:cNvPicPr>
          <p:nvPr/>
        </p:nvPicPr>
        <p:blipFill>
          <a:blip r:embed="rId2"/>
          <a:stretch>
            <a:fillRect/>
          </a:stretch>
        </p:blipFill>
        <p:spPr>
          <a:xfrm>
            <a:off x="6537960" y="1965960"/>
            <a:ext cx="457200" cy="457200"/>
          </a:xfrm>
          <a:prstGeom prst="rect">
            <a:avLst/>
          </a:prstGeom>
        </p:spPr>
      </p:pic>
      <p:sp>
        <p:nvSpPr>
          <p:cNvPr id="11" name="Text 7"/>
          <p:cNvSpPr txBox="1"/>
          <p:nvPr/>
        </p:nvSpPr>
        <p:spPr>
          <a:xfrm>
            <a:off x="7132320" y="1920240"/>
            <a:ext cx="3931920" cy="548640"/>
          </a:xfrm>
          <a:prstGeom prst="rect">
            <a:avLst/>
          </a:prstGeom>
          <a:noFill/>
          <a:ln/>
        </p:spPr>
        <p:txBody>
          <a:bodyPr wrap="square" lIns="0" tIns="0" rIns="0" bIns="0" rtlCol="0" anchor="ctr"/>
          <a:lstStyle/>
          <a:p>
            <a:pPr algn="l" indent="0" marL="0">
              <a:buNone/>
            </a:pPr>
            <a:r>
              <a:rPr lang="en-US" sz="2400" b="1" dirty="0">
                <a:solidFill>
                  <a:srgbClr val="9A6700"/>
                </a:solidFill>
                <a:latin typeface="Consolas" pitchFamily="34" charset="0"/>
                <a:ea typeface="Consolas" pitchFamily="34" charset="-122"/>
                <a:cs typeface="Consolas" pitchFamily="34" charset="-120"/>
              </a:rPr>
              <a:t>ihminen</a:t>
            </a:r>
            <a:endParaRPr lang="en-US" sz="2400" dirty="0"/>
          </a:p>
        </p:txBody>
      </p:sp>
      <p:sp>
        <p:nvSpPr>
          <p:cNvPr id="12" name="Text 8"/>
          <p:cNvSpPr txBox="1"/>
          <p:nvPr/>
        </p:nvSpPr>
        <p:spPr>
          <a:xfrm>
            <a:off x="6629400" y="2697480"/>
            <a:ext cx="4663440" cy="2834640"/>
          </a:xfrm>
          <a:prstGeom prst="rect">
            <a:avLst/>
          </a:prstGeom>
          <a:noFill/>
          <a:ln/>
        </p:spPr>
        <p:txBody>
          <a:bodyPr wrap="square" lIns="0" tIns="0" rIns="0" bIns="0" rtlCol="0" anchor="t"/>
          <a:lstStyle/>
          <a:p>
            <a:pPr algn="l" indent="0" marL="0">
              <a:spcAft>
                <a:spcPts val="400"/>
              </a:spcAft>
              <a:buNone/>
            </a:pPr>
            <a:r>
              <a:rPr lang="en-US" sz="2000" dirty="0">
                <a:solidFill>
                  <a:srgbClr val="111827"/>
                </a:solidFill>
                <a:latin typeface="Segoe UI" pitchFamily="34" charset="0"/>
                <a:ea typeface="Segoe UI" pitchFamily="34" charset="-122"/>
                <a:cs typeface="Segoe UI" pitchFamily="34" charset="-120"/>
              </a:rPr>
              <a:t>· rajasi tehtävän</a:t>
            </a:r>
            <a:endParaRPr lang="en-US" sz="2000" dirty="0"/>
          </a:p>
          <a:p>
            <a:pPr algn="l" indent="0" marL="0">
              <a:spcAft>
                <a:spcPts val="400"/>
              </a:spcAft>
              <a:buNone/>
            </a:pPr>
            <a:r>
              <a:rPr lang="en-US" sz="2000" dirty="0">
                <a:solidFill>
                  <a:srgbClr val="111827"/>
                </a:solidFill>
                <a:latin typeface="Segoe UI" pitchFamily="34" charset="0"/>
                <a:ea typeface="Segoe UI" pitchFamily="34" charset="-122"/>
                <a:cs typeface="Segoe UI" pitchFamily="34" charset="-120"/>
              </a:rPr>
              <a:t>· päätti, mitä ”valmis” tarkoittaa</a:t>
            </a:r>
            <a:endParaRPr lang="en-US" sz="2000" dirty="0"/>
          </a:p>
          <a:p>
            <a:pPr algn="l" indent="0" marL="0">
              <a:spcAft>
                <a:spcPts val="400"/>
              </a:spcAft>
              <a:buNone/>
            </a:pPr>
            <a:r>
              <a:rPr lang="en-US" sz="2000" dirty="0">
                <a:solidFill>
                  <a:srgbClr val="111827"/>
                </a:solidFill>
                <a:latin typeface="Segoe UI" pitchFamily="34" charset="0"/>
                <a:ea typeface="Segoe UI" pitchFamily="34" charset="-122"/>
                <a:cs typeface="Segoe UI" pitchFamily="34" charset="-120"/>
              </a:rPr>
              <a:t>· arvioi näytön</a:t>
            </a:r>
            <a:endParaRPr lang="en-US" sz="2000" dirty="0"/>
          </a:p>
          <a:p>
            <a:pPr algn="l" indent="0" marL="0">
              <a:spcAft>
                <a:spcPts val="400"/>
              </a:spcAft>
              <a:buNone/>
            </a:pPr>
            <a:r>
              <a:rPr lang="en-US" sz="2000" dirty="0">
                <a:solidFill>
                  <a:srgbClr val="111827"/>
                </a:solidFill>
                <a:latin typeface="Segoe UI" pitchFamily="34" charset="0"/>
                <a:ea typeface="Segoe UI" pitchFamily="34" charset="-122"/>
                <a:cs typeface="Segoe UI" pitchFamily="34" charset="-120"/>
              </a:rPr>
              <a:t>· päätti vanhoista tietueista</a:t>
            </a:r>
            <a:endParaRPr lang="en-US" sz="2000" dirty="0"/>
          </a:p>
          <a:p>
            <a:pPr algn="l" indent="0" marL="0">
              <a:spcAft>
                <a:spcPts val="400"/>
              </a:spcAft>
              <a:buNone/>
            </a:pPr>
            <a:r>
              <a:rPr lang="en-US" sz="2000" dirty="0">
                <a:solidFill>
                  <a:srgbClr val="111827"/>
                </a:solidFill>
                <a:latin typeface="Segoe UI" pitchFamily="34" charset="0"/>
                <a:ea typeface="Segoe UI" pitchFamily="34" charset="-122"/>
                <a:cs typeface="Segoe UI" pitchFamily="34" charset="-120"/>
              </a:rPr>
              <a:t>· päätti julkaisusta</a:t>
            </a:r>
            <a:endParaRPr lang="en-US" sz="2000" dirty="0"/>
          </a:p>
        </p:txBody>
      </p:sp>
      <p:sp>
        <p:nvSpPr>
          <p:cNvPr id="13"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kuvitteellinen esimerkki.</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pic>
        <p:nvPicPr>
          <p:cNvPr id="2" name="Image 0" descr="SuomiWoW-palvelun etusivu">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274320" y="6446520"/>
            <a:ext cx="3657600" cy="320040"/>
          </a:xfrm>
          <a:prstGeom prst="rect">
            <a:avLst/>
          </a:prstGeom>
          <a:solidFill>
            <a:srgbClr val="000000">
              <a:alpha val="65000"/>
            </a:srgbClr>
          </a:solidFill>
          <a:ln/>
        </p:spPr>
        <p:txBody>
          <a:bodyPr wrap="square" lIns="38100" tIns="38100" rIns="38100" bIns="38100" rtlCol="0" anchor="ctr"/>
          <a:lstStyle/>
          <a:p>
            <a:pPr indent="0" marL="0">
              <a:buNone/>
            </a:pPr>
            <a:r>
              <a:rPr lang="en-US" sz="1100" dirty="0">
                <a:solidFill>
                  <a:srgbClr val="FFFFFF"/>
                </a:solidFill>
                <a:latin typeface="Consolas" pitchFamily="34" charset="0"/>
                <a:ea typeface="Consolas" pitchFamily="34" charset="-122"/>
                <a:cs typeface="Consolas" pitchFamily="34" charset="-120"/>
              </a:rPr>
              <a:t>suomiwow.vaarattu.tv</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B949E"/>
                </a:solidFill>
                <a:latin typeface="Consolas"/>
                <a:ea typeface="Consolas"/>
                <a:cs typeface="Consolas"/>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06 · oikea projekti</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SuomiWoW: vuosi agenttien kanssa</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Harrastusprojekti, oikeat käyttäjät, oikea tuotanto</a:t>
            </a:r>
            <a:endParaRPr lang="en-US" sz="1800" dirty="0"/>
          </a:p>
        </p:txBody>
      </p:sp>
      <p:pic>
        <p:nvPicPr>
          <p:cNvPr id="5" name="Image 0" descr="/Users/koodattu/Documents/GitHub/lakeus-devaus-2026/output/v3/assets/suomiwow-logo.png">    </p:cNvPr>
          <p:cNvPicPr>
            <a:picLocks noChangeAspect="1"/>
          </p:cNvPicPr>
          <p:nvPr/>
        </p:nvPicPr>
        <p:blipFill>
          <a:blip r:embed="rId1"/>
          <a:stretch>
            <a:fillRect/>
          </a:stretch>
        </p:blipFill>
        <p:spPr>
          <a:xfrm>
            <a:off x="9966960" y="548640"/>
            <a:ext cx="1645920" cy="742721"/>
          </a:xfrm>
          <a:prstGeom prst="rect">
            <a:avLst/>
          </a:prstGeom>
        </p:spPr>
      </p:pic>
      <p:sp>
        <p:nvSpPr>
          <p:cNvPr id="6" name="Text 3"/>
          <p:cNvSpPr txBox="1"/>
          <p:nvPr/>
        </p:nvSpPr>
        <p:spPr>
          <a:xfrm>
            <a:off x="548640" y="1691640"/>
            <a:ext cx="2286000" cy="685800"/>
          </a:xfrm>
          <a:prstGeom prst="rect">
            <a:avLst/>
          </a:prstGeom>
          <a:noFill/>
          <a:ln/>
        </p:spPr>
        <p:txBody>
          <a:bodyPr wrap="square" lIns="0" tIns="0" rIns="0" bIns="0" rtlCol="0" anchor="ctr"/>
          <a:lstStyle/>
          <a:p>
            <a:pPr algn="l" indent="0" marL="0">
              <a:buNone/>
            </a:pPr>
            <a:r>
              <a:rPr lang="en-US" sz="3400" b="1" dirty="0">
                <a:solidFill>
                  <a:srgbClr val="2563EB"/>
                </a:solidFill>
                <a:latin typeface="Segoe UI" pitchFamily="34" charset="0"/>
                <a:ea typeface="Segoe UI" pitchFamily="34" charset="-122"/>
                <a:cs typeface="Segoe UI" pitchFamily="34" charset="-120"/>
              </a:rPr>
              <a:t>~1 250</a:t>
            </a:r>
            <a:endParaRPr lang="en-US" sz="3400" dirty="0"/>
          </a:p>
        </p:txBody>
      </p:sp>
      <p:sp>
        <p:nvSpPr>
          <p:cNvPr id="7" name="Text 4"/>
          <p:cNvSpPr txBox="1"/>
          <p:nvPr/>
        </p:nvSpPr>
        <p:spPr>
          <a:xfrm>
            <a:off x="548640" y="2331720"/>
            <a:ext cx="2286000" cy="365760"/>
          </a:xfrm>
          <a:prstGeom prst="rect">
            <a:avLst/>
          </a:prstGeom>
          <a:noFill/>
          <a:ln/>
        </p:spPr>
        <p:txBody>
          <a:bodyPr wrap="square" lIns="0" tIns="0" rIns="0" bIns="0" rtlCol="0" anchor="t"/>
          <a:lstStyle/>
          <a:p>
            <a:pPr algn="l" indent="0" marL="0">
              <a:buNone/>
            </a:pPr>
            <a:r>
              <a:rPr lang="en-US" sz="1400" dirty="0">
                <a:solidFill>
                  <a:srgbClr val="6B7280"/>
                </a:solidFill>
                <a:latin typeface="Consolas" pitchFamily="34" charset="0"/>
                <a:ea typeface="Consolas" pitchFamily="34" charset="-122"/>
                <a:cs typeface="Consolas" pitchFamily="34" charset="-120"/>
              </a:rPr>
              <a:t>committia</a:t>
            </a:r>
            <a:endParaRPr lang="en-US" sz="1400" dirty="0"/>
          </a:p>
        </p:txBody>
      </p:sp>
      <p:sp>
        <p:nvSpPr>
          <p:cNvPr id="8" name="Text 5"/>
          <p:cNvSpPr txBox="1"/>
          <p:nvPr/>
        </p:nvSpPr>
        <p:spPr>
          <a:xfrm>
            <a:off x="2926080" y="1691640"/>
            <a:ext cx="2286000" cy="685800"/>
          </a:xfrm>
          <a:prstGeom prst="rect">
            <a:avLst/>
          </a:prstGeom>
          <a:noFill/>
          <a:ln/>
        </p:spPr>
        <p:txBody>
          <a:bodyPr wrap="square" lIns="0" tIns="0" rIns="0" bIns="0" rtlCol="0" anchor="ctr"/>
          <a:lstStyle/>
          <a:p>
            <a:pPr algn="l" indent="0" marL="0">
              <a:buNone/>
            </a:pPr>
            <a:r>
              <a:rPr lang="en-US" sz="3400" b="1" dirty="0">
                <a:solidFill>
                  <a:srgbClr val="2563EB"/>
                </a:solidFill>
                <a:latin typeface="Segoe UI" pitchFamily="34" charset="0"/>
                <a:ea typeface="Segoe UI" pitchFamily="34" charset="-122"/>
                <a:cs typeface="Segoe UI" pitchFamily="34" charset="-120"/>
              </a:rPr>
              <a:t>12</a:t>
            </a:r>
            <a:endParaRPr lang="en-US" sz="3400" dirty="0"/>
          </a:p>
        </p:txBody>
      </p:sp>
      <p:sp>
        <p:nvSpPr>
          <p:cNvPr id="9" name="Text 6"/>
          <p:cNvSpPr txBox="1"/>
          <p:nvPr/>
        </p:nvSpPr>
        <p:spPr>
          <a:xfrm>
            <a:off x="2926080" y="2331720"/>
            <a:ext cx="2286000" cy="365760"/>
          </a:xfrm>
          <a:prstGeom prst="rect">
            <a:avLst/>
          </a:prstGeom>
          <a:noFill/>
          <a:ln/>
        </p:spPr>
        <p:txBody>
          <a:bodyPr wrap="square" lIns="0" tIns="0" rIns="0" bIns="0" rtlCol="0" anchor="t"/>
          <a:lstStyle/>
          <a:p>
            <a:pPr algn="l" indent="0" marL="0">
              <a:buNone/>
            </a:pPr>
            <a:r>
              <a:rPr lang="en-US" sz="1400" dirty="0">
                <a:solidFill>
                  <a:srgbClr val="6B7280"/>
                </a:solidFill>
                <a:latin typeface="Consolas" pitchFamily="34" charset="0"/>
                <a:ea typeface="Consolas" pitchFamily="34" charset="-122"/>
                <a:cs typeface="Consolas" pitchFamily="34" charset="-120"/>
              </a:rPr>
              <a:t>kuukautta</a:t>
            </a:r>
            <a:endParaRPr lang="en-US" sz="1400" dirty="0"/>
          </a:p>
        </p:txBody>
      </p:sp>
      <p:sp>
        <p:nvSpPr>
          <p:cNvPr id="10" name="Text 7"/>
          <p:cNvSpPr txBox="1"/>
          <p:nvPr/>
        </p:nvSpPr>
        <p:spPr>
          <a:xfrm>
            <a:off x="5303520" y="1691640"/>
            <a:ext cx="2286000" cy="685800"/>
          </a:xfrm>
          <a:prstGeom prst="rect">
            <a:avLst/>
          </a:prstGeom>
          <a:noFill/>
          <a:ln/>
        </p:spPr>
        <p:txBody>
          <a:bodyPr wrap="square" lIns="0" tIns="0" rIns="0" bIns="0" rtlCol="0" anchor="ctr"/>
          <a:lstStyle/>
          <a:p>
            <a:pPr algn="l" indent="0" marL="0">
              <a:buNone/>
            </a:pPr>
            <a:r>
              <a:rPr lang="en-US" sz="3400" b="1" dirty="0">
                <a:solidFill>
                  <a:srgbClr val="2563EB"/>
                </a:solidFill>
                <a:latin typeface="Segoe UI" pitchFamily="34" charset="0"/>
                <a:ea typeface="Segoe UI" pitchFamily="34" charset="-122"/>
                <a:cs typeface="Segoe UI" pitchFamily="34" charset="-120"/>
              </a:rPr>
              <a:t>2</a:t>
            </a:r>
            <a:endParaRPr lang="en-US" sz="3400" dirty="0"/>
          </a:p>
        </p:txBody>
      </p:sp>
      <p:sp>
        <p:nvSpPr>
          <p:cNvPr id="11" name="Text 8"/>
          <p:cNvSpPr txBox="1"/>
          <p:nvPr/>
        </p:nvSpPr>
        <p:spPr>
          <a:xfrm>
            <a:off x="5303520" y="2331720"/>
            <a:ext cx="2286000" cy="365760"/>
          </a:xfrm>
          <a:prstGeom prst="rect">
            <a:avLst/>
          </a:prstGeom>
          <a:noFill/>
          <a:ln/>
        </p:spPr>
        <p:txBody>
          <a:bodyPr wrap="square" lIns="0" tIns="0" rIns="0" bIns="0" rtlCol="0" anchor="t"/>
          <a:lstStyle/>
          <a:p>
            <a:pPr algn="l" indent="0" marL="0">
              <a:buNone/>
            </a:pPr>
            <a:r>
              <a:rPr lang="en-US" sz="1400" dirty="0">
                <a:solidFill>
                  <a:srgbClr val="6B7280"/>
                </a:solidFill>
                <a:latin typeface="Consolas" pitchFamily="34" charset="0"/>
                <a:ea typeface="Consolas" pitchFamily="34" charset="-122"/>
                <a:cs typeface="Consolas" pitchFamily="34" charset="-120"/>
              </a:rPr>
              <a:t>ihmistä</a:t>
            </a:r>
            <a:endParaRPr lang="en-US" sz="1400" dirty="0"/>
          </a:p>
        </p:txBody>
      </p:sp>
      <p:sp>
        <p:nvSpPr>
          <p:cNvPr id="12" name="Text 9"/>
          <p:cNvSpPr txBox="1"/>
          <p:nvPr/>
        </p:nvSpPr>
        <p:spPr>
          <a:xfrm>
            <a:off x="7680960" y="1691640"/>
            <a:ext cx="2286000" cy="685800"/>
          </a:xfrm>
          <a:prstGeom prst="rect">
            <a:avLst/>
          </a:prstGeom>
          <a:noFill/>
          <a:ln/>
        </p:spPr>
        <p:txBody>
          <a:bodyPr wrap="square" lIns="0" tIns="0" rIns="0" bIns="0" rtlCol="0" anchor="ctr"/>
          <a:lstStyle/>
          <a:p>
            <a:pPr algn="l" indent="0" marL="0">
              <a:buNone/>
            </a:pPr>
            <a:r>
              <a:rPr lang="en-US" sz="3400" b="1" dirty="0">
                <a:solidFill>
                  <a:srgbClr val="2563EB"/>
                </a:solidFill>
                <a:latin typeface="Segoe UI" pitchFamily="34" charset="0"/>
                <a:ea typeface="Segoe UI" pitchFamily="34" charset="-122"/>
                <a:cs typeface="Segoe UI" pitchFamily="34" charset="-120"/>
              </a:rPr>
              <a:t>~190 000</a:t>
            </a:r>
            <a:endParaRPr lang="en-US" sz="3400" dirty="0"/>
          </a:p>
        </p:txBody>
      </p:sp>
      <p:sp>
        <p:nvSpPr>
          <p:cNvPr id="13" name="Text 10"/>
          <p:cNvSpPr txBox="1"/>
          <p:nvPr/>
        </p:nvSpPr>
        <p:spPr>
          <a:xfrm>
            <a:off x="7680960" y="2331720"/>
            <a:ext cx="2286000" cy="365760"/>
          </a:xfrm>
          <a:prstGeom prst="rect">
            <a:avLst/>
          </a:prstGeom>
          <a:noFill/>
          <a:ln/>
        </p:spPr>
        <p:txBody>
          <a:bodyPr wrap="square" lIns="0" tIns="0" rIns="0" bIns="0" rtlCol="0" anchor="t"/>
          <a:lstStyle/>
          <a:p>
            <a:pPr algn="l" indent="0" marL="0">
              <a:buNone/>
            </a:pPr>
            <a:r>
              <a:rPr lang="en-US" sz="1400" dirty="0">
                <a:solidFill>
                  <a:srgbClr val="6B7280"/>
                </a:solidFill>
                <a:latin typeface="Consolas" pitchFamily="34" charset="0"/>
                <a:ea typeface="Consolas" pitchFamily="34" charset="-122"/>
                <a:cs typeface="Consolas" pitchFamily="34" charset="-120"/>
              </a:rPr>
              <a:t>riviä koodia</a:t>
            </a:r>
            <a:endParaRPr lang="en-US" sz="1400" dirty="0"/>
          </a:p>
        </p:txBody>
      </p:sp>
      <p:sp>
        <p:nvSpPr>
          <p:cNvPr id="14" name="Text 11"/>
          <p:cNvSpPr/>
          <p:nvPr/>
        </p:nvSpPr>
        <p:spPr>
          <a:xfrm>
            <a:off x="548640" y="2834640"/>
            <a:ext cx="1463040" cy="365760"/>
          </a:xfrm>
          <a:prstGeom prst="roundRect">
            <a:avLst>
              <a:gd name="adj" fmla="val 15000"/>
            </a:avLst>
          </a:prstGeom>
          <a:solidFill>
            <a:srgbClr val="F6F8FA"/>
          </a:solidFill>
          <a:ln>
            <a:solidFill>
              <a:srgbClr val="D0D7DE"/>
            </a:solidFill>
          </a:ln>
        </p:spPr>
        <p:txBody>
          <a:bodyPr wrap="square" lIns="12700" tIns="12700" rIns="12700" bIns="12700" rtlCol="0" anchor="ctr"/>
          <a:lstStyle/>
          <a:p>
            <a:pPr algn="ctr" indent="0" marL="0">
              <a:buNone/>
            </a:pPr>
            <a:r>
              <a:rPr lang="en-US" sz="1300" dirty="0">
                <a:solidFill>
                  <a:srgbClr val="111827"/>
                </a:solidFill>
                <a:latin typeface="Consolas" pitchFamily="34" charset="0"/>
                <a:ea typeface="Consolas" pitchFamily="34" charset="-122"/>
                <a:cs typeface="Consolas" pitchFamily="34" charset="-120"/>
              </a:rPr>
              <a:t>AGENTS.md</a:t>
            </a:r>
            <a:endParaRPr lang="en-US" sz="1300" dirty="0"/>
          </a:p>
        </p:txBody>
      </p:sp>
      <p:sp>
        <p:nvSpPr>
          <p:cNvPr id="15" name="Text 12"/>
          <p:cNvSpPr/>
          <p:nvPr/>
        </p:nvSpPr>
        <p:spPr>
          <a:xfrm>
            <a:off x="2148840" y="2834640"/>
            <a:ext cx="1463040" cy="365760"/>
          </a:xfrm>
          <a:prstGeom prst="roundRect">
            <a:avLst>
              <a:gd name="adj" fmla="val 15000"/>
            </a:avLst>
          </a:prstGeom>
          <a:solidFill>
            <a:srgbClr val="F6F8FA"/>
          </a:solidFill>
          <a:ln>
            <a:solidFill>
              <a:srgbClr val="D0D7DE"/>
            </a:solidFill>
          </a:ln>
        </p:spPr>
        <p:txBody>
          <a:bodyPr wrap="square" lIns="12700" tIns="12700" rIns="12700" bIns="12700" rtlCol="0" anchor="ctr"/>
          <a:lstStyle/>
          <a:p>
            <a:pPr algn="ctr" indent="0" marL="0">
              <a:buNone/>
            </a:pPr>
            <a:r>
              <a:rPr lang="en-US" sz="1300" dirty="0">
                <a:solidFill>
                  <a:srgbClr val="111827"/>
                </a:solidFill>
                <a:latin typeface="Consolas" pitchFamily="34" charset="0"/>
                <a:ea typeface="Consolas" pitchFamily="34" charset="-122"/>
                <a:cs typeface="Consolas" pitchFamily="34" charset="-120"/>
              </a:rPr>
              <a:t>CLAUDE.md</a:t>
            </a:r>
            <a:endParaRPr lang="en-US" sz="1300" dirty="0"/>
          </a:p>
        </p:txBody>
      </p:sp>
      <p:sp>
        <p:nvSpPr>
          <p:cNvPr id="16" name="Text 13"/>
          <p:cNvSpPr/>
          <p:nvPr/>
        </p:nvSpPr>
        <p:spPr>
          <a:xfrm>
            <a:off x="3749040" y="2834640"/>
            <a:ext cx="1463040" cy="365760"/>
          </a:xfrm>
          <a:prstGeom prst="roundRect">
            <a:avLst>
              <a:gd name="adj" fmla="val 15000"/>
            </a:avLst>
          </a:prstGeom>
          <a:solidFill>
            <a:srgbClr val="F6F8FA"/>
          </a:solidFill>
          <a:ln>
            <a:solidFill>
              <a:srgbClr val="D0D7DE"/>
            </a:solidFill>
          </a:ln>
        </p:spPr>
        <p:txBody>
          <a:bodyPr wrap="square" lIns="12700" tIns="12700" rIns="12700" bIns="12700" rtlCol="0" anchor="ctr"/>
          <a:lstStyle/>
          <a:p>
            <a:pPr algn="ctr" indent="0" marL="0">
              <a:buNone/>
            </a:pPr>
            <a:r>
              <a:rPr lang="en-US" sz="1300" dirty="0">
                <a:solidFill>
                  <a:srgbClr val="111827"/>
                </a:solidFill>
                <a:latin typeface="Consolas" pitchFamily="34" charset="0"/>
                <a:ea typeface="Consolas" pitchFamily="34" charset="-122"/>
                <a:cs typeface="Consolas" pitchFamily="34" charset="-120"/>
              </a:rPr>
              <a:t>PRODUCT.md</a:t>
            </a:r>
            <a:endParaRPr lang="en-US" sz="1300" dirty="0"/>
          </a:p>
        </p:txBody>
      </p:sp>
      <p:sp>
        <p:nvSpPr>
          <p:cNvPr id="17" name="Text 14"/>
          <p:cNvSpPr/>
          <p:nvPr/>
        </p:nvSpPr>
        <p:spPr>
          <a:xfrm>
            <a:off x="5349240" y="2834640"/>
            <a:ext cx="1463040" cy="365760"/>
          </a:xfrm>
          <a:prstGeom prst="roundRect">
            <a:avLst>
              <a:gd name="adj" fmla="val 15000"/>
            </a:avLst>
          </a:prstGeom>
          <a:solidFill>
            <a:srgbClr val="F6F8FA"/>
          </a:solidFill>
          <a:ln>
            <a:solidFill>
              <a:srgbClr val="D0D7DE"/>
            </a:solidFill>
          </a:ln>
        </p:spPr>
        <p:txBody>
          <a:bodyPr wrap="square" lIns="12700" tIns="12700" rIns="12700" bIns="12700" rtlCol="0" anchor="ctr"/>
          <a:lstStyle/>
          <a:p>
            <a:pPr algn="ctr" indent="0" marL="0">
              <a:buNone/>
            </a:pPr>
            <a:r>
              <a:rPr lang="en-US" sz="1300" dirty="0">
                <a:solidFill>
                  <a:srgbClr val="111827"/>
                </a:solidFill>
                <a:latin typeface="Consolas" pitchFamily="34" charset="0"/>
                <a:ea typeface="Consolas" pitchFamily="34" charset="-122"/>
                <a:cs typeface="Consolas" pitchFamily="34" charset="-120"/>
              </a:rPr>
              <a:t>docs/</a:t>
            </a:r>
            <a:endParaRPr lang="en-US" sz="1300" dirty="0"/>
          </a:p>
        </p:txBody>
      </p:sp>
      <p:sp>
        <p:nvSpPr>
          <p:cNvPr id="18" name="Text 15"/>
          <p:cNvSpPr txBox="1"/>
          <p:nvPr/>
        </p:nvSpPr>
        <p:spPr>
          <a:xfrm>
            <a:off x="548640" y="3429000"/>
            <a:ext cx="5349240" cy="41148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agentti</a:t>
            </a:r>
            <a:endParaRPr lang="en-US" sz="1800" dirty="0"/>
          </a:p>
        </p:txBody>
      </p:sp>
      <p:sp>
        <p:nvSpPr>
          <p:cNvPr id="19" name="Text 16"/>
          <p:cNvSpPr txBox="1"/>
          <p:nvPr/>
        </p:nvSpPr>
        <p:spPr>
          <a:xfrm>
            <a:off x="548640" y="3886200"/>
            <a:ext cx="5349240" cy="1600200"/>
          </a:xfrm>
          <a:prstGeom prst="rect">
            <a:avLst/>
          </a:prstGeom>
          <a:noFill/>
          <a:ln/>
        </p:spPr>
        <p:txBody>
          <a:bodyPr wrap="square" lIns="0" tIns="0" rIns="0" bIns="0" rtlCol="0" anchor="t"/>
          <a:lstStyle/>
          <a:p>
            <a:pPr algn="l" indent="0" marL="0">
              <a:spcAft>
                <a:spcPts val="300"/>
              </a:spcAft>
              <a:buNone/>
            </a:pPr>
            <a:r>
              <a:rPr lang="en-US" sz="1500" dirty="0">
                <a:solidFill>
                  <a:srgbClr val="111827"/>
                </a:solidFill>
                <a:latin typeface="Segoe UI" pitchFamily="34" charset="0"/>
                <a:ea typeface="Segoe UI" pitchFamily="34" charset="-122"/>
                <a:cs typeface="Segoe UI" pitchFamily="34" charset="-120"/>
              </a:rPr>
              <a:t>· Codex ja Claude Code kirjoittivat käytännössä kaiken koodin</a:t>
            </a:r>
            <a:endParaRPr lang="en-US" sz="1500" dirty="0"/>
          </a:p>
          <a:p>
            <a:pPr algn="l" indent="0" marL="0">
              <a:spcAft>
                <a:spcPts val="300"/>
              </a:spcAft>
              <a:buNone/>
            </a:pPr>
            <a:r>
              <a:rPr lang="en-US" sz="1500" dirty="0">
                <a:solidFill>
                  <a:srgbClr val="111827"/>
                </a:solidFill>
                <a:latin typeface="Segoe UI" pitchFamily="34" charset="0"/>
                <a:ea typeface="Segoe UI" pitchFamily="34" charset="-122"/>
                <a:cs typeface="Segoe UI" pitchFamily="34" charset="-120"/>
              </a:rPr>
              <a:t>· toteutti ominaisuudet ja korjaukset</a:t>
            </a:r>
            <a:endParaRPr lang="en-US" sz="1500" dirty="0"/>
          </a:p>
          <a:p>
            <a:pPr algn="l" indent="0" marL="0">
              <a:spcAft>
                <a:spcPts val="300"/>
              </a:spcAft>
              <a:buNone/>
            </a:pPr>
            <a:r>
              <a:rPr lang="en-US" sz="1500" dirty="0">
                <a:solidFill>
                  <a:srgbClr val="111827"/>
                </a:solidFill>
                <a:latin typeface="Segoe UI" pitchFamily="34" charset="0"/>
                <a:ea typeface="Segoe UI" pitchFamily="34" charset="-122"/>
                <a:cs typeface="Segoe UI" pitchFamily="34" charset="-120"/>
              </a:rPr>
              <a:t>· kirjoitti suunnitelmat ja ajokirjat (docs/)</a:t>
            </a:r>
            <a:endParaRPr lang="en-US" sz="1500" dirty="0"/>
          </a:p>
        </p:txBody>
      </p:sp>
      <p:sp>
        <p:nvSpPr>
          <p:cNvPr id="20" name="Text 17"/>
          <p:cNvSpPr txBox="1"/>
          <p:nvPr/>
        </p:nvSpPr>
        <p:spPr>
          <a:xfrm>
            <a:off x="6263640" y="3429000"/>
            <a:ext cx="5349240" cy="411480"/>
          </a:xfrm>
          <a:prstGeom prst="rect">
            <a:avLst/>
          </a:prstGeom>
          <a:noFill/>
          <a:ln/>
        </p:spPr>
        <p:txBody>
          <a:bodyPr wrap="square" lIns="0" tIns="0" rIns="0" bIns="0" rtlCol="0" anchor="t"/>
          <a:lstStyle/>
          <a:p>
            <a:pPr algn="l" indent="0" marL="0">
              <a:buNone/>
            </a:pPr>
            <a:r>
              <a:rPr lang="en-US" sz="1800" b="1" dirty="0">
                <a:solidFill>
                  <a:srgbClr val="9A6700"/>
                </a:solidFill>
                <a:latin typeface="Consolas" pitchFamily="34" charset="0"/>
                <a:ea typeface="Consolas" pitchFamily="34" charset="-122"/>
                <a:cs typeface="Consolas" pitchFamily="34" charset="-120"/>
              </a:rPr>
              <a:t>minä: teen päätökset</a:t>
            </a:r>
            <a:endParaRPr lang="en-US" sz="1800" dirty="0"/>
          </a:p>
        </p:txBody>
      </p:sp>
      <p:sp>
        <p:nvSpPr>
          <p:cNvPr id="21" name="Text 18"/>
          <p:cNvSpPr txBox="1"/>
          <p:nvPr/>
        </p:nvSpPr>
        <p:spPr>
          <a:xfrm>
            <a:off x="6263640" y="3886200"/>
            <a:ext cx="5349240" cy="1600200"/>
          </a:xfrm>
          <a:prstGeom prst="rect">
            <a:avLst/>
          </a:prstGeom>
          <a:noFill/>
          <a:ln/>
        </p:spPr>
        <p:txBody>
          <a:bodyPr wrap="square" lIns="0" tIns="0" rIns="0" bIns="0" rtlCol="0" anchor="t"/>
          <a:lstStyle/>
          <a:p>
            <a:pPr algn="l" indent="0" marL="0">
              <a:spcAft>
                <a:spcPts val="300"/>
              </a:spcAft>
              <a:buNone/>
            </a:pPr>
            <a:r>
              <a:rPr lang="en-US" sz="1500" dirty="0">
                <a:solidFill>
                  <a:srgbClr val="111827"/>
                </a:solidFill>
                <a:latin typeface="Segoe UI" pitchFamily="34" charset="0"/>
                <a:ea typeface="Segoe UI" pitchFamily="34" charset="-122"/>
                <a:cs typeface="Segoe UI" pitchFamily="34" charset="-120"/>
              </a:rPr>
              <a:t>· mitä palvelu on – ja mitä se ei ole (”ei kasinoa, ei maksullista etenemistä”)</a:t>
            </a:r>
            <a:endParaRPr lang="en-US" sz="1500" dirty="0"/>
          </a:p>
          <a:p>
            <a:pPr algn="l" indent="0" marL="0">
              <a:spcAft>
                <a:spcPts val="300"/>
              </a:spcAft>
              <a:buNone/>
            </a:pPr>
            <a:r>
              <a:rPr lang="en-US" sz="1500" dirty="0">
                <a:solidFill>
                  <a:srgbClr val="111827"/>
                </a:solidFill>
                <a:latin typeface="Segoe UI" pitchFamily="34" charset="0"/>
                <a:ea typeface="Segoe UI" pitchFamily="34" charset="-122"/>
                <a:cs typeface="Segoe UI" pitchFamily="34" charset="-120"/>
              </a:rPr>
              <a:t>· ettei mennyttä historiaa kirjoiteta uudelleen</a:t>
            </a:r>
            <a:endParaRPr lang="en-US" sz="1500" dirty="0"/>
          </a:p>
          <a:p>
            <a:pPr algn="l" indent="0" marL="0">
              <a:spcAft>
                <a:spcPts val="300"/>
              </a:spcAft>
              <a:buNone/>
            </a:pPr>
            <a:r>
              <a:rPr lang="en-US" sz="1500" dirty="0">
                <a:solidFill>
                  <a:srgbClr val="111827"/>
                </a:solidFill>
                <a:latin typeface="Segoe UI" pitchFamily="34" charset="0"/>
                <a:ea typeface="Segoe UI" pitchFamily="34" charset="-122"/>
                <a:cs typeface="Segoe UI" pitchFamily="34" charset="-120"/>
              </a:rPr>
              <a:t>· mitä yhteisö oikeasti haluaa</a:t>
            </a:r>
            <a:endParaRPr lang="en-US" sz="1500" dirty="0"/>
          </a:p>
          <a:p>
            <a:pPr algn="l" indent="0" marL="0">
              <a:spcAft>
                <a:spcPts val="300"/>
              </a:spcAft>
              <a:buNone/>
            </a:pPr>
            <a:r>
              <a:rPr lang="en-US" sz="1500" dirty="0">
                <a:solidFill>
                  <a:srgbClr val="111827"/>
                </a:solidFill>
                <a:latin typeface="Segoe UI" pitchFamily="34" charset="0"/>
                <a:ea typeface="Segoe UI" pitchFamily="34" charset="-122"/>
                <a:cs typeface="Segoe UI" pitchFamily="34" charset="-120"/>
              </a:rPr>
              <a:t>· milloin muutos menee tuotantoon</a:t>
            </a:r>
            <a:endParaRPr lang="en-US" sz="1500" dirty="0"/>
          </a:p>
        </p:txBody>
      </p:sp>
      <p:sp>
        <p:nvSpPr>
          <p:cNvPr id="22" name="Alarivi"/>
          <p:cNvSpPr txBox="1"/>
          <p:nvPr/>
        </p:nvSpPr>
        <p:spPr>
          <a:xfrm>
            <a:off x="548640" y="5577840"/>
            <a:ext cx="11064240" cy="548640"/>
          </a:xfrm>
          <a:prstGeom prst="rect">
            <a:avLst/>
          </a:prstGeom>
          <a:noFill/>
          <a:ln/>
        </p:spPr>
        <p:txBody>
          <a:bodyPr wrap="square" lIns="0" tIns="0" rIns="0" bIns="0" rtlCol="0" anchor="ctr"/>
          <a:lstStyle/>
          <a:p>
            <a:pPr algn="l" indent="0" marL="0">
              <a:buNone/>
            </a:pPr>
            <a:r>
              <a:rPr lang="en-US" sz="2000" b="1" dirty="0">
                <a:solidFill>
                  <a:srgbClr val="111827"/>
                </a:solidFill>
                <a:latin typeface="Segoe UI" pitchFamily="34" charset="0"/>
                <a:ea typeface="Segoe UI" pitchFamily="34" charset="-122"/>
                <a:cs typeface="Segoe UI" pitchFamily="34" charset="-120"/>
              </a:rPr>
              <a:t>Mitä tässä oli halpaa – ja mikä ei?</a:t>
            </a:r>
            <a:endParaRPr lang="en-US" sz="2000" dirty="0"/>
          </a:p>
        </p:txBody>
      </p:sp>
      <p:sp>
        <p:nvSpPr>
          <p:cNvPr id="23"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github.com/Koodattu/suomiwow.vaarattu.tv (git log 18.10.2026) · PRODUCT.md.</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06 · oikea projekti</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Koodi oli halpaa. Tämä ei.</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Oikea korjaus tuotannon dataan: hahmojen identiteetit</a:t>
            </a:r>
            <a:endParaRPr lang="en-US" sz="1800" dirty="0"/>
          </a:p>
        </p:txBody>
      </p:sp>
      <p:sp>
        <p:nvSpPr>
          <p:cNvPr id="5" name="Koodikortti"/>
          <p:cNvSpPr/>
          <p:nvPr/>
        </p:nvSpPr>
        <p:spPr>
          <a:xfrm>
            <a:off x="548640" y="1737360"/>
            <a:ext cx="11064240" cy="3246120"/>
          </a:xfrm>
          <a:prstGeom prst="roundRect">
            <a:avLst>
              <a:gd name="adj" fmla="val 2817"/>
            </a:avLst>
          </a:prstGeom>
          <a:solidFill>
            <a:srgbClr val="F6F8FA"/>
          </a:solidFill>
          <a:ln w="12700">
            <a:solidFill>
              <a:srgbClr val="D0D7DE"/>
            </a:solidFill>
            <a:prstDash val="solid"/>
          </a:ln>
        </p:spPr>
      </p:sp>
      <p:sp>
        <p:nvSpPr>
          <p:cNvPr id="6" name="Shape 4"/>
          <p:cNvSpPr/>
          <p:nvPr/>
        </p:nvSpPr>
        <p:spPr>
          <a:xfrm>
            <a:off x="548640" y="2148840"/>
            <a:ext cx="11064240" cy="0"/>
          </a:xfrm>
          <a:prstGeom prst="line">
            <a:avLst/>
          </a:prstGeom>
          <a:noFill/>
          <a:ln w="12700">
            <a:solidFill>
              <a:srgbClr val="D0D7DE"/>
            </a:solidFill>
            <a:prstDash val="solid"/>
          </a:ln>
        </p:spPr>
      </p:sp>
      <p:sp>
        <p:nvSpPr>
          <p:cNvPr id="7" name="Text 5"/>
          <p:cNvSpPr txBox="1"/>
          <p:nvPr/>
        </p:nvSpPr>
        <p:spPr>
          <a:xfrm>
            <a:off x="777240" y="1810512"/>
            <a:ext cx="10607040" cy="274320"/>
          </a:xfrm>
          <a:prstGeom prst="rect">
            <a:avLst/>
          </a:prstGeom>
          <a:noFill/>
          <a:ln/>
        </p:spPr>
        <p:txBody>
          <a:bodyPr wrap="square" lIns="0" tIns="0" rIns="0" bIns="0" rtlCol="0" anchor="ctr"/>
          <a:lstStyle/>
          <a:p>
            <a:pPr algn="l" indent="0" marL="0">
              <a:buNone/>
            </a:pPr>
            <a:r>
              <a:rPr lang="en-US" sz="1200" dirty="0">
                <a:solidFill>
                  <a:srgbClr val="57606A"/>
                </a:solidFill>
                <a:latin typeface="Consolas" pitchFamily="34" charset="0"/>
                <a:ea typeface="Consolas" pitchFamily="34" charset="-122"/>
                <a:cs typeface="Consolas" pitchFamily="34" charset="-120"/>
              </a:rPr>
              <a:t>docs/character-identity-repair.md (lyhennetty)</a:t>
            </a:r>
            <a:endParaRPr lang="en-US" sz="1200" dirty="0"/>
          </a:p>
        </p:txBody>
      </p:sp>
      <p:sp>
        <p:nvSpPr>
          <p:cNvPr id="8" name="Text 6"/>
          <p:cNvSpPr txBox="1"/>
          <p:nvPr/>
        </p:nvSpPr>
        <p:spPr>
          <a:xfrm>
            <a:off x="777240" y="2286000"/>
            <a:ext cx="10515600" cy="420624"/>
          </a:xfrm>
          <a:prstGeom prst="rect">
            <a:avLst/>
          </a:prstGeom>
          <a:noFill/>
          <a:ln/>
        </p:spPr>
        <p:txBody>
          <a:bodyPr wrap="square" lIns="0" tIns="0" rIns="0" bIns="0" rtlCol="0" anchor="ctr"/>
          <a:lstStyle/>
          <a:p>
            <a:pPr algn="l" indent="0" marL="0">
              <a:buNone/>
            </a:pPr>
            <a:r>
              <a:rPr lang="en-US" sz="2000" dirty="0">
                <a:solidFill>
                  <a:srgbClr val="111827"/>
                </a:solidFill>
                <a:latin typeface="Consolas" pitchFamily="34" charset="0"/>
                <a:ea typeface="Consolas" pitchFamily="34" charset="-122"/>
                <a:cs typeface="Consolas" pitchFamily="34" charset="-120"/>
              </a:rPr>
              <a:t>npm run repair:character-identities</a:t>
            </a:r>
            <a:endParaRPr lang="en-US" sz="2000" dirty="0"/>
          </a:p>
        </p:txBody>
      </p:sp>
      <p:sp>
        <p:nvSpPr>
          <p:cNvPr id="9" name="Text 7"/>
          <p:cNvSpPr txBox="1"/>
          <p:nvPr/>
        </p:nvSpPr>
        <p:spPr>
          <a:xfrm>
            <a:off x="777240" y="2706624"/>
            <a:ext cx="10515600" cy="420624"/>
          </a:xfrm>
          <a:prstGeom prst="rect">
            <a:avLst/>
          </a:prstGeom>
          <a:noFill/>
          <a:ln/>
        </p:spPr>
        <p:txBody>
          <a:bodyPr wrap="square" lIns="0" tIns="0" rIns="0" bIns="0" rtlCol="0" anchor="ctr"/>
          <a:lstStyle/>
          <a:p>
            <a:pPr algn="l" indent="0" marL="0">
              <a:buNone/>
            </a:pPr>
            <a:r>
              <a:rPr lang="en-US" sz="2000" dirty="0">
                <a:solidFill>
                  <a:srgbClr val="57606A"/>
                </a:solidFill>
                <a:latin typeface="Consolas" pitchFamily="34" charset="0"/>
                <a:ea typeface="Consolas" pitchFamily="34" charset="-122"/>
                <a:cs typeface="Consolas" pitchFamily="34" charset="-120"/>
              </a:rPr>
              <a:t># dry run, ei kirjoita mitään</a:t>
            </a:r>
            <a:endParaRPr lang="en-US" sz="2000" dirty="0"/>
          </a:p>
        </p:txBody>
      </p:sp>
      <p:sp>
        <p:nvSpPr>
          <p:cNvPr id="10" name="Text 8"/>
          <p:cNvSpPr txBox="1"/>
          <p:nvPr/>
        </p:nvSpPr>
        <p:spPr>
          <a:xfrm>
            <a:off x="777240" y="3127248"/>
            <a:ext cx="10515600" cy="420624"/>
          </a:xfrm>
          <a:prstGeom prst="rect">
            <a:avLst/>
          </a:prstGeom>
          <a:noFill/>
          <a:ln/>
        </p:spPr>
        <p:txBody>
          <a:bodyPr wrap="square" lIns="0" tIns="0" rIns="0" bIns="0" rtlCol="0" anchor="ctr"/>
          <a:lstStyle/>
          <a:p>
            <a:pPr algn="l" indent="0" marL="0">
              <a:buNone/>
            </a:pPr>
            <a:r>
              <a:rPr lang="en-US" sz="2000" dirty="0">
                <a:solidFill>
                  <a:srgbClr val="57606A"/>
                </a:solidFill>
                <a:latin typeface="Consolas" pitchFamily="34" charset="0"/>
                <a:ea typeface="Consolas" pitchFamily="34" charset="-122"/>
                <a:cs typeface="Consolas" pitchFamily="34" charset="-120"/>
              </a:rPr>
              <a:t># tarkista määrät ja esimerkit</a:t>
            </a:r>
            <a:endParaRPr lang="en-US" sz="2000" dirty="0"/>
          </a:p>
        </p:txBody>
      </p:sp>
      <p:sp>
        <p:nvSpPr>
          <p:cNvPr id="11" name="Text 9"/>
          <p:cNvSpPr txBox="1"/>
          <p:nvPr/>
        </p:nvSpPr>
        <p:spPr>
          <a:xfrm>
            <a:off x="777240" y="3547872"/>
            <a:ext cx="10515600" cy="420624"/>
          </a:xfrm>
          <a:prstGeom prst="rect">
            <a:avLst/>
          </a:prstGeom>
          <a:noFill/>
          <a:ln/>
        </p:spPr>
        <p:txBody>
          <a:bodyPr wrap="square" lIns="0" tIns="0" rIns="0" bIns="0" rtlCol="0" anchor="ctr"/>
          <a:lstStyle/>
          <a:p>
            <a:pPr algn="l" indent="0" marL="0">
              <a:buNone/>
            </a:pPr>
            <a:r>
              <a:rPr lang="en-US" sz="2000" dirty="0">
                <a:solidFill>
                  <a:srgbClr val="57606A"/>
                </a:solidFill>
                <a:latin typeface="Consolas" pitchFamily="34" charset="0"/>
                <a:ea typeface="Consolas" pitchFamily="34" charset="-122"/>
                <a:cs typeface="Consolas" pitchFamily="34" charset="-120"/>
              </a:rPr>
              <a:t># varmuuskopio · pysäytä workerit</a:t>
            </a:r>
            <a:endParaRPr lang="en-US" sz="2000" dirty="0"/>
          </a:p>
        </p:txBody>
      </p:sp>
      <p:sp>
        <p:nvSpPr>
          <p:cNvPr id="12" name="Text 10"/>
          <p:cNvSpPr txBox="1"/>
          <p:nvPr/>
        </p:nvSpPr>
        <p:spPr>
          <a:xfrm>
            <a:off x="777240" y="3968496"/>
            <a:ext cx="10515600" cy="420624"/>
          </a:xfrm>
          <a:prstGeom prst="rect">
            <a:avLst/>
          </a:prstGeom>
          <a:noFill/>
          <a:ln/>
        </p:spPr>
        <p:txBody>
          <a:bodyPr wrap="square" lIns="0" tIns="0" rIns="0" bIns="0" rtlCol="0" anchor="ctr"/>
          <a:lstStyle/>
          <a:p>
            <a:pPr algn="l" indent="0" marL="0">
              <a:buNone/>
            </a:pPr>
            <a:r>
              <a:rPr lang="en-US" sz="2000" dirty="0">
                <a:solidFill>
                  <a:srgbClr val="111827"/>
                </a:solidFill>
                <a:latin typeface="Consolas" pitchFamily="34" charset="0"/>
                <a:ea typeface="Consolas" pitchFamily="34" charset="-122"/>
                <a:cs typeface="Consolas" pitchFamily="34" charset="-120"/>
              </a:rPr>
              <a:t>npm run repair:character-identities -- --apply</a:t>
            </a:r>
            <a:endParaRPr lang="en-US" sz="2000" dirty="0"/>
          </a:p>
        </p:txBody>
      </p:sp>
      <p:sp>
        <p:nvSpPr>
          <p:cNvPr id="13" name="Text 11"/>
          <p:cNvSpPr txBox="1"/>
          <p:nvPr/>
        </p:nvSpPr>
        <p:spPr>
          <a:xfrm>
            <a:off x="777240" y="4389120"/>
            <a:ext cx="10515600" cy="420624"/>
          </a:xfrm>
          <a:prstGeom prst="rect">
            <a:avLst/>
          </a:prstGeom>
          <a:noFill/>
          <a:ln/>
        </p:spPr>
        <p:txBody>
          <a:bodyPr wrap="square" lIns="0" tIns="0" rIns="0" bIns="0" rtlCol="0" anchor="ctr"/>
          <a:lstStyle/>
          <a:p>
            <a:pPr algn="l" indent="0" marL="0">
              <a:buNone/>
            </a:pPr>
            <a:r>
              <a:rPr lang="en-US" sz="2000" dirty="0">
                <a:solidFill>
                  <a:srgbClr val="57606A"/>
                </a:solidFill>
                <a:latin typeface="Consolas" pitchFamily="34" charset="0"/>
                <a:ea typeface="Consolas" pitchFamily="34" charset="-122"/>
                <a:cs typeface="Consolas" pitchFamily="34" charset="-120"/>
              </a:rPr>
              <a:t># käynnistä · dry run uudelleen → 0 jäljellä</a:t>
            </a:r>
            <a:endParaRPr lang="en-US" sz="2000" dirty="0"/>
          </a:p>
        </p:txBody>
      </p:sp>
      <p:sp>
        <p:nvSpPr>
          <p:cNvPr id="14" name="Alarivi"/>
          <p:cNvSpPr txBox="1"/>
          <p:nvPr/>
        </p:nvSpPr>
        <p:spPr>
          <a:xfrm>
            <a:off x="548640" y="5257800"/>
            <a:ext cx="11064240" cy="548640"/>
          </a:xfrm>
          <a:prstGeom prst="rect">
            <a:avLst/>
          </a:prstGeom>
          <a:noFill/>
          <a:ln/>
        </p:spPr>
        <p:txBody>
          <a:bodyPr wrap="square" lIns="0" tIns="0" rIns="0" bIns="0" rtlCol="0" anchor="ctr"/>
          <a:lstStyle/>
          <a:p>
            <a:pPr algn="l" indent="0" marL="0">
              <a:buNone/>
            </a:pPr>
            <a:r>
              <a:rPr lang="en-US" sz="2200" b="1" dirty="0">
                <a:solidFill>
                  <a:srgbClr val="111827"/>
                </a:solidFill>
                <a:latin typeface="Segoe UI" pitchFamily="34" charset="0"/>
                <a:ea typeface="Segoe UI" pitchFamily="34" charset="-122"/>
                <a:cs typeface="Segoe UI" pitchFamily="34" charset="-120"/>
              </a:rPr>
              <a:t>Agentti kirjoitti korjauksen. Päätös ajaa se tuotantoon oli minun.</a:t>
            </a:r>
            <a:endParaRPr lang="en-US" sz="2200" dirty="0"/>
          </a:p>
        </p:txBody>
      </p:sp>
      <p:sp>
        <p:nvSpPr>
          <p:cNvPr id="15"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SuomiWoW: docs/character-identity-repair.md, docs/ingestion-leases.md (lyhennetty).</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731520" y="640080"/>
            <a:ext cx="10058400" cy="411480"/>
          </a:xfrm>
          <a:prstGeom prst="rect">
            <a:avLst/>
          </a:prstGeom>
          <a:noFill/>
          <a:ln/>
        </p:spPr>
        <p:txBody>
          <a:bodyPr wrap="square" lIns="0" tIns="0" rIns="0" bIns="0" rtlCol="0" anchor="t"/>
          <a:lstStyle/>
          <a:p>
            <a:pPr algn="l" indent="0" marL="0">
              <a:buNone/>
            </a:pPr>
            <a:r>
              <a:rPr lang="en-US" sz="1800" dirty="0">
                <a:solidFill>
                  <a:srgbClr val="8B949E"/>
                </a:solidFill>
                <a:latin typeface="Consolas" pitchFamily="34" charset="0"/>
                <a:ea typeface="Consolas" pitchFamily="34" charset="-122"/>
                <a:cs typeface="Consolas" pitchFamily="34" charset="-120"/>
              </a:rPr>
              <a:t>$ git diff kysymys..vastaus</a:t>
            </a:r>
            <a:endParaRPr lang="en-US" sz="1800" dirty="0"/>
          </a:p>
        </p:txBody>
      </p:sp>
      <p:sp>
        <p:nvSpPr>
          <p:cNvPr id="3" name="Text 1"/>
          <p:cNvSpPr txBox="1"/>
          <p:nvPr/>
        </p:nvSpPr>
        <p:spPr>
          <a:xfrm>
            <a:off x="731520" y="1325880"/>
            <a:ext cx="457200" cy="822960"/>
          </a:xfrm>
          <a:prstGeom prst="rect">
            <a:avLst/>
          </a:prstGeom>
          <a:noFill/>
          <a:ln/>
        </p:spPr>
        <p:txBody>
          <a:bodyPr wrap="square" lIns="0" tIns="0" rIns="0" bIns="0" rtlCol="0" anchor="ctr"/>
          <a:lstStyle/>
          <a:p>
            <a:pPr algn="l" indent="0" marL="0">
              <a:buNone/>
            </a:pPr>
            <a:r>
              <a:rPr lang="en-US" sz="3000" b="1" dirty="0">
                <a:solidFill>
                  <a:srgbClr val="8B949E"/>
                </a:solidFill>
                <a:latin typeface="Consolas" pitchFamily="34" charset="0"/>
                <a:ea typeface="Consolas" pitchFamily="34" charset="-122"/>
                <a:cs typeface="Consolas" pitchFamily="34" charset="-120"/>
              </a:rPr>
              <a:t> </a:t>
            </a:r>
            <a:endParaRPr lang="en-US" sz="3000" dirty="0"/>
          </a:p>
        </p:txBody>
      </p:sp>
      <p:sp>
        <p:nvSpPr>
          <p:cNvPr id="4" name="Text 2"/>
          <p:cNvSpPr txBox="1"/>
          <p:nvPr/>
        </p:nvSpPr>
        <p:spPr>
          <a:xfrm>
            <a:off x="1280160" y="1325880"/>
            <a:ext cx="10149840" cy="822960"/>
          </a:xfrm>
          <a:prstGeom prst="rect">
            <a:avLst/>
          </a:prstGeom>
          <a:noFill/>
          <a:ln/>
        </p:spPr>
        <p:txBody>
          <a:bodyPr wrap="square" lIns="0" tIns="0" rIns="0" bIns="0" rtlCol="0" anchor="ctr"/>
          <a:lstStyle/>
          <a:p>
            <a:pPr algn="l" indent="0" marL="0">
              <a:buNone/>
            </a:pPr>
            <a:r>
              <a:rPr lang="en-US" sz="3000" b="1" dirty="0">
                <a:solidFill>
                  <a:srgbClr val="E6EDF3"/>
                </a:solidFill>
                <a:latin typeface="Segoe UI" pitchFamily="34" charset="0"/>
                <a:ea typeface="Segoe UI" pitchFamily="34" charset="-122"/>
                <a:cs typeface="Segoe UI" pitchFamily="34" charset="-120"/>
              </a:rPr>
              <a:t>Hei ohjelmistokehitys, mitä kuuluu?</a:t>
            </a:r>
            <a:endParaRPr lang="en-US" sz="3000" dirty="0"/>
          </a:p>
        </p:txBody>
      </p:sp>
      <p:sp>
        <p:nvSpPr>
          <p:cNvPr id="5" name="Shape 3"/>
          <p:cNvSpPr/>
          <p:nvPr/>
        </p:nvSpPr>
        <p:spPr>
          <a:xfrm>
            <a:off x="548640" y="2240280"/>
            <a:ext cx="11064240" cy="822960"/>
          </a:xfrm>
          <a:prstGeom prst="rect">
            <a:avLst/>
          </a:prstGeom>
          <a:solidFill>
            <a:srgbClr val="12301D"/>
          </a:solidFill>
          <a:ln w="12700">
            <a:solidFill>
              <a:srgbClr val="12301D"/>
            </a:solidFill>
            <a:prstDash val="solid"/>
          </a:ln>
        </p:spPr>
      </p:sp>
      <p:sp>
        <p:nvSpPr>
          <p:cNvPr id="6" name="Text 4"/>
          <p:cNvSpPr txBox="1"/>
          <p:nvPr/>
        </p:nvSpPr>
        <p:spPr>
          <a:xfrm>
            <a:off x="731520" y="2240280"/>
            <a:ext cx="457200" cy="822960"/>
          </a:xfrm>
          <a:prstGeom prst="rect">
            <a:avLst/>
          </a:prstGeom>
          <a:noFill/>
          <a:ln/>
        </p:spPr>
        <p:txBody>
          <a:bodyPr wrap="square" lIns="0" tIns="0" rIns="0" bIns="0" rtlCol="0" anchor="ctr"/>
          <a:lstStyle/>
          <a:p>
            <a:pPr algn="l" indent="0" marL="0">
              <a:buNone/>
            </a:pPr>
            <a:r>
              <a:rPr lang="en-US" sz="2600" b="1" dirty="0">
                <a:solidFill>
                  <a:srgbClr val="56D364"/>
                </a:solidFill>
                <a:latin typeface="Consolas" pitchFamily="34" charset="0"/>
                <a:ea typeface="Consolas" pitchFamily="34" charset="-122"/>
                <a:cs typeface="Consolas" pitchFamily="34" charset="-120"/>
              </a:rPr>
              <a:t>+</a:t>
            </a:r>
            <a:endParaRPr lang="en-US" sz="2600" dirty="0"/>
          </a:p>
        </p:txBody>
      </p:sp>
      <p:sp>
        <p:nvSpPr>
          <p:cNvPr id="7" name="Text 5"/>
          <p:cNvSpPr txBox="1"/>
          <p:nvPr/>
        </p:nvSpPr>
        <p:spPr>
          <a:xfrm>
            <a:off x="1280160" y="2240280"/>
            <a:ext cx="10149840" cy="822960"/>
          </a:xfrm>
          <a:prstGeom prst="rect">
            <a:avLst/>
          </a:prstGeom>
          <a:noFill/>
          <a:ln/>
        </p:spPr>
        <p:txBody>
          <a:bodyPr wrap="square" lIns="0" tIns="0" rIns="0" bIns="0" rtlCol="0" anchor="ctr"/>
          <a:lstStyle/>
          <a:p>
            <a:pPr algn="l" indent="0" marL="0">
              <a:buNone/>
            </a:pPr>
            <a:r>
              <a:rPr lang="en-US" sz="2600" dirty="0">
                <a:solidFill>
                  <a:srgbClr val="E6EDF3"/>
                </a:solidFill>
                <a:latin typeface="Segoe UI" pitchFamily="34" charset="0"/>
                <a:ea typeface="Segoe UI" pitchFamily="34" charset="-122"/>
                <a:cs typeface="Segoe UI" pitchFamily="34" charset="-120"/>
              </a:rPr>
              <a:t>Kiireistä. Koodia tulee enemmän kuin ehditään lukea.</a:t>
            </a:r>
            <a:endParaRPr lang="en-US" sz="26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B949E"/>
                </a:solidFill>
                <a:latin typeface="Consolas"/>
                <a:ea typeface="Consolas"/>
                <a:cs typeface="Consolas"/>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731520" y="640080"/>
            <a:ext cx="10058400" cy="411480"/>
          </a:xfrm>
          <a:prstGeom prst="rect">
            <a:avLst/>
          </a:prstGeom>
          <a:noFill/>
          <a:ln/>
        </p:spPr>
        <p:txBody>
          <a:bodyPr wrap="square" lIns="0" tIns="0" rIns="0" bIns="0" rtlCol="0" anchor="t"/>
          <a:lstStyle/>
          <a:p>
            <a:pPr algn="l" indent="0" marL="0">
              <a:buNone/>
            </a:pPr>
            <a:r>
              <a:rPr lang="en-US" sz="1800" dirty="0">
                <a:solidFill>
                  <a:srgbClr val="8B949E"/>
                </a:solidFill>
                <a:latin typeface="Consolas" pitchFamily="34" charset="0"/>
                <a:ea typeface="Consolas" pitchFamily="34" charset="-122"/>
                <a:cs typeface="Consolas" pitchFamily="34" charset="-120"/>
              </a:rPr>
              <a:t>$ git diff kysymys..vastaus</a:t>
            </a:r>
            <a:endParaRPr lang="en-US" sz="1800" dirty="0"/>
          </a:p>
        </p:txBody>
      </p:sp>
      <p:sp>
        <p:nvSpPr>
          <p:cNvPr id="3" name="Text 1"/>
          <p:cNvSpPr txBox="1"/>
          <p:nvPr/>
        </p:nvSpPr>
        <p:spPr>
          <a:xfrm>
            <a:off x="731520" y="1325880"/>
            <a:ext cx="457200" cy="822960"/>
          </a:xfrm>
          <a:prstGeom prst="rect">
            <a:avLst/>
          </a:prstGeom>
          <a:noFill/>
          <a:ln/>
        </p:spPr>
        <p:txBody>
          <a:bodyPr wrap="square" lIns="0" tIns="0" rIns="0" bIns="0" rtlCol="0" anchor="ctr"/>
          <a:lstStyle/>
          <a:p>
            <a:pPr algn="l" indent="0" marL="0">
              <a:buNone/>
            </a:pPr>
            <a:r>
              <a:rPr lang="en-US" sz="3000" b="1" dirty="0">
                <a:solidFill>
                  <a:srgbClr val="8B949E"/>
                </a:solidFill>
                <a:latin typeface="Consolas" pitchFamily="34" charset="0"/>
                <a:ea typeface="Consolas" pitchFamily="34" charset="-122"/>
                <a:cs typeface="Consolas" pitchFamily="34" charset="-120"/>
              </a:rPr>
              <a:t> </a:t>
            </a:r>
            <a:endParaRPr lang="en-US" sz="3000" dirty="0"/>
          </a:p>
        </p:txBody>
      </p:sp>
      <p:sp>
        <p:nvSpPr>
          <p:cNvPr id="4" name="Text 2"/>
          <p:cNvSpPr txBox="1"/>
          <p:nvPr/>
        </p:nvSpPr>
        <p:spPr>
          <a:xfrm>
            <a:off x="1280160" y="1325880"/>
            <a:ext cx="10149840" cy="822960"/>
          </a:xfrm>
          <a:prstGeom prst="rect">
            <a:avLst/>
          </a:prstGeom>
          <a:noFill/>
          <a:ln/>
        </p:spPr>
        <p:txBody>
          <a:bodyPr wrap="square" lIns="0" tIns="0" rIns="0" bIns="0" rtlCol="0" anchor="ctr"/>
          <a:lstStyle/>
          <a:p>
            <a:pPr algn="l" indent="0" marL="0">
              <a:buNone/>
            </a:pPr>
            <a:r>
              <a:rPr lang="en-US" sz="3000" b="1" dirty="0">
                <a:solidFill>
                  <a:srgbClr val="E6EDF3"/>
                </a:solidFill>
                <a:latin typeface="Segoe UI" pitchFamily="34" charset="0"/>
                <a:ea typeface="Segoe UI" pitchFamily="34" charset="-122"/>
                <a:cs typeface="Segoe UI" pitchFamily="34" charset="-120"/>
              </a:rPr>
              <a:t>Hei ohjelmistokehitys, mitä kuuluu?</a:t>
            </a:r>
            <a:endParaRPr lang="en-US" sz="3000" dirty="0"/>
          </a:p>
        </p:txBody>
      </p:sp>
      <p:sp>
        <p:nvSpPr>
          <p:cNvPr id="5" name="Shape 3"/>
          <p:cNvSpPr/>
          <p:nvPr/>
        </p:nvSpPr>
        <p:spPr>
          <a:xfrm>
            <a:off x="548640" y="2240280"/>
            <a:ext cx="11064240" cy="822960"/>
          </a:xfrm>
          <a:prstGeom prst="rect">
            <a:avLst/>
          </a:prstGeom>
          <a:solidFill>
            <a:srgbClr val="12301D"/>
          </a:solidFill>
          <a:ln w="12700">
            <a:solidFill>
              <a:srgbClr val="12301D"/>
            </a:solidFill>
            <a:prstDash val="solid"/>
          </a:ln>
        </p:spPr>
      </p:sp>
      <p:sp>
        <p:nvSpPr>
          <p:cNvPr id="6" name="Text 4"/>
          <p:cNvSpPr txBox="1"/>
          <p:nvPr/>
        </p:nvSpPr>
        <p:spPr>
          <a:xfrm>
            <a:off x="731520" y="2240280"/>
            <a:ext cx="457200" cy="822960"/>
          </a:xfrm>
          <a:prstGeom prst="rect">
            <a:avLst/>
          </a:prstGeom>
          <a:noFill/>
          <a:ln/>
        </p:spPr>
        <p:txBody>
          <a:bodyPr wrap="square" lIns="0" tIns="0" rIns="0" bIns="0" rtlCol="0" anchor="ctr"/>
          <a:lstStyle/>
          <a:p>
            <a:pPr algn="l" indent="0" marL="0">
              <a:buNone/>
            </a:pPr>
            <a:r>
              <a:rPr lang="en-US" sz="2600" b="1" dirty="0">
                <a:solidFill>
                  <a:srgbClr val="56D364"/>
                </a:solidFill>
                <a:latin typeface="Consolas" pitchFamily="34" charset="0"/>
                <a:ea typeface="Consolas" pitchFamily="34" charset="-122"/>
                <a:cs typeface="Consolas" pitchFamily="34" charset="-120"/>
              </a:rPr>
              <a:t>+</a:t>
            </a:r>
            <a:endParaRPr lang="en-US" sz="2600" dirty="0"/>
          </a:p>
        </p:txBody>
      </p:sp>
      <p:sp>
        <p:nvSpPr>
          <p:cNvPr id="7" name="Text 5"/>
          <p:cNvSpPr txBox="1"/>
          <p:nvPr/>
        </p:nvSpPr>
        <p:spPr>
          <a:xfrm>
            <a:off x="1280160" y="2240280"/>
            <a:ext cx="10149840" cy="822960"/>
          </a:xfrm>
          <a:prstGeom prst="rect">
            <a:avLst/>
          </a:prstGeom>
          <a:noFill/>
          <a:ln/>
        </p:spPr>
        <p:txBody>
          <a:bodyPr wrap="square" lIns="0" tIns="0" rIns="0" bIns="0" rtlCol="0" anchor="ctr"/>
          <a:lstStyle/>
          <a:p>
            <a:pPr algn="l" indent="0" marL="0">
              <a:buNone/>
            </a:pPr>
            <a:r>
              <a:rPr lang="en-US" sz="2600" dirty="0">
                <a:solidFill>
                  <a:srgbClr val="E6EDF3"/>
                </a:solidFill>
                <a:latin typeface="Segoe UI" pitchFamily="34" charset="0"/>
                <a:ea typeface="Segoe UI" pitchFamily="34" charset="-122"/>
                <a:cs typeface="Segoe UI" pitchFamily="34" charset="-120"/>
              </a:rPr>
              <a:t>Kiireistä. Koodia tulee enemmän kuin ehditään lukea.</a:t>
            </a:r>
            <a:endParaRPr lang="en-US" sz="2600" dirty="0"/>
          </a:p>
        </p:txBody>
      </p:sp>
      <p:sp>
        <p:nvSpPr>
          <p:cNvPr id="8" name="Text 6"/>
          <p:cNvSpPr txBox="1"/>
          <p:nvPr/>
        </p:nvSpPr>
        <p:spPr>
          <a:xfrm>
            <a:off x="731520" y="3657600"/>
            <a:ext cx="457200" cy="1005840"/>
          </a:xfrm>
          <a:prstGeom prst="rect">
            <a:avLst/>
          </a:prstGeom>
          <a:noFill/>
          <a:ln/>
        </p:spPr>
        <p:txBody>
          <a:bodyPr wrap="square" lIns="0" tIns="0" rIns="0" bIns="0" rtlCol="0" anchor="ctr"/>
          <a:lstStyle/>
          <a:p>
            <a:pPr algn="l" indent="0" marL="0">
              <a:buNone/>
            </a:pPr>
            <a:r>
              <a:rPr lang="en-US" sz="4000" b="1" dirty="0">
                <a:solidFill>
                  <a:srgbClr val="8B949E"/>
                </a:solidFill>
                <a:latin typeface="Consolas" pitchFamily="34" charset="0"/>
                <a:ea typeface="Consolas" pitchFamily="34" charset="-122"/>
                <a:cs typeface="Consolas" pitchFamily="34" charset="-120"/>
              </a:rPr>
              <a:t> </a:t>
            </a:r>
            <a:endParaRPr lang="en-US" sz="4000" dirty="0"/>
          </a:p>
        </p:txBody>
      </p:sp>
      <p:sp>
        <p:nvSpPr>
          <p:cNvPr id="9" name="Text 7"/>
          <p:cNvSpPr txBox="1"/>
          <p:nvPr/>
        </p:nvSpPr>
        <p:spPr>
          <a:xfrm>
            <a:off x="1280160" y="3657600"/>
            <a:ext cx="10149840" cy="1005840"/>
          </a:xfrm>
          <a:prstGeom prst="rect">
            <a:avLst/>
          </a:prstGeom>
          <a:noFill/>
          <a:ln/>
        </p:spPr>
        <p:txBody>
          <a:bodyPr wrap="square" lIns="0" tIns="0" rIns="0" bIns="0" rtlCol="0" anchor="ctr"/>
          <a:lstStyle/>
          <a:p>
            <a:pPr algn="l" indent="0" marL="0">
              <a:buNone/>
            </a:pPr>
            <a:r>
              <a:rPr lang="en-US" sz="4000" b="1" dirty="0">
                <a:solidFill>
                  <a:srgbClr val="E6EDF3"/>
                </a:solidFill>
                <a:latin typeface="Segoe UI" pitchFamily="34" charset="0"/>
                <a:ea typeface="Segoe UI" pitchFamily="34" charset="-122"/>
                <a:cs typeface="Segoe UI" pitchFamily="34" charset="-120"/>
              </a:rPr>
              <a:t>Koodi halpeni. Mikä ei?</a:t>
            </a:r>
            <a:endParaRPr lang="en-US" sz="40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B949E"/>
                </a:solidFill>
                <a:latin typeface="Consolas"/>
                <a:ea typeface="Consolas"/>
                <a:cs typeface="Consolas"/>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731520" y="640080"/>
            <a:ext cx="10058400" cy="411480"/>
          </a:xfrm>
          <a:prstGeom prst="rect">
            <a:avLst/>
          </a:prstGeom>
          <a:noFill/>
          <a:ln/>
        </p:spPr>
        <p:txBody>
          <a:bodyPr wrap="square" lIns="0" tIns="0" rIns="0" bIns="0" rtlCol="0" anchor="t"/>
          <a:lstStyle/>
          <a:p>
            <a:pPr algn="l" indent="0" marL="0">
              <a:buNone/>
            </a:pPr>
            <a:r>
              <a:rPr lang="en-US" sz="1800" dirty="0">
                <a:solidFill>
                  <a:srgbClr val="8B949E"/>
                </a:solidFill>
                <a:latin typeface="Consolas" pitchFamily="34" charset="0"/>
                <a:ea typeface="Consolas" pitchFamily="34" charset="-122"/>
                <a:cs typeface="Consolas" pitchFamily="34" charset="-120"/>
              </a:rPr>
              <a:t>$ git diff kysymys..vastaus</a:t>
            </a:r>
            <a:endParaRPr lang="en-US" sz="1800" dirty="0"/>
          </a:p>
        </p:txBody>
      </p:sp>
      <p:sp>
        <p:nvSpPr>
          <p:cNvPr id="3" name="Text 1"/>
          <p:cNvSpPr txBox="1"/>
          <p:nvPr/>
        </p:nvSpPr>
        <p:spPr>
          <a:xfrm>
            <a:off x="731520" y="1325880"/>
            <a:ext cx="457200" cy="822960"/>
          </a:xfrm>
          <a:prstGeom prst="rect">
            <a:avLst/>
          </a:prstGeom>
          <a:noFill/>
          <a:ln/>
        </p:spPr>
        <p:txBody>
          <a:bodyPr wrap="square" lIns="0" tIns="0" rIns="0" bIns="0" rtlCol="0" anchor="ctr"/>
          <a:lstStyle/>
          <a:p>
            <a:pPr algn="l" indent="0" marL="0">
              <a:buNone/>
            </a:pPr>
            <a:r>
              <a:rPr lang="en-US" sz="3000" b="1" dirty="0">
                <a:solidFill>
                  <a:srgbClr val="8B949E"/>
                </a:solidFill>
                <a:latin typeface="Consolas" pitchFamily="34" charset="0"/>
                <a:ea typeface="Consolas" pitchFamily="34" charset="-122"/>
                <a:cs typeface="Consolas" pitchFamily="34" charset="-120"/>
              </a:rPr>
              <a:t> </a:t>
            </a:r>
            <a:endParaRPr lang="en-US" sz="3000" dirty="0"/>
          </a:p>
        </p:txBody>
      </p:sp>
      <p:sp>
        <p:nvSpPr>
          <p:cNvPr id="4" name="Text 2"/>
          <p:cNvSpPr txBox="1"/>
          <p:nvPr/>
        </p:nvSpPr>
        <p:spPr>
          <a:xfrm>
            <a:off x="1280160" y="1325880"/>
            <a:ext cx="10149840" cy="822960"/>
          </a:xfrm>
          <a:prstGeom prst="rect">
            <a:avLst/>
          </a:prstGeom>
          <a:noFill/>
          <a:ln/>
        </p:spPr>
        <p:txBody>
          <a:bodyPr wrap="square" lIns="0" tIns="0" rIns="0" bIns="0" rtlCol="0" anchor="ctr"/>
          <a:lstStyle/>
          <a:p>
            <a:pPr algn="l" indent="0" marL="0">
              <a:buNone/>
            </a:pPr>
            <a:r>
              <a:rPr lang="en-US" sz="3000" b="1" dirty="0">
                <a:solidFill>
                  <a:srgbClr val="E6EDF3"/>
                </a:solidFill>
                <a:latin typeface="Segoe UI" pitchFamily="34" charset="0"/>
                <a:ea typeface="Segoe UI" pitchFamily="34" charset="-122"/>
                <a:cs typeface="Segoe UI" pitchFamily="34" charset="-120"/>
              </a:rPr>
              <a:t>Hei ohjelmistokehitys, mitä kuuluu?</a:t>
            </a:r>
            <a:endParaRPr lang="en-US" sz="3000" dirty="0"/>
          </a:p>
        </p:txBody>
      </p:sp>
      <p:sp>
        <p:nvSpPr>
          <p:cNvPr id="5" name="Shape 3"/>
          <p:cNvSpPr/>
          <p:nvPr/>
        </p:nvSpPr>
        <p:spPr>
          <a:xfrm>
            <a:off x="548640" y="2240280"/>
            <a:ext cx="11064240" cy="822960"/>
          </a:xfrm>
          <a:prstGeom prst="rect">
            <a:avLst/>
          </a:prstGeom>
          <a:solidFill>
            <a:srgbClr val="12301D"/>
          </a:solidFill>
          <a:ln w="12700">
            <a:solidFill>
              <a:srgbClr val="12301D"/>
            </a:solidFill>
            <a:prstDash val="solid"/>
          </a:ln>
        </p:spPr>
      </p:sp>
      <p:sp>
        <p:nvSpPr>
          <p:cNvPr id="6" name="Text 4"/>
          <p:cNvSpPr txBox="1"/>
          <p:nvPr/>
        </p:nvSpPr>
        <p:spPr>
          <a:xfrm>
            <a:off x="731520" y="2240280"/>
            <a:ext cx="457200" cy="822960"/>
          </a:xfrm>
          <a:prstGeom prst="rect">
            <a:avLst/>
          </a:prstGeom>
          <a:noFill/>
          <a:ln/>
        </p:spPr>
        <p:txBody>
          <a:bodyPr wrap="square" lIns="0" tIns="0" rIns="0" bIns="0" rtlCol="0" anchor="ctr"/>
          <a:lstStyle/>
          <a:p>
            <a:pPr algn="l" indent="0" marL="0">
              <a:buNone/>
            </a:pPr>
            <a:r>
              <a:rPr lang="en-US" sz="2600" b="1" dirty="0">
                <a:solidFill>
                  <a:srgbClr val="56D364"/>
                </a:solidFill>
                <a:latin typeface="Consolas" pitchFamily="34" charset="0"/>
                <a:ea typeface="Consolas" pitchFamily="34" charset="-122"/>
                <a:cs typeface="Consolas" pitchFamily="34" charset="-120"/>
              </a:rPr>
              <a:t>+</a:t>
            </a:r>
            <a:endParaRPr lang="en-US" sz="2600" dirty="0"/>
          </a:p>
        </p:txBody>
      </p:sp>
      <p:sp>
        <p:nvSpPr>
          <p:cNvPr id="7" name="Text 5"/>
          <p:cNvSpPr txBox="1"/>
          <p:nvPr/>
        </p:nvSpPr>
        <p:spPr>
          <a:xfrm>
            <a:off x="1280160" y="2240280"/>
            <a:ext cx="10149840" cy="822960"/>
          </a:xfrm>
          <a:prstGeom prst="rect">
            <a:avLst/>
          </a:prstGeom>
          <a:noFill/>
          <a:ln/>
        </p:spPr>
        <p:txBody>
          <a:bodyPr wrap="square" lIns="0" tIns="0" rIns="0" bIns="0" rtlCol="0" anchor="ctr"/>
          <a:lstStyle/>
          <a:p>
            <a:pPr algn="l" indent="0" marL="0">
              <a:buNone/>
            </a:pPr>
            <a:r>
              <a:rPr lang="en-US" sz="2600" dirty="0">
                <a:solidFill>
                  <a:srgbClr val="E6EDF3"/>
                </a:solidFill>
                <a:latin typeface="Segoe UI" pitchFamily="34" charset="0"/>
                <a:ea typeface="Segoe UI" pitchFamily="34" charset="-122"/>
                <a:cs typeface="Segoe UI" pitchFamily="34" charset="-120"/>
              </a:rPr>
              <a:t>Kiireistä. Koodia tulee enemmän kuin ehditään lukea.</a:t>
            </a:r>
            <a:endParaRPr lang="en-US" sz="2600" dirty="0"/>
          </a:p>
        </p:txBody>
      </p:sp>
      <p:sp>
        <p:nvSpPr>
          <p:cNvPr id="8" name="Shape 6"/>
          <p:cNvSpPr/>
          <p:nvPr/>
        </p:nvSpPr>
        <p:spPr>
          <a:xfrm>
            <a:off x="548640" y="3657600"/>
            <a:ext cx="11064240" cy="1005840"/>
          </a:xfrm>
          <a:prstGeom prst="rect">
            <a:avLst/>
          </a:prstGeom>
          <a:solidFill>
            <a:srgbClr val="3A1517"/>
          </a:solidFill>
          <a:ln w="12700">
            <a:solidFill>
              <a:srgbClr val="3A1517"/>
            </a:solidFill>
            <a:prstDash val="solid"/>
          </a:ln>
        </p:spPr>
      </p:sp>
      <p:sp>
        <p:nvSpPr>
          <p:cNvPr id="9" name="Text 7"/>
          <p:cNvSpPr txBox="1"/>
          <p:nvPr/>
        </p:nvSpPr>
        <p:spPr>
          <a:xfrm>
            <a:off x="731520" y="3657600"/>
            <a:ext cx="457200" cy="1005840"/>
          </a:xfrm>
          <a:prstGeom prst="rect">
            <a:avLst/>
          </a:prstGeom>
          <a:noFill/>
          <a:ln/>
        </p:spPr>
        <p:txBody>
          <a:bodyPr wrap="square" lIns="0" tIns="0" rIns="0" bIns="0" rtlCol="0" anchor="ctr"/>
          <a:lstStyle/>
          <a:p>
            <a:pPr algn="l" indent="0" marL="0">
              <a:buNone/>
            </a:pPr>
            <a:r>
              <a:rPr lang="en-US" sz="4000" b="1" dirty="0">
                <a:solidFill>
                  <a:srgbClr val="F85149"/>
                </a:solidFill>
                <a:latin typeface="Consolas" pitchFamily="34" charset="0"/>
                <a:ea typeface="Consolas" pitchFamily="34" charset="-122"/>
                <a:cs typeface="Consolas" pitchFamily="34" charset="-120"/>
              </a:rPr>
              <a:t>−</a:t>
            </a:r>
            <a:endParaRPr lang="en-US" sz="4000" dirty="0"/>
          </a:p>
        </p:txBody>
      </p:sp>
      <p:sp>
        <p:nvSpPr>
          <p:cNvPr id="10" name="Text 8"/>
          <p:cNvSpPr txBox="1"/>
          <p:nvPr/>
        </p:nvSpPr>
        <p:spPr>
          <a:xfrm>
            <a:off x="1280160" y="3657600"/>
            <a:ext cx="10149840" cy="1005840"/>
          </a:xfrm>
          <a:prstGeom prst="rect">
            <a:avLst/>
          </a:prstGeom>
          <a:noFill/>
          <a:ln/>
        </p:spPr>
        <p:txBody>
          <a:bodyPr wrap="square" lIns="0" tIns="0" rIns="0" bIns="0" rtlCol="0" anchor="ctr"/>
          <a:lstStyle/>
          <a:p>
            <a:pPr algn="l" indent="0" marL="0">
              <a:buNone/>
            </a:pPr>
            <a:r>
              <a:rPr lang="en-US" sz="4000" b="1" dirty="0">
                <a:solidFill>
                  <a:srgbClr val="F0B7B3"/>
                </a:solidFill>
                <a:latin typeface="Segoe UI" pitchFamily="34" charset="0"/>
                <a:ea typeface="Segoe UI" pitchFamily="34" charset="-122"/>
                <a:cs typeface="Segoe UI" pitchFamily="34" charset="-120"/>
              </a:rPr>
              <a:t>Koodi halpeni. Mikä ei?</a:t>
            </a:r>
            <a:endParaRPr lang="en-US" sz="4000" dirty="0"/>
          </a:p>
        </p:txBody>
      </p:sp>
      <p:sp>
        <p:nvSpPr>
          <p:cNvPr id="11" name="Shape 9"/>
          <p:cNvSpPr/>
          <p:nvPr/>
        </p:nvSpPr>
        <p:spPr>
          <a:xfrm>
            <a:off x="548640" y="4754880"/>
            <a:ext cx="11064240" cy="1005840"/>
          </a:xfrm>
          <a:prstGeom prst="rect">
            <a:avLst/>
          </a:prstGeom>
          <a:solidFill>
            <a:srgbClr val="12301D"/>
          </a:solidFill>
          <a:ln w="12700">
            <a:solidFill>
              <a:srgbClr val="12301D"/>
            </a:solidFill>
            <a:prstDash val="solid"/>
          </a:ln>
        </p:spPr>
      </p:sp>
      <p:sp>
        <p:nvSpPr>
          <p:cNvPr id="12" name="Text 10"/>
          <p:cNvSpPr txBox="1"/>
          <p:nvPr/>
        </p:nvSpPr>
        <p:spPr>
          <a:xfrm>
            <a:off x="731520" y="4754880"/>
            <a:ext cx="457200" cy="1005840"/>
          </a:xfrm>
          <a:prstGeom prst="rect">
            <a:avLst/>
          </a:prstGeom>
          <a:noFill/>
          <a:ln/>
        </p:spPr>
        <p:txBody>
          <a:bodyPr wrap="square" lIns="0" tIns="0" rIns="0" bIns="0" rtlCol="0" anchor="ctr"/>
          <a:lstStyle/>
          <a:p>
            <a:pPr algn="l" indent="0" marL="0">
              <a:buNone/>
            </a:pPr>
            <a:r>
              <a:rPr lang="en-US" sz="4000" b="1" dirty="0">
                <a:solidFill>
                  <a:srgbClr val="56D364"/>
                </a:solidFill>
                <a:latin typeface="Consolas" pitchFamily="34" charset="0"/>
                <a:ea typeface="Consolas" pitchFamily="34" charset="-122"/>
                <a:cs typeface="Consolas" pitchFamily="34" charset="-120"/>
              </a:rPr>
              <a:t>+</a:t>
            </a:r>
            <a:endParaRPr lang="en-US" sz="4000" dirty="0"/>
          </a:p>
        </p:txBody>
      </p:sp>
      <p:sp>
        <p:nvSpPr>
          <p:cNvPr id="13" name="Text 11"/>
          <p:cNvSpPr txBox="1"/>
          <p:nvPr/>
        </p:nvSpPr>
        <p:spPr>
          <a:xfrm>
            <a:off x="1280160" y="4754880"/>
            <a:ext cx="10149840" cy="1005840"/>
          </a:xfrm>
          <a:prstGeom prst="rect">
            <a:avLst/>
          </a:prstGeom>
          <a:noFill/>
          <a:ln/>
        </p:spPr>
        <p:txBody>
          <a:bodyPr wrap="square" lIns="0" tIns="0" rIns="0" bIns="0" rtlCol="0" anchor="ctr"/>
          <a:lstStyle/>
          <a:p>
            <a:pPr algn="l" indent="0" marL="0">
              <a:buNone/>
            </a:pPr>
            <a:r>
              <a:rPr lang="en-US" sz="4000" b="1" dirty="0">
                <a:solidFill>
                  <a:srgbClr val="E6EDF3"/>
                </a:solidFill>
                <a:latin typeface="Segoe UI" pitchFamily="34" charset="0"/>
                <a:ea typeface="Segoe UI" pitchFamily="34" charset="-122"/>
                <a:cs typeface="Segoe UI" pitchFamily="34" charset="-120"/>
              </a:rPr>
              <a:t>Koodi halpeni. Vastuu ei.</a:t>
            </a:r>
            <a:endParaRPr lang="en-US" sz="40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B949E"/>
                </a:solidFill>
                <a:latin typeface="Consolas"/>
                <a:ea typeface="Consolas"/>
                <a:cs typeface="Consolas"/>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48640" y="201168"/>
            <a:ext cx="676656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loppu</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Kolme asiaa mukaan</a:t>
            </a:r>
            <a:endParaRPr lang="en-US" sz="3200" dirty="0"/>
          </a:p>
        </p:txBody>
      </p:sp>
      <p:sp>
        <p:nvSpPr>
          <p:cNvPr id="4" name="Kortti"/>
          <p:cNvSpPr/>
          <p:nvPr/>
        </p:nvSpPr>
        <p:spPr>
          <a:xfrm>
            <a:off x="548640" y="1417320"/>
            <a:ext cx="2743200" cy="2011680"/>
          </a:xfrm>
          <a:prstGeom prst="roundRect">
            <a:avLst>
              <a:gd name="adj" fmla="val 4545"/>
            </a:avLst>
          </a:prstGeom>
          <a:solidFill>
            <a:srgbClr val="FFFFFF"/>
          </a:solidFill>
          <a:ln w="12700">
            <a:solidFill>
              <a:srgbClr val="E5E7EB"/>
            </a:solidFill>
            <a:prstDash val="solid"/>
          </a:ln>
        </p:spPr>
      </p:sp>
      <p:sp>
        <p:nvSpPr>
          <p:cNvPr id="5" name="Text 3"/>
          <p:cNvSpPr txBox="1"/>
          <p:nvPr/>
        </p:nvSpPr>
        <p:spPr>
          <a:xfrm>
            <a:off x="777240" y="1554480"/>
            <a:ext cx="914400" cy="411480"/>
          </a:xfrm>
          <a:prstGeom prst="rect">
            <a:avLst/>
          </a:prstGeom>
          <a:noFill/>
          <a:ln/>
        </p:spPr>
        <p:txBody>
          <a:bodyPr wrap="square" lIns="0" tIns="0" rIns="0" bIns="0" rtlCol="0" anchor="t"/>
          <a:lstStyle/>
          <a:p>
            <a:pPr algn="l" indent="0" marL="0">
              <a:buNone/>
            </a:pPr>
            <a:r>
              <a:rPr lang="en-US" sz="2000" b="1" dirty="0">
                <a:solidFill>
                  <a:srgbClr val="2563EB"/>
                </a:solidFill>
                <a:latin typeface="Consolas" pitchFamily="34" charset="0"/>
                <a:ea typeface="Consolas" pitchFamily="34" charset="-122"/>
                <a:cs typeface="Consolas" pitchFamily="34" charset="-120"/>
              </a:rPr>
              <a:t>01</a:t>
            </a:r>
            <a:endParaRPr lang="en-US" sz="2000" dirty="0"/>
          </a:p>
        </p:txBody>
      </p:sp>
      <p:sp>
        <p:nvSpPr>
          <p:cNvPr id="6" name="Text 4"/>
          <p:cNvSpPr txBox="1"/>
          <p:nvPr/>
        </p:nvSpPr>
        <p:spPr>
          <a:xfrm>
            <a:off x="777240" y="2011680"/>
            <a:ext cx="2331720" cy="1280160"/>
          </a:xfrm>
          <a:prstGeom prst="rect">
            <a:avLst/>
          </a:prstGeom>
          <a:noFill/>
          <a:ln/>
        </p:spPr>
        <p:txBody>
          <a:bodyPr wrap="square" lIns="0" tIns="0" rIns="0" bIns="0" rtlCol="0" anchor="t"/>
          <a:lstStyle/>
          <a:p>
            <a:pPr algn="l" indent="0" marL="0">
              <a:buNone/>
            </a:pPr>
            <a:r>
              <a:rPr lang="en-US" sz="2100" b="1" dirty="0">
                <a:solidFill>
                  <a:srgbClr val="111827"/>
                </a:solidFill>
                <a:latin typeface="Segoe UI" pitchFamily="34" charset="0"/>
                <a:ea typeface="Segoe UI" pitchFamily="34" charset="-122"/>
                <a:cs typeface="Segoe UI" pitchFamily="34" charset="-120"/>
              </a:rPr>
              <a:t>Pyydä tulosta, jonka voit tarkistaa.</a:t>
            </a:r>
            <a:endParaRPr lang="en-US" sz="2100" dirty="0"/>
          </a:p>
        </p:txBody>
      </p:sp>
      <p:sp>
        <p:nvSpPr>
          <p:cNvPr id="7" name="Kortti"/>
          <p:cNvSpPr/>
          <p:nvPr/>
        </p:nvSpPr>
        <p:spPr>
          <a:xfrm>
            <a:off x="3520440" y="1417320"/>
            <a:ext cx="2743200" cy="2011680"/>
          </a:xfrm>
          <a:prstGeom prst="roundRect">
            <a:avLst>
              <a:gd name="adj" fmla="val 4545"/>
            </a:avLst>
          </a:prstGeom>
          <a:solidFill>
            <a:srgbClr val="FFFFFF"/>
          </a:solidFill>
          <a:ln w="12700">
            <a:solidFill>
              <a:srgbClr val="E5E7EB"/>
            </a:solidFill>
            <a:prstDash val="solid"/>
          </a:ln>
        </p:spPr>
      </p:sp>
      <p:sp>
        <p:nvSpPr>
          <p:cNvPr id="8" name="Text 6"/>
          <p:cNvSpPr txBox="1"/>
          <p:nvPr/>
        </p:nvSpPr>
        <p:spPr>
          <a:xfrm>
            <a:off x="3749040" y="1554480"/>
            <a:ext cx="914400" cy="411480"/>
          </a:xfrm>
          <a:prstGeom prst="rect">
            <a:avLst/>
          </a:prstGeom>
          <a:noFill/>
          <a:ln/>
        </p:spPr>
        <p:txBody>
          <a:bodyPr wrap="square" lIns="0" tIns="0" rIns="0" bIns="0" rtlCol="0" anchor="t"/>
          <a:lstStyle/>
          <a:p>
            <a:pPr algn="l" indent="0" marL="0">
              <a:buNone/>
            </a:pPr>
            <a:r>
              <a:rPr lang="en-US" sz="2000" b="1" dirty="0">
                <a:solidFill>
                  <a:srgbClr val="2563EB"/>
                </a:solidFill>
                <a:latin typeface="Consolas" pitchFamily="34" charset="0"/>
                <a:ea typeface="Consolas" pitchFamily="34" charset="-122"/>
                <a:cs typeface="Consolas" pitchFamily="34" charset="-120"/>
              </a:rPr>
              <a:t>02</a:t>
            </a:r>
            <a:endParaRPr lang="en-US" sz="2000" dirty="0"/>
          </a:p>
        </p:txBody>
      </p:sp>
      <p:sp>
        <p:nvSpPr>
          <p:cNvPr id="9" name="Text 7"/>
          <p:cNvSpPr txBox="1"/>
          <p:nvPr/>
        </p:nvSpPr>
        <p:spPr>
          <a:xfrm>
            <a:off x="3749040" y="2011680"/>
            <a:ext cx="2331720" cy="1280160"/>
          </a:xfrm>
          <a:prstGeom prst="rect">
            <a:avLst/>
          </a:prstGeom>
          <a:noFill/>
          <a:ln/>
        </p:spPr>
        <p:txBody>
          <a:bodyPr wrap="square" lIns="0" tIns="0" rIns="0" bIns="0" rtlCol="0" anchor="t"/>
          <a:lstStyle/>
          <a:p>
            <a:pPr algn="l" indent="0" marL="0">
              <a:buNone/>
            </a:pPr>
            <a:r>
              <a:rPr lang="en-US" sz="2100" b="1" dirty="0">
                <a:solidFill>
                  <a:srgbClr val="111827"/>
                </a:solidFill>
                <a:latin typeface="Segoe UI" pitchFamily="34" charset="0"/>
                <a:ea typeface="Segoe UI" pitchFamily="34" charset="-122"/>
                <a:cs typeface="Segoe UI" pitchFamily="34" charset="-120"/>
              </a:rPr>
              <a:t>Varmista, että osaaminen kasvaa työn mukana.</a:t>
            </a:r>
            <a:endParaRPr lang="en-US" sz="2100" dirty="0"/>
          </a:p>
        </p:txBody>
      </p:sp>
      <p:sp>
        <p:nvSpPr>
          <p:cNvPr id="10" name="Kortti"/>
          <p:cNvSpPr/>
          <p:nvPr/>
        </p:nvSpPr>
        <p:spPr>
          <a:xfrm>
            <a:off x="6492240" y="1417320"/>
            <a:ext cx="2743200" cy="2011680"/>
          </a:xfrm>
          <a:prstGeom prst="roundRect">
            <a:avLst>
              <a:gd name="adj" fmla="val 4545"/>
            </a:avLst>
          </a:prstGeom>
          <a:solidFill>
            <a:srgbClr val="FFFFFF"/>
          </a:solidFill>
          <a:ln w="12700">
            <a:solidFill>
              <a:srgbClr val="E5E7EB"/>
            </a:solidFill>
            <a:prstDash val="solid"/>
          </a:ln>
        </p:spPr>
      </p:sp>
      <p:sp>
        <p:nvSpPr>
          <p:cNvPr id="11" name="Text 9"/>
          <p:cNvSpPr txBox="1"/>
          <p:nvPr/>
        </p:nvSpPr>
        <p:spPr>
          <a:xfrm>
            <a:off x="6720840" y="1554480"/>
            <a:ext cx="914400" cy="411480"/>
          </a:xfrm>
          <a:prstGeom prst="rect">
            <a:avLst/>
          </a:prstGeom>
          <a:noFill/>
          <a:ln/>
        </p:spPr>
        <p:txBody>
          <a:bodyPr wrap="square" lIns="0" tIns="0" rIns="0" bIns="0" rtlCol="0" anchor="t"/>
          <a:lstStyle/>
          <a:p>
            <a:pPr algn="l" indent="0" marL="0">
              <a:buNone/>
            </a:pPr>
            <a:r>
              <a:rPr lang="en-US" sz="2000" b="1" dirty="0">
                <a:solidFill>
                  <a:srgbClr val="2563EB"/>
                </a:solidFill>
                <a:latin typeface="Consolas" pitchFamily="34" charset="0"/>
                <a:ea typeface="Consolas" pitchFamily="34" charset="-122"/>
                <a:cs typeface="Consolas" pitchFamily="34" charset="-120"/>
              </a:rPr>
              <a:t>03</a:t>
            </a:r>
            <a:endParaRPr lang="en-US" sz="2000" dirty="0"/>
          </a:p>
        </p:txBody>
      </p:sp>
      <p:sp>
        <p:nvSpPr>
          <p:cNvPr id="12" name="Text 10"/>
          <p:cNvSpPr txBox="1"/>
          <p:nvPr/>
        </p:nvSpPr>
        <p:spPr>
          <a:xfrm>
            <a:off x="6720840" y="2011680"/>
            <a:ext cx="2331720" cy="1280160"/>
          </a:xfrm>
          <a:prstGeom prst="rect">
            <a:avLst/>
          </a:prstGeom>
          <a:noFill/>
          <a:ln/>
        </p:spPr>
        <p:txBody>
          <a:bodyPr wrap="square" lIns="0" tIns="0" rIns="0" bIns="0" rtlCol="0" anchor="t"/>
          <a:lstStyle/>
          <a:p>
            <a:pPr algn="l" indent="0" marL="0">
              <a:buNone/>
            </a:pPr>
            <a:r>
              <a:rPr lang="en-US" sz="2100" b="1" dirty="0">
                <a:solidFill>
                  <a:srgbClr val="111827"/>
                </a:solidFill>
                <a:latin typeface="Segoe UI" pitchFamily="34" charset="0"/>
                <a:ea typeface="Segoe UI" pitchFamily="34" charset="-122"/>
                <a:cs typeface="Segoe UI" pitchFamily="34" charset="-120"/>
              </a:rPr>
              <a:t>Sovi omistajuus ennen julkaisua.</a:t>
            </a:r>
            <a:endParaRPr lang="en-US" sz="2100" dirty="0"/>
          </a:p>
        </p:txBody>
      </p:sp>
      <p:sp>
        <p:nvSpPr>
          <p:cNvPr id="13" name="Koodikortti"/>
          <p:cNvSpPr/>
          <p:nvPr/>
        </p:nvSpPr>
        <p:spPr>
          <a:xfrm>
            <a:off x="548640" y="3749040"/>
            <a:ext cx="8549640" cy="2011680"/>
          </a:xfrm>
          <a:prstGeom prst="roundRect">
            <a:avLst>
              <a:gd name="adj" fmla="val 4545"/>
            </a:avLst>
          </a:prstGeom>
          <a:solidFill>
            <a:srgbClr val="F6F8FA"/>
          </a:solidFill>
          <a:ln w="12700">
            <a:solidFill>
              <a:srgbClr val="D0D7DE"/>
            </a:solidFill>
            <a:prstDash val="solid"/>
          </a:ln>
        </p:spPr>
      </p:sp>
      <p:sp>
        <p:nvSpPr>
          <p:cNvPr id="14" name="Text 12"/>
          <p:cNvSpPr txBox="1"/>
          <p:nvPr/>
        </p:nvSpPr>
        <p:spPr>
          <a:xfrm>
            <a:off x="685800" y="3950208"/>
            <a:ext cx="274320" cy="402336"/>
          </a:xfrm>
          <a:prstGeom prst="rect">
            <a:avLst/>
          </a:prstGeom>
          <a:noFill/>
          <a:ln/>
        </p:spPr>
        <p:txBody>
          <a:bodyPr wrap="square" lIns="0" tIns="0" rIns="0" bIns="0" rtlCol="0" anchor="ctr"/>
          <a:lstStyle/>
          <a:p>
            <a:pPr algn="l" indent="0" marL="0">
              <a:buNone/>
            </a:pPr>
            <a:endParaRPr lang="en-US" sz="1800" dirty="0"/>
          </a:p>
        </p:txBody>
      </p:sp>
      <p:sp>
        <p:nvSpPr>
          <p:cNvPr id="15" name="Text 13"/>
          <p:cNvSpPr txBox="1"/>
          <p:nvPr/>
        </p:nvSpPr>
        <p:spPr>
          <a:xfrm>
            <a:off x="960120" y="3950208"/>
            <a:ext cx="8001000" cy="402336"/>
          </a:xfrm>
          <a:prstGeom prst="rect">
            <a:avLst/>
          </a:prstGeom>
          <a:noFill/>
          <a:ln/>
        </p:spPr>
        <p:txBody>
          <a:bodyPr wrap="square" lIns="0" tIns="0" rIns="0" bIns="0" rtlCol="0" anchor="ctr"/>
          <a:lstStyle/>
          <a:p>
            <a:pPr algn="l" indent="0" marL="0">
              <a:buNone/>
            </a:pPr>
            <a:r>
              <a:rPr lang="en-US" sz="1800" dirty="0">
                <a:solidFill>
                  <a:srgbClr val="57606A"/>
                </a:solidFill>
                <a:latin typeface="Consolas" pitchFamily="34" charset="0"/>
                <a:ea typeface="Consolas" pitchFamily="34" charset="-122"/>
                <a:cs typeface="Consolas" pitchFamily="34" charset="-120"/>
              </a:rPr>
              <a:t>// maanantaina</a:t>
            </a:r>
            <a:endParaRPr lang="en-US" sz="1800" dirty="0"/>
          </a:p>
        </p:txBody>
      </p:sp>
      <p:sp>
        <p:nvSpPr>
          <p:cNvPr id="16" name="Shape 14"/>
          <p:cNvSpPr/>
          <p:nvPr/>
        </p:nvSpPr>
        <p:spPr>
          <a:xfrm>
            <a:off x="594360" y="4352544"/>
            <a:ext cx="8458200" cy="402336"/>
          </a:xfrm>
          <a:prstGeom prst="rect">
            <a:avLst/>
          </a:prstGeom>
          <a:solidFill>
            <a:srgbClr val="DAFBE1"/>
          </a:solidFill>
          <a:ln w="12700">
            <a:solidFill>
              <a:srgbClr val="DAFBE1"/>
            </a:solidFill>
            <a:prstDash val="solid"/>
          </a:ln>
        </p:spPr>
      </p:sp>
      <p:sp>
        <p:nvSpPr>
          <p:cNvPr id="17" name="Text 15"/>
          <p:cNvSpPr txBox="1"/>
          <p:nvPr/>
        </p:nvSpPr>
        <p:spPr>
          <a:xfrm>
            <a:off x="685800" y="4352544"/>
            <a:ext cx="274320" cy="402336"/>
          </a:xfrm>
          <a:prstGeom prst="rect">
            <a:avLst/>
          </a:prstGeom>
          <a:noFill/>
          <a:ln/>
        </p:spPr>
        <p:txBody>
          <a:bodyPr wrap="square" lIns="0" tIns="0" rIns="0" bIns="0" rtlCol="0" anchor="ctr"/>
          <a:lstStyle/>
          <a:p>
            <a:pPr algn="l" indent="0" marL="0">
              <a:buNone/>
            </a:pPr>
            <a:r>
              <a:rPr lang="en-US" sz="1800" b="1" dirty="0">
                <a:solidFill>
                  <a:srgbClr val="1A7F37"/>
                </a:solidFill>
                <a:latin typeface="Consolas" pitchFamily="34" charset="0"/>
                <a:ea typeface="Consolas" pitchFamily="34" charset="-122"/>
                <a:cs typeface="Consolas" pitchFamily="34" charset="-120"/>
              </a:rPr>
              <a:t>+</a:t>
            </a:r>
            <a:endParaRPr lang="en-US" sz="1800" dirty="0"/>
          </a:p>
        </p:txBody>
      </p:sp>
      <p:sp>
        <p:nvSpPr>
          <p:cNvPr id="18" name="Text 16"/>
          <p:cNvSpPr txBox="1"/>
          <p:nvPr/>
        </p:nvSpPr>
        <p:spPr>
          <a:xfrm>
            <a:off x="960120" y="4352544"/>
            <a:ext cx="80010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yksi toistettava virhe</a:t>
            </a:r>
            <a:endParaRPr lang="en-US" sz="1800" dirty="0"/>
          </a:p>
        </p:txBody>
      </p:sp>
      <p:sp>
        <p:nvSpPr>
          <p:cNvPr id="19" name="Shape 17"/>
          <p:cNvSpPr/>
          <p:nvPr/>
        </p:nvSpPr>
        <p:spPr>
          <a:xfrm>
            <a:off x="594360" y="4754880"/>
            <a:ext cx="8458200" cy="402336"/>
          </a:xfrm>
          <a:prstGeom prst="rect">
            <a:avLst/>
          </a:prstGeom>
          <a:solidFill>
            <a:srgbClr val="DAFBE1"/>
          </a:solidFill>
          <a:ln w="12700">
            <a:solidFill>
              <a:srgbClr val="DAFBE1"/>
            </a:solidFill>
            <a:prstDash val="solid"/>
          </a:ln>
        </p:spPr>
      </p:sp>
      <p:sp>
        <p:nvSpPr>
          <p:cNvPr id="20" name="Text 18"/>
          <p:cNvSpPr txBox="1"/>
          <p:nvPr/>
        </p:nvSpPr>
        <p:spPr>
          <a:xfrm>
            <a:off x="685800" y="4754880"/>
            <a:ext cx="274320" cy="402336"/>
          </a:xfrm>
          <a:prstGeom prst="rect">
            <a:avLst/>
          </a:prstGeom>
          <a:noFill/>
          <a:ln/>
        </p:spPr>
        <p:txBody>
          <a:bodyPr wrap="square" lIns="0" tIns="0" rIns="0" bIns="0" rtlCol="0" anchor="ctr"/>
          <a:lstStyle/>
          <a:p>
            <a:pPr algn="l" indent="0" marL="0">
              <a:buNone/>
            </a:pPr>
            <a:r>
              <a:rPr lang="en-US" sz="1800" b="1" dirty="0">
                <a:solidFill>
                  <a:srgbClr val="1A7F37"/>
                </a:solidFill>
                <a:latin typeface="Consolas" pitchFamily="34" charset="0"/>
                <a:ea typeface="Consolas" pitchFamily="34" charset="-122"/>
                <a:cs typeface="Consolas" pitchFamily="34" charset="-120"/>
              </a:rPr>
              <a:t>+</a:t>
            </a:r>
            <a:endParaRPr lang="en-US" sz="1800" dirty="0"/>
          </a:p>
        </p:txBody>
      </p:sp>
      <p:sp>
        <p:nvSpPr>
          <p:cNvPr id="21" name="Text 19"/>
          <p:cNvSpPr txBox="1"/>
          <p:nvPr/>
        </p:nvSpPr>
        <p:spPr>
          <a:xfrm>
            <a:off x="960120" y="4754880"/>
            <a:ext cx="80010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neljä riviä: ongelma, tavoite, raja, näyttö</a:t>
            </a:r>
            <a:endParaRPr lang="en-US" sz="1800" dirty="0"/>
          </a:p>
        </p:txBody>
      </p:sp>
      <p:sp>
        <p:nvSpPr>
          <p:cNvPr id="22" name="Shape 20"/>
          <p:cNvSpPr/>
          <p:nvPr/>
        </p:nvSpPr>
        <p:spPr>
          <a:xfrm>
            <a:off x="594360" y="5157216"/>
            <a:ext cx="8458200" cy="402336"/>
          </a:xfrm>
          <a:prstGeom prst="rect">
            <a:avLst/>
          </a:prstGeom>
          <a:solidFill>
            <a:srgbClr val="DAFBE1"/>
          </a:solidFill>
          <a:ln w="12700">
            <a:solidFill>
              <a:srgbClr val="DAFBE1"/>
            </a:solidFill>
            <a:prstDash val="solid"/>
          </a:ln>
        </p:spPr>
      </p:sp>
      <p:sp>
        <p:nvSpPr>
          <p:cNvPr id="23" name="Text 21"/>
          <p:cNvSpPr txBox="1"/>
          <p:nvPr/>
        </p:nvSpPr>
        <p:spPr>
          <a:xfrm>
            <a:off x="685800" y="5157216"/>
            <a:ext cx="274320" cy="402336"/>
          </a:xfrm>
          <a:prstGeom prst="rect">
            <a:avLst/>
          </a:prstGeom>
          <a:noFill/>
          <a:ln/>
        </p:spPr>
        <p:txBody>
          <a:bodyPr wrap="square" lIns="0" tIns="0" rIns="0" bIns="0" rtlCol="0" anchor="ctr"/>
          <a:lstStyle/>
          <a:p>
            <a:pPr algn="l" indent="0" marL="0">
              <a:buNone/>
            </a:pPr>
            <a:r>
              <a:rPr lang="en-US" sz="1800" b="1" dirty="0">
                <a:solidFill>
                  <a:srgbClr val="1A7F37"/>
                </a:solidFill>
                <a:latin typeface="Consolas" pitchFamily="34" charset="0"/>
                <a:ea typeface="Consolas" pitchFamily="34" charset="-122"/>
                <a:cs typeface="Consolas" pitchFamily="34" charset="-120"/>
              </a:rPr>
              <a:t>+</a:t>
            </a:r>
            <a:endParaRPr lang="en-US" sz="1800" dirty="0"/>
          </a:p>
        </p:txBody>
      </p:sp>
      <p:sp>
        <p:nvSpPr>
          <p:cNvPr id="24" name="Text 22"/>
          <p:cNvSpPr txBox="1"/>
          <p:nvPr/>
        </p:nvSpPr>
        <p:spPr>
          <a:xfrm>
            <a:off x="960120" y="5157216"/>
            <a:ext cx="8001000" cy="402336"/>
          </a:xfrm>
          <a:prstGeom prst="rect">
            <a:avLst/>
          </a:prstGeom>
          <a:noFill/>
          <a:ln/>
        </p:spPr>
        <p:txBody>
          <a:bodyPr wrap="square" lIns="0" tIns="0" rIns="0" bIns="0" rtlCol="0" anchor="ctr"/>
          <a:lstStyle/>
          <a:p>
            <a:pPr algn="l" indent="0" marL="0">
              <a:buNone/>
            </a:pPr>
            <a:r>
              <a:rPr lang="en-US" sz="1800" dirty="0">
                <a:solidFill>
                  <a:srgbClr val="111827"/>
                </a:solidFill>
                <a:latin typeface="Consolas" pitchFamily="34" charset="0"/>
                <a:ea typeface="Consolas" pitchFamily="34" charset="-122"/>
                <a:cs typeface="Consolas" pitchFamily="34" charset="-120"/>
              </a:rPr>
              <a:t>katso, mitä näyttöä saat</a:t>
            </a:r>
            <a:endParaRPr lang="en-US" sz="1800" dirty="0"/>
          </a:p>
        </p:txBody>
      </p:sp>
      <p:sp>
        <p:nvSpPr>
          <p:cNvPr id="25" name="Kortti"/>
          <p:cNvSpPr/>
          <p:nvPr/>
        </p:nvSpPr>
        <p:spPr>
          <a:xfrm>
            <a:off x="9418320" y="1417320"/>
            <a:ext cx="2194560" cy="4343400"/>
          </a:xfrm>
          <a:prstGeom prst="roundRect">
            <a:avLst>
              <a:gd name="adj" fmla="val 4167"/>
            </a:avLst>
          </a:prstGeom>
          <a:solidFill>
            <a:srgbClr val="FFFFFF"/>
          </a:solidFill>
          <a:ln w="12700">
            <a:solidFill>
              <a:srgbClr val="E5E7EB"/>
            </a:solidFill>
            <a:prstDash val="solid"/>
          </a:ln>
        </p:spPr>
      </p:sp>
      <p:pic>
        <p:nvPicPr>
          <p:cNvPr id="26" name="Image 0" descr="/Users/koodattu/Documents/GitHub/lakeus-devaus-2026/output/v3/assets/qr-maanantai.png">    </p:cNvPr>
          <p:cNvPicPr>
            <a:picLocks noChangeAspect="1"/>
          </p:cNvPicPr>
          <p:nvPr/>
        </p:nvPicPr>
        <p:blipFill>
          <a:blip r:embed="rId1"/>
          <a:stretch>
            <a:fillRect/>
          </a:stretch>
        </p:blipFill>
        <p:spPr>
          <a:xfrm>
            <a:off x="9555480" y="1600200"/>
            <a:ext cx="1920240" cy="1920240"/>
          </a:xfrm>
          <a:prstGeom prst="rect">
            <a:avLst/>
          </a:prstGeom>
        </p:spPr>
      </p:pic>
      <p:sp>
        <p:nvSpPr>
          <p:cNvPr id="27" name="Text 24"/>
          <p:cNvSpPr txBox="1"/>
          <p:nvPr/>
        </p:nvSpPr>
        <p:spPr>
          <a:xfrm>
            <a:off x="9464040" y="3657600"/>
            <a:ext cx="2103120" cy="731520"/>
          </a:xfrm>
          <a:prstGeom prst="rect">
            <a:avLst/>
          </a:prstGeom>
          <a:noFill/>
          <a:ln/>
        </p:spPr>
        <p:txBody>
          <a:bodyPr wrap="square" lIns="0" tIns="0" rIns="0" bIns="0" rtlCol="0" anchor="t"/>
          <a:lstStyle/>
          <a:p>
            <a:pPr algn="ctr" indent="0" marL="0">
              <a:buNone/>
            </a:pPr>
            <a:r>
              <a:rPr lang="en-US" sz="1300" dirty="0">
                <a:solidFill>
                  <a:srgbClr val="6B7280"/>
                </a:solidFill>
                <a:latin typeface="Consolas" pitchFamily="34" charset="0"/>
                <a:ea typeface="Consolas" pitchFamily="34" charset="-122"/>
                <a:cs typeface="Consolas" pitchFamily="34" charset="-120"/>
              </a:rPr>
              <a:t>pohja, esimerkki</a:t>
            </a:r>
            <a:endParaRPr lang="en-US" sz="1300" dirty="0"/>
          </a:p>
          <a:p>
            <a:pPr algn="ctr" indent="0" marL="0">
              <a:buNone/>
            </a:pPr>
            <a:r>
              <a:rPr lang="en-US" sz="1300" dirty="0">
                <a:solidFill>
                  <a:srgbClr val="6B7280"/>
                </a:solidFill>
                <a:latin typeface="Consolas" pitchFamily="34" charset="0"/>
                <a:ea typeface="Consolas" pitchFamily="34" charset="-122"/>
                <a:cs typeface="Consolas" pitchFamily="34" charset="-120"/>
              </a:rPr>
              <a:t>ja lähteet</a:t>
            </a:r>
            <a:endParaRPr lang="en-US" sz="1300" dirty="0"/>
          </a:p>
        </p:txBody>
      </p:sp>
      <p:sp>
        <p:nvSpPr>
          <p:cNvPr id="29"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endParaRPr lang="en-US"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731520" y="640080"/>
            <a:ext cx="5486400" cy="365760"/>
          </a:xfrm>
          <a:prstGeom prst="rect">
            <a:avLst/>
          </a:prstGeom>
          <a:noFill/>
          <a:ln/>
        </p:spPr>
        <p:txBody>
          <a:bodyPr wrap="square" lIns="0" tIns="0" rIns="0" bIns="0" rtlCol="0" anchor="t"/>
          <a:lstStyle/>
          <a:p>
            <a:pPr algn="l" indent="0" marL="0">
              <a:buNone/>
            </a:pPr>
            <a:r>
              <a:rPr lang="en-US" sz="1600" dirty="0">
                <a:solidFill>
                  <a:srgbClr val="58A6FF"/>
                </a:solidFill>
                <a:latin typeface="Consolas" pitchFamily="34" charset="0"/>
                <a:ea typeface="Consolas" pitchFamily="34" charset="-122"/>
                <a:cs typeface="Consolas" pitchFamily="34" charset="-120"/>
              </a:rPr>
              <a:t>// kiitos</a:t>
            </a:r>
            <a:endParaRPr lang="en-US" sz="1600" dirty="0"/>
          </a:p>
        </p:txBody>
      </p:sp>
      <p:sp>
        <p:nvSpPr>
          <p:cNvPr id="3" name="Text 1"/>
          <p:cNvSpPr txBox="1"/>
          <p:nvPr/>
        </p:nvSpPr>
        <p:spPr>
          <a:xfrm>
            <a:off x="731520" y="1097280"/>
            <a:ext cx="7680960" cy="1737360"/>
          </a:xfrm>
          <a:prstGeom prst="rect">
            <a:avLst/>
          </a:prstGeom>
          <a:noFill/>
          <a:ln/>
        </p:spPr>
        <p:txBody>
          <a:bodyPr wrap="square" lIns="0" tIns="0" rIns="0" bIns="0" rtlCol="0" anchor="t"/>
          <a:lstStyle/>
          <a:p>
            <a:pPr algn="l" indent="0" marL="0">
              <a:buNone/>
            </a:pPr>
            <a:r>
              <a:rPr lang="en-US" sz="4000" b="1" dirty="0">
                <a:solidFill>
                  <a:srgbClr val="FFFFFF"/>
                </a:solidFill>
                <a:latin typeface="Segoe UI" pitchFamily="34" charset="0"/>
                <a:ea typeface="Segoe UI" pitchFamily="34" charset="-122"/>
                <a:cs typeface="Segoe UI" pitchFamily="34" charset="-120"/>
              </a:rPr>
              <a:t>Minkä seurauksen sinä olet valmis omistamaan?</a:t>
            </a:r>
            <a:endParaRPr lang="en-US" sz="4000" dirty="0"/>
          </a:p>
        </p:txBody>
      </p:sp>
      <p:sp>
        <p:nvSpPr>
          <p:cNvPr id="4" name="Text 2"/>
          <p:cNvSpPr txBox="1"/>
          <p:nvPr/>
        </p:nvSpPr>
        <p:spPr>
          <a:xfrm>
            <a:off x="731520" y="3063240"/>
            <a:ext cx="7680960" cy="365760"/>
          </a:xfrm>
          <a:prstGeom prst="rect">
            <a:avLst/>
          </a:prstGeom>
          <a:noFill/>
          <a:ln/>
        </p:spPr>
        <p:txBody>
          <a:bodyPr wrap="square" lIns="0" tIns="0" rIns="0" bIns="0" rtlCol="0" anchor="t"/>
          <a:lstStyle/>
          <a:p>
            <a:pPr algn="l" indent="0" marL="0">
              <a:buNone/>
            </a:pPr>
            <a:r>
              <a:rPr lang="en-US" sz="1500" dirty="0">
                <a:solidFill>
                  <a:srgbClr val="E6EDF3"/>
                </a:solidFill>
                <a:latin typeface="Consolas" pitchFamily="34" charset="0"/>
                <a:ea typeface="Consolas" pitchFamily="34" charset="-122"/>
                <a:cs typeface="Consolas" pitchFamily="34" charset="-120"/>
              </a:rPr>
              <a:t>01  Pyydä tulosta, jonka voit tarkistaa.</a:t>
            </a:r>
            <a:endParaRPr lang="en-US" sz="1500" dirty="0"/>
          </a:p>
        </p:txBody>
      </p:sp>
      <p:sp>
        <p:nvSpPr>
          <p:cNvPr id="5" name="Text 3"/>
          <p:cNvSpPr txBox="1"/>
          <p:nvPr/>
        </p:nvSpPr>
        <p:spPr>
          <a:xfrm>
            <a:off x="731520" y="3474720"/>
            <a:ext cx="7680960" cy="365760"/>
          </a:xfrm>
          <a:prstGeom prst="rect">
            <a:avLst/>
          </a:prstGeom>
          <a:noFill/>
          <a:ln/>
        </p:spPr>
        <p:txBody>
          <a:bodyPr wrap="square" lIns="0" tIns="0" rIns="0" bIns="0" rtlCol="0" anchor="t"/>
          <a:lstStyle/>
          <a:p>
            <a:pPr algn="l" indent="0" marL="0">
              <a:buNone/>
            </a:pPr>
            <a:r>
              <a:rPr lang="en-US" sz="1500" dirty="0">
                <a:solidFill>
                  <a:srgbClr val="E6EDF3"/>
                </a:solidFill>
                <a:latin typeface="Consolas" pitchFamily="34" charset="0"/>
                <a:ea typeface="Consolas" pitchFamily="34" charset="-122"/>
                <a:cs typeface="Consolas" pitchFamily="34" charset="-120"/>
              </a:rPr>
              <a:t>02  Varmista, että osaaminen kasvaa työn mukana.</a:t>
            </a:r>
            <a:endParaRPr lang="en-US" sz="1500" dirty="0"/>
          </a:p>
        </p:txBody>
      </p:sp>
      <p:sp>
        <p:nvSpPr>
          <p:cNvPr id="6" name="Text 4"/>
          <p:cNvSpPr txBox="1"/>
          <p:nvPr/>
        </p:nvSpPr>
        <p:spPr>
          <a:xfrm>
            <a:off x="731520" y="3886200"/>
            <a:ext cx="7680960" cy="365760"/>
          </a:xfrm>
          <a:prstGeom prst="rect">
            <a:avLst/>
          </a:prstGeom>
          <a:noFill/>
          <a:ln/>
        </p:spPr>
        <p:txBody>
          <a:bodyPr wrap="square" lIns="0" tIns="0" rIns="0" bIns="0" rtlCol="0" anchor="t"/>
          <a:lstStyle/>
          <a:p>
            <a:pPr algn="l" indent="0" marL="0">
              <a:buNone/>
            </a:pPr>
            <a:r>
              <a:rPr lang="en-US" sz="1500" dirty="0">
                <a:solidFill>
                  <a:srgbClr val="E6EDF3"/>
                </a:solidFill>
                <a:latin typeface="Consolas" pitchFamily="34" charset="0"/>
                <a:ea typeface="Consolas" pitchFamily="34" charset="-122"/>
                <a:cs typeface="Consolas" pitchFamily="34" charset="-120"/>
              </a:rPr>
              <a:t>03  Sovi omistajuus ennen julkaisua.</a:t>
            </a:r>
            <a:endParaRPr lang="en-US" sz="1500" dirty="0"/>
          </a:p>
        </p:txBody>
      </p:sp>
      <p:pic>
        <p:nvPicPr>
          <p:cNvPr id="7" name="Image 0" descr="preencoded.png">    </p:cNvPr>
          <p:cNvPicPr>
            <a:picLocks noChangeAspect="1"/>
          </p:cNvPicPr>
          <p:nvPr/>
        </p:nvPicPr>
        <p:blipFill>
          <a:blip r:embed="rId1"/>
          <a:stretch>
            <a:fillRect/>
          </a:stretch>
        </p:blipFill>
        <p:spPr>
          <a:xfrm>
            <a:off x="731520" y="4572000"/>
            <a:ext cx="292608" cy="292608"/>
          </a:xfrm>
          <a:prstGeom prst="rect">
            <a:avLst/>
          </a:prstGeom>
        </p:spPr>
      </p:pic>
      <p:sp>
        <p:nvSpPr>
          <p:cNvPr id="8" name="Text 5"/>
          <p:cNvSpPr txBox="1"/>
          <p:nvPr/>
        </p:nvSpPr>
        <p:spPr>
          <a:xfrm>
            <a:off x="1188720" y="4526280"/>
            <a:ext cx="6400800" cy="384048"/>
          </a:xfrm>
          <a:prstGeom prst="rect">
            <a:avLst/>
          </a:prstGeom>
          <a:noFill/>
          <a:ln/>
        </p:spPr>
        <p:txBody>
          <a:bodyPr wrap="square" lIns="0" tIns="0" rIns="0" bIns="0" rtlCol="0" anchor="ctr"/>
          <a:lstStyle/>
          <a:p>
            <a:pPr algn="l" indent="0" marL="0">
              <a:buNone/>
            </a:pPr>
            <a:r>
              <a:rPr lang="en-US" sz="1500" dirty="0">
                <a:solidFill>
                  <a:srgbClr val="E6EDF3"/>
                </a:solidFill>
                <a:latin typeface="Consolas" pitchFamily="34" charset="0"/>
                <a:ea typeface="Consolas" pitchFamily="34" charset="-122"/>
                <a:cs typeface="Consolas" pitchFamily="34" charset="-120"/>
              </a:rPr>
              <a:t>/juha-ala-rantala</a:t>
            </a:r>
            <a:endParaRPr lang="en-US" sz="1500" dirty="0"/>
          </a:p>
        </p:txBody>
      </p:sp>
      <p:pic>
        <p:nvPicPr>
          <p:cNvPr id="9" name="Image 1" descr="preencoded.png">    </p:cNvPr>
          <p:cNvPicPr>
            <a:picLocks noChangeAspect="1"/>
          </p:cNvPicPr>
          <p:nvPr/>
        </p:nvPicPr>
        <p:blipFill>
          <a:blip r:embed="rId2"/>
          <a:stretch>
            <a:fillRect/>
          </a:stretch>
        </p:blipFill>
        <p:spPr>
          <a:xfrm>
            <a:off x="731520" y="5001768"/>
            <a:ext cx="292608" cy="292608"/>
          </a:xfrm>
          <a:prstGeom prst="rect">
            <a:avLst/>
          </a:prstGeom>
        </p:spPr>
      </p:pic>
      <p:sp>
        <p:nvSpPr>
          <p:cNvPr id="10" name="Text 6"/>
          <p:cNvSpPr txBox="1"/>
          <p:nvPr/>
        </p:nvSpPr>
        <p:spPr>
          <a:xfrm>
            <a:off x="1188720" y="4956048"/>
            <a:ext cx="6400800" cy="384048"/>
          </a:xfrm>
          <a:prstGeom prst="rect">
            <a:avLst/>
          </a:prstGeom>
          <a:noFill/>
          <a:ln/>
        </p:spPr>
        <p:txBody>
          <a:bodyPr wrap="square" lIns="0" tIns="0" rIns="0" bIns="0" rtlCol="0" anchor="ctr"/>
          <a:lstStyle/>
          <a:p>
            <a:pPr algn="l" indent="0" marL="0">
              <a:buNone/>
            </a:pPr>
            <a:r>
              <a:rPr lang="en-US" sz="1500" dirty="0">
                <a:solidFill>
                  <a:srgbClr val="E6EDF3"/>
                </a:solidFill>
                <a:latin typeface="Consolas" pitchFamily="34" charset="0"/>
                <a:ea typeface="Consolas" pitchFamily="34" charset="-122"/>
                <a:cs typeface="Consolas" pitchFamily="34" charset="-120"/>
              </a:rPr>
              <a:t>/vaarattu  (Twitch · TikTok · Instagram)</a:t>
            </a:r>
            <a:endParaRPr lang="en-US" sz="1500" dirty="0"/>
          </a:p>
        </p:txBody>
      </p:sp>
      <p:pic>
        <p:nvPicPr>
          <p:cNvPr id="11" name="Image 2" descr="preencoded.png">    </p:cNvPr>
          <p:cNvPicPr>
            <a:picLocks noChangeAspect="1"/>
          </p:cNvPicPr>
          <p:nvPr/>
        </p:nvPicPr>
        <p:blipFill>
          <a:blip r:embed="rId3"/>
          <a:stretch>
            <a:fillRect/>
          </a:stretch>
        </p:blipFill>
        <p:spPr>
          <a:xfrm>
            <a:off x="731520" y="5431536"/>
            <a:ext cx="292608" cy="292608"/>
          </a:xfrm>
          <a:prstGeom prst="rect">
            <a:avLst/>
          </a:prstGeom>
        </p:spPr>
      </p:pic>
      <p:sp>
        <p:nvSpPr>
          <p:cNvPr id="12" name="Text 7"/>
          <p:cNvSpPr txBox="1"/>
          <p:nvPr/>
        </p:nvSpPr>
        <p:spPr>
          <a:xfrm>
            <a:off x="1188720" y="5385816"/>
            <a:ext cx="6400800" cy="384048"/>
          </a:xfrm>
          <a:prstGeom prst="rect">
            <a:avLst/>
          </a:prstGeom>
          <a:noFill/>
          <a:ln/>
        </p:spPr>
        <p:txBody>
          <a:bodyPr wrap="square" lIns="0" tIns="0" rIns="0" bIns="0" rtlCol="0" anchor="ctr"/>
          <a:lstStyle/>
          <a:p>
            <a:pPr algn="l" indent="0" marL="0">
              <a:buNone/>
            </a:pPr>
            <a:r>
              <a:rPr lang="en-US" sz="1500" dirty="0">
                <a:solidFill>
                  <a:srgbClr val="E6EDF3"/>
                </a:solidFill>
                <a:latin typeface="Consolas" pitchFamily="34" charset="0"/>
                <a:ea typeface="Consolas" pitchFamily="34" charset="-122"/>
                <a:cs typeface="Consolas" pitchFamily="34" charset="-120"/>
              </a:rPr>
              <a:t>ala-ranta.la</a:t>
            </a:r>
            <a:endParaRPr lang="en-US" sz="1500" dirty="0"/>
          </a:p>
        </p:txBody>
      </p:sp>
      <p:pic>
        <p:nvPicPr>
          <p:cNvPr id="13" name="Image 3" descr="preencoded.png">    </p:cNvPr>
          <p:cNvPicPr>
            <a:picLocks noChangeAspect="1"/>
          </p:cNvPicPr>
          <p:nvPr/>
        </p:nvPicPr>
        <p:blipFill>
          <a:blip r:embed="rId4"/>
          <a:stretch>
            <a:fillRect/>
          </a:stretch>
        </p:blipFill>
        <p:spPr>
          <a:xfrm>
            <a:off x="731520" y="5861304"/>
            <a:ext cx="292608" cy="292608"/>
          </a:xfrm>
          <a:prstGeom prst="rect">
            <a:avLst/>
          </a:prstGeom>
        </p:spPr>
      </p:pic>
      <p:sp>
        <p:nvSpPr>
          <p:cNvPr id="14" name="Text 8"/>
          <p:cNvSpPr txBox="1"/>
          <p:nvPr/>
        </p:nvSpPr>
        <p:spPr>
          <a:xfrm>
            <a:off x="1188720" y="5815584"/>
            <a:ext cx="6400800" cy="384048"/>
          </a:xfrm>
          <a:prstGeom prst="rect">
            <a:avLst/>
          </a:prstGeom>
          <a:noFill/>
          <a:ln/>
        </p:spPr>
        <p:txBody>
          <a:bodyPr wrap="square" lIns="0" tIns="0" rIns="0" bIns="0" rtlCol="0" anchor="ctr"/>
          <a:lstStyle/>
          <a:p>
            <a:pPr algn="l" indent="0" marL="0">
              <a:buNone/>
            </a:pPr>
            <a:r>
              <a:rPr lang="en-US" sz="1500" dirty="0">
                <a:solidFill>
                  <a:srgbClr val="E6EDF3"/>
                </a:solidFill>
                <a:latin typeface="Consolas" pitchFamily="34" charset="0"/>
                <a:ea typeface="Consolas" pitchFamily="34" charset="-122"/>
                <a:cs typeface="Consolas" pitchFamily="34" charset="-120"/>
              </a:rPr>
              <a:t>juha@ala-ranta.la</a:t>
            </a:r>
            <a:endParaRPr lang="en-US" sz="1500" dirty="0"/>
          </a:p>
        </p:txBody>
      </p:sp>
      <p:sp>
        <p:nvSpPr>
          <p:cNvPr id="15" name="Shape 9"/>
          <p:cNvSpPr/>
          <p:nvPr/>
        </p:nvSpPr>
        <p:spPr>
          <a:xfrm>
            <a:off x="8659368" y="2258568"/>
            <a:ext cx="3072384" cy="3072384"/>
          </a:xfrm>
          <a:prstGeom prst="ellipse">
            <a:avLst/>
          </a:prstGeom>
          <a:ln w="25400">
            <a:solidFill>
              <a:srgbClr val="58A6FF"/>
            </a:solidFill>
            <a:prstDash val="solid"/>
          </a:ln>
        </p:spPr>
      </p:sp>
      <p:pic>
        <p:nvPicPr>
          <p:cNvPr id="16" name="Image 4" descr="Juha Ala-Rantala">    </p:cNvPr>
          <p:cNvPicPr>
            <a:picLocks noChangeAspect="1"/>
          </p:cNvPicPr>
          <p:nvPr/>
        </p:nvPicPr>
        <p:blipFill>
          <a:blip r:embed="rId5"/>
          <a:stretch>
            <a:fillRect/>
          </a:stretch>
        </p:blipFill>
        <p:spPr>
          <a:xfrm>
            <a:off x="8732520" y="2331720"/>
            <a:ext cx="2926080" cy="2926080"/>
          </a:xfrm>
          <a:prstGeom prst="ellipse">
            <a:avLst/>
          </a:prstGeom>
        </p:spPr>
      </p:pic>
      <p:sp>
        <p:nvSpPr>
          <p:cNvPr id="17" name="Text 10"/>
          <p:cNvSpPr txBox="1"/>
          <p:nvPr/>
        </p:nvSpPr>
        <p:spPr>
          <a:xfrm>
            <a:off x="8503920" y="1097280"/>
            <a:ext cx="3291840" cy="731520"/>
          </a:xfrm>
          <a:prstGeom prst="rect">
            <a:avLst/>
          </a:prstGeom>
          <a:noFill/>
          <a:ln/>
        </p:spPr>
        <p:txBody>
          <a:bodyPr wrap="square" lIns="0" tIns="0" rIns="0" bIns="0" rtlCol="0" anchor="t"/>
          <a:lstStyle/>
          <a:p>
            <a:pPr algn="r" indent="0" marL="0">
              <a:buNone/>
            </a:pPr>
            <a:r>
              <a:rPr lang="en-US" sz="3200" b="1" dirty="0">
                <a:solidFill>
                  <a:srgbClr val="58A6FF"/>
                </a:solidFill>
                <a:latin typeface="Segoe UI" pitchFamily="34" charset="0"/>
                <a:ea typeface="Segoe UI" pitchFamily="34" charset="-122"/>
                <a:cs typeface="Segoe UI" pitchFamily="34" charset="-120"/>
              </a:rPr>
              <a:t>Kysymyksiä?</a:t>
            </a:r>
            <a:endParaRPr lang="en-US" sz="3200" dirty="0"/>
          </a:p>
        </p:txBody>
      </p:sp>
      <p:sp>
        <p:nvSpPr>
          <p:cNvPr id="18" name="Text 11"/>
          <p:cNvSpPr txBox="1"/>
          <p:nvPr/>
        </p:nvSpPr>
        <p:spPr>
          <a:xfrm>
            <a:off x="731520" y="6400800"/>
            <a:ext cx="7315200" cy="274320"/>
          </a:xfrm>
          <a:prstGeom prst="rect">
            <a:avLst/>
          </a:prstGeom>
          <a:noFill/>
          <a:ln/>
        </p:spPr>
        <p:txBody>
          <a:bodyPr wrap="square" lIns="0" tIns="0" rIns="0" bIns="0" rtlCol="0" anchor="t"/>
          <a:lstStyle/>
          <a:p>
            <a:pPr algn="l" indent="0" marL="0">
              <a:buNone/>
            </a:pPr>
            <a:r>
              <a:rPr lang="en-US" sz="1000" dirty="0">
                <a:solidFill>
                  <a:srgbClr val="8B949E"/>
                </a:solidFill>
                <a:latin typeface="Segoe UI" pitchFamily="34" charset="0"/>
                <a:ea typeface="Segoe UI" pitchFamily="34" charset="-122"/>
                <a:cs typeface="Segoe UI" pitchFamily="34" charset="-120"/>
              </a:rPr>
              <a:t>Tämän esityksen tutkimuksessa ja kuvituksessa on käytetty tekoälyä.</a:t>
            </a:r>
            <a:endParaRPr lang="en-US" sz="10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B949E"/>
                </a:solidFill>
                <a:latin typeface="Consolas"/>
                <a:ea typeface="Consolas"/>
                <a:cs typeface="Consolas"/>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name="Slide 64">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B1</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000" b="1" dirty="0">
                <a:solidFill>
                  <a:srgbClr val="111827"/>
                </a:solidFill>
                <a:latin typeface="Segoe UI" pitchFamily="34" charset="0"/>
                <a:ea typeface="Segoe UI" pitchFamily="34" charset="-122"/>
                <a:cs typeface="Segoe UI" pitchFamily="34" charset="-120"/>
              </a:rPr>
              <a:t>Lähettäminen on halpaa. Katselmointi on hallittua.</a:t>
            </a:r>
            <a:endParaRPr lang="en-US" sz="30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Kaksi avoimen lähdekoodin linjaa</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Godot</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Ei autonomisia agenttikontribuutioita eikä merkittävää generoitua koodia. Suojaa katselmoijia ja polkua uudesta tekijästä ylläpitäjäksi.</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Linux</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Työkalut sallittu vanhoilla vastuusäännöillä: ymmärrä koko muutos, kerro työkalut ja testaus, vastaa katselmointiin.</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Godot contribution policy 2026 · Linux kernel: tool-generated content · ESLint AI policy notes-osassa.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name="Slide 65">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B2</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2600" b="1" dirty="0">
                <a:solidFill>
                  <a:srgbClr val="111827"/>
                </a:solidFill>
                <a:latin typeface="Segoe UI" pitchFamily="34" charset="0"/>
                <a:ea typeface="Segoe UI" pitchFamily="34" charset="-122"/>
                <a:cs typeface="Segoe UI" pitchFamily="34" charset="-120"/>
              </a:rPr>
              <a:t>Kyky saavuttaa tavoite ja lupa käyttää keinoja ovat eri asioita</a:t>
            </a:r>
            <a:endParaRPr lang="en-US" sz="26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METR:n tutkinta tietoturva-arvioinnin agenteista, elokuu 2026</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Mitä tapahtui</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Tutkimusarvioinnissa agentit toimivat aiotun eristyksen ulkopuolella ja tekivät luvattomia ulkoisia toimia.</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Opetus</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Ohjeet, pakotetut oikeudet ja luotettava näyttö ovat eri asioita. Säännön kertominen ei pakota sitä.</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METR 26.8.2026 · OpenAI incident report · rajattu tutkinta, poikkeuksellinen arviointiympäristö.</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name="Slide 66">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B3</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”Ohjelmointia ilman ohjelmoijia”</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1980-luvun lupaus: neljännen sukupolven kielet ja CASE</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Lupaus</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Liiketoiminnan käyttäjät rakentavat järjestelmänsä itse.</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Mitä jäi</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SQL, raporttityökalut, IDE:t ja CI – lupaus toteutui infrastruktuurina, ei tuotteena.</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JMIS 1984 · IEEE Technology Navigator, CASE.</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name="Slide 67">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B4</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Etujoukko ja arki</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Agentit ovat yleistymässä – mutta enimmäkseen valvottuina</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Kysely</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63 % antaa agentin toimia täysin itsenäisesti harvoin tai ei koskaan; 68 % suosii yhtä ennustettavaa agenttia.</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Käyttödata</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Claude Coden istunnoissa käyttäjä teki noin 70 % suunnittelupäätöksistä, agentti noin 80 % toteutuspäätöksistä.</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Stack Overflow pulse 4/2026 · Anthropic, Claude Code expertise 6/2026.</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name="Slide 68">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B5</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Autonomian portaat</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Oikea taso riippuu seurauksista, ei innostuksesta</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0–2</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Haku ja täydennys · ohjattu pari · delegoitu tehtävä → testattu PR</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3–5</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Rinnakkainen tiimi · jatkuva ylläpito · harness-first-toimitus</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esityksen tulkinta (docs/10).</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name="Slide 69">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B6</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2800" b="1" dirty="0">
                <a:solidFill>
                  <a:srgbClr val="111827"/>
                </a:solidFill>
                <a:latin typeface="Segoe UI" pitchFamily="34" charset="0"/>
                <a:ea typeface="Segoe UI" pitchFamily="34" charset="-122"/>
                <a:cs typeface="Segoe UI" pitchFamily="34" charset="-120"/>
              </a:rPr>
              <a:t>Korjaa toistuva epäselvyys, älä vain viimeistä vastausta</a:t>
            </a:r>
            <a:endParaRPr lang="en-US" sz="28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Kun agentti tekee saman virheen kahdesti</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Kierros</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Virhe → mikä puuttui? → pienin pysyvä korjaus (testi, ohje, tarkistus, skill) → kokeile oikealla tehtävällä → poista vanhentunut.</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Miksi</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Muuten sama korjaus maksetaan joka kerta.</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OpenAI Codex cookbook 5/2026 ja 8/2026 · docs/10 §9.</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name="Slide 70">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B7</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000" b="1" dirty="0">
                <a:solidFill>
                  <a:srgbClr val="111827"/>
                </a:solidFill>
                <a:latin typeface="Segoe UI" pitchFamily="34" charset="0"/>
                <a:ea typeface="Segoe UI" pitchFamily="34" charset="-122"/>
                <a:cs typeface="Segoe UI" pitchFamily="34" charset="-120"/>
              </a:rPr>
              <a:t>SaaS ei kuole – ominaisuudet hinnoitellaan uudelleen</a:t>
            </a:r>
            <a:endParaRPr lang="en-US" sz="30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Mikä altistuu, mikä kestää paremmin</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Altistuu</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Ohut kääre mallin päällä · yksittäinen sisäinen työkalu · geneerinen CRUD</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Kestää paremmin</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Kirjanpitojärjestelmä · organisaatioiden välinen työnkulku · syvä integraatio · vastuullinen ylläpito</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UK NCSC 2026 · Thoughtworks.</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0">
  <p:cSld name="Slide 71">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B8</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Jos ohjelmiston tekeminen halpenee 90 %…</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…väheneekö työ 90 % – vai syntyykö ohjelmistoa kymmenen kertaa enemmän?</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Neljä polkua</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Korvaus · laajentuminen · leviäminen · ruuhka</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Huomio</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Kaikki voivat toteutua eri markkinoilla yhtä aikaa.</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Jevons-hypoteesi, ei todistettu laki (docs/09).</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name="Slide 72">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B9</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000" b="1" dirty="0">
                <a:solidFill>
                  <a:srgbClr val="111827"/>
                </a:solidFill>
                <a:latin typeface="Segoe UI" pitchFamily="34" charset="0"/>
                <a:ea typeface="Segoe UI" pitchFamily="34" charset="-122"/>
                <a:cs typeface="Segoe UI" pitchFamily="34" charset="-120"/>
              </a:rPr>
              <a:t>Sovelluksia enemmän, latauksia ei samassa tahdissa</a:t>
            </a:r>
            <a:endParaRPr lang="en-US" sz="30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App Store 2022 → 2025</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Kasvoi</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Rekisteröidyt kehittäjät +64 % · katselmoidut lähetykset +49 %</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Kasvoi vähemmän</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Viikoittaiset lataukset +24 %</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Apple Transparency Reports 2022 ja 2025.</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name="Slide 73">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B10</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Nuorten työllisyys Yhdysvalloissa</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Stanford Digital Economy Lab, päivitys 12.8.2026</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Havainto</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22–25-vuotiaiden työllisyys AI:lle altistuneissa ammateissa noin 19 % alempi kuin vähemmän altistuneilla verrokeilla.</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Rajaus</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Kuvaileva, ei kausaalinen. Ei Suomen lukuja. Pääasiallinen mekanismi: vähemmän rekrytointeja.</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Stanford Digital Economy Lab 12.8.2026.</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name="Slide 74">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B11</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Tietoturva-AI apuna: suostumus ratkaisee</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Sama kyky voi lisätä kuormaa tai auttaa</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OSS Scanner</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Opt-in-ohjelma: ylläpitäjä on suostunut vastaanottamaan mallin raportit.</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Näyttö</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Myös lokinäkymän luotettavuus pitää varmistaa (METR 6.10.2026).</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Anthropic OSS Scanner 10/2026 · METR 6.10.2026.</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name="Slide 75">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B12</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Julkaisu aloittaa velvollisuuksia</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EU:n kyberkestävyyssäädös (CRA)</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11.9.2026</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Raportointivelvollisuudet aktiivisesti hyödynnetyistä haavoittuvuuksista ja vakavista tapahtumista.</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11.12.2027</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Täysi soveltaminen. Soveltuvuus riippuu tuotteesta ja roolista.</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Euroopan komissio, CRA reporting.</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name="Slide 76">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B13</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Kuka kirjoittaa yhteisen ymmärryksen?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Kun kysymme vain omalta agentilta</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Havainto</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Stack Overflow -tutkimus: osallistuminen muuttui eri tavoin kysyjillä ja vastaajilla ChatGPT:n jälkeen.</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Kysymys</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Mitä Lakeus-Devauksessa pitäisi edelleen jakaa yhteisesti?</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arXiv 2609.38563 (tiivistelmätaso).</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name="Slide 77">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B14</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Konsulttiyhtiöt 2026</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PÄIVITÄ ENNEN KÄYTTÖÄ – eri raportointijaksot</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Esimerkkejä</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Tieto, Siili, Vincit, Digia, Gofore</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Varaus</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Johdon kertomuksia; AI:n vaikutusta ei voi erotella.</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docs/05 · päivitä ennen käyttöä.</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name="Slide 78">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B15</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Kuka suhtautuu AI:hin myönteisimmin?</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Kehittäjät työkokemuksen mukaan, 2026</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1–5 vuotta</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noin 53 % myönteisiä</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16+ vuotta</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noin 69 % myönteisiä</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Stack Overflow 2026 (julkaisijan raportoima jako, n = 14 428) · yhteys, ei syy.</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name="Slide 79">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B16</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Kumpi muutti address.ts:ää?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Spider-Man-meemi: kaksi agenttia osoittaa toisiaan</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Agentti A</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muokkasi address.ts</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Agentti B</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muokkasi address.ts</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meemi – lisää kuva tarvittaessa.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name="Slide 80">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B17</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Kaksi agenttia, kaksi worktreetä</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Rinnakkain vain, kun tehtävät eivät koske samoihin tiedostoihin</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Worktree A</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Regressiotesti</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Worktree B</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Käyttöohje → katselmointi + yhteiset tarkistukset</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Claude Code common workflows · esityksen tulkinta.</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name="Slide 81">
    <p:spTree>
      <p:nvGrpSpPr>
        <p:cNvPr id="1" name=""/>
        <p:cNvGrpSpPr/>
        <p:nvPr/>
      </p:nvGrpSpPr>
      <p:grpSpPr>
        <a:xfrm>
          <a:off x="0" y="0"/>
          <a:ext cx="0" cy="0"/>
          <a:chOff x="0" y="0"/>
          <a:chExt cx="0" cy="0"/>
        </a:xfrm>
      </p:grpSpPr>
      <p:sp>
        <p:nvSpPr>
          <p:cNvPr id="2" name="Text 0"/>
          <p:cNvSpPr txBox="1"/>
          <p:nvPr/>
        </p:nvSpPr>
        <p:spPr>
          <a:xfrm>
            <a:off x="548640" y="201168"/>
            <a:ext cx="7315200" cy="274320"/>
          </a:xfrm>
          <a:prstGeom prst="rect">
            <a:avLst/>
          </a:prstGeom>
          <a:noFill/>
          <a:ln/>
        </p:spPr>
        <p:txBody>
          <a:bodyPr wrap="square" lIns="0" tIns="0" rIns="0" bIns="0" rtlCol="0" anchor="t"/>
          <a:lstStyle/>
          <a:p>
            <a:pPr algn="l" indent="0" marL="0">
              <a:buNone/>
            </a:pPr>
            <a:r>
              <a:rPr lang="en-US" sz="1200" dirty="0">
                <a:solidFill>
                  <a:srgbClr val="2563EB"/>
                </a:solidFill>
                <a:latin typeface="Consolas" pitchFamily="34" charset="0"/>
                <a:ea typeface="Consolas" pitchFamily="34" charset="-122"/>
                <a:cs typeface="Consolas" pitchFamily="34" charset="-120"/>
              </a:rPr>
              <a:t>// varadia B18</a:t>
            </a:r>
            <a:endParaRPr lang="en-US" sz="1200" dirty="0"/>
          </a:p>
        </p:txBody>
      </p:sp>
      <p:sp>
        <p:nvSpPr>
          <p:cNvPr id="3" name="Text 0"/>
          <p:cNvSpPr/>
          <p:nvPr>
            <p:ph idx="100" type="title" hasCustomPrompt="1"/>
          </p:nvPr>
        </p:nvSpPr>
        <p:spPr>
          <a:xfrm>
            <a:off x="548640" y="502920"/>
            <a:ext cx="11064240" cy="685800"/>
          </a:xfrm>
          <a:prstGeom prst="rect">
            <a:avLst/>
          </a:prstGeom>
          <a:noFill/>
          <a:ln/>
        </p:spPr>
        <p:txBody>
          <a:bodyPr wrap="square" lIns="0" tIns="0" rIns="0" bIns="0" rtlCol="0" anchor="t"/>
          <a:lstStyle/>
          <a:p>
            <a:pPr algn="l" indent="0" marL="0">
              <a:buNone/>
            </a:pPr>
            <a:r>
              <a:rPr lang="en-US" sz="3200" b="1" dirty="0">
                <a:solidFill>
                  <a:srgbClr val="111827"/>
                </a:solidFill>
                <a:latin typeface="Segoe UI" pitchFamily="34" charset="0"/>
                <a:ea typeface="Segoe UI" pitchFamily="34" charset="-122"/>
                <a:cs typeface="Segoe UI" pitchFamily="34" charset="-120"/>
              </a:rPr>
              <a:t>Tämäkin esitys tehtiin agenttien kanssa</a:t>
            </a:r>
            <a:endParaRPr lang="en-US" sz="3200" dirty="0"/>
          </a:p>
        </p:txBody>
      </p:sp>
      <p:sp>
        <p:nvSpPr>
          <p:cNvPr id="4" name="Text 0"/>
          <p:cNvSpPr/>
          <p:nvPr>
            <p:ph idx="101" type="body" hasCustomPrompt="1"/>
          </p:nvPr>
        </p:nvSpPr>
        <p:spPr>
          <a:xfrm>
            <a:off x="548640" y="1188720"/>
            <a:ext cx="11064240" cy="411480"/>
          </a:xfrm>
          <a:prstGeom prst="rect">
            <a:avLst/>
          </a:prstGeom>
          <a:noFill/>
          <a:ln/>
        </p:spPr>
        <p:txBody>
          <a:bodyPr wrap="square" lIns="0" tIns="0" rIns="0" bIns="0" rtlCol="0" anchor="t"/>
          <a:lstStyle/>
          <a:p>
            <a:pPr algn="l" indent="0" marL="0">
              <a:buNone/>
            </a:pPr>
            <a:r>
              <a:rPr lang="en-US" sz="1800" dirty="0">
                <a:solidFill>
                  <a:srgbClr val="6B7280"/>
                </a:solidFill>
                <a:latin typeface="Segoe UI" pitchFamily="34" charset="0"/>
                <a:ea typeface="Segoe UI" pitchFamily="34" charset="-122"/>
                <a:cs typeface="Segoe UI" pitchFamily="34" charset="-120"/>
              </a:rPr>
              <a:t>Mitä agentti teki – mitä minä päätin</a:t>
            </a:r>
            <a:endParaRPr lang="en-US" sz="1800" dirty="0"/>
          </a:p>
        </p:txBody>
      </p:sp>
      <p:sp>
        <p:nvSpPr>
          <p:cNvPr id="5" name="Kortti"/>
          <p:cNvSpPr/>
          <p:nvPr/>
        </p:nvSpPr>
        <p:spPr>
          <a:xfrm>
            <a:off x="548640" y="1828800"/>
            <a:ext cx="5349240" cy="3108960"/>
          </a:xfrm>
          <a:prstGeom prst="roundRect">
            <a:avLst>
              <a:gd name="adj" fmla="val 2941"/>
            </a:avLst>
          </a:prstGeom>
          <a:solidFill>
            <a:srgbClr val="FFFFFF"/>
          </a:solidFill>
          <a:ln w="12700">
            <a:solidFill>
              <a:srgbClr val="E5E7EB"/>
            </a:solidFill>
            <a:prstDash val="solid"/>
          </a:ln>
        </p:spPr>
      </p:sp>
      <p:sp>
        <p:nvSpPr>
          <p:cNvPr id="6" name="Text 4"/>
          <p:cNvSpPr txBox="1"/>
          <p:nvPr/>
        </p:nvSpPr>
        <p:spPr>
          <a:xfrm>
            <a:off x="822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Agentti</a:t>
            </a:r>
            <a:endParaRPr lang="en-US" sz="1800" dirty="0"/>
          </a:p>
        </p:txBody>
      </p:sp>
      <p:sp>
        <p:nvSpPr>
          <p:cNvPr id="7" name="Text 5"/>
          <p:cNvSpPr txBox="1"/>
          <p:nvPr/>
        </p:nvSpPr>
        <p:spPr>
          <a:xfrm>
            <a:off x="822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haki ja luki kymmeniä lähteitä · rakensi useita versioita · päivitti vanhentuneet luvut · hylkäsi simulaatioksi osoittautuneen tutkimuksen</a:t>
            </a:r>
            <a:endParaRPr lang="en-US" sz="1800" dirty="0"/>
          </a:p>
        </p:txBody>
      </p:sp>
      <p:sp>
        <p:nvSpPr>
          <p:cNvPr id="8" name="Kortti"/>
          <p:cNvSpPr/>
          <p:nvPr/>
        </p:nvSpPr>
        <p:spPr>
          <a:xfrm>
            <a:off x="6263640" y="1828800"/>
            <a:ext cx="5349240" cy="3108960"/>
          </a:xfrm>
          <a:prstGeom prst="roundRect">
            <a:avLst>
              <a:gd name="adj" fmla="val 2941"/>
            </a:avLst>
          </a:prstGeom>
          <a:solidFill>
            <a:srgbClr val="FFFFFF"/>
          </a:solidFill>
          <a:ln w="12700">
            <a:solidFill>
              <a:srgbClr val="E5E7EB"/>
            </a:solidFill>
            <a:prstDash val="solid"/>
          </a:ln>
        </p:spPr>
      </p:sp>
      <p:sp>
        <p:nvSpPr>
          <p:cNvPr id="9" name="Text 7"/>
          <p:cNvSpPr txBox="1"/>
          <p:nvPr/>
        </p:nvSpPr>
        <p:spPr>
          <a:xfrm>
            <a:off x="6537960" y="2011680"/>
            <a:ext cx="4754880" cy="457200"/>
          </a:xfrm>
          <a:prstGeom prst="rect">
            <a:avLst/>
          </a:prstGeom>
          <a:noFill/>
          <a:ln/>
        </p:spPr>
        <p:txBody>
          <a:bodyPr wrap="square" lIns="0" tIns="0" rIns="0" bIns="0" rtlCol="0" anchor="t"/>
          <a:lstStyle/>
          <a:p>
            <a:pPr algn="l" indent="0" marL="0">
              <a:buNone/>
            </a:pPr>
            <a:r>
              <a:rPr lang="en-US" sz="1800" b="1" dirty="0">
                <a:solidFill>
                  <a:srgbClr val="2563EB"/>
                </a:solidFill>
                <a:latin typeface="Consolas" pitchFamily="34" charset="0"/>
                <a:ea typeface="Consolas" pitchFamily="34" charset="-122"/>
                <a:cs typeface="Consolas" pitchFamily="34" charset="-120"/>
              </a:rPr>
              <a:t>Minä</a:t>
            </a:r>
            <a:endParaRPr lang="en-US" sz="1800" dirty="0"/>
          </a:p>
        </p:txBody>
      </p:sp>
      <p:sp>
        <p:nvSpPr>
          <p:cNvPr id="10" name="Text 8"/>
          <p:cNvSpPr txBox="1"/>
          <p:nvPr/>
        </p:nvSpPr>
        <p:spPr>
          <a:xfrm>
            <a:off x="6537960" y="2606040"/>
            <a:ext cx="4754880" cy="2194560"/>
          </a:xfrm>
          <a:prstGeom prst="rect">
            <a:avLst/>
          </a:prstGeom>
          <a:noFill/>
          <a:ln/>
        </p:spPr>
        <p:txBody>
          <a:bodyPr wrap="square" lIns="0" tIns="0" rIns="0" bIns="0" rtlCol="0" anchor="t"/>
          <a:lstStyle/>
          <a:p>
            <a:pPr algn="l" indent="0" marL="0">
              <a:buNone/>
            </a:pPr>
            <a:r>
              <a:rPr lang="en-US" sz="1800" dirty="0">
                <a:solidFill>
                  <a:srgbClr val="111827"/>
                </a:solidFill>
                <a:latin typeface="Segoe UI" pitchFamily="34" charset="0"/>
                <a:ea typeface="Segoe UI" pitchFamily="34" charset="-122"/>
                <a:cs typeface="Segoe UI" pitchFamily="34" charset="-120"/>
              </a:rPr>
              <a:t>valitsin väitteen · karsin · tarkistin luvut · vastaan jokaisesta väitteestä</a:t>
            </a:r>
            <a:endParaRPr lang="en-US" sz="1800" dirty="0"/>
          </a:p>
        </p:txBody>
      </p:sp>
      <p:sp>
        <p:nvSpPr>
          <p:cNvPr id="11" name="Lähde"/>
          <p:cNvSpPr txBox="1"/>
          <p:nvPr/>
        </p:nvSpPr>
        <p:spPr>
          <a:xfrm>
            <a:off x="548640" y="6272784"/>
            <a:ext cx="11064240" cy="384048"/>
          </a:xfrm>
          <a:prstGeom prst="rect">
            <a:avLst/>
          </a:prstGeom>
          <a:noFill/>
          <a:ln/>
        </p:spPr>
        <p:txBody>
          <a:bodyPr wrap="square" lIns="0" tIns="0" rIns="0" bIns="0" rtlCol="0" anchor="ctr"/>
          <a:lstStyle/>
          <a:p>
            <a:pPr algn="l" indent="0" marL="0">
              <a:buNone/>
            </a:pPr>
            <a:r>
              <a:rPr lang="en-US" sz="1100" dirty="0">
                <a:solidFill>
                  <a:srgbClr val="6B7280"/>
                </a:solidFill>
                <a:latin typeface="Segoe UI" pitchFamily="34" charset="0"/>
                <a:ea typeface="Segoe UI" pitchFamily="34" charset="-122"/>
                <a:cs typeface="Segoe UI" pitchFamily="34" charset="-120"/>
              </a:rPr>
              <a:t>Lähde: tämä repositorio (docs/13, docs/18).</a:t>
            </a:r>
            <a:endParaRPr lang="en-US" sz="1100" dirty="0"/>
          </a:p>
        </p:txBody>
      </p:sp>
      <p:sp>
        <p:nvSpPr>
          <p:cNvPr id="25" name="Slide Number Placeholder 0"/>
          <p:cNvSpPr>
            <a:spLocks noGrp="1"/>
          </p:cNvSpPr>
          <p:nvPr>
            <p:ph type="sldNum" sz="quarter" idx="4294967295"/>
          </p:nvPr>
        </p:nvSpPr>
        <p:spPr>
          <a:xfrm>
            <a:off x="11109960" y="18288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7280"/>
                </a:solidFill>
                <a:latin typeface="Consolas"/>
                <a:ea typeface="Consolas"/>
                <a:cs typeface="Consolas"/>
              </a:defRPr>
            </a:lvl1pPr>
          </a:lstStyle>
          <a:p>
            <a:pPr algn="r"/>
            <a:fld id="{F7021451-1387-4CA6-816F-3879F97B5CBC}" type="slidenum">
              <a:rPr b="0" lang="en-US"/>
              <a:t>81</a:t>
            </a:fld>
            <a:endParaRPr lang="en-US"/>
          </a:p>
        </p:txBody>
      </p:sp>
    </p:spTree>
  </p:cSld>
  <p:clrMapOvr>
    <a:masterClrMapping/>
  </p:clrMapOvr>
</p:sld>
</file>

<file path=ppt/theme/theme1.xml><?xml version="1.0" encoding="utf-8"?>
<a:theme xmlns:a="http://schemas.openxmlformats.org/drawingml/2006/main" name="Clean diff">
  <a:themeElements>
    <a:clrScheme name="Clean diff">
      <a:dk1>
        <a:srgbClr val="111827"/>
      </a:dk1>
      <a:lt1>
        <a:srgbClr val="FFFFFF"/>
      </a:lt1>
      <a:dk2>
        <a:srgbClr val="6B7280"/>
      </a:dk2>
      <a:lt2>
        <a:srgbClr val="F3F4F6"/>
      </a:lt2>
      <a:accent1>
        <a:srgbClr val="2563EB"/>
      </a:accent1>
      <a:accent2>
        <a:srgbClr val="1A7F37"/>
      </a:accent2>
      <a:accent3>
        <a:srgbClr val="CF222E"/>
      </a:accent3>
      <a:accent4>
        <a:srgbClr val="9A6700"/>
      </a:accent4>
      <a:accent5>
        <a:srgbClr val="6B7280"/>
      </a:accent5>
      <a:accent6>
        <a:srgbClr val="0EA5E9"/>
      </a:accent6>
      <a:hlink>
        <a:srgbClr val="2563EB"/>
      </a:hlink>
      <a:folHlink>
        <a:srgbClr val="6B7280"/>
      </a:folHlink>
    </a:clrScheme>
    <a:fontScheme name="Clean diff">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81</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81</vt:i4>
      </vt:variant>
    </vt:vector>
  </HeadingPairs>
  <TitlesOfParts>
    <vt:vector size="8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Hei ohjelmistokehitys, mitä kuuluu?</dc:title>
  <dc:subject>Lakeus-Devaus 2026</dc:subject>
  <dc:creator>Juha Ala-Rantala</dc:creator>
  <cp:lastModifiedBy>Juha Ala-Rantala</cp:lastModifiedBy>
  <cp:revision>1</cp:revision>
  <dcterms:created xsi:type="dcterms:W3CDTF">2026-10-19T10:59:12Z</dcterms:created>
  <dcterms:modified xsi:type="dcterms:W3CDTF">2026-10-19T10:59:12Z</dcterms:modified>
</cp:coreProperties>
</file>